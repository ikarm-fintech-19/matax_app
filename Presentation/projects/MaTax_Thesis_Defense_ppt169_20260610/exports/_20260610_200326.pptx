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9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مقدمة سريعة: "مرحباً، أنا حموم إكرام، أقدم لكم مشروع التخرج: منصة MATAX للتجزئة الجبائية الرقمية الذكية"</a:t>
            </a:r>
          </a:p>
          <a:p>
            <a:r>
              <a:rPr lang="zh-CN" dirty="0"/>
              <a:t>• تأكيد على أن المشروع يجمع بين المحاسبة والتقنية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سريع للمحاور الستة</a:t>
            </a:r>
          </a:p>
          <a:p>
            <a:r>
              <a:rPr lang="zh-CN" dirty="0"/>
              <a:t>• التأكيد على أن العرض سيستمر 15 دقيقة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"المشكلة الأساسية: تعقيد الإجراءات الجبائية في الجزائر"</a:t>
            </a:r>
          </a:p>
          <a:p>
            <a:r>
              <a:rPr lang="zh-CN" dirty="0"/>
              <a:t>• "الحل: منصة رقمية ذكية تبسط كل شيء"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المشكلات (الجانب الأيسر):</a:t>
            </a:r>
          </a:p>
          <a:p>
            <a:r>
              <a:rPr lang="zh-CN" dirty="0"/>
              <a:t>1. تعقيد التشريعات الجبائية: صعوبة استيعاب القوانين المالية السنوية</a:t>
            </a:r>
          </a:p>
          <a:p>
            <a:r>
              <a:rPr lang="zh-CN" dirty="0"/>
              <a:t>2. مخاطر الأخطاء البشرية: اليدوية والتأخير</a:t>
            </a:r>
          </a:p>
          <a:p>
            <a:r>
              <a:rPr lang="zh-CN" dirty="0"/>
              <a:t>3. غرامات التأخير: غياب نظام متابعة</a:t>
            </a:r>
          </a:p>
          <a:p>
            <a:r>
              <a:rPr lang="zh-CN" dirty="0"/>
              <a:t>4. التكاليف الباهظة: مكاتب المحاسبة + الأرشفة الورقية</a:t>
            </a:r>
          </a:p>
          <a:p>
            <a:endParaRPr lang="zh-CN" dirty="0"/>
          </a:p>
          <a:p>
            <a:r>
              <a:rPr lang="zh-CN" dirty="0"/>
              <a:t>• الحلول (الجانب الأيمن):</a:t>
            </a:r>
          </a:p>
          <a:p>
            <a:r>
              <a:rPr lang="zh-CN" dirty="0"/>
              <a:t>1. تبسيط الجباية: واجهات سلسة</a:t>
            </a:r>
          </a:p>
          <a:p>
            <a:r>
              <a:rPr lang="zh-CN" dirty="0"/>
              <a:t>2. نظام تنبيه ذكي: SMS والبريد الإلكتروني</a:t>
            </a:r>
          </a:p>
          <a:p>
            <a:r>
              <a:rPr lang="zh-CN" dirty="0"/>
              <a:t>3. الأتمتة: تصريح G50 آلي</a:t>
            </a:r>
          </a:p>
          <a:p>
            <a:r>
              <a:rPr lang="zh-CN" dirty="0"/>
              <a:t>4. أرشفة سحابية: 256-SSL</a:t>
            </a:r>
          </a:p>
          <a:p>
            <a:r>
              <a:rPr lang="zh-CN" dirty="0"/>
              <a:t>5. اشتراكات اقتصادية: أقل 60% من المكاتب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"6 مبادرات تميز MATAX عن أي حلول أخرى"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بسيطة وسلسة: واجهة مستخدم لا تتطلب خبرة مسبقة</a:t>
            </a:r>
          </a:p>
          <a:p>
            <a:r>
              <a:rPr lang="zh-CN" dirty="0"/>
              <a:t>• استباقية واستشراف: تنبيهات قبل المواعيد</a:t>
            </a:r>
          </a:p>
          <a:p>
            <a:r>
              <a:rPr lang="zh-CN" dirty="0"/>
              <a:t>• ملاءمة قانونية: تحديث تلقائي مع القوانين</a:t>
            </a:r>
          </a:p>
          <a:p>
            <a:r>
              <a:rPr lang="zh-CN" dirty="0"/>
              <a:t>• أتمتة شاملة: صفر أخطاء يدوية</a:t>
            </a:r>
          </a:p>
          <a:p>
            <a:r>
              <a:rPr lang="zh-CN" dirty="0"/>
              <a:t>• اشتراكات اقتصادية: 1,490 دج/شهر</a:t>
            </a:r>
          </a:p>
          <a:p>
            <a:r>
              <a:rPr lang="zh-CN" dirty="0"/>
              <a:t>• بنية تحتية سحابية: Cloudflare + تشفير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"3 شرائح مستهدفة و 3 مصادر إيرادات"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الشرائح المستهدفة:</a:t>
            </a:r>
          </a:p>
          <a:p>
            <a:r>
              <a:rPr lang="zh-CN" dirty="0"/>
              <a:t>1. المقاولون والشركات الناشئة: 890,000 مقاول + 46,000 مؤسسة</a:t>
            </a:r>
          </a:p>
          <a:p>
            <a:r>
              <a:rPr lang="zh-CN" dirty="0"/>
              <a:t>2. مكاتب المحاسبة: 2,613 مكتب + 12,560 محاسب</a:t>
            </a:r>
          </a:p>
          <a:p>
            <a:r>
              <a:rPr lang="zh-CN" dirty="0"/>
              <a:t>3. المؤسسات المتوسطة والكبيرة: 58,000 مؤسسة</a:t>
            </a:r>
          </a:p>
          <a:p>
            <a:endParaRPr lang="zh-CN" dirty="0"/>
          </a:p>
          <a:p>
            <a:r>
              <a:rPr lang="zh-CN" dirty="0"/>
              <a:t>• مصادر الإيرادات:</a:t>
            </a:r>
          </a:p>
          <a:p>
            <a:r>
              <a:rPr lang="zh-CN" dirty="0"/>
              <a:t>1. الاشتراكات الشهرية/السنوية: Start 1,490 | Pro 3,490 | Enterprise 5,990</a:t>
            </a:r>
          </a:p>
          <a:p>
            <a:r>
              <a:rPr lang="zh-CN" dirty="0"/>
              <a:t>2. الخدمات الإضافية: دعم + استشارات + تدريب</a:t>
            </a:r>
          </a:p>
          <a:p>
            <a:r>
              <a:rPr lang="zh-CN" dirty="0"/>
              <a:t>3. الشراكات: بنوك + ERP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جدول مقارنة مع المنافسين</a:t>
            </a:r>
          </a:p>
          <a:p>
            <a:r>
              <a:rPr lang="zh-CN" dirty="0"/>
              <a:t>• MATAX يتفوق في: التصريح الآلي + التنبيهات + الأرشفة + الامتثال + التكلفة</a:t>
            </a:r>
          </a:p>
          <a:p>
            <a:r>
              <a:rPr lang="zh-CN" dirty="0"/>
              <a:t>• التكلفة: 1,490 دج فقط مقارنة بـ 5,000-15,000 دج للمنافسين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"الجدوى المالية ممتازة: VAN +79.6M | DR 1y9m | BEP الشهر 4"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الإيرادات: 9,600,000 دج (960 عميل × 10,000 دج)</a:t>
            </a:r>
          </a:p>
          <a:p>
            <a:r>
              <a:rPr lang="zh-CN" dirty="0"/>
              <a:t>• التكاليف: 5,265,000 دج</a:t>
            </a:r>
          </a:p>
          <a:p>
            <a:r>
              <a:rPr lang="zh-CN" dirty="0"/>
              <a:t>• صافي الربح: 4,335,000 دج (هامش +45.2%)</a:t>
            </a:r>
          </a:p>
          <a:p>
            <a:r>
              <a:rPr lang="zh-CN" dirty="0"/>
              <a:t>• VAN: +79,600,000 دج</a:t>
            </a:r>
          </a:p>
          <a:p>
            <a:r>
              <a:rPr lang="zh-CN" dirty="0"/>
              <a:t>• DR: سنة + 9 أشهر</a:t>
            </a:r>
          </a:p>
          <a:p>
            <a:r>
              <a:rPr lang="zh-CN" dirty="0"/>
              <a:t>• BEP: الشهر 4 (61 عميل)</a:t>
            </a:r>
          </a:p>
          <a:p>
            <a:r>
              <a:rPr lang="zh-CN" dirty="0"/>
              <a:t>• OM: +46.6%</a:t>
            </a:r>
          </a:p>
          <a:p>
            <a:r>
              <a:rPr lang="zh-CN" dirty="0"/>
              <a:t>• ROI: 247%</a:t>
            </a:r>
          </a:p>
          <a:p>
            <a:r>
              <a:rPr lang="zh-CN" dirty="0"/>
              <a:t>• التكلفة/عميل: 5,484 دج (LTV/CAC = 7.3x)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6 بطاقات KPI</a:t>
            </a:r>
          </a:p>
          <a:p>
            <a:r>
              <a:rPr lang="zh-CN" dirty="0"/>
              <a:t>• VAN +79.6M | DR 1y9m | BEP 61 عميل | OM 46.6% | CAPEX 3.88M | 960 عميل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"عرض تفاعلي لمنصة MATAX: واجهة عربية سلسة"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صور原型 (placeholder)</a:t>
            </a:r>
          </a:p>
          <a:p>
            <a:r>
              <a:rPr lang="zh-CN" dirty="0"/>
              <a:t>• تأكيد على: الواجهة العربية + التوافق مع الجوال + السرعة</a:t>
            </a:r>
          </a:p>
          <a:p>
            <a:r>
              <a:rPr lang="zh-CN" dirty="0"/>
              <a:t>• رابط المعاينة: https://matax-frontend.onrender.com/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"خطة عمل واضحة: 4 مراحل خلال 36 شهر"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الفريق:</a:t>
            </a:r>
          </a:p>
          <a:p>
            <a:r>
              <a:rPr lang="zh-CN" dirty="0"/>
              <a:t>1. حموم إكرام — PDG (محاسبة + IT)</a:t>
            </a:r>
          </a:p>
          <a:p>
            <a:r>
              <a:rPr lang="zh-CN" dirty="0"/>
              <a:t>2. يزيد زين الدين — CFO (محاسبة + مالية)</a:t>
            </a:r>
          </a:p>
          <a:p>
            <a:r>
              <a:rPr lang="zh-CN" dirty="0"/>
              <a:t>3. سعيد بن عمر — CTO (برمجة + قواعد بيانات)</a:t>
            </a:r>
          </a:p>
          <a:p>
            <a:endParaRPr lang="zh-CN" dirty="0"/>
          </a:p>
          <a:p>
            <a:r>
              <a:rPr lang="zh-CN" dirty="0"/>
              <a:t>• المراحل:</a:t>
            </a:r>
          </a:p>
          <a:p>
            <a:r>
              <a:rPr lang="zh-CN" dirty="0"/>
              <a:t>1. MVP &amp; launch: 0-6 أشهر (+61 عميل)</a:t>
            </a:r>
          </a:p>
          <a:p>
            <a:r>
              <a:rPr lang="zh-CN" dirty="0"/>
              <a:t>2. التوسع: 6-18 شهر (+960 عميل)</a:t>
            </a:r>
          </a:p>
          <a:p>
            <a:r>
              <a:rPr lang="zh-CN" dirty="0"/>
              <a:t>3. الابتكار: 18-36 شهر (+2,500 عميل)</a:t>
            </a:r>
          </a:p>
          <a:p>
            <a:r>
              <a:rPr lang="zh-CN" dirty="0"/>
              <a:t>4. الريادة: 36+ شهر</a:t>
            </a:r>
          </a:p>
          <a:p>
            <a:endParaRPr lang="zh-CN" dirty="0"/>
          </a:p>
          <a:p>
            <a:r>
              <a:rPr lang="zh-CN" dirty="0"/>
              <a:t>• المراحل الرئيسية: BEP الشهر 4 | 960 عميل الشهر 12 | 2,500 عميل الشهر 36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1143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0477500" y="0"/>
            <a:ext cx="1714500" cy="1143000"/>
          </a:xfrm>
          <a:custGeom>
            <a:avLst/>
            <a:gdLst/>
            <a:ahLst/>
            <a:cxnLst/>
            <a:rect l="l" t="t" r="r" b="b"/>
            <a:pathLst>
              <a:path w="1714500" h="1143000">
                <a:moveTo>
                  <a:pt x="1714500" y="0"/>
                </a:moveTo>
                <a:lnTo>
                  <a:pt x="0" y="0"/>
                </a:lnTo>
                <a:lnTo>
                  <a:pt x="1714500" y="1143000"/>
                </a:lnTo>
                <a:close/>
              </a:path>
            </a:pathLst>
          </a:custGeom>
          <a:solidFill>
            <a:srgbClr val="003A51">
              <a:alpha val="4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0096500" y="285750"/>
            <a:ext cx="1714500" cy="571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FFFFFF">
                <a:alpha val="50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92027" y="469582"/>
            <a:ext cx="7234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81023" y="2006918"/>
            <a:ext cx="3429955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3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منصة MATAX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36765" y="2835592"/>
            <a:ext cx="591847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التسيير الجبائي الرقمي الذكي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71587" y="3552825"/>
            <a:ext cx="58488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منصة رقمية مبتكرة في مجال التكنولوجيا الجبائية (TaxTech)</a:t>
            </a:r>
          </a:p>
        </p:txBody>
      </p:sp>
      <p:sp>
        <p:nvSpPr>
          <p:cNvPr id="11" name="Line 11"/>
          <p:cNvSpPr/>
          <p:nvPr/>
        </p:nvSpPr>
        <p:spPr>
          <a:xfrm>
            <a:off x="3619500" y="40957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28575">
            <a:solidFill>
              <a:srgbClr val="F77F00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038850" y="4038600"/>
            <a:ext cx="114300" cy="1143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3581400" y="4057650"/>
            <a:ext cx="76200" cy="76200"/>
          </a:xfrm>
          <a:prstGeom prst="ellipse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8534400" y="4057650"/>
            <a:ext cx="76200" cy="76200"/>
          </a:xfrm>
          <a:prstGeom prst="ellipse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286000" y="4429125"/>
            <a:ext cx="76200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957901" y="4663440"/>
            <a:ext cx="227619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إعداد: حموم إكرام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05633" y="5045392"/>
            <a:ext cx="35807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إشراف: أ. بلعباس مختار - أ. مفتاح فاطمة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80485" y="5394960"/>
            <a:ext cx="44310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جامعة ابن خلدون تيارت | ماستر محاسبة وجباية | 2025/2026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660582" y="6461760"/>
            <a:ext cx="28708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عرض التخرج - startup thesis defense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2439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فهرس المحتويات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552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95250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9525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04900" y="108585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3075" y="1247775"/>
            <a:ext cx="235889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المشكلة والحل المقترح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1582102"/>
            <a:ext cx="33940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تعقيد الإجراءات الجبائية وأهمية الحلول الرقمية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95250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286500" y="9525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29400" y="108585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7575" y="1247775"/>
            <a:ext cx="206485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الجوانب الابتكارية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4165" y="1582102"/>
            <a:ext cx="24209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ما يميز MATAX عن الحلول التقليدية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047875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20478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04900" y="218122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3075" y="2343150"/>
            <a:ext cx="24744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السوق والنموذج التجاري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9665" y="2677478"/>
            <a:ext cx="2308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السوق المستهدف ومصادر الإيرادات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047875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20478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29400" y="218122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67575" y="2343150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الدراسة المالية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2677478"/>
            <a:ext cx="2154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الجدوى المالية ومؤشرات الأداء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314325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3143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04900" y="327660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43075" y="3438525"/>
            <a:ext cx="18338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النموذج التجريبي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9665" y="3772852"/>
            <a:ext cx="20779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عرض المنصة والخصائص الرئيسية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314325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286500" y="3143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29400" y="327660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267575" y="3438525"/>
            <a:ext cx="19493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المراحل التنفيذية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165" y="3772852"/>
            <a:ext cx="1923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خطة العمل والخريطة الزمنية</a:t>
            </a:r>
          </a:p>
        </p:txBody>
      </p:sp>
      <p:sp>
        <p:nvSpPr>
          <p:cNvPr id="37" name="Line 37"/>
          <p:cNvSpPr/>
          <p:nvPr/>
        </p:nvSpPr>
        <p:spPr>
          <a:xfrm>
            <a:off x="381000" y="4381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191000" y="4572000"/>
            <a:ext cx="3810000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403580" y="4706302"/>
            <a:ext cx="1384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مدة العرض: 15 دقيقة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53146" y="65351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660489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المشكلة والحل المقترح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8223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تعقيد الإجراءات الجبائية وغياب الرقمنة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913495" y="6331268"/>
            <a:ext cx="29146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- من التقاليد إلى الرقمنة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8905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01 | المشكلة والحل المقترح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0217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MATAX يحل 4 مشاكل حرجة من خلال 5 ركائز رقمية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524500" cy="4953000"/>
          </a:xfrm>
          <a:prstGeom prst="roundRect">
            <a:avLst>
              <a:gd name="adj" fmla="val 2308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762125"/>
            <a:ext cx="5524500" cy="952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677564" y="1517332"/>
            <a:ext cx="9313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المشكلة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00025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2000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33462" y="2164556"/>
            <a:ext cx="2249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01 تعقيد التشريعات الجبائية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5368" y="2418874"/>
            <a:ext cx="26120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صعوبة استيعاب القوانين المالية السنوية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5368" y="265699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وتداخل الإجراءات الإدارية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095625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3095625"/>
            <a:ext cx="57150" cy="9525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33462" y="3259931"/>
            <a:ext cx="19896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02 مخاطر الأخطاء البشرية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5368" y="3514249"/>
            <a:ext cx="25405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الاعتماد على التعبئة اليدوية للتصاريح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5368" y="3752374"/>
            <a:ext cx="1428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الدورية مثل تصريح G50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191000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41910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3462" y="4355306"/>
            <a:ext cx="19896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03 غرامات التأخير المالي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5368" y="4609624"/>
            <a:ext cx="18254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غياب نظام متابعة وتنبيه ذكي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6320" y="4855845"/>
            <a:ext cx="13190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يؤدي إلى غرامات باهظة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5238750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571500" y="52387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33462" y="5403056"/>
            <a:ext cx="159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04 التكاليف الباهظة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5368" y="5657374"/>
            <a:ext cx="21115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أعباء التعاقد مع مكاتب المحاسبة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286500" y="1333500"/>
            <a:ext cx="5524500" cy="4953000"/>
          </a:xfrm>
          <a:prstGeom prst="roundRect">
            <a:avLst>
              <a:gd name="adj" fmla="val 230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2865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334708" y="15173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الحل: MATAX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477000" y="200025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6477000" y="2000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938962" y="2164556"/>
            <a:ext cx="18164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تبسيط الجباية بضغطة زر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40868" y="2418874"/>
            <a:ext cx="27941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تحويل النصوص القانونية المعقدة إلى واجهات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40868" y="2656999"/>
            <a:ext cx="1318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رقمية سلسة وتفاعلية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477000" y="3095625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77000" y="3095625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938962" y="3259931"/>
            <a:ext cx="19030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نظام تنبيه ذكي واستباقي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940868" y="3514249"/>
            <a:ext cx="20660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تنبيهات عبر الرسائل النصية SMS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40868" y="3752374"/>
            <a:ext cx="2144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والبريد الإلكتروني قبل المواعيد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477000" y="419100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477000" y="419100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938962" y="4355306"/>
            <a:ext cx="1981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أتمتة دقيقة بنسبة خطأ 0%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940868" y="4609624"/>
            <a:ext cx="20790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تصاريح G50 بضغطة زر واحدة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40868" y="48477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وتقضي على الأخطاء البشرية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477000" y="5286375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6477000" y="52863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938962" y="5450681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أرشفة سحابية مشفرة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940868" y="5704999"/>
            <a:ext cx="2254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منظومة سحابية آمنة بتشفير 256-SSL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940868" y="5943124"/>
            <a:ext cx="18904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للملفات الجبائية والمحاسبية</a:t>
            </a:r>
          </a:p>
        </p:txBody>
      </p:sp>
      <p:sp>
        <p:nvSpPr>
          <p:cNvPr id="57" name="Line 57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369570" y="661797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دراسة المشروع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421487" y="661797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المشكلة والحل المقترح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453146" y="660177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822209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الجوانب الابتكارية للمشروع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50143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6 مبادرات تميز MATAX عن الحلول التقليدية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022384" y="6331268"/>
            <a:ext cx="38057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- الابتكار في التكنولوجيا الجبائية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69912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02 | الجوانب الابتكارية للمشروع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6518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6 مبادرات تجعل MATAX خياراً استراتيجياً للمقاولين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8112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2066925" y="1590675"/>
            <a:ext cx="533400" cy="533400"/>
          </a:xfrm>
          <a:prstGeom prst="ellipse">
            <a:avLst/>
          </a:prstGeom>
          <a:solidFill>
            <a:srgbClr val="00527F">
              <a:alpha val="1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72148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99718" y="2243614"/>
            <a:ext cx="10678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بسيطة وسلسة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6634" y="254269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واجهة مستخدم سلسة لا تتطلب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10166" y="2733199"/>
            <a:ext cx="1246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خبرة محاسبية مسبقة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0634" y="3027045"/>
            <a:ext cx="18059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تقليل زمن التأهيل لـ 48 ساعة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33875" y="138112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333875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829300" y="1590675"/>
            <a:ext cx="533400" cy="533400"/>
          </a:xfrm>
          <a:prstGeom prst="ellipse">
            <a:avLst/>
          </a:prstGeom>
          <a:solidFill>
            <a:srgbClr val="F77F00">
              <a:alpha val="12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934523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67531" y="2243614"/>
            <a:ext cx="16569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استباقية واستشراف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04283" y="2542699"/>
            <a:ext cx="1383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تنبيهات ذكية عبر SMS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56289" y="2733199"/>
            <a:ext cx="12794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والبريد الإلكتروني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88333" y="3027045"/>
            <a:ext cx="1415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متابعة مسبقة للمواعيد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96250" y="138112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096250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9591675" y="1590675"/>
            <a:ext cx="533400" cy="533400"/>
          </a:xfrm>
          <a:prstGeom prst="ellipse">
            <a:avLst/>
          </a:prstGeom>
          <a:solidFill>
            <a:srgbClr val="D62828">
              <a:alpha val="12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696898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77187" y="2243614"/>
            <a:ext cx="13623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ملاءمة قانونية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36641" y="254269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تطابق مع الإطار القانوني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59957" y="2733199"/>
            <a:ext cx="596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الجزائري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062497" y="3027045"/>
            <a:ext cx="15917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تحديث تلقائي مع القوانين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76237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71500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2066925" y="3971925"/>
            <a:ext cx="533400" cy="533400"/>
          </a:xfrm>
          <a:prstGeom prst="ellipse">
            <a:avLst/>
          </a:prstGeom>
          <a:solidFill>
            <a:srgbClr val="16A34A">
              <a:alpha val="12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172148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99718" y="4624864"/>
            <a:ext cx="10678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أتمتة شاملة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40382" y="49239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تلقائي للتصريحات G50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15704" y="5114449"/>
            <a:ext cx="635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بصيغة PDF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33884" y="5408295"/>
            <a:ext cx="9994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صفر أخطاء يدوية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333875" y="376237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4333875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FCD916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5829300" y="3971925"/>
            <a:ext cx="533400" cy="533400"/>
          </a:xfrm>
          <a:prstGeom prst="ellipse">
            <a:avLst/>
          </a:prstGeom>
          <a:solidFill>
            <a:srgbClr val="FCD916">
              <a:alpha val="12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934523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67531" y="4624864"/>
            <a:ext cx="16569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اشتراكات اقتصادية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61265" y="492394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تقليل التكاليف بنسبة 60%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222260" y="511444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مقارنة بالمكاتب التقليدية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300122" y="5408295"/>
            <a:ext cx="15917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اشتراكات من 1,490 دج/شهر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096250" y="376237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8096250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31ACEA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9591675" y="3971925"/>
            <a:ext cx="533400" cy="533400"/>
          </a:xfrm>
          <a:prstGeom prst="ellipse">
            <a:avLst/>
          </a:prstGeom>
          <a:solidFill>
            <a:srgbClr val="31ACEA">
              <a:alpha val="12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696898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1ACEA"/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052221" y="4624864"/>
            <a:ext cx="16123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31ACEA"/>
                </a:solidFill>
                <a:latin typeface="Montserrat"/>
                <a:ea typeface="Microsoft YaHei"/>
                <a:cs typeface="Montserrat"/>
              </a:rPr>
              <a:t>بنية تحتية سحابية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81384" y="492394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استضافة Cloudflare المحمية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361682" y="5114449"/>
            <a:ext cx="9933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بتشفير 256-SSL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251521" y="5408295"/>
            <a:ext cx="12137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1ACEA"/>
                </a:solidFill>
                <a:latin typeface="Montserrat"/>
                <a:ea typeface="Microsoft YaHei"/>
                <a:cs typeface="Montserrat"/>
              </a:rPr>
              <a:t>مزامنة Google Drive</a:t>
            </a:r>
          </a:p>
        </p:txBody>
      </p:sp>
      <p:sp>
        <p:nvSpPr>
          <p:cNvPr id="58" name="Line 58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9570" y="628459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505498" y="6284595"/>
            <a:ext cx="1181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الجوانب الابتكارية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5314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692833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السوق والنموذج التجاري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22224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الاستهداف الذكي لشرائح المستخدمين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561576" y="6331268"/>
            <a:ext cx="226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- نموذج نمو متكامل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27249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03 | السوق المستهدف والنموذج المالي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2198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استهداف 3 شرائح رئيسية: مقاولون، مكاتب، شركات</a:t>
            </a:r>
          </a:p>
        </p:txBody>
      </p:sp>
      <p:sp>
        <p:nvSpPr>
          <p:cNvPr id="10" name="Ellipse 10"/>
          <p:cNvSpPr/>
          <p:nvPr/>
        </p:nvSpPr>
        <p:spPr>
          <a:xfrm>
            <a:off x="619125" y="1381125"/>
            <a:ext cx="3333750" cy="3333750"/>
          </a:xfrm>
          <a:prstGeom prst="ellipse">
            <a:avLst/>
          </a:prstGeom>
          <a:solidFill>
            <a:srgbClr val="00527F">
              <a:alpha val="8000"/>
            </a:srgbClr>
          </a:solidFill>
          <a:ln w="19050">
            <a:solidFill>
              <a:srgbClr val="00527F">
                <a:alpha val="3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136673" y="1886902"/>
            <a:ext cx="298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TAM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3552" y="21045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1,150,000 مقاول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69805" y="2295049"/>
            <a:ext cx="1032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190 مكتب محاسبة</a:t>
            </a:r>
          </a:p>
        </p:txBody>
      </p:sp>
      <p:sp>
        <p:nvSpPr>
          <p:cNvPr id="14" name="Ellipse 14"/>
          <p:cNvSpPr/>
          <p:nvPr/>
        </p:nvSpPr>
        <p:spPr>
          <a:xfrm>
            <a:off x="1238250" y="2381250"/>
            <a:ext cx="2095500" cy="2095500"/>
          </a:xfrm>
          <a:prstGeom prst="ellipse">
            <a:avLst/>
          </a:prstGeom>
          <a:solidFill>
            <a:srgbClr val="00527F">
              <a:alpha val="8000"/>
            </a:srgbClr>
          </a:solidFill>
          <a:ln w="19050">
            <a:solidFill>
              <a:srgbClr val="00527F">
                <a:alpha val="4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136673" y="2744152"/>
            <a:ext cx="298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SAM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34050" y="2961799"/>
            <a:ext cx="1103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91,270 مقاول نشط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3834" y="3152299"/>
            <a:ext cx="5643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152 مكتب</a:t>
            </a:r>
          </a:p>
        </p:txBody>
      </p:sp>
      <p:sp>
        <p:nvSpPr>
          <p:cNvPr id="18" name="Ellipse 18"/>
          <p:cNvSpPr/>
          <p:nvPr/>
        </p:nvSpPr>
        <p:spPr>
          <a:xfrm>
            <a:off x="1714500" y="3238500"/>
            <a:ext cx="1143000" cy="1143000"/>
          </a:xfrm>
          <a:prstGeom prst="ellipse">
            <a:avLst/>
          </a:prstGeom>
          <a:solidFill>
            <a:srgbClr val="D62828">
              <a:alpha val="15000"/>
            </a:srgbClr>
          </a:solidFill>
          <a:ln w="19050">
            <a:solidFill>
              <a:srgbClr val="D62828">
                <a:alpha val="5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121971" y="3553778"/>
            <a:ext cx="3280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SOM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10537" y="3808095"/>
            <a:ext cx="5509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1,825+12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953000" y="1428750"/>
            <a:ext cx="3381375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4953000" y="14287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272088" y="1640681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الإيرادات (SaaS + تصاريح)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61610" y="1865948"/>
            <a:ext cx="238397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9,600,000 دج/سنة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74945" y="2188845"/>
            <a:ext cx="17930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1 - 1,500 مقاول + 12 مكتب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953000" y="2571750"/>
            <a:ext cx="3381375" cy="8572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953000" y="25717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272088" y="2783681"/>
            <a:ext cx="16487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متوسط العائد لكل عميل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61610" y="3027998"/>
            <a:ext cx="17832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5,089 دج/شهر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953000" y="3619500"/>
            <a:ext cx="3381375" cy="1095375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953000" y="3619500"/>
            <a:ext cx="57150" cy="10953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272088" y="3831431"/>
            <a:ext cx="16862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نسبة الاحتفاظ الشهرية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61610" y="4123372"/>
            <a:ext cx="70481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92%+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74945" y="4474845"/>
            <a:ext cx="17810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Target &gt;= 90% - رضا عالي جداً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572500" y="1428750"/>
            <a:ext cx="3238500" cy="34290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572500" y="1428750"/>
            <a:ext cx="32385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572500" y="1809750"/>
            <a:ext cx="3238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358818" y="1614964"/>
            <a:ext cx="16658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الاشتراكات - 3 خطط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763000" y="209550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315402" y="2232660"/>
            <a:ext cx="17526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Start - 1,490 دج/شهر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96234" y="2531745"/>
            <a:ext cx="13910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 مقاول | تصاريح محدودة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763000" y="285750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0527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407814" y="2994660"/>
            <a:ext cx="1567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Pro - 3,990 دج/شهر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694259" y="3293745"/>
            <a:ext cx="994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 مقاولين | G50 م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763000" y="3619500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9407814" y="3775710"/>
            <a:ext cx="1567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G50 - 490 دج/تصريح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31214" y="4074795"/>
            <a:ext cx="1721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ECDD3"/>
                </a:solidFill>
                <a:latin typeface="Lato Light"/>
                <a:ea typeface="Microsoft YaHei"/>
                <a:cs typeface="Lato Light"/>
              </a:rPr>
              <a:t>شهري بدون اشتراك - غير محدود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99508" y="4238149"/>
            <a:ext cx="584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100% KPI</a:t>
            </a:r>
          </a:p>
        </p:txBody>
      </p:sp>
      <p:sp>
        <p:nvSpPr>
          <p:cNvPr id="49" name="Rectangle 49"/>
          <p:cNvSpPr/>
          <p:nvPr/>
        </p:nvSpPr>
        <p:spPr>
          <a:xfrm>
            <a:off x="4953000" y="4953000"/>
            <a:ext cx="6858000" cy="104775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708904" y="5124450"/>
            <a:ext cx="47741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CLV/CAC = 10.6x - LTV 75,335 دج | CAC 7,108 دج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759500" y="5458778"/>
            <a:ext cx="26730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أرقام قوية جداً - متوسط SaaS &gt;= 3x فقط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860417" y="5713095"/>
            <a:ext cx="24711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معدل الاحتفاظ 92%+ يدعم CLV/CAC المرتفع</a:t>
            </a:r>
          </a:p>
        </p:txBody>
      </p:sp>
      <p:sp>
        <p:nvSpPr>
          <p:cNvPr id="53" name="Line 53"/>
          <p:cNvSpPr/>
          <p:nvPr/>
        </p:nvSpPr>
        <p:spPr>
          <a:xfrm>
            <a:off x="381000" y="6191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369570" y="637984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421487" y="637984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السوق والنموذج المالي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5314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5224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| السوق والنموذج التجاري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398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يستهدف شرائح متنوعة من المقاولين والشركات الجزائرية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715000" cy="485775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715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762125"/>
            <a:ext cx="5715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66364" y="1517332"/>
            <a:ext cx="21442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الشرائح المستهدفة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00025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200025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31558" y="2148364"/>
            <a:ext cx="2495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المقاولون والشركات الناشئة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4415" y="2410778"/>
            <a:ext cx="30510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890,000 مقاول + 46,000 مؤسسة صغيرة ومتوسطة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20" y="2665095"/>
            <a:ext cx="22491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شريحة النمو الأسرع مع أولوية للرقمنة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190875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31908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31558" y="3338989"/>
            <a:ext cx="13623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مكاتب المحاسبة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4415" y="3601402"/>
            <a:ext cx="2238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2,613 مكتب + 12,560 محاسب معتمد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320" y="3855720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شريحة الاحتراف: بحاجة لأدوات رقمية متقدمة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38150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438150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1558" y="4529614"/>
            <a:ext cx="2495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المؤسسات المتوسطة والكبيرة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4415" y="4792028"/>
            <a:ext cx="33240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58,000 مؤسسة + 1,200 مؤسسة خارج النظام الجبائي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6320" y="5046345"/>
            <a:ext cx="20811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حلول مخصصة للمؤسسات متعددة الفروع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1333500"/>
            <a:ext cx="5524500" cy="485775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2865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03680" y="151733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مصادر الإيرادات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200025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477000" y="20002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936105" y="2140268"/>
            <a:ext cx="26900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الاشتراكات الشهرية/السنوية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39915" y="2439352"/>
            <a:ext cx="21689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Start: 1,490 دج | Pro: 3,490 دج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39915" y="2648902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Enterprise: 5,990 دج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39915" y="2915602"/>
            <a:ext cx="20114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مصدر الإيراد الأساسي + 70%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477000" y="3381375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477000" y="33813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936105" y="3521392"/>
            <a:ext cx="16504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الخدمات الإضافية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39915" y="3820478"/>
            <a:ext cx="2238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دعم تقني مخصص + استشارات ضريبية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1820" y="4074795"/>
            <a:ext cx="2519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هوامش ربح عالية + تعميق العلاقة مع العميل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477000" y="4572000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477000" y="457200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936105" y="4712018"/>
            <a:ext cx="17544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الشراكات والتعاون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39915" y="5011102"/>
            <a:ext cx="1888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عمولات بيع مشترك مع البنوك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941820" y="5265420"/>
            <a:ext cx="27772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توسيع قاعدة المستخدمين عبر شراكات استراتيجية</a:t>
            </a:r>
          </a:p>
        </p:txBody>
      </p:sp>
      <p:sp>
        <p:nvSpPr>
          <p:cNvPr id="49" name="Line 49"/>
          <p:cNvSpPr/>
          <p:nvPr/>
        </p:nvSpPr>
        <p:spPr>
          <a:xfrm>
            <a:off x="381000" y="6381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69570" y="6570345"/>
            <a:ext cx="21951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 + PRODUCT.md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388483" y="6570345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السوق والنموذج التجاري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53146" y="6554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690439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| السوق والنموذج التجاري - التميّز التنافسي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948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يتفوق على المنافسين بفضل أتمتة الإجراءات الجبائية بالكامل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523875"/>
          </a:xfrm>
          <a:prstGeom prst="roundRect">
            <a:avLst>
              <a:gd name="adj" fmla="val 10909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56820" y="1537335"/>
            <a:ext cx="6773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المعيار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23179" y="1537335"/>
            <a:ext cx="5261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18153" y="1537335"/>
            <a:ext cx="9461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Compta Pro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96187" y="1537335"/>
            <a:ext cx="400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12163" y="1537335"/>
            <a:ext cx="7781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FiscalPro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19050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10916" y="2164556"/>
            <a:ext cx="17691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التصريح الجبائي الآلي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58473" y="2164556"/>
            <a:ext cx="8555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[+] متكامل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78150" y="2164556"/>
            <a:ext cx="1026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[-] غير متوفر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83150" y="2164556"/>
            <a:ext cx="1026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[-] غير متوفر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53171" y="2164556"/>
            <a:ext cx="6961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[!]️ جزئي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5717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254234" y="2831306"/>
            <a:ext cx="16825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نظام التنبيهات الذكي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15155" y="2831306"/>
            <a:ext cx="9421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[+] استباقي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19405" y="2831306"/>
            <a:ext cx="9436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[-] سلبي فقط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83150" y="2831306"/>
            <a:ext cx="1026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[-] غير متوفر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11916" y="283130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[!]️ محدود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2385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80962" y="3498056"/>
            <a:ext cx="2029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الأرشفة السحابية المشفرة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15155" y="3498056"/>
            <a:ext cx="9421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[+] 256-SSL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843171" y="3498056"/>
            <a:ext cx="6961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[+] Cloud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24405" y="3498056"/>
            <a:ext cx="9436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[-] محلي فقط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88150" y="3498056"/>
            <a:ext cx="1026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[-] غير متوفر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9052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07691" y="4164806"/>
            <a:ext cx="2375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الامتثال للتشريعات الجزائرية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04892" y="4164806"/>
            <a:ext cx="11627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[+] تحديث فوري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865674" y="4164806"/>
            <a:ext cx="6511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[-] بطيء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29418" y="4164806"/>
            <a:ext cx="7336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[+] متوسط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34418" y="4164806"/>
            <a:ext cx="7336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[-] محدود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45720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451134" y="48315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الشهرية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922366" y="4823460"/>
            <a:ext cx="7277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1,490 دج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81161" y="48234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5,000+ دج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39955" y="482346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15,000+ دج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91161" y="48234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3,500+ دج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52387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451134" y="54983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السنوية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876161" y="549021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16,880 دج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734955" y="549021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60,000+ دج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93749" y="5490210"/>
            <a:ext cx="10050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180,000+ دج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544955" y="549021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42,000+ دج</a:t>
            </a:r>
          </a:p>
        </p:txBody>
      </p:sp>
      <p:sp>
        <p:nvSpPr>
          <p:cNvPr id="52" name="Line 52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369570" y="6284595"/>
            <a:ext cx="12830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مقارنة السوق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571506" y="6284595"/>
            <a:ext cx="1048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التميّز التنافسي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45314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64031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03 | نموذج الإيرادات وال pricing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29686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نماذجالأسعار مرنة وقابلة للتوسع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81125"/>
            <a:ext cx="552450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81125"/>
            <a:ext cx="55245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62125"/>
            <a:ext cx="5524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851672" y="1549718"/>
            <a:ext cx="29641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النموذج الأساسي: SaaS + تصاريح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047875"/>
            <a:ext cx="25717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6200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29665" y="2220278"/>
            <a:ext cx="10410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اشتراكات SaaS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0618" y="2514124"/>
            <a:ext cx="1318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Start: 1,490 دج/شهر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0618" y="2799874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Pro: 3,990 دج/شهر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1570" y="3093720"/>
            <a:ext cx="16730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100% KPI - معدل احتفاظ 92%+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524250" y="2047875"/>
            <a:ext cx="2381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352425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844290" y="2220278"/>
            <a:ext cx="1371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G50 - تصاريح شهرية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45242" y="2514124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490 دج/تصريح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45242" y="2799874"/>
            <a:ext cx="1103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شهري بدون اشتراك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46195" y="3093720"/>
            <a:ext cx="14870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نظام DACHSER - غير محدود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1381125"/>
            <a:ext cx="552450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286500" y="1381125"/>
            <a:ext cx="5524500" cy="476250"/>
          </a:xfrm>
          <a:prstGeom prst="roundRect">
            <a:avLst>
              <a:gd name="adj" fmla="val 24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802951" y="1549718"/>
            <a:ext cx="24915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التوسع المستقبلي: 3 محاور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77000" y="2047875"/>
            <a:ext cx="1619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47700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55118" y="2228374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B2B SaaS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6070" y="2522220"/>
            <a:ext cx="916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مكاتب المحاسبة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6070" y="2807970"/>
            <a:ext cx="12170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تسيير متعدد العملاء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6070" y="309372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Year 2+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239125" y="2047875"/>
            <a:ext cx="1619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8239125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417242" y="2228374"/>
            <a:ext cx="12261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Gestion Comptable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18195" y="252222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Day 1 - إصدار فواتير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18195" y="280797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Journal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18195" y="309372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Year 3+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0001250" y="2047875"/>
            <a:ext cx="1619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1000125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179368" y="2228374"/>
            <a:ext cx="9326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B2G / Banques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80320" y="2522220"/>
            <a:ext cx="10249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API Tax Clearance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180320" y="280797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5+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180320" y="309372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B2G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000500"/>
            <a:ext cx="112395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571500" y="4000500"/>
            <a:ext cx="112395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571500" y="4381500"/>
            <a:ext cx="11239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817860" y="4178618"/>
            <a:ext cx="27467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الاقتصاديات الأولية والتوسع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62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762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035368" y="4895374"/>
            <a:ext cx="1357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متوسط الدخل لكل عميل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21080" y="5154930"/>
            <a:ext cx="12735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4,150 دج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36320" y="557022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ARPU شهري</a:t>
            </a:r>
          </a:p>
        </p:txBody>
      </p:sp>
      <p:sp>
        <p:nvSpPr>
          <p:cNvPr id="57" name="Rectangle 57"/>
          <p:cNvSpPr/>
          <p:nvPr/>
        </p:nvSpPr>
        <p:spPr>
          <a:xfrm>
            <a:off x="2667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2667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2940368" y="4895374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نسبة التحويل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926080" y="5154930"/>
            <a:ext cx="92074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2.5%+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941320" y="5570220"/>
            <a:ext cx="7309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Trial -&gt; Paid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572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4572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4845368" y="489537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CAC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831080" y="5154930"/>
            <a:ext cx="12735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7,108 دج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846320" y="5570220"/>
            <a:ext cx="11930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cost per acquisition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477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6477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6750368" y="489537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LTV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736080" y="5154930"/>
            <a:ext cx="143531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75,335 دج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751320" y="5570220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CLV/CAC = 10.6x</a:t>
            </a:r>
          </a:p>
        </p:txBody>
      </p:sp>
      <p:sp>
        <p:nvSpPr>
          <p:cNvPr id="72" name="Rectangle 72"/>
          <p:cNvSpPr/>
          <p:nvPr/>
        </p:nvSpPr>
        <p:spPr>
          <a:xfrm>
            <a:off x="8382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8654415" y="4887278"/>
            <a:ext cx="999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Target Clients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641080" y="5154930"/>
            <a:ext cx="8619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1,825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656320" y="5570220"/>
            <a:ext cx="388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Year 1</a:t>
            </a:r>
          </a:p>
        </p:txBody>
      </p:sp>
      <p:sp>
        <p:nvSpPr>
          <p:cNvPr id="76" name="Rectangle 76"/>
          <p:cNvSpPr/>
          <p:nvPr/>
        </p:nvSpPr>
        <p:spPr>
          <a:xfrm>
            <a:off x="10287000" y="4714875"/>
            <a:ext cx="1333500" cy="1143000"/>
          </a:xfrm>
          <a:prstGeom prst="roundRect">
            <a:avLst>
              <a:gd name="adj" fmla="val 6667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10464165" y="4887278"/>
            <a:ext cx="9647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Clients Year 5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0450830" y="5154930"/>
            <a:ext cx="8619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7,300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466070" y="55702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10x growth</a:t>
            </a:r>
          </a:p>
        </p:txBody>
      </p:sp>
      <p:sp>
        <p:nvSpPr>
          <p:cNvPr id="80" name="Line 8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369570" y="645604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355479" y="6456045"/>
            <a:ext cx="1481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نموذج الإيرادات والتوسع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453146" y="64398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الدراسة المالية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3542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الجدوى المالية وتحليل السيناريوهات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616458" y="6331268"/>
            <a:ext cx="32116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- أرقام واقعية وقابلة للتحقق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الدراسة المالية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8223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الجدوى المالية ومؤشرات الأداء الرئيسية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561576" y="6331268"/>
            <a:ext cx="226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- نموذج أعمال حديث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669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04 | الجدوى المالية - Year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9857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مؤشرات Year 1 - 1,500 مقاول + 12 مكتب محاسبة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12580" y="1582102"/>
            <a:ext cx="1384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CA (إيرادات Year 1)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4161" y="1839278"/>
            <a:ext cx="92167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9.6M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381375" y="13335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969949" y="1582102"/>
            <a:ext cx="1489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Marge Nette (Year 1)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55849" y="1839278"/>
            <a:ext cx="11180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46.6%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0" y="13335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779824" y="1582102"/>
            <a:ext cx="1489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Marge Brute (Year 1)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65724" y="1839278"/>
            <a:ext cx="11180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75.1%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001125" y="1333500"/>
            <a:ext cx="2619375" cy="1143000"/>
          </a:xfrm>
          <a:prstGeom prst="roundRect">
            <a:avLst>
              <a:gd name="adj" fmla="val 1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90640" y="1582102"/>
            <a:ext cx="1230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Trésorerie Year 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47024" y="1839278"/>
            <a:ext cx="11180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+1.6M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714625"/>
            <a:ext cx="1104900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71500" y="2714625"/>
            <a:ext cx="110490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3048000"/>
            <a:ext cx="110490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741513" y="2864168"/>
            <a:ext cx="27089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P&amp;L Year 1 - ميزانية النتيجة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3381375"/>
            <a:ext cx="352425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39165" y="3553778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Chiffre d'affaires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13577" y="35375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9,600,000 دج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476750" y="3381375"/>
            <a:ext cx="352425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653915" y="3553778"/>
            <a:ext cx="1230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Charges variables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37827" y="35375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2,390,400 دج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191500" y="3381375"/>
            <a:ext cx="3238500" cy="428625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68665" y="3553778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Marge brute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35935" y="3537585"/>
            <a:ext cx="18283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7,209,600 دج (75.1%)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3952875"/>
            <a:ext cx="533400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939165" y="4125278"/>
            <a:ext cx="15038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Charges fixes totales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32827" y="41090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2,322,000 دج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286500" y="3952875"/>
            <a:ext cx="2857500" cy="428625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463665" y="4125278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Résultat net Year 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80827" y="41090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4,487,600 دج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334500" y="3952875"/>
            <a:ext cx="2095500" cy="428625"/>
          </a:xfrm>
          <a:prstGeom prst="roundRect">
            <a:avLst>
              <a:gd name="adj" fmla="val 13333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511665" y="412527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Trésorerie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09645" y="4109085"/>
            <a:ext cx="9545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+1,565,600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4524375"/>
            <a:ext cx="10858500" cy="1905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013109" y="4561999"/>
            <a:ext cx="4165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Lato Light"/>
                <a:ea typeface="Microsoft YaHei"/>
                <a:cs typeface="Lato Light"/>
              </a:rPr>
              <a:t>Marge Nette = 46.6% - Marge Brute = 75.1% - Trésorerie = +1.6M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5095875"/>
            <a:ext cx="5429250" cy="13335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571500" y="5095875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38212" y="5260181"/>
            <a:ext cx="159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تحليل الأداء المالي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40118" y="5562124"/>
            <a:ext cx="33596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حصة مالية قوية (46.6%) - أعلى من SaaS benchmarks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40118" y="5800249"/>
            <a:ext cx="28656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هامش خالص 75.1% - نموذج SaaS عالي الربحية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40118" y="6038374"/>
            <a:ext cx="22610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تدفق نقدي إيجابي من السنة الأولى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191250" y="5095875"/>
            <a:ext cx="5429250" cy="13335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6191250" y="5095875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557962" y="5260181"/>
            <a:ext cx="8555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نقاط القوة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559868" y="5562124"/>
            <a:ext cx="21180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CLV/CAC = 10.6x - استثمار مربح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559868" y="5800249"/>
            <a:ext cx="22285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B2B + B2C = تنوع مصادر الإيرادات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59868" y="6038374"/>
            <a:ext cx="20465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توسع مضمون في 3 شرائح مستهدفة</a:t>
            </a:r>
          </a:p>
        </p:txBody>
      </p:sp>
      <p:sp>
        <p:nvSpPr>
          <p:cNvPr id="58" name="Line 58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9570" y="6713220"/>
            <a:ext cx="19671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 - P&amp;L Year 1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36489" y="6713220"/>
            <a:ext cx="13190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الجدوى المالية Year 1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53146" y="669702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68414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| الدراسة المالية - القوائم المالية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7680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التمويل المطلوب: 3,880,000 دج - BEP في الشهر 4 - VAN: +79.6M دج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476250"/>
          </a:xfrm>
          <a:prstGeom prst="roundRect">
            <a:avLst>
              <a:gd name="adj" fmla="val 12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392805" y="1516856"/>
            <a:ext cx="5483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البيان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62587" y="1516856"/>
            <a:ext cx="10288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السنة الأولى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01851" y="1516856"/>
            <a:ext cx="808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الملاحظات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857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849362" y="2050256"/>
            <a:ext cx="16352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الإيرادات التشغيلية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28293" y="20421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9,600,000 دج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00518" y="20664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960 عميل × 10,000 دج/شهر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428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935998" y="2621756"/>
            <a:ext cx="14620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الإجمالية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28293" y="26136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5,265,000 دج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07782" y="2637949"/>
            <a:ext cx="1396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تشغيل + تسويق + تطوير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000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758788" y="3193256"/>
            <a:ext cx="18164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صافي الربح قبل الضرائب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28293" y="31851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4,335,000 دج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67837" y="3201352"/>
            <a:ext cx="12763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هامش صافي +45.2%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571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565827" y="3764756"/>
            <a:ext cx="22023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التدفقات النقدية التراكمية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35882" y="3756660"/>
            <a:ext cx="12822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+79,600,000 دج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06057" y="3780949"/>
            <a:ext cx="9998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VAN على 3 سنوات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143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715470" y="4336256"/>
            <a:ext cx="19030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معدل الخصم الداخلي (DR)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70299" y="4328160"/>
            <a:ext cx="10134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سنة + 9 أشهر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18296" y="4352449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استرداد سريع جداً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714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912370" y="4907756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نقطة التعادل (BEP)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1275" y="4899660"/>
            <a:ext cx="13914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الشهر 4 | 61 عميل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61313" y="4923949"/>
            <a:ext cx="8893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BEP مبكر جداً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286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640649" y="5479256"/>
            <a:ext cx="20527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هامش الربح التشغيلي (OM)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67723" y="5471160"/>
            <a:ext cx="618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+46.6%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27284" y="5495449"/>
            <a:ext cx="1357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هامش صافي مرتفع جداً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5857875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589455" y="6041231"/>
            <a:ext cx="21550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العائد على الاستثمار (ROI)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260135" y="6033135"/>
            <a:ext cx="4337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247%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98793" y="6057424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العائد على 3 سنوات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66559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604510" y="66655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القوائم المالية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53146" y="6649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8608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04 | تحليل السيناريوهات والمخاطر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7058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3 سيناريوهات: متفائل (+20%) | واقعي | متشائم (-20%)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110490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14500"/>
            <a:ext cx="110490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612525" y="1527810"/>
            <a:ext cx="5849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المؤشر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84035" y="1527810"/>
            <a:ext cx="12234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متفائل (+20%)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49731" y="1527810"/>
            <a:ext cx="492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واقعي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4535" y="1527810"/>
            <a:ext cx="12234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متشائم (-20%)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04025" y="1527810"/>
            <a:ext cx="5849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ملاحظة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200025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87602" y="2153602"/>
            <a:ext cx="10347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العملاء Year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880265" y="215360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2,190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80515" y="215360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1,515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80765" y="215360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1,212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74766" y="216169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الحد الأدنى مقبول: 1,212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247650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580126" y="2629852"/>
            <a:ext cx="6497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CA Year 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78114" y="26298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11,520,000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18795" y="2629852"/>
            <a:ext cx="7544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9,600,000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19045" y="2629852"/>
            <a:ext cx="7544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7,680,000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56026" y="2637949"/>
            <a:ext cx="14809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CA = clients × ARPU × 12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295275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464612" y="3106102"/>
            <a:ext cx="8807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Résultat net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78114" y="310610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+5,405,500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78364" y="310610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+4,487,600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78614" y="310610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+3,543,400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39012" y="31141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إيجابي في كل السيناريوهات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342900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524119" y="35823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Trésorerie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678114" y="35823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+1,878,700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78364" y="35823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+1,565,600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78614" y="35823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+1,239,600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10521" y="3590449"/>
            <a:ext cx="1571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تدفق نقدي إيجابي دائماً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390525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471612" y="40586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Marge Nette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865563" y="405860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46.9%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865813" y="405860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46.7%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866063" y="405860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46.1%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674566" y="406669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مستقر &gt;= 46%</a:t>
            </a:r>
          </a:p>
        </p:txBody>
      </p:sp>
      <p:sp>
        <p:nvSpPr>
          <p:cNvPr id="48" name="Rectangle 48"/>
          <p:cNvSpPr/>
          <p:nvPr/>
        </p:nvSpPr>
        <p:spPr>
          <a:xfrm>
            <a:off x="762000" y="438150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268587" y="4534852"/>
            <a:ext cx="12728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Délai récupération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656062" y="4534852"/>
            <a:ext cx="8793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1 ans 7 mois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56312" y="4534852"/>
            <a:ext cx="8793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1 ans 9 mois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616132" y="4534852"/>
            <a:ext cx="9602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1 ans 11 mois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560802" y="45429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&lt; 2 سنوات دائماً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4857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571500" y="4857750"/>
            <a:ext cx="57150" cy="161925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38212" y="5022056"/>
            <a:ext cx="13753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المخاطر الرئيسية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0118" y="5323999"/>
            <a:ext cx="21830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التأخر عن السوق (slow adoption)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40118" y="5562124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تغييرات تشريعية مفاجئة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40118" y="5800249"/>
            <a:ext cx="21505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منافسة من مكاتب محاسبة تقليدية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40118" y="6038374"/>
            <a:ext cx="19360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بنية تحتية تقنية في الجزائر</a:t>
            </a:r>
          </a:p>
        </p:txBody>
      </p:sp>
      <p:sp>
        <p:nvSpPr>
          <p:cNvPr id="61" name="Rectangle 61"/>
          <p:cNvSpPr/>
          <p:nvPr/>
        </p:nvSpPr>
        <p:spPr>
          <a:xfrm>
            <a:off x="6191250" y="4857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62" name="Rectangle 62"/>
          <p:cNvSpPr/>
          <p:nvPr/>
        </p:nvSpPr>
        <p:spPr>
          <a:xfrm>
            <a:off x="6191250" y="4857750"/>
            <a:ext cx="57150" cy="1619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557962" y="5022056"/>
            <a:ext cx="8555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نقاط القوة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559868" y="5323999"/>
            <a:ext cx="18254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إيجابي في كل السيناريوهات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59868" y="5562124"/>
            <a:ext cx="14679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هامش ربح عالي ومستقر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559868" y="58002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نموذج SaaS قابل للتوسع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59868" y="6038374"/>
            <a:ext cx="15394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CLV/CAC = 10.6x ممتاز</a:t>
            </a:r>
          </a:p>
        </p:txBody>
      </p:sp>
      <p:sp>
        <p:nvSpPr>
          <p:cNvPr id="68" name="Line 68"/>
          <p:cNvSpPr/>
          <p:nvPr/>
        </p:nvSpPr>
        <p:spPr>
          <a:xfrm>
            <a:off x="381000" y="6667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369570" y="6741795"/>
            <a:ext cx="25251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 - تحليل السيناريوهات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223462" y="6741795"/>
            <a:ext cx="17450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تحليل السيناريوهات والمخاطر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453146" y="67256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674267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| الدراسة المالية - مؤشرات الأداء الرئيسية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869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حقق نتائج استثنائية: VAN +79.6M | DR 1y9m | BEP 4 months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51156" y="1594485"/>
            <a:ext cx="216493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6A34A"/>
                </a:solidFill>
                <a:latin typeface="Georgia"/>
                <a:ea typeface="Microsoft YaHei"/>
                <a:cs typeface="Georgia"/>
              </a:rPr>
              <a:t>+79.6M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1882" y="2330768"/>
            <a:ext cx="2803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القيمة المضافة الصافية (VAN)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4618" y="2648902"/>
            <a:ext cx="2778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التدفقات النقدية التراكمية على 3 سنوات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3241" y="3108960"/>
            <a:ext cx="23407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العائد على الاستثمار: 247%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336972" y="1594485"/>
            <a:ext cx="151805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66CC"/>
                </a:solidFill>
                <a:latin typeface="Georgia"/>
                <a:ea typeface="Microsoft YaHei"/>
                <a:cs typeface="Georgia"/>
              </a:rPr>
              <a:t>1y9m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54164" y="2330768"/>
            <a:ext cx="22836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معدل الخصم الداخلي (DR)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18532" y="2648902"/>
            <a:ext cx="2154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التعافي السريع جداً للاستثمار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43093" y="3108960"/>
            <a:ext cx="11058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أقل من 24 شهر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96250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096250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81595" y="1594485"/>
            <a:ext cx="75356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891B2"/>
                </a:solidFill>
                <a:latin typeface="Georgia"/>
                <a:ea typeface="Microsoft YaHei"/>
                <a:cs typeface="Georgia"/>
              </a:rPr>
              <a:t>61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52819" y="2330768"/>
            <a:ext cx="18111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نقطة التعادل (BEP)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56491" y="2648902"/>
            <a:ext cx="8037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الشهر 4 فقط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2054" y="3108960"/>
            <a:ext cx="13326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61 عميل للتعادل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71500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412877" y="4023360"/>
            <a:ext cx="184149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7C3AED"/>
                </a:solidFill>
                <a:latin typeface="Georgia"/>
                <a:ea typeface="Microsoft YaHei"/>
                <a:cs typeface="Georgia"/>
              </a:rPr>
              <a:t>46.6%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2003" y="4759642"/>
            <a:ext cx="24632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هامش الربح التشغيلي (OM)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02700" y="5077778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هامش صافي مرتفع جداً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58090" y="5537835"/>
            <a:ext cx="15510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+45.2% صافي الربح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333875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4333875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175252" y="4023360"/>
            <a:ext cx="184149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EA580C"/>
                </a:solidFill>
                <a:latin typeface="Georgia"/>
                <a:ea typeface="Microsoft YaHei"/>
                <a:cs typeface="Georgia"/>
              </a:rPr>
              <a:t>3.88M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30536" y="4759642"/>
            <a:ext cx="23309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التمويل المطلوب (CAPEX)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55049" y="5077778"/>
            <a:ext cx="1881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التكاليف الثابتة المتغيرة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72496" y="5537835"/>
            <a:ext cx="10470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أقل من 4M دج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096250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096250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319874" y="4023360"/>
            <a:ext cx="107700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DC2626"/>
                </a:solidFill>
                <a:latin typeface="Georgia"/>
                <a:ea typeface="Microsoft YaHei"/>
                <a:cs typeface="Georgia"/>
              </a:rPr>
              <a:t>960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56632" y="4759642"/>
            <a:ext cx="2803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العملاء المستهدفون (السنة 1)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52428" y="5077778"/>
            <a:ext cx="18118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النمو المتوقع خلال 12 شهر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55874" y="5537835"/>
            <a:ext cx="10050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80 عميل/شهر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1436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33222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88483" y="6332220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مؤشرات الأداء الرئيسية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53146" y="631602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757521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النموذج التجريبي والتقني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36341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عرض حي للمنصة والبنية التقنية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012507" y="6331268"/>
            <a:ext cx="28156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- من التصميم إلى التطبيق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513470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النموذج التجريبي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28180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عرض تفاعلي لمنصة MATAX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62564" y="6331268"/>
            <a:ext cx="2365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- منصة حية ومتكاملة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0372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05 | النموذج التجريبي - العرض الحي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327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عرض حي للمنصة - الانتقال من التصميم إلى التطبيق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5524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5524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666875"/>
            <a:ext cx="5524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88569" y="1489710"/>
            <a:ext cx="22903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المكونات الأساسية لل-demo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0118" y="2085499"/>
            <a:ext cx="1458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لوحة التحكم الرئيسية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1070" y="2331720"/>
            <a:ext cx="11510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مؤشرات مالية فورية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381375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559492" y="2085499"/>
            <a:ext cx="10418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إدارة التصاريح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60445" y="2331720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تلقائي G50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0118" y="286654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التنبيهات الذكية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381375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559492" y="286654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الأرشفة السحابية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333500"/>
            <a:ext cx="5524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86500" y="1333500"/>
            <a:ext cx="5524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86500" y="1666875"/>
            <a:ext cx="5524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36223" y="1489710"/>
            <a:ext cx="14250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جوانب العرض الحي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477000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655118" y="2085499"/>
            <a:ext cx="1308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سير العمل النموذجي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6070" y="2331720"/>
            <a:ext cx="13850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من التسجيل إلى التصريح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096375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274492" y="2085499"/>
            <a:ext cx="14172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التحليلات والتقارير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75445" y="2331720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معدلات الأداء والكفاءة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655118" y="2866549"/>
            <a:ext cx="10418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تجربة المستخدم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096375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274492" y="286654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الأمان والخصوصية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3429000"/>
            <a:ext cx="112395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571500" y="3429000"/>
            <a:ext cx="11239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71500" y="3762375"/>
            <a:ext cx="11239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550132" y="3585210"/>
            <a:ext cx="12822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البنية التقنية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497030" y="4180999"/>
            <a:ext cx="6254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Frontend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84268" y="4398645"/>
            <a:ext cx="850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React/Next.js</a:t>
            </a:r>
          </a:p>
        </p:txBody>
      </p:sp>
      <p:sp>
        <p:nvSpPr>
          <p:cNvPr id="45" name="Rectangle 45"/>
          <p:cNvSpPr/>
          <p:nvPr/>
        </p:nvSpPr>
        <p:spPr>
          <a:xfrm>
            <a:off x="3048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3820572" y="4180999"/>
            <a:ext cx="5503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Backend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604260" y="43986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Node.js/Express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334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069030" y="4180999"/>
            <a:ext cx="6254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Database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028277" y="4398645"/>
            <a:ext cx="706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ECDD3"/>
                </a:solidFill>
                <a:latin typeface="Lato Light"/>
                <a:ea typeface="Microsoft YaHei"/>
                <a:cs typeface="Lato Light"/>
              </a:rPr>
              <a:t>PostgreSQL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620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484721" y="4180999"/>
            <a:ext cx="366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Cloud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56282" y="439864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0FDF4"/>
                </a:solidFill>
                <a:latin typeface="Lato Light"/>
                <a:ea typeface="Microsoft YaHei"/>
                <a:cs typeface="Lato Light"/>
              </a:rPr>
              <a:t>Cloudflare</a:t>
            </a:r>
          </a:p>
        </p:txBody>
      </p:sp>
      <p:sp>
        <p:nvSpPr>
          <p:cNvPr id="54" name="Rectangle 54"/>
          <p:cNvSpPr/>
          <p:nvPr/>
        </p:nvSpPr>
        <p:spPr>
          <a:xfrm>
            <a:off x="9906000" y="4000500"/>
            <a:ext cx="1714500" cy="619125"/>
          </a:xfrm>
          <a:prstGeom prst="roundRect">
            <a:avLst>
              <a:gd name="adj" fmla="val 12308"/>
            </a:avLst>
          </a:prstGeom>
          <a:solidFill>
            <a:srgbClr val="31ACE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0467595" y="4180999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Security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520791" y="4398645"/>
            <a:ext cx="4849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256-SSL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71500" y="4953000"/>
            <a:ext cx="112395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571500" y="4953000"/>
            <a:ext cx="11239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571500" y="5286375"/>
            <a:ext cx="11239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478723" y="5109210"/>
            <a:ext cx="14250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خطوات العرض الحي</a:t>
            </a:r>
          </a:p>
        </p:txBody>
      </p:sp>
      <p:sp>
        <p:nvSpPr>
          <p:cNvPr id="61" name="Rectangle 61"/>
          <p:cNvSpPr/>
          <p:nvPr/>
        </p:nvSpPr>
        <p:spPr>
          <a:xfrm>
            <a:off x="76200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1391385" y="57049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1. التسجيل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52633" y="5951220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إنشاء حساب مجاني</a:t>
            </a:r>
          </a:p>
        </p:txBody>
      </p:sp>
      <p:sp>
        <p:nvSpPr>
          <p:cNvPr id="64" name="Rectangle 64"/>
          <p:cNvSpPr/>
          <p:nvPr/>
        </p:nvSpPr>
        <p:spPr>
          <a:xfrm>
            <a:off x="295275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449031" y="5704999"/>
            <a:ext cx="10076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2. إعداد الملف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494389" y="5951220"/>
            <a:ext cx="916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إدخال البيانات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14350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5772885" y="57049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3. التصريح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634133" y="5951220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G50 تلقائي</a:t>
            </a:r>
          </a:p>
        </p:txBody>
      </p:sp>
      <p:sp>
        <p:nvSpPr>
          <p:cNvPr id="70" name="Rectangle 70"/>
          <p:cNvSpPr/>
          <p:nvPr/>
        </p:nvSpPr>
        <p:spPr>
          <a:xfrm>
            <a:off x="733425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7926093" y="5704999"/>
            <a:ext cx="8165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4. المتابعة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842885" y="5951220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تنبيهات وتقارير</a:t>
            </a:r>
          </a:p>
        </p:txBody>
      </p:sp>
      <p:sp>
        <p:nvSpPr>
          <p:cNvPr id="73" name="Rectangle 73"/>
          <p:cNvSpPr/>
          <p:nvPr/>
        </p:nvSpPr>
        <p:spPr>
          <a:xfrm>
            <a:off x="9525000" y="5524500"/>
            <a:ext cx="2095500" cy="666750"/>
          </a:xfrm>
          <a:prstGeom prst="roundRect">
            <a:avLst>
              <a:gd name="adj" fmla="val 11429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10202010" y="57049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5. الأرشفة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865233" y="5951220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النسخ الاحتياطي سحابية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457450" y="5695950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-&gt;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648200" y="5695950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-&gt;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838950" y="5695950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-&gt;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029700" y="5695950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-&gt;</a:t>
            </a:r>
          </a:p>
        </p:txBody>
      </p:sp>
      <p:sp>
        <p:nvSpPr>
          <p:cNvPr id="80" name="Line 80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369570" y="6617970"/>
            <a:ext cx="23931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 - النموذج التجريبي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553504" y="6617970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العرض الحي للمنصة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453146" y="660177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0372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| النموذج التجريبي - عرض المنصة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9129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MATAX: واجهة عربية سلسة - لا حاجة لخبرة محاسبية مسبقة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53340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5334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62125"/>
            <a:ext cx="5334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437102" y="1533525"/>
            <a:ext cx="16027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التطبيق الجوال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809750" y="2000250"/>
            <a:ext cx="285750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2571750" y="2047875"/>
            <a:ext cx="15240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2000250" y="2286000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391556" y="2461260"/>
            <a:ext cx="1693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 - لوحة التحكم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00250" y="2905125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416766" y="320944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لوحة تحكم المقاول]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000250" y="3714750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543532" y="4019074"/>
            <a:ext cx="1389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قائمة الجباية]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000250" y="4524375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507778" y="4723924"/>
            <a:ext cx="14614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إعدادات الحساب]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333500"/>
            <a:ext cx="53340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86500" y="1333500"/>
            <a:ext cx="5334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86500" y="1762125"/>
            <a:ext cx="5334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800308" y="1533525"/>
            <a:ext cx="23063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لوحة التحكم على الويب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762750" y="2000250"/>
            <a:ext cx="4381500" cy="31432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762750" y="2000250"/>
            <a:ext cx="4381500" cy="333375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762750" y="2238375"/>
            <a:ext cx="4381500" cy="952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6877050" y="2105025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7067550" y="2105025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7258050" y="2105025"/>
            <a:ext cx="114300" cy="114300"/>
          </a:xfrm>
          <a:prstGeom prst="ellipse">
            <a:avLst/>
          </a:prstGeom>
          <a:solidFill>
            <a:srgbClr val="27CA4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191500" y="2095500"/>
            <a:ext cx="1905000" cy="133350"/>
          </a:xfrm>
          <a:prstGeom prst="roundRect">
            <a:avLst>
              <a:gd name="adj" fmla="val 214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953250" y="2476500"/>
            <a:ext cx="4000500" cy="47625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850324" y="2651760"/>
            <a:ext cx="2206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 - لوحة تحكم المحاسب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953250" y="3095625"/>
            <a:ext cx="4000500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060257" y="349519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إدارة محفظة العملاء]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953250" y="4095750"/>
            <a:ext cx="4000500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52994" y="4542949"/>
            <a:ext cx="20010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تقارير الجباية والتصرح]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55245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762000" y="566737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38212" y="5850731"/>
            <a:ext cx="17297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🌐 واجهة عربية بالكامل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191000" y="566737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367212" y="5850731"/>
            <a:ext cx="14698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📱 متوافق مع الجوال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620000" y="5667375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796212" y="5850731"/>
            <a:ext cx="12966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🚀 سرعة في الأداء</a:t>
            </a:r>
          </a:p>
        </p:txBody>
      </p:sp>
      <p:sp>
        <p:nvSpPr>
          <p:cNvPr id="48" name="Line 48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69570" y="6665595"/>
            <a:ext cx="154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النموذج التجريبي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769531" y="66655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عرض المنصة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453146" y="6649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الخطة التنفيذية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المراحل الزمنية ونقاط Milestone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715470" y="6331268"/>
            <a:ext cx="31126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- خطة واقعية وقابلة للتنفيذ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1851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 | فريق العمل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149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فريق مؤسس متكامل بخبرات متنوعة في المحاسبة والتقنية والإشراف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809750" y="1619250"/>
            <a:ext cx="857250" cy="857250"/>
          </a:xfrm>
          <a:prstGeom prst="ellipse">
            <a:avLst/>
          </a:prstGeom>
          <a:solidFill>
            <a:srgbClr val="003366">
              <a:alpha val="1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043415" y="1880235"/>
            <a:ext cx="38992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HI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8006" y="2552700"/>
            <a:ext cx="114073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حموم إكرام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80645" y="2850356"/>
            <a:ext cx="1115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صاحبة المشروع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3623" y="3085624"/>
            <a:ext cx="1929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محاسبة + تكنولوجيا المعلومات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910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1910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5429250" y="1619250"/>
            <a:ext cx="857250" cy="857250"/>
          </a:xfrm>
          <a:prstGeom prst="ellipse">
            <a:avLst/>
          </a:prstGeom>
          <a:solidFill>
            <a:srgbClr val="0066CC">
              <a:alpha val="1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577854" y="1880235"/>
            <a:ext cx="5600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66CC"/>
                </a:solidFill>
                <a:latin typeface="Georgia"/>
                <a:ea typeface="Microsoft YaHei"/>
                <a:cs typeface="Georgia"/>
              </a:rPr>
              <a:t>BM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1992" y="2552700"/>
            <a:ext cx="13717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بلعباس مختار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03245" y="2850356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المشرف على المشروع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32691" y="3085624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أستاذ محاسبة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8105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9048750" y="1619250"/>
            <a:ext cx="857250" cy="857250"/>
          </a:xfrm>
          <a:prstGeom prst="ellipse">
            <a:avLst/>
          </a:prstGeom>
          <a:solidFill>
            <a:srgbClr val="0099AA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197354" y="1880235"/>
            <a:ext cx="5600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99AA"/>
                </a:solidFill>
                <a:latin typeface="Georgia"/>
                <a:ea typeface="Microsoft YaHei"/>
                <a:cs typeface="Georgia"/>
              </a:rPr>
              <a:t>MF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49249" y="2552700"/>
            <a:ext cx="12562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مفتاح فاطمة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79427" y="2850356"/>
            <a:ext cx="159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99AA"/>
                </a:solidFill>
                <a:latin typeface="Arial"/>
                <a:ea typeface="Microsoft YaHei"/>
                <a:cs typeface="Arial"/>
              </a:rPr>
              <a:t>المشرفة على المشروع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16436" y="3085624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أستاذة محاسبة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524250"/>
            <a:ext cx="11049000" cy="276225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3524250"/>
            <a:ext cx="11049000" cy="476250"/>
          </a:xfrm>
          <a:prstGeom prst="roundRect">
            <a:avLst>
              <a:gd name="adj" fmla="val 24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3905250"/>
            <a:ext cx="11049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322761" y="3702368"/>
            <a:ext cx="15464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الخريطة الزمنية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620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4949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المرحلة 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25047" y="4552474"/>
            <a:ext cx="959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MVP &amp; الإطلاق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44539" y="4770120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0-6 أشهر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23064" y="4892516"/>
            <a:ext cx="563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+400 عميل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2385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32385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9714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المرحلة 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898134" y="4552474"/>
            <a:ext cx="9667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التوسع والنمو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121039" y="4770120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6-18 شهر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99564" y="4892516"/>
            <a:ext cx="563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+960 عميل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7150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4479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المرحلة 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24465" y="4552474"/>
            <a:ext cx="12670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الابتكار والتمكين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64535" y="477012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18-36 شهر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12531" y="4892516"/>
            <a:ext cx="6909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+2,500 عميل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191500" y="4143375"/>
            <a:ext cx="3238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8191500" y="4143375"/>
            <a:ext cx="3238500" cy="571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40066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المرحلة 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214757" y="4552474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الريادة والتوطين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583293" y="477012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36+ شهر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193822" y="4892516"/>
            <a:ext cx="12338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ريادة السوق الجزائري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62000" y="5238750"/>
            <a:ext cx="1047750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762000" y="5238750"/>
            <a:ext cx="57150" cy="809625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128712" y="5374481"/>
            <a:ext cx="14620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المراحل الرئيسية: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0618" y="5609749"/>
            <a:ext cx="45233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BEP الشهر 4 | 400 عميل السنة 1 | 960 عميل الشهر 12 | 2,500 عميل الشهر 36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30618" y="5828824"/>
            <a:ext cx="4061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توسيع Zakat &amp; Douane في 2026 | AI/ML للاستشراف الضريبي في 2027</a:t>
            </a:r>
          </a:p>
        </p:txBody>
      </p:sp>
      <p:sp>
        <p:nvSpPr>
          <p:cNvPr id="64" name="Line 64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69570" y="647509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خطة العمل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38464" y="6475095"/>
            <a:ext cx="17150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فريق العمل والخريطة الزمنية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53146" y="6458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5959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06 | الخطة التنفيذية والخريطة الزمنية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8867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4 مراحل رئيسية - 10 محاور زمنية - Year 1-5+</a:t>
            </a:r>
          </a:p>
        </p:txBody>
      </p:sp>
      <p:sp>
        <p:nvSpPr>
          <p:cNvPr id="10" name="Line 10"/>
          <p:cNvSpPr/>
          <p:nvPr/>
        </p:nvSpPr>
        <p:spPr>
          <a:xfrm>
            <a:off x="1143000" y="1524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771650" y="1390650"/>
            <a:ext cx="266700" cy="266700"/>
          </a:xfrm>
          <a:prstGeom prst="ellipse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811660" y="14839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0609" y="179974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MVP Launch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1535" y="1979295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50 مستخدم</a:t>
            </a:r>
          </a:p>
        </p:txBody>
      </p:sp>
      <p:sp>
        <p:nvSpPr>
          <p:cNvPr id="15" name="Ellipse 15"/>
          <p:cNvSpPr/>
          <p:nvPr/>
        </p:nvSpPr>
        <p:spPr>
          <a:xfrm>
            <a:off x="3390900" y="1390650"/>
            <a:ext cx="266700" cy="266700"/>
          </a:xfrm>
          <a:prstGeom prst="ellipse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430910" y="14839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91052" y="1799749"/>
            <a:ext cx="6663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B2B Ready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97781" y="19792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150 مستخدم</a:t>
            </a:r>
          </a:p>
        </p:txBody>
      </p:sp>
      <p:sp>
        <p:nvSpPr>
          <p:cNvPr id="19" name="Ellipse 19"/>
          <p:cNvSpPr/>
          <p:nvPr/>
        </p:nvSpPr>
        <p:spPr>
          <a:xfrm>
            <a:off x="5010150" y="1390650"/>
            <a:ext cx="266700" cy="2667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050160" y="14839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69347" y="1799749"/>
            <a:ext cx="7483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B2B Clients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17031" y="19792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300 مستخدم</a:t>
            </a:r>
          </a:p>
        </p:txBody>
      </p:sp>
      <p:sp>
        <p:nvSpPr>
          <p:cNvPr id="23" name="Ellipse 23"/>
          <p:cNvSpPr/>
          <p:nvPr/>
        </p:nvSpPr>
        <p:spPr>
          <a:xfrm>
            <a:off x="6629400" y="1390650"/>
            <a:ext cx="266700" cy="2667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34755" y="1483995"/>
            <a:ext cx="2559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M12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92010" y="179974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Y1 Targets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70272" y="197929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1,515 مستخدم</a:t>
            </a:r>
          </a:p>
        </p:txBody>
      </p:sp>
      <p:sp>
        <p:nvSpPr>
          <p:cNvPr id="27" name="Ellipse 27"/>
          <p:cNvSpPr/>
          <p:nvPr/>
        </p:nvSpPr>
        <p:spPr>
          <a:xfrm>
            <a:off x="8248650" y="1390650"/>
            <a:ext cx="266700" cy="266700"/>
          </a:xfrm>
          <a:prstGeom prst="ellipse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01261" y="14839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Y3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68942" y="1799749"/>
            <a:ext cx="12261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Gestion Comptable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9522" y="197929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3,660 مستخدم</a:t>
            </a:r>
          </a:p>
        </p:txBody>
      </p:sp>
      <p:sp>
        <p:nvSpPr>
          <p:cNvPr id="31" name="Ellipse 31"/>
          <p:cNvSpPr/>
          <p:nvPr/>
        </p:nvSpPr>
        <p:spPr>
          <a:xfrm>
            <a:off x="9867900" y="1390650"/>
            <a:ext cx="266700" cy="266700"/>
          </a:xfrm>
          <a:prstGeom prst="ellipse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920511" y="14839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Y5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10033" y="1799749"/>
            <a:ext cx="782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B2G / Banks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08772" y="197929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7,300 مستخدم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2381250"/>
            <a:ext cx="2667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571500" y="2381250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335291" y="2585085"/>
            <a:ext cx="11394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Phase 1 - MVP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87842" y="2895124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M1-M3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10510" y="3188970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50 -&gt; 150 مستخدم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28512" y="3474720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G50 + Dashboard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19488" y="370189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مدة 3 أشهر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429000" y="2381250"/>
            <a:ext cx="2667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3429000" y="2381250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054173" y="2585085"/>
            <a:ext cx="14166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Phase 2 - Growth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09587" y="2895124"/>
            <a:ext cx="5058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M4-M12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168997" y="3188970"/>
            <a:ext cx="1187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150 -&gt; 1,515 مستخدم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34018" y="3474720"/>
            <a:ext cx="856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B2B + Pro Pack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476988" y="370189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مدة 9 أشهر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2381250"/>
            <a:ext cx="2667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6286500" y="2381250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995684" y="2585085"/>
            <a:ext cx="12486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Phase 3 - Scale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337834" y="2895124"/>
            <a:ext cx="5643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2-3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227522" y="3188970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3,660 مستخدم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080504" y="3474720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Gestion Comptable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227225" y="3701891"/>
            <a:ext cx="7855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3+ launch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144000" y="2381250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9144000" y="2381250"/>
            <a:ext cx="2476500" cy="76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526905" y="258508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Phase 4 - Enterprise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064329" y="2895124"/>
            <a:ext cx="635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4-5+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989772" y="3188970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7,300 مستخدم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37778" y="3474720"/>
            <a:ext cx="6889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B2G + Banks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898713" y="3701891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5+ expansion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4143375"/>
            <a:ext cx="11049000" cy="123825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571500" y="4143375"/>
            <a:ext cx="11049000" cy="381000"/>
          </a:xfrm>
          <a:prstGeom prst="roundRect">
            <a:avLst>
              <a:gd name="adj" fmla="val 3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571500" y="4429125"/>
            <a:ext cx="110490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4690386" y="4290060"/>
            <a:ext cx="28112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Key Milestones والنتائج المتوقعة</a:t>
            </a:r>
          </a:p>
        </p:txBody>
      </p:sp>
      <p:sp>
        <p:nvSpPr>
          <p:cNvPr id="67" name="Rectangle 67"/>
          <p:cNvSpPr/>
          <p:nvPr/>
        </p:nvSpPr>
        <p:spPr>
          <a:xfrm>
            <a:off x="76200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1447977" y="4828699"/>
            <a:ext cx="6663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50 مستخدم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49895" y="5035391"/>
            <a:ext cx="8625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M1 - MVP launch</a:t>
            </a:r>
          </a:p>
        </p:txBody>
      </p:sp>
      <p:sp>
        <p:nvSpPr>
          <p:cNvPr id="70" name="Rectangle 70"/>
          <p:cNvSpPr/>
          <p:nvPr/>
        </p:nvSpPr>
        <p:spPr>
          <a:xfrm>
            <a:off x="295275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3601185" y="48286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300 مستخدم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551646" y="5035391"/>
            <a:ext cx="8405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M6 - B2B launch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14350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716851" y="4828699"/>
            <a:ext cx="8916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1,515 مستخدم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728645" y="5035391"/>
            <a:ext cx="8680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M12 - Y1 target</a:t>
            </a:r>
          </a:p>
        </p:txBody>
      </p:sp>
      <p:sp>
        <p:nvSpPr>
          <p:cNvPr id="76" name="Rectangle 76"/>
          <p:cNvSpPr/>
          <p:nvPr/>
        </p:nvSpPr>
        <p:spPr>
          <a:xfrm>
            <a:off x="733425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7907601" y="4828699"/>
            <a:ext cx="8916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3,660 مستخدم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081665" y="5035391"/>
            <a:ext cx="5435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0FDF4"/>
                </a:solidFill>
                <a:latin typeface="Lato Light"/>
                <a:ea typeface="Microsoft YaHei"/>
                <a:cs typeface="Lato Light"/>
              </a:rPr>
              <a:t>Y3 - Scale</a:t>
            </a:r>
          </a:p>
        </p:txBody>
      </p:sp>
      <p:sp>
        <p:nvSpPr>
          <p:cNvPr id="79" name="Rectangle 79"/>
          <p:cNvSpPr/>
          <p:nvPr/>
        </p:nvSpPr>
        <p:spPr>
          <a:xfrm>
            <a:off x="9525000" y="4714875"/>
            <a:ext cx="1905000" cy="523875"/>
          </a:xfrm>
          <a:prstGeom prst="roundRect">
            <a:avLst>
              <a:gd name="adj" fmla="val 14545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10031676" y="4828699"/>
            <a:ext cx="8916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7,300 مستخدم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054471" y="5035391"/>
            <a:ext cx="8460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ECDD3"/>
                </a:solidFill>
                <a:latin typeface="Lato Light"/>
                <a:ea typeface="Microsoft YaHei"/>
                <a:cs typeface="Lato Light"/>
              </a:rPr>
              <a:t>Y5 - Enterprise</a:t>
            </a:r>
          </a:p>
        </p:txBody>
      </p:sp>
      <p:sp>
        <p:nvSpPr>
          <p:cNvPr id="82" name="Rectangle 82"/>
          <p:cNvSpPr/>
          <p:nvPr/>
        </p:nvSpPr>
        <p:spPr>
          <a:xfrm>
            <a:off x="571500" y="5572125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5030629" y="5728335"/>
            <a:ext cx="21307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خطة العمل - 5 محاور زمنية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2527673" y="6038374"/>
            <a:ext cx="71366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M1-M3: MVP (50) -&gt; M4-M6: B2B (300) -&gt; M7-M12: Y1 (1,515) -&gt; Y2-3: Scale (3,660) -&gt; Y5: Enterprise (7,300)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872041" y="6295549"/>
            <a:ext cx="4447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KPI: 1,515 مستخدم Year 1 - 12 مكتب محاسبة - CA 9.6M - 46.6% مarge</a:t>
            </a:r>
          </a:p>
        </p:txBody>
      </p:sp>
      <p:sp>
        <p:nvSpPr>
          <p:cNvPr id="86" name="Line 86"/>
          <p:cNvSpPr/>
          <p:nvPr/>
        </p:nvSpPr>
        <p:spPr>
          <a:xfrm>
            <a:off x="381000" y="6762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369570" y="674179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073444" y="6741795"/>
            <a:ext cx="20451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الخطة التنفيذية والخريطة الزمنية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453146" y="67256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2026-06-10T19:03:26Z</dcterms:created>
  <dcterms:modified xsi:type="dcterms:W3CDTF">2026-06-10T19:03:26Z</dcterms:modified>
  <cp:category/>
  <cp:contentStatus/>
</cp:coreProperties>
</file>