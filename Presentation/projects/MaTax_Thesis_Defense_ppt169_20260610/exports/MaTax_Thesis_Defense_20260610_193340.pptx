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مقدمة سريعة: "مرحباً، أنا حموم إكرام، أقدم لكم مشروع التخرج: منصة MATAX للتجزئة الجبائية الرقمية الذكية"</a:t>
            </a:r>
          </a:p>
          <a:p>
            <a:r>
              <a:rPr lang="zh-CN" dirty="0"/>
              <a:t>• تأكيد على أن المشروع يجمع بين المحاسبة والتقنية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سريع للمحاور الستة</a:t>
            </a:r>
          </a:p>
          <a:p>
            <a:r>
              <a:rPr lang="zh-CN" dirty="0"/>
              <a:t>• التأكيد على أن العرض سيستمر 15 دقيقة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"المشكلة الأساسية: تعقيد الإجراءات الجبائية في الجزائر"</a:t>
            </a:r>
          </a:p>
          <a:p>
            <a:r>
              <a:rPr lang="zh-CN" dirty="0"/>
              <a:t>• "الحل: منصة رقمية ذكية تبسط كل شيء"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المشكلات (الجانب الأيسر):</a:t>
            </a:r>
          </a:p>
          <a:p>
            <a:r>
              <a:rPr lang="zh-CN" dirty="0"/>
              <a:t>1. تعقيد التشريعات الجبائية: صعوبة استيعاب القوانين المالية السنوية</a:t>
            </a:r>
          </a:p>
          <a:p>
            <a:r>
              <a:rPr lang="zh-CN" dirty="0"/>
              <a:t>2. مخاطر الأخطاء البشرية: اليدوية والتأخير</a:t>
            </a:r>
          </a:p>
          <a:p>
            <a:r>
              <a:rPr lang="zh-CN" dirty="0"/>
              <a:t>3. غرامات التأخير: غياب نظام متابعة</a:t>
            </a:r>
          </a:p>
          <a:p>
            <a:r>
              <a:rPr lang="zh-CN" dirty="0"/>
              <a:t>4. التكاليف الباهظة: مكاتب المحاسبة + الأرشفة الورقية</a:t>
            </a:r>
          </a:p>
          <a:p>
            <a:endParaRPr lang="zh-CN" dirty="0"/>
          </a:p>
          <a:p>
            <a:r>
              <a:rPr lang="zh-CN" dirty="0"/>
              <a:t>• الحلول (الجانب الأيمن):</a:t>
            </a:r>
          </a:p>
          <a:p>
            <a:r>
              <a:rPr lang="zh-CN" dirty="0"/>
              <a:t>1. تبسيط الجباية: واجهات سلسة</a:t>
            </a:r>
          </a:p>
          <a:p>
            <a:r>
              <a:rPr lang="zh-CN" dirty="0"/>
              <a:t>2. نظام تنبيه ذكي: SMS والبريد الإلكتروني</a:t>
            </a:r>
          </a:p>
          <a:p>
            <a:r>
              <a:rPr lang="zh-CN" dirty="0"/>
              <a:t>3. الأتمتة: تصريح G50 آلي</a:t>
            </a:r>
          </a:p>
          <a:p>
            <a:r>
              <a:rPr lang="zh-CN" dirty="0"/>
              <a:t>4. أرشفة سحابية: 256-SSL</a:t>
            </a:r>
          </a:p>
          <a:p>
            <a:r>
              <a:rPr lang="zh-CN" dirty="0"/>
              <a:t>5. اشتراكات اقتصادية: أقل 60% من المكاتب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"6 مبادرات تميز MATAX عن أي حلول أخرى"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بسيطة وسلسة: واجهة مستخدم لا تتطلب خبرة مسبقة</a:t>
            </a:r>
          </a:p>
          <a:p>
            <a:r>
              <a:rPr lang="zh-CN" dirty="0"/>
              <a:t>• استباقية واستشراف: تنبيهات قبل المواعيد</a:t>
            </a:r>
          </a:p>
          <a:p>
            <a:r>
              <a:rPr lang="zh-CN" dirty="0"/>
              <a:t>• ملاءمة قانونية: تحديث تلقائي مع القوانين</a:t>
            </a:r>
          </a:p>
          <a:p>
            <a:r>
              <a:rPr lang="zh-CN" dirty="0"/>
              <a:t>• أتمتة شاملة: صفر أخطاء يدوية</a:t>
            </a:r>
          </a:p>
          <a:p>
            <a:r>
              <a:rPr lang="zh-CN" dirty="0"/>
              <a:t>• اشتراكات اقتصادية: 1,490 دج/شهر</a:t>
            </a:r>
          </a:p>
          <a:p>
            <a:r>
              <a:rPr lang="zh-CN" dirty="0"/>
              <a:t>• بنية تحتية سحابية: Cloudflare + تشفير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"3 شرائح مستهدفة و 3 مصادر إيرادات"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الشرائح المستهدفة:</a:t>
            </a:r>
          </a:p>
          <a:p>
            <a:r>
              <a:rPr lang="zh-CN" dirty="0"/>
              <a:t>1. المقاولون والشركات الناشئة: 890,000 مقاول + 46,000 مؤسسة</a:t>
            </a:r>
          </a:p>
          <a:p>
            <a:r>
              <a:rPr lang="zh-CN" dirty="0"/>
              <a:t>2. مكاتب المحاسبة: 2,613 مكتب + 12,560 محاسب</a:t>
            </a:r>
          </a:p>
          <a:p>
            <a:r>
              <a:rPr lang="zh-CN" dirty="0"/>
              <a:t>3. المؤسسات المتوسطة والكبيرة: 58,000 مؤسسة</a:t>
            </a:r>
          </a:p>
          <a:p>
            <a:endParaRPr lang="zh-CN" dirty="0"/>
          </a:p>
          <a:p>
            <a:r>
              <a:rPr lang="zh-CN" dirty="0"/>
              <a:t>• مصادر الإيرادات:</a:t>
            </a:r>
          </a:p>
          <a:p>
            <a:r>
              <a:rPr lang="zh-CN" dirty="0"/>
              <a:t>1. الاشتراكات الشهرية/السنوية: Start 1,490 | Pro 3,490 | Enterprise 5,990</a:t>
            </a:r>
          </a:p>
          <a:p>
            <a:r>
              <a:rPr lang="zh-CN" dirty="0"/>
              <a:t>2. الخدمات الإضافية: دعم + استشارات + تدريب</a:t>
            </a:r>
          </a:p>
          <a:p>
            <a:r>
              <a:rPr lang="zh-CN" dirty="0"/>
              <a:t>3. الشراكات: بنوك + ERP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جدول مقارنة مع المنافسين</a:t>
            </a:r>
          </a:p>
          <a:p>
            <a:r>
              <a:rPr lang="zh-CN" dirty="0"/>
              <a:t>• MATAX يتفوق في: التصريح الآلي + التنبيهات + الأرشفة + الامتثال + التكلفة</a:t>
            </a:r>
          </a:p>
          <a:p>
            <a:r>
              <a:rPr lang="zh-CN" dirty="0"/>
              <a:t>• التكلفة: 1,490 دج فقط مقارنة بـ 5,000-15,000 دج للمنافسين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"الجدوى المالية ممتازة: VAN +79.6M | DR 1y9m | BEP الشهر 4"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الإيرادات: 9,600,000 دج (960 عميل × 10,000 دج)</a:t>
            </a:r>
          </a:p>
          <a:p>
            <a:r>
              <a:rPr lang="zh-CN" dirty="0"/>
              <a:t>• التكاليف: 5,265,000 دج</a:t>
            </a:r>
          </a:p>
          <a:p>
            <a:r>
              <a:rPr lang="zh-CN" dirty="0"/>
              <a:t>• صافي الربح: 4,335,000 دج (هامش +45.2%)</a:t>
            </a:r>
          </a:p>
          <a:p>
            <a:r>
              <a:rPr lang="zh-CN" dirty="0"/>
              <a:t>• VAN: +79,600,000 دج</a:t>
            </a:r>
          </a:p>
          <a:p>
            <a:r>
              <a:rPr lang="zh-CN" dirty="0"/>
              <a:t>• DR: سنة + 9 أشهر</a:t>
            </a:r>
          </a:p>
          <a:p>
            <a:r>
              <a:rPr lang="zh-CN" dirty="0"/>
              <a:t>• BEP: الشهر 4 (61 عميل)</a:t>
            </a:r>
          </a:p>
          <a:p>
            <a:r>
              <a:rPr lang="zh-CN" dirty="0"/>
              <a:t>• OM: +46.6%</a:t>
            </a:r>
          </a:p>
          <a:p>
            <a:r>
              <a:rPr lang="zh-CN" dirty="0"/>
              <a:t>• ROI: 247%</a:t>
            </a:r>
          </a:p>
          <a:p>
            <a:r>
              <a:rPr lang="zh-CN" dirty="0"/>
              <a:t>• التكلفة/عميل: 5,484 دج (LTV/CAC = 7.3x)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6 بطاقات KPI</a:t>
            </a:r>
          </a:p>
          <a:p>
            <a:r>
              <a:rPr lang="zh-CN" dirty="0"/>
              <a:t>• VAN +79.6M | DR 1y9m | BEP 61 عميل | OM 46.6% | CAPEX 3.88M | 960 عميل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"عرض تفاعلي لمنصة MATAX: واجهة عربية سلسة"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صور原型 (placeholder)</a:t>
            </a:r>
          </a:p>
          <a:p>
            <a:r>
              <a:rPr lang="zh-CN" dirty="0"/>
              <a:t>• تأكيد على: الواجهة العربية + التوافق مع الجوال + السرعة</a:t>
            </a:r>
          </a:p>
          <a:p>
            <a:r>
              <a:rPr lang="zh-CN" dirty="0"/>
              <a:t>• رابط المعاينة: https://matax-frontend.onrender.com/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"خطة عمل واضحة: 4 مراحل خلال 36 شهر"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الفريق:</a:t>
            </a:r>
          </a:p>
          <a:p>
            <a:r>
              <a:rPr lang="zh-CN" dirty="0"/>
              <a:t>1. حموم إكرام — PDG (محاسبة + IT)</a:t>
            </a:r>
          </a:p>
          <a:p>
            <a:r>
              <a:rPr lang="zh-CN" dirty="0"/>
              <a:t>2. يزيد زين الدين — CFO (محاسبة + مالية)</a:t>
            </a:r>
          </a:p>
          <a:p>
            <a:r>
              <a:rPr lang="zh-CN" dirty="0"/>
              <a:t>3. سعيد بن عمر — CTO (برمجة + قواعد بيانات)</a:t>
            </a:r>
          </a:p>
          <a:p>
            <a:endParaRPr lang="zh-CN" dirty="0"/>
          </a:p>
          <a:p>
            <a:r>
              <a:rPr lang="zh-CN" dirty="0"/>
              <a:t>• المراحل:</a:t>
            </a:r>
          </a:p>
          <a:p>
            <a:r>
              <a:rPr lang="zh-CN" dirty="0"/>
              <a:t>1. MVP &amp; launch: 0-6 أشهر (+61 عميل)</a:t>
            </a:r>
          </a:p>
          <a:p>
            <a:r>
              <a:rPr lang="zh-CN" dirty="0"/>
              <a:t>2. التوسع: 6-18 شهر (+960 عميل)</a:t>
            </a:r>
          </a:p>
          <a:p>
            <a:r>
              <a:rPr lang="zh-CN" dirty="0"/>
              <a:t>3. الابتكار: 18-36 شهر (+2,500 عميل)</a:t>
            </a:r>
          </a:p>
          <a:p>
            <a:r>
              <a:rPr lang="zh-CN" dirty="0"/>
              <a:t>4. الريادة: 36+ شهر</a:t>
            </a:r>
          </a:p>
          <a:p>
            <a:endParaRPr lang="zh-CN" dirty="0"/>
          </a:p>
          <a:p>
            <a:r>
              <a:rPr lang="zh-CN" dirty="0"/>
              <a:t>• المراحل الرئيسية: BEP الشهر 4 | 960 عميل الشهر 12 | 2,500 عميل الشهر 36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1143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0477500" y="0"/>
            <a:ext cx="1714500" cy="1143000"/>
          </a:xfrm>
          <a:custGeom>
            <a:avLst/>
            <a:gdLst/>
            <a:ahLst/>
            <a:cxnLst/>
            <a:rect l="l" t="t" r="r" b="b"/>
            <a:pathLst>
              <a:path w="1714500" h="1143000">
                <a:moveTo>
                  <a:pt x="1714500" y="0"/>
                </a:moveTo>
                <a:lnTo>
                  <a:pt x="0" y="0"/>
                </a:lnTo>
                <a:lnTo>
                  <a:pt x="1714500" y="1143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0096500" y="285750"/>
            <a:ext cx="1714500" cy="571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FFFFFF">
                <a:alpha val="40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92027" y="469582"/>
            <a:ext cx="7234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40160" y="2023110"/>
            <a:ext cx="331168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منصة MATAX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36765" y="2787968"/>
            <a:ext cx="591847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التسيير الجبائي الرقمي الذكي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56718" y="3536632"/>
            <a:ext cx="52785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منصة رقمية مبتكرة في مجال التكنولوجيا الجبائية</a:t>
            </a:r>
          </a:p>
        </p:txBody>
      </p:sp>
      <p:sp>
        <p:nvSpPr>
          <p:cNvPr id="11" name="Line 11"/>
          <p:cNvSpPr/>
          <p:nvPr/>
        </p:nvSpPr>
        <p:spPr>
          <a:xfrm>
            <a:off x="3619500" y="40957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038850" y="4038600"/>
            <a:ext cx="114300" cy="1143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3590925" y="4067175"/>
            <a:ext cx="57150" cy="57150"/>
          </a:xfrm>
          <a:prstGeom prst="ellipse">
            <a:avLst/>
          </a:prstGeom>
          <a:solidFill>
            <a:srgbClr val="0066CC">
              <a:alpha val="50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8543925" y="4067175"/>
            <a:ext cx="57150" cy="57150"/>
          </a:xfrm>
          <a:prstGeom prst="ellipse">
            <a:avLst/>
          </a:prstGeom>
          <a:solidFill>
            <a:srgbClr val="0066CC">
              <a:alpha val="50000"/>
            </a:srgbClr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3238500" y="4476750"/>
            <a:ext cx="57150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957901" y="4663440"/>
            <a:ext cx="227619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إعداد: حموم إكرام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57227" y="5045392"/>
            <a:ext cx="2077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إشراف: أ. بلعباس مخمار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80485" y="5394960"/>
            <a:ext cx="44310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جامعة ابن خلدون تيارت | ماستر محاسبة وجباية | 2025/2026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660582" y="6461760"/>
            <a:ext cx="28708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عرض التخرج — startup thesis defense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2439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فهرس المحتويات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552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95250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9525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04900" y="108585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1170" y="1231582"/>
            <a:ext cx="259477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المشكلة والحل المقترح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1582102"/>
            <a:ext cx="33940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تعقيد الإجراءات الجبائية وأهمية الحلول الرقمية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95250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286500" y="9525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29400" y="108585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5670" y="1231582"/>
            <a:ext cx="22713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الجوانب الابتكارية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4165" y="1582102"/>
            <a:ext cx="24209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ما يميز MATAX عن الحلول التقليدية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047875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20478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04900" y="218122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1170" y="2326958"/>
            <a:ext cx="27218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السوق والنموذج التجاري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9665" y="2677478"/>
            <a:ext cx="2308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السوق المستهدف ومصادر الإيرادات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047875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20478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29400" y="218122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65670" y="2326958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الدراسة المالية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2677478"/>
            <a:ext cx="2154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الجدوى المالية ومؤشرات الأداء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314325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3143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04900" y="327660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41170" y="3422332"/>
            <a:ext cx="20172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النموذج التجريبي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9665" y="3772852"/>
            <a:ext cx="20779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عرض المنصة والخصائص الرئيسية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314325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286500" y="3143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29400" y="327660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265670" y="3422332"/>
            <a:ext cx="21442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المراحل التنفيذية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165" y="3772852"/>
            <a:ext cx="1923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خطة العمل والخريطة الزمنية</a:t>
            </a:r>
          </a:p>
        </p:txBody>
      </p:sp>
      <p:sp>
        <p:nvSpPr>
          <p:cNvPr id="37" name="Line 37"/>
          <p:cNvSpPr/>
          <p:nvPr/>
        </p:nvSpPr>
        <p:spPr>
          <a:xfrm>
            <a:off x="381000" y="4381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191000" y="4572000"/>
            <a:ext cx="3810000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403580" y="4706302"/>
            <a:ext cx="1384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مدة العرض: 15 دقيقة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53146" y="65351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660489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المشكلة والحل المقترح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8223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تعقيد الإجراءات الجبائية وغياب الرقمنة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913495" y="6331268"/>
            <a:ext cx="29146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من التقاليد إلى الرقمنة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8905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| المشكلة والحل المقترح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7688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يحل 4 مشاكل حرجة من خلال 5 ركائز رقمية متكاملة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524500" cy="4857750"/>
          </a:xfrm>
          <a:prstGeom prst="roundRect">
            <a:avLst>
              <a:gd name="adj" fmla="val 235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762125"/>
            <a:ext cx="5524500" cy="952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677564" y="1517332"/>
            <a:ext cx="9313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المشكلة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000250"/>
            <a:ext cx="514350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2000250"/>
            <a:ext cx="57150" cy="8096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32510" y="2156460"/>
            <a:ext cx="23995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01 تعقيد التشريعات الجبائية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5368" y="2418874"/>
            <a:ext cx="26120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صعوبة استيعاب القوانين المالية السنوية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20" y="2617470"/>
            <a:ext cx="16130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وتداخل الإجراءات الإدارية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905125"/>
            <a:ext cx="514350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2905125"/>
            <a:ext cx="57150" cy="8096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32510" y="3061335"/>
            <a:ext cx="21223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02 مخاطر الأخطاء البشرية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5368" y="3323749"/>
            <a:ext cx="25405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الاعتماد على التعبئة اليدوية للتصاريح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320" y="3522345"/>
            <a:ext cx="1481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الدورية وتأخير المواعيد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810000"/>
            <a:ext cx="514350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3810000"/>
            <a:ext cx="57150" cy="8096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2510" y="3966210"/>
            <a:ext cx="21223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03 غرامات التأخير المالي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5368" y="4228624"/>
            <a:ext cx="18254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غياب نظام متابعة وتنبيه ذكي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6320" y="4427220"/>
            <a:ext cx="1181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للمواعيد القانونية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4714875"/>
            <a:ext cx="514350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571500" y="4714875"/>
            <a:ext cx="57150" cy="809625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32510" y="4871085"/>
            <a:ext cx="30044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04 التكاليف الباهظة وهشاشة الأرشفة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5368" y="5133499"/>
            <a:ext cx="21115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أعباء التعاقد مع مكاتب المحاسبة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36320" y="5332095"/>
            <a:ext cx="17150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وغياب التخزين السحابي الآمن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286500" y="1333500"/>
            <a:ext cx="5524500" cy="4857750"/>
          </a:xfrm>
          <a:prstGeom prst="roundRect">
            <a:avLst>
              <a:gd name="adj" fmla="val 235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2865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334708" y="15173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الحل: MATAX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477000" y="2000250"/>
            <a:ext cx="51435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477000" y="200025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938010" y="2156460"/>
            <a:ext cx="13326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تبسيط الجباية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40868" y="2418874"/>
            <a:ext cx="22935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واجهات رقمية سلسة دون خبرة محاسبية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41820" y="2588895"/>
            <a:ext cx="21891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مسبقة — تقليل زمن التأهيل لـ 48 ساعة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477000" y="2857500"/>
            <a:ext cx="51435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6477000" y="285750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938010" y="3013710"/>
            <a:ext cx="21727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🔔 نظام تنبيه ذكي واستباقي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40868" y="3276124"/>
            <a:ext cx="19555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رسائل SMS والبريد الإلكتروني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41820" y="344614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قبل المواعيد الجبائية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477000" y="3714750"/>
            <a:ext cx="51435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6477000" y="371475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938010" y="3870960"/>
            <a:ext cx="28196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📋 الأتمتة الكاملة والتصريح الآلي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40868" y="4133374"/>
            <a:ext cx="19620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توليد تصاريح G50 بنسبة خطأ 0%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41820" y="4303395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وصفر أخطاء يدوية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477000" y="4572000"/>
            <a:ext cx="51435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6477000" y="457200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938010" y="4728210"/>
            <a:ext cx="18451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☁️ أرشفة سحابية مشفرة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940868" y="4990624"/>
            <a:ext cx="1929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تخزين آمن للمستندات الجبائية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41820" y="5160645"/>
            <a:ext cx="916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بتشفير 256-SSL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477000" y="5429250"/>
            <a:ext cx="514350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59" name="Rectangle 59"/>
          <p:cNvSpPr/>
          <p:nvPr/>
        </p:nvSpPr>
        <p:spPr>
          <a:xfrm>
            <a:off x="6477000" y="5429250"/>
            <a:ext cx="57150" cy="619125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938010" y="5585460"/>
            <a:ext cx="23071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💰 اشتراكات اقتصادية مقارنة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941820" y="5827395"/>
            <a:ext cx="31672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تقليل التكاليف بنسبة 60% مقارنة بالمكاتب التقليدية</a:t>
            </a:r>
          </a:p>
        </p:txBody>
      </p:sp>
      <p:sp>
        <p:nvSpPr>
          <p:cNvPr id="62" name="Line 62"/>
          <p:cNvSpPr/>
          <p:nvPr/>
        </p:nvSpPr>
        <p:spPr>
          <a:xfrm>
            <a:off x="381000" y="6381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369570" y="657034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421487" y="657034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المشكلة والحل المقترح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453146" y="6554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822209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الجوانب الابتكارية للمشروع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50143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6 مبادرات تميز MATAX عن الحلول التقليدية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022384" y="6331268"/>
            <a:ext cx="38057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الابتكار في التكنولوجيا الجبائية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69912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| الجوانب الابتكارية للمشروع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4430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6 مبادرات تجعل MATAX خياراً استراتيجياً للمقاولين والشركات الجزائرية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81125"/>
            <a:ext cx="352425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2066925" y="1590675"/>
            <a:ext cx="533400" cy="533400"/>
          </a:xfrm>
          <a:prstGeom prst="ellipse">
            <a:avLst/>
          </a:prstGeom>
          <a:solidFill>
            <a:srgbClr val="003366">
              <a:alpha val="1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241456" y="1739265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8311" y="2235518"/>
            <a:ext cx="11306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بسيطة وسلسة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6634" y="254269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واجهة مستخدم سلسة لا تتطلب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10166" y="2733199"/>
            <a:ext cx="1246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خبرة محاسبية مسبقة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0634" y="3027045"/>
            <a:ext cx="18059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تقليل زمن التأهيل لـ 48 ساعة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33875" y="1381125"/>
            <a:ext cx="352425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333875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829300" y="1590675"/>
            <a:ext cx="533400" cy="533400"/>
          </a:xfrm>
          <a:prstGeom prst="ellipse">
            <a:avLst/>
          </a:prstGeom>
          <a:solidFill>
            <a:srgbClr val="0066CC">
              <a:alpha val="12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003831" y="1739265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18798" y="2235518"/>
            <a:ext cx="17544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استباقية واستشراف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04283" y="2542699"/>
            <a:ext cx="1383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تنبيهات ذكية عبر SMS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56289" y="2733199"/>
            <a:ext cx="12794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والبريد الإلكتروني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92196" y="3027045"/>
            <a:ext cx="20076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متابعة مسبقة للمواعيد الجبائية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96250" y="1381125"/>
            <a:ext cx="352425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096250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9591675" y="1590675"/>
            <a:ext cx="533400" cy="533400"/>
          </a:xfrm>
          <a:prstGeom prst="ellipse">
            <a:avLst/>
          </a:prstGeom>
          <a:solidFill>
            <a:srgbClr val="0099AA">
              <a:alpha val="12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696898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99AA"/>
                </a:solidFill>
                <a:latin typeface="Arial"/>
                <a:ea typeface="Microsoft YaHei"/>
                <a:cs typeface="Arial"/>
              </a:rPr>
              <a:t>⚖️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37117" y="2235518"/>
            <a:ext cx="14425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99AA"/>
                </a:solidFill>
                <a:latin typeface="Arial"/>
                <a:ea typeface="Microsoft YaHei"/>
                <a:cs typeface="Arial"/>
              </a:rPr>
              <a:t>ملاءمة قانونية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36641" y="254269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تطابق مع الإطار القانوني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59957" y="2733199"/>
            <a:ext cx="596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الجزائري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01014" y="3027045"/>
            <a:ext cx="2114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99AA"/>
                </a:solidFill>
                <a:latin typeface="Arial"/>
                <a:ea typeface="Microsoft YaHei"/>
                <a:cs typeface="Arial"/>
              </a:rPr>
              <a:t>تحديث تلقائي مع القوانين المالية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762375"/>
            <a:ext cx="352425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71500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2066925" y="3971925"/>
            <a:ext cx="533400" cy="533400"/>
          </a:xfrm>
          <a:prstGeom prst="ellipse">
            <a:avLst/>
          </a:prstGeom>
          <a:solidFill>
            <a:srgbClr val="2E7D32">
              <a:alpha val="12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241456" y="4120515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📱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68311" y="4616768"/>
            <a:ext cx="11306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أتمتة شاملة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40382" y="49239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توليد تلقائي للتصريحات G50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15704" y="5114449"/>
            <a:ext cx="635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بصيغة PDF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33884" y="5408295"/>
            <a:ext cx="9994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صفر أخطاء يدوية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333875" y="3762375"/>
            <a:ext cx="352425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4333875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5829300" y="3971925"/>
            <a:ext cx="533400" cy="533400"/>
          </a:xfrm>
          <a:prstGeom prst="ellipse">
            <a:avLst/>
          </a:prstGeom>
          <a:solidFill>
            <a:srgbClr val="1565C0">
              <a:alpha val="12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003831" y="4120515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18798" y="4616768"/>
            <a:ext cx="17544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اشتراكات اقتصادية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61265" y="492394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تقليل التكاليف بنسبة 60%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222260" y="511444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مقارنة بالمكاتب التقليدية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300122" y="5408295"/>
            <a:ext cx="15917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اشتراكات من 1,490 دج/شهر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096250" y="3762375"/>
            <a:ext cx="352425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8096250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9591675" y="3971925"/>
            <a:ext cx="533400" cy="533400"/>
          </a:xfrm>
          <a:prstGeom prst="ellipse">
            <a:avLst/>
          </a:prstGeom>
          <a:solidFill>
            <a:srgbClr val="6A1B9A">
              <a:alpha val="12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696898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6A1B9A"/>
                </a:solidFill>
                <a:latin typeface="Arial"/>
                <a:ea typeface="Microsoft YaHei"/>
                <a:cs typeface="Arial"/>
              </a:rPr>
              <a:t>☁️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004800" y="4616768"/>
            <a:ext cx="17071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6A1B9A"/>
                </a:solidFill>
                <a:latin typeface="Arial"/>
                <a:ea typeface="Microsoft YaHei"/>
                <a:cs typeface="Arial"/>
              </a:rPr>
              <a:t>بنية تحتية سحابية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81384" y="492394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استضافة Cloudflare المحمية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361682" y="5114449"/>
            <a:ext cx="9933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بتشفير 256-SSL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251521" y="5408295"/>
            <a:ext cx="12137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6A1B9A"/>
                </a:solidFill>
                <a:latin typeface="Arial"/>
                <a:ea typeface="Microsoft YaHei"/>
                <a:cs typeface="Arial"/>
              </a:rPr>
              <a:t>مزامنة Google Drive</a:t>
            </a:r>
          </a:p>
        </p:txBody>
      </p:sp>
      <p:sp>
        <p:nvSpPr>
          <p:cNvPr id="58" name="Line 58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9570" y="628459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PRODUCT.md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505498" y="6284595"/>
            <a:ext cx="1181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الجوانب الابتكارية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5314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692833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السوق والنموذج التجاري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04221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3 شرائح مستهدفة و 3 مصادر إيرادات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561576" y="6331268"/>
            <a:ext cx="226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نموذج أعمال حديث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5224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| السوق والنموذج التجاري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398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يستهدف شرائح متنوعة من المقاولين والشركات الجزائرية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715000" cy="485775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715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762125"/>
            <a:ext cx="5715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66364" y="1517332"/>
            <a:ext cx="21442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الشرائح المستهدفة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00025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200025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31558" y="2148364"/>
            <a:ext cx="2495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المقاولون والشركات الناشئة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4415" y="2410778"/>
            <a:ext cx="30510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890,000 مقاول + 46,000 مؤسسة صغيرة ومتوسطة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20" y="2665095"/>
            <a:ext cx="22491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شريحة النمو الأسرع مع أولوية للرقمنة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190875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31908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31558" y="3338989"/>
            <a:ext cx="13623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مكاتب المحاسبة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4415" y="3601402"/>
            <a:ext cx="2238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2,613 مكتب + 12,560 محاسب معتمد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320" y="3855720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شريحة الاحتراف: بحاجة لأدوات رقمية متقدمة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38150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438150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1558" y="4529614"/>
            <a:ext cx="2495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المؤسسات المتوسطة والكبيرة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4415" y="4792028"/>
            <a:ext cx="33240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58,000 مؤسسة + 1,200 مؤسسة خارج النظام الجبائي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6320" y="5046345"/>
            <a:ext cx="20811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حلول مخصصة للمؤسسات متعددة الفروع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1333500"/>
            <a:ext cx="5524500" cy="485775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2865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03680" y="151733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مصادر الإيرادات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200025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477000" y="20002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936105" y="2140268"/>
            <a:ext cx="26900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الاشتراكات الشهرية/السنوية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39915" y="2439352"/>
            <a:ext cx="21689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Start: 1,490 دج | Pro: 3,490 دج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39915" y="2648902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Enterprise: 5,990 دج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39915" y="2915602"/>
            <a:ext cx="20114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مصدر الإيراد الأساسي + 70%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477000" y="3381375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477000" y="33813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936105" y="3521392"/>
            <a:ext cx="16504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الخدمات الإضافية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39915" y="3820478"/>
            <a:ext cx="2238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دعم تقني مخصص + استشارات ضريبية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1820" y="4074795"/>
            <a:ext cx="2519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هوامش ربح عالية + تعميق العلاقة مع العميل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477000" y="4572000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477000" y="457200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936105" y="4712018"/>
            <a:ext cx="17544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الشراكات والتعاون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39915" y="5011102"/>
            <a:ext cx="1888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عمولات بيع مشترك مع البنوك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941820" y="5265420"/>
            <a:ext cx="27772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توسيع قاعدة المستخدمين عبر شراكات استراتيجية</a:t>
            </a:r>
          </a:p>
        </p:txBody>
      </p:sp>
      <p:sp>
        <p:nvSpPr>
          <p:cNvPr id="49" name="Line 49"/>
          <p:cNvSpPr/>
          <p:nvPr/>
        </p:nvSpPr>
        <p:spPr>
          <a:xfrm>
            <a:off x="381000" y="6381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69570" y="6570345"/>
            <a:ext cx="21951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 + PRODUCT.md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388483" y="6570345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السوق والنموذج التجاري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53146" y="6554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690439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| السوق والنموذج التجاري — التميّز التنافسي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948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يتفوق على المنافسين بفضل أتمتة الإجراءات الجبائية بالكامل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523875"/>
          </a:xfrm>
          <a:prstGeom prst="roundRect">
            <a:avLst>
              <a:gd name="adj" fmla="val 10909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56820" y="1537335"/>
            <a:ext cx="6773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المعيار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23179" y="1537335"/>
            <a:ext cx="5261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18153" y="1537335"/>
            <a:ext cx="9461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Compta Pro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96187" y="1537335"/>
            <a:ext cx="400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12163" y="1537335"/>
            <a:ext cx="7781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FiscalPro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19050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10916" y="2164556"/>
            <a:ext cx="17691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التصريح الجبائي الآلي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45109" y="2164556"/>
            <a:ext cx="6822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متكامل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60660" y="21645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65660" y="21645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16929" y="216455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⚠️ جزئي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5717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254234" y="2831306"/>
            <a:ext cx="16825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نظام التنبيهات الذكي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01791" y="2831306"/>
            <a:ext cx="7689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استباقي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01916" y="283130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سلبي فقط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65660" y="283130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75674" y="2831306"/>
            <a:ext cx="6511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⚠️ محدود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2385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80962" y="3498056"/>
            <a:ext cx="2029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الأرشفة السحابية المشفرة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01791" y="3498056"/>
            <a:ext cx="7689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256-SSL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25681" y="349805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Cloud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06916" y="349805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محلي فقط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70660" y="34980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9052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07691" y="4164806"/>
            <a:ext cx="2375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الامتثال للتشريعات الجزائرية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91527" y="4164806"/>
            <a:ext cx="9894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تحديث فوري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948184" y="4164806"/>
            <a:ext cx="4861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بطيء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11929" y="416480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متوسط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16929" y="416480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محدود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45720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451134" y="48315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الشهرية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922366" y="4823460"/>
            <a:ext cx="7277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1,490 دج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81161" y="48234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5,000+ دج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39955" y="482346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15,000+ دج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91161" y="48234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3,500+ دج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52387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451134" y="54983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السنوية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876161" y="549021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16,880 دج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734955" y="549021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60,000+ دج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93749" y="5490210"/>
            <a:ext cx="10050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180,000+ دج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544955" y="549021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42,000+ دج</a:t>
            </a:r>
          </a:p>
        </p:txBody>
      </p:sp>
      <p:sp>
        <p:nvSpPr>
          <p:cNvPr id="52" name="Line 52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369570" y="6284595"/>
            <a:ext cx="12830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مقارنة السوق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571506" y="6284595"/>
            <a:ext cx="1048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التميّز التنافسي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45314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الدراسة المالية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8223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الجدوى المالية ومؤشرات الأداء الرئيسية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561576" y="6331268"/>
            <a:ext cx="226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نموذج أعمال حديث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68414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| الدراسة المالية — القوائم المالية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7680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التمويل المطلوب: 3,880,000 دج — BEP في الشهر 4 — VAN: +79.6M دج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476250"/>
          </a:xfrm>
          <a:prstGeom prst="roundRect">
            <a:avLst>
              <a:gd name="adj" fmla="val 12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392805" y="1516856"/>
            <a:ext cx="5483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البيان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62587" y="1516856"/>
            <a:ext cx="10288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السنة الأولى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01851" y="1516856"/>
            <a:ext cx="808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الملاحظات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857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849362" y="2050256"/>
            <a:ext cx="16352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الإيرادات التشغيلية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28293" y="20421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9,600,000 دج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00518" y="20664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960 عميل × 10,000 دج/شهر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428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935998" y="2621756"/>
            <a:ext cx="14620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الإجمالية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28293" y="26136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5,265,000 دج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07782" y="2637949"/>
            <a:ext cx="1396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تشغيل + تسويق + تطوير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000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758788" y="3193256"/>
            <a:ext cx="18164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صافي الربح قبل الضرائب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28293" y="31851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4,335,000 دج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67837" y="3201352"/>
            <a:ext cx="12763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هامش صافي +45.2%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571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565827" y="3764756"/>
            <a:ext cx="22023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التدفقات النقدية التراكمية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35882" y="3756660"/>
            <a:ext cx="12822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+79,600,000 دج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06057" y="3780949"/>
            <a:ext cx="9998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VAN على 3 سنوات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143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715470" y="4336256"/>
            <a:ext cx="19030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معدل الخصم الداخلي (DR)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70299" y="4328160"/>
            <a:ext cx="10134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سنة + 9 أشهر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18296" y="4352449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استرداد سريع جداً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714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912370" y="4907756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نقطة التعادل (BEP)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1275" y="4899660"/>
            <a:ext cx="13914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الشهر 4 | 61 عميل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61313" y="4923949"/>
            <a:ext cx="8893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BEP مبكر جداً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286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640649" y="5479256"/>
            <a:ext cx="20527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هامش الربح التشغيلي (OM)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67723" y="5471160"/>
            <a:ext cx="618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+46.6%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27284" y="5495449"/>
            <a:ext cx="1357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هامش صافي مرتفع جداً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5857875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589455" y="6041231"/>
            <a:ext cx="21550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العائد على الاستثمار (ROI)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260135" y="6033135"/>
            <a:ext cx="4337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247%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98793" y="6057424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العائد على 3 سنوات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66559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604510" y="66655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القوائم المالية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53146" y="6649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674267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| الدراسة المالية — مؤشرات الأداء الرئيسية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869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حقق نتائج استثنائية: VAN +79.6M | DR 1y9m | BEP 4 months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51156" y="1594485"/>
            <a:ext cx="216493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6A34A"/>
                </a:solidFill>
                <a:latin typeface="Georgia"/>
                <a:ea typeface="Microsoft YaHei"/>
                <a:cs typeface="Georgia"/>
              </a:rPr>
              <a:t>+79.6M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1882" y="2330768"/>
            <a:ext cx="2803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القيمة المضافة الصافية (VAN)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4618" y="2648902"/>
            <a:ext cx="2778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التدفقات النقدية التراكمية على 3 سنوات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3241" y="3108960"/>
            <a:ext cx="23407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العائد على الاستثمار: 247%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336972" y="1594485"/>
            <a:ext cx="151805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66CC"/>
                </a:solidFill>
                <a:latin typeface="Georgia"/>
                <a:ea typeface="Microsoft YaHei"/>
                <a:cs typeface="Georgia"/>
              </a:rPr>
              <a:t>1y9m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54164" y="2330768"/>
            <a:ext cx="22836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معدل الخصم الداخلي (DR)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18532" y="2648902"/>
            <a:ext cx="2154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التعافي السريع جداً للاستثمار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43093" y="3108960"/>
            <a:ext cx="11058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أقل من 24 شهر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96250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096250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81595" y="1594485"/>
            <a:ext cx="75356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891B2"/>
                </a:solidFill>
                <a:latin typeface="Georgia"/>
                <a:ea typeface="Microsoft YaHei"/>
                <a:cs typeface="Georgia"/>
              </a:rPr>
              <a:t>61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52819" y="2330768"/>
            <a:ext cx="18111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نقطة التعادل (BEP)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56491" y="2648902"/>
            <a:ext cx="8037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الشهر 4 فقط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2054" y="3108960"/>
            <a:ext cx="13326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61 عميل للتعادل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71500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412877" y="4023360"/>
            <a:ext cx="184149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7C3AED"/>
                </a:solidFill>
                <a:latin typeface="Georgia"/>
                <a:ea typeface="Microsoft YaHei"/>
                <a:cs typeface="Georgia"/>
              </a:rPr>
              <a:t>46.6%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2003" y="4759642"/>
            <a:ext cx="24632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هامش الربح التشغيلي (OM)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02700" y="5077778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هامش صافي مرتفع جداً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58090" y="5537835"/>
            <a:ext cx="15510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+45.2% صافي الربح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333875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4333875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175252" y="4023360"/>
            <a:ext cx="184149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EA580C"/>
                </a:solidFill>
                <a:latin typeface="Georgia"/>
                <a:ea typeface="Microsoft YaHei"/>
                <a:cs typeface="Georgia"/>
              </a:rPr>
              <a:t>3.88M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30536" y="4759642"/>
            <a:ext cx="23309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التمويل المطلوب (CAPEX)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55049" y="5077778"/>
            <a:ext cx="1881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التكاليف الثابتة المتغيرة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72496" y="5537835"/>
            <a:ext cx="10470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أقل من 4M دج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096250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096250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319874" y="4023360"/>
            <a:ext cx="107700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DC2626"/>
                </a:solidFill>
                <a:latin typeface="Georgia"/>
                <a:ea typeface="Microsoft YaHei"/>
                <a:cs typeface="Georgia"/>
              </a:rPr>
              <a:t>960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56632" y="4759642"/>
            <a:ext cx="2803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العملاء المستهدفون (السنة 1)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52428" y="5077778"/>
            <a:ext cx="18118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النمو المتوقع خلال 12 شهر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55874" y="5537835"/>
            <a:ext cx="10050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80 عميل/شهر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1436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33222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88483" y="6332220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مؤشرات الأداء الرئيسية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53146" y="631602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513470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النموذج التجريبي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28180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عرض تفاعلي لمنصة MATAX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62564" y="6331268"/>
            <a:ext cx="2365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منصة حية ومتكاملة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0372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| النموذج التجريبي — عرض المنصة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9129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MATAX: واجهة عربية سلسة — لا حاجة لخبرة محاسبية مسبقة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53340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5334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62125"/>
            <a:ext cx="5334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437102" y="1533525"/>
            <a:ext cx="16027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التطبيق الجوال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809750" y="2000250"/>
            <a:ext cx="285750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2571750" y="2047875"/>
            <a:ext cx="15240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2000250" y="2286000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391556" y="2461260"/>
            <a:ext cx="1693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 - لوحة التحكم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00250" y="2905125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416766" y="320944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لوحة تحكم المقاول]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000250" y="3714750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543532" y="4019074"/>
            <a:ext cx="1389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قائمة الجباية]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000250" y="4524375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507778" y="4723924"/>
            <a:ext cx="14614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إعدادات الحساب]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333500"/>
            <a:ext cx="53340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86500" y="1333500"/>
            <a:ext cx="5334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86500" y="1762125"/>
            <a:ext cx="5334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800308" y="1533525"/>
            <a:ext cx="23063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لوحة التحكم على الويب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762750" y="2000250"/>
            <a:ext cx="4381500" cy="31432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762750" y="2000250"/>
            <a:ext cx="4381500" cy="333375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762750" y="2238375"/>
            <a:ext cx="4381500" cy="952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6877050" y="2105025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7067550" y="2105025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7258050" y="2105025"/>
            <a:ext cx="114300" cy="114300"/>
          </a:xfrm>
          <a:prstGeom prst="ellipse">
            <a:avLst/>
          </a:prstGeom>
          <a:solidFill>
            <a:srgbClr val="27CA4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191500" y="2095500"/>
            <a:ext cx="1905000" cy="133350"/>
          </a:xfrm>
          <a:prstGeom prst="roundRect">
            <a:avLst>
              <a:gd name="adj" fmla="val 214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953250" y="2476500"/>
            <a:ext cx="4000500" cy="47625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850324" y="2651760"/>
            <a:ext cx="2206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 - لوحة تحكم المحاسب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953250" y="3095625"/>
            <a:ext cx="4000500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060257" y="349519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إدارة محفظة العملاء]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953250" y="4095750"/>
            <a:ext cx="4000500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52994" y="4542949"/>
            <a:ext cx="20010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تقارير الجباية والتصرح]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55245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762000" y="566737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38212" y="5850731"/>
            <a:ext cx="17297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🌐 واجهة عربية بالكامل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191000" y="566737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367212" y="5850731"/>
            <a:ext cx="14698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📱 متوافق مع الجوال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620000" y="5667375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796212" y="5850731"/>
            <a:ext cx="12966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🚀 سرعة في الأداء</a:t>
            </a:r>
          </a:p>
        </p:txBody>
      </p:sp>
      <p:sp>
        <p:nvSpPr>
          <p:cNvPr id="48" name="Line 48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69570" y="6665595"/>
            <a:ext cx="154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النموذج التجريبي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769531" y="66655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عرض المنصة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453146" y="6649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5458149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المراحل التنفيذية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329812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خطة العمل والخريطة الزمنية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012507" y="6331268"/>
            <a:ext cx="28156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من التخطيط إلى التنفيذ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1989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 | المراحل التنفيذية — فريق العمل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7688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فريق مؤسس متكامل بخبرات متنوعة في المحاسبة والتقنية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3524250" cy="1714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952625" y="1619250"/>
            <a:ext cx="762000" cy="762000"/>
          </a:xfrm>
          <a:prstGeom prst="ellipse">
            <a:avLst/>
          </a:prstGeom>
          <a:solidFill>
            <a:srgbClr val="003366">
              <a:alpha val="1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60327" y="1836420"/>
            <a:ext cx="3465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HI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3256" y="2457450"/>
            <a:ext cx="114073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حموم إكرام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92359" y="2736056"/>
            <a:ext cx="16825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المديرة العامة (PDG)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8873" y="2942749"/>
            <a:ext cx="1929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محاسبة + تكنولوجيا المعلومات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33875" y="1333500"/>
            <a:ext cx="3524250" cy="1714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custDash>
              <a:ds d="500000" sp="500000"/>
            </a:custDash>
          </a:ln>
        </p:spPr>
      </p:sp>
      <p:sp>
        <p:nvSpPr>
          <p:cNvPr id="18" name="Rectangle 18"/>
          <p:cNvSpPr/>
          <p:nvPr/>
        </p:nvSpPr>
        <p:spPr>
          <a:xfrm>
            <a:off x="4333875" y="1333500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5715000" y="1619250"/>
            <a:ext cx="762000" cy="762000"/>
          </a:xfrm>
          <a:prstGeom prst="ellipse">
            <a:avLst/>
          </a:prstGeom>
          <a:solidFill>
            <a:srgbClr val="94A3B8">
              <a:alpha val="1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973108" y="1836420"/>
            <a:ext cx="24578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94A3B8"/>
                </a:solidFill>
                <a:latin typeface="Georgia"/>
                <a:ea typeface="Microsoft YaHei"/>
                <a:cs typeface="Georgia"/>
              </a:rPr>
              <a:t>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19560" y="2473642"/>
            <a:ext cx="1952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المدير المالي (CFO)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76614" y="2744152"/>
            <a:ext cx="8387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قيد التحديد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04472" y="295084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خبرة في المحاسبة والتمويل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096250" y="1333500"/>
            <a:ext cx="3524250" cy="17145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custDash>
              <a:ds d="500000" sp="500000"/>
            </a:custDash>
          </a:ln>
        </p:spPr>
      </p:sp>
      <p:sp>
        <p:nvSpPr>
          <p:cNvPr id="25" name="Rectangle 25"/>
          <p:cNvSpPr/>
          <p:nvPr/>
        </p:nvSpPr>
        <p:spPr>
          <a:xfrm>
            <a:off x="8096250" y="1333500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9477375" y="1619250"/>
            <a:ext cx="762000" cy="762000"/>
          </a:xfrm>
          <a:prstGeom prst="ellipse">
            <a:avLst/>
          </a:prstGeom>
          <a:solidFill>
            <a:srgbClr val="94A3B8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735483" y="1836420"/>
            <a:ext cx="24578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94A3B8"/>
                </a:solidFill>
                <a:latin typeface="Georgia"/>
                <a:ea typeface="Microsoft YaHei"/>
                <a:cs typeface="Georgia"/>
              </a:rPr>
              <a:t>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81935" y="2473642"/>
            <a:ext cx="1952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المدير التقني (CTO)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38989" y="2744152"/>
            <a:ext cx="8387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قيد التحديد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17816" y="2950845"/>
            <a:ext cx="20811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CBD5E1"/>
                </a:solidFill>
                <a:latin typeface="Arial"/>
                <a:ea typeface="Microsoft YaHei"/>
                <a:cs typeface="Arial"/>
              </a:rPr>
              <a:t>خبرة في البرمجة والأنظمة السحابية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333750"/>
            <a:ext cx="11049000" cy="28575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3333750"/>
            <a:ext cx="11049000" cy="476250"/>
          </a:xfrm>
          <a:prstGeom prst="roundRect">
            <a:avLst>
              <a:gd name="adj" fmla="val 24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3714750"/>
            <a:ext cx="11049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322761" y="3511868"/>
            <a:ext cx="15464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الخريطة الزمنية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4000500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62000" y="4000500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494911" y="41757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المرحلة 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25047" y="4409599"/>
            <a:ext cx="959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MVP &amp; الإطلاق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44539" y="4627245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0-6 أشهر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54830" y="4749641"/>
            <a:ext cx="5003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+61 عميل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238500" y="4000500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3238500" y="4000500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971411" y="41757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المرحلة 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898134" y="4409599"/>
            <a:ext cx="9667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التوسع والنمو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121039" y="4627245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6-18 شهر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99564" y="4749641"/>
            <a:ext cx="563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+960 عميل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0" y="4000500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715000" y="4000500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447911" y="41757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99AA"/>
                </a:solidFill>
                <a:latin typeface="Arial"/>
                <a:ea typeface="Microsoft YaHei"/>
                <a:cs typeface="Arial"/>
              </a:rPr>
              <a:t>المرحلة 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24465" y="4409599"/>
            <a:ext cx="12670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الابتكار والتمكين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64535" y="4627245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18-36 شهر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12531" y="4749641"/>
            <a:ext cx="6909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099AA"/>
                </a:solidFill>
                <a:latin typeface="Arial"/>
                <a:ea typeface="Microsoft YaHei"/>
                <a:cs typeface="Arial"/>
              </a:rPr>
              <a:t>+2,500 عميل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191500" y="4000500"/>
            <a:ext cx="3238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8191500" y="4000500"/>
            <a:ext cx="3238500" cy="57150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400661" y="41757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6A1B9A"/>
                </a:solidFill>
                <a:latin typeface="Arial"/>
                <a:ea typeface="Microsoft YaHei"/>
                <a:cs typeface="Arial"/>
              </a:rPr>
              <a:t>المرحلة 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214757" y="440959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الريادة والتوطين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583293" y="4627245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36+ شهر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193822" y="4749641"/>
            <a:ext cx="12338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6A1B9A"/>
                </a:solidFill>
                <a:latin typeface="Arial"/>
                <a:ea typeface="Microsoft YaHei"/>
                <a:cs typeface="Arial"/>
              </a:rPr>
              <a:t>ريادة السوق الجزائري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62000" y="5095875"/>
            <a:ext cx="1047750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762000" y="5095875"/>
            <a:ext cx="57150" cy="809625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128712" y="5231606"/>
            <a:ext cx="14620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المراحل الرئيسية: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0618" y="5466874"/>
            <a:ext cx="44128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BEP الشهر 4 | 960 عميل الشهر 12 | 2,500 عميل الشهر 36 | 25+ مؤسسة كبرى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30618" y="5685949"/>
            <a:ext cx="4061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توسيع Zakat &amp; Douane في 2026 | AI/ML للاستشراف الضريبي في 2027</a:t>
            </a:r>
          </a:p>
        </p:txBody>
      </p:sp>
      <p:sp>
        <p:nvSpPr>
          <p:cNvPr id="64" name="Line 64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69570" y="628459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خطة العمل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538502" y="6284595"/>
            <a:ext cx="11149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المراحل التنفيذية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5314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2026-06-10T18:33:40Z</dcterms:created>
  <dcterms:modified xsi:type="dcterms:W3CDTF">2026-06-10T18:33:40Z</dcterms:modified>
  <cp:category/>
  <cp:contentStatus/>
</cp:coreProperties>
</file>