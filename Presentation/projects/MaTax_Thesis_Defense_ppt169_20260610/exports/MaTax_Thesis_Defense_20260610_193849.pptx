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مقدمة سريعة: "مرحباً، أنا حموم إكرام، أقدم لكم مشروع التخرج: منصة MATAX للتجزئة الجبائية الرقمية الذكية"</a:t>
            </a:r>
          </a:p>
          <a:p>
            <a:r>
              <a:rPr lang="zh-CN" dirty="0"/>
              <a:t>• تأكيد على أن المشروع يجمع بين المحاسبة والتقنية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سريع للمحاور الستة</a:t>
            </a:r>
          </a:p>
          <a:p>
            <a:r>
              <a:rPr lang="zh-CN" dirty="0"/>
              <a:t>• التأكيد على أن العرض سيستمر 15 دقيقة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"المشكلة الأساسية: تعقيد الإجراءات الجبائية في الجزائر"</a:t>
            </a:r>
          </a:p>
          <a:p>
            <a:r>
              <a:rPr lang="zh-CN" dirty="0"/>
              <a:t>• "الحل: منصة رقمية ذكية تبسط كل شيء"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المشكلات (الجانب الأيسر):</a:t>
            </a:r>
          </a:p>
          <a:p>
            <a:r>
              <a:rPr lang="zh-CN" dirty="0"/>
              <a:t>1. تعقيد التشريعات الجبائية: صعوبة استيعاب القوانين المالية السنوية</a:t>
            </a:r>
          </a:p>
          <a:p>
            <a:r>
              <a:rPr lang="zh-CN" dirty="0"/>
              <a:t>2. مخاطر الأخطاء البشرية: اليدوية والتأخير</a:t>
            </a:r>
          </a:p>
          <a:p>
            <a:r>
              <a:rPr lang="zh-CN" dirty="0"/>
              <a:t>3. غرامات التأخير: غياب نظام متابعة</a:t>
            </a:r>
          </a:p>
          <a:p>
            <a:r>
              <a:rPr lang="zh-CN" dirty="0"/>
              <a:t>4. التكاليف الباهظة: مكاتب المحاسبة + الأرشفة الورقية</a:t>
            </a:r>
          </a:p>
          <a:p>
            <a:endParaRPr lang="zh-CN" dirty="0"/>
          </a:p>
          <a:p>
            <a:r>
              <a:rPr lang="zh-CN" dirty="0"/>
              <a:t>• الحلول (الجانب الأيمن):</a:t>
            </a:r>
          </a:p>
          <a:p>
            <a:r>
              <a:rPr lang="zh-CN" dirty="0"/>
              <a:t>1. تبسيط الجباية: واجهات سلسة</a:t>
            </a:r>
          </a:p>
          <a:p>
            <a:r>
              <a:rPr lang="zh-CN" dirty="0"/>
              <a:t>2. نظام تنبيه ذكي: SMS والبريد الإلكتروني</a:t>
            </a:r>
          </a:p>
          <a:p>
            <a:r>
              <a:rPr lang="zh-CN" dirty="0"/>
              <a:t>3. الأتمتة: تصريح G50 آلي</a:t>
            </a:r>
          </a:p>
          <a:p>
            <a:r>
              <a:rPr lang="zh-CN" dirty="0"/>
              <a:t>4. أرشفة سحابية: 256-SSL</a:t>
            </a:r>
          </a:p>
          <a:p>
            <a:r>
              <a:rPr lang="zh-CN" dirty="0"/>
              <a:t>5. اشتراكات اقتصادية: أقل 60% من المكاتب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"6 مبادرات تميز MATAX عن أي حلول أخرى"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بسيطة وسلسة: واجهة مستخدم لا تتطلب خبرة مسبقة</a:t>
            </a:r>
          </a:p>
          <a:p>
            <a:r>
              <a:rPr lang="zh-CN" dirty="0"/>
              <a:t>• استباقية واستشراف: تنبيهات قبل المواعيد</a:t>
            </a:r>
          </a:p>
          <a:p>
            <a:r>
              <a:rPr lang="zh-CN" dirty="0"/>
              <a:t>• ملاءمة قانونية: تحديث تلقائي مع القوانين</a:t>
            </a:r>
          </a:p>
          <a:p>
            <a:r>
              <a:rPr lang="zh-CN" dirty="0"/>
              <a:t>• أتمتة شاملة: صفر أخطاء يدوية</a:t>
            </a:r>
          </a:p>
          <a:p>
            <a:r>
              <a:rPr lang="zh-CN" dirty="0"/>
              <a:t>• اشتراكات اقتصادية: 1,490 دج/شهر</a:t>
            </a:r>
          </a:p>
          <a:p>
            <a:r>
              <a:rPr lang="zh-CN" dirty="0"/>
              <a:t>• بنية تحتية سحابية: Cloudflare + تشفير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"3 شرائح مستهدفة و 3 مصادر إيرادات"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الشرائح المستهدفة:</a:t>
            </a:r>
          </a:p>
          <a:p>
            <a:r>
              <a:rPr lang="zh-CN" dirty="0"/>
              <a:t>1. المقاولون والشركات الناشئة: 890,000 مقاول + 46,000 مؤسسة</a:t>
            </a:r>
          </a:p>
          <a:p>
            <a:r>
              <a:rPr lang="zh-CN" dirty="0"/>
              <a:t>2. مكاتب المحاسبة: 2,613 مكتب + 12,560 محاسب</a:t>
            </a:r>
          </a:p>
          <a:p>
            <a:r>
              <a:rPr lang="zh-CN" dirty="0"/>
              <a:t>3. المؤسسات المتوسطة والكبيرة: 58,000 مؤسسة</a:t>
            </a:r>
          </a:p>
          <a:p>
            <a:endParaRPr lang="zh-CN" dirty="0"/>
          </a:p>
          <a:p>
            <a:r>
              <a:rPr lang="zh-CN" dirty="0"/>
              <a:t>• مصادر الإيرادات:</a:t>
            </a:r>
          </a:p>
          <a:p>
            <a:r>
              <a:rPr lang="zh-CN" dirty="0"/>
              <a:t>1. الاشتراكات الشهرية/السنوية: Start 1,490 | Pro 3,490 | Enterprise 5,990</a:t>
            </a:r>
          </a:p>
          <a:p>
            <a:r>
              <a:rPr lang="zh-CN" dirty="0"/>
              <a:t>2. الخدمات الإضافية: دعم + استشارات + تدريب</a:t>
            </a:r>
          </a:p>
          <a:p>
            <a:r>
              <a:rPr lang="zh-CN" dirty="0"/>
              <a:t>3. الشراكات: بنوك + ERP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جدول مقارنة مع المنافسين</a:t>
            </a:r>
          </a:p>
          <a:p>
            <a:r>
              <a:rPr lang="zh-CN" dirty="0"/>
              <a:t>• MATAX يتفوق في: التصريح الآلي + التنبيهات + الأرشفة + الامتثال + التكلفة</a:t>
            </a:r>
          </a:p>
          <a:p>
            <a:r>
              <a:rPr lang="zh-CN" dirty="0"/>
              <a:t>• التكلفة: 1,490 دج فقط مقارنة بـ 5,000-15,000 دج للمنافسين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"الجدوى المالية ممتازة: VAN +79.6M | DR 1y9m | BEP الشهر 4"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الإيرادات: 9,600,000 دج (960 عميل × 10,000 دج)</a:t>
            </a:r>
          </a:p>
          <a:p>
            <a:r>
              <a:rPr lang="zh-CN" dirty="0"/>
              <a:t>• التكاليف: 5,265,000 دج</a:t>
            </a:r>
          </a:p>
          <a:p>
            <a:r>
              <a:rPr lang="zh-CN" dirty="0"/>
              <a:t>• صافي الربح: 4,335,000 دج (هامش +45.2%)</a:t>
            </a:r>
          </a:p>
          <a:p>
            <a:r>
              <a:rPr lang="zh-CN" dirty="0"/>
              <a:t>• VAN: +79,600,000 دج</a:t>
            </a:r>
          </a:p>
          <a:p>
            <a:r>
              <a:rPr lang="zh-CN" dirty="0"/>
              <a:t>• DR: سنة + 9 أشهر</a:t>
            </a:r>
          </a:p>
          <a:p>
            <a:r>
              <a:rPr lang="zh-CN" dirty="0"/>
              <a:t>• BEP: الشهر 4 (61 عميل)</a:t>
            </a:r>
          </a:p>
          <a:p>
            <a:r>
              <a:rPr lang="zh-CN" dirty="0"/>
              <a:t>• OM: +46.6%</a:t>
            </a:r>
          </a:p>
          <a:p>
            <a:r>
              <a:rPr lang="zh-CN" dirty="0"/>
              <a:t>• ROI: 247%</a:t>
            </a:r>
          </a:p>
          <a:p>
            <a:r>
              <a:rPr lang="zh-CN" dirty="0"/>
              <a:t>• التكلفة/عميل: 5,484 دج (LTV/CAC = 7.3x)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6 بطاقات KPI</a:t>
            </a:r>
          </a:p>
          <a:p>
            <a:r>
              <a:rPr lang="zh-CN" dirty="0"/>
              <a:t>• VAN +79.6M | DR 1y9m | BEP 61 عميل | OM 46.6% | CAPEX 3.88M | 960 عميل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"عرض تفاعلي لمنصة MATAX: واجهة عربية سلسة"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صور原型 (placeholder)</a:t>
            </a:r>
          </a:p>
          <a:p>
            <a:r>
              <a:rPr lang="zh-CN" dirty="0"/>
              <a:t>• تأكيد على: الواجهة العربية + التوافق مع الجوال + السرعة</a:t>
            </a:r>
          </a:p>
          <a:p>
            <a:r>
              <a:rPr lang="zh-CN" dirty="0"/>
              <a:t>• رابط المعاينة: https://matax-frontend.onrender.com/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"خطة عمل واضحة: 4 مراحل خلال 36 شهر"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الفريق:</a:t>
            </a:r>
          </a:p>
          <a:p>
            <a:r>
              <a:rPr lang="zh-CN" dirty="0"/>
              <a:t>1. حموم إكرام — PDG (محاسبة + IT)</a:t>
            </a:r>
          </a:p>
          <a:p>
            <a:r>
              <a:rPr lang="zh-CN" dirty="0"/>
              <a:t>2. يزيد زين الدين — CFO (محاسبة + مالية)</a:t>
            </a:r>
          </a:p>
          <a:p>
            <a:r>
              <a:rPr lang="zh-CN" dirty="0"/>
              <a:t>3. سعيد بن عمر — CTO (برمجة + قواعد بيانات)</a:t>
            </a:r>
          </a:p>
          <a:p>
            <a:endParaRPr lang="zh-CN" dirty="0"/>
          </a:p>
          <a:p>
            <a:r>
              <a:rPr lang="zh-CN" dirty="0"/>
              <a:t>• المراحل:</a:t>
            </a:r>
          </a:p>
          <a:p>
            <a:r>
              <a:rPr lang="zh-CN" dirty="0"/>
              <a:t>1. MVP &amp; launch: 0-6 أشهر (+61 عميل)</a:t>
            </a:r>
          </a:p>
          <a:p>
            <a:r>
              <a:rPr lang="zh-CN" dirty="0"/>
              <a:t>2. التوسع: 6-18 شهر (+960 عميل)</a:t>
            </a:r>
          </a:p>
          <a:p>
            <a:r>
              <a:rPr lang="zh-CN" dirty="0"/>
              <a:t>3. الابتكار: 18-36 شهر (+2,500 عميل)</a:t>
            </a:r>
          </a:p>
          <a:p>
            <a:r>
              <a:rPr lang="zh-CN" dirty="0"/>
              <a:t>4. الريادة: 36+ شهر</a:t>
            </a:r>
          </a:p>
          <a:p>
            <a:endParaRPr lang="zh-CN" dirty="0"/>
          </a:p>
          <a:p>
            <a:r>
              <a:rPr lang="zh-CN" dirty="0"/>
              <a:t>• المراحل الرئيسية: BEP الشهر 4 | 960 عميل الشهر 12 | 2,500 عميل الشهر 36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477500" y="0"/>
            <a:ext cx="1714500" cy="1143000"/>
          </a:xfrm>
          <a:custGeom>
            <a:avLst/>
            <a:gdLst/>
            <a:ahLst/>
            <a:cxnLst/>
            <a:rect l="l" t="t" r="r" b="b"/>
            <a:pathLst>
              <a:path w="1714500" h="1143000">
                <a:moveTo>
                  <a:pt x="1714500" y="0"/>
                </a:moveTo>
                <a:lnTo>
                  <a:pt x="0" y="0"/>
                </a:lnTo>
                <a:lnTo>
                  <a:pt x="1714500" y="1143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0096500" y="285750"/>
            <a:ext cx="1714500" cy="571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FFFF">
                <a:alpha val="4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92027" y="469582"/>
            <a:ext cx="7234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40160" y="1927860"/>
            <a:ext cx="331168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منصة MATAX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36765" y="2692718"/>
            <a:ext cx="591847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التسيير الجبائي الرقمي الذكي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1587" y="3409950"/>
            <a:ext cx="58488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منصة رقمية مبتكرة في مجال التكنولوجيا الجبائية (TaxTech)</a:t>
            </a:r>
          </a:p>
        </p:txBody>
      </p:sp>
      <p:sp>
        <p:nvSpPr>
          <p:cNvPr id="11" name="Line 11"/>
          <p:cNvSpPr/>
          <p:nvPr/>
        </p:nvSpPr>
        <p:spPr>
          <a:xfrm>
            <a:off x="3619500" y="3952875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038850" y="3895725"/>
            <a:ext cx="114300" cy="1143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3590925" y="3924300"/>
            <a:ext cx="57150" cy="57150"/>
          </a:xfrm>
          <a:prstGeom prst="ellipse">
            <a:avLst/>
          </a:prstGeom>
          <a:solidFill>
            <a:srgbClr val="0066CC">
              <a:alpha val="50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543925" y="3924300"/>
            <a:ext cx="57150" cy="57150"/>
          </a:xfrm>
          <a:prstGeom prst="ellipse">
            <a:avLst/>
          </a:prstGeom>
          <a:solidFill>
            <a:srgbClr val="0066CC">
              <a:alpha val="5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286000" y="4286250"/>
            <a:ext cx="7620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957901" y="4520565"/>
            <a:ext cx="227619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إعداد: حموم إكرام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5633" y="4902518"/>
            <a:ext cx="35807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إشراف: أ. بلعباس مختار — أ. مفتاح فاطمة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80485" y="5252085"/>
            <a:ext cx="44310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جامعة ابن خلدون تيارت | ماستر محاسبة وجباية | 2025/2026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60582" y="6461760"/>
            <a:ext cx="28708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عرض التخرج — startup thesis defense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2439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فهرس المحتويات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552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49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1170" y="1231582"/>
            <a:ext cx="25947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المشكلة والحل المقترح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582102"/>
            <a:ext cx="33940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تعقيد الإجراءات الجبائية وأهمية الحلول الرقمية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294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5670" y="1231582"/>
            <a:ext cx="22713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الجوانب الابتكارية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582102"/>
            <a:ext cx="24209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ما يميز MATAX عن الحلول التقليدية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49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1170" y="2326958"/>
            <a:ext cx="27218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السوق والنموذج التجاري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677478"/>
            <a:ext cx="2308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السوق المستهدف ومصادر الإيرادات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294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5670" y="2326958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الدراسة المالية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677478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الجدوى المالية ومؤشرات الأداء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049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41170" y="3422332"/>
            <a:ext cx="20172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النموذج التجريبي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9665" y="3772852"/>
            <a:ext cx="2077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عرض المنصة والخصائص الرئيسية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294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65670" y="3422332"/>
            <a:ext cx="21442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المراحل التنفيذية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377285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خطة العمل والخريطة الزمنية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4381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191000" y="4572000"/>
            <a:ext cx="38100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403580" y="47063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مدة العرض: 15 دقيقة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531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60489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المشكلة والحل المقترح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تعقيد الإجراءات الجبائية وغياب الرقمنة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913495" y="633126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من التقاليد إلى الرقمنة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8905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| المشكلة والحل المقترح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7688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يحل 4 مشاكل حرجة من خلال 5 ركائز رقمية متكاملة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524500" cy="952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77564" y="1517332"/>
            <a:ext cx="9313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المشكلة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2510" y="2137410"/>
            <a:ext cx="23995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01 تعقيد التشريعات الجبائية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6320" y="2398395"/>
            <a:ext cx="28432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صعوبة استيعاب القوانين المالية السنوية وتداخل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569845"/>
            <a:ext cx="2747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الإجراءات الإدارية — حاجز كبير لرواد الأعمال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7272" y="2768441"/>
            <a:ext cx="25787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في فهم التزاماتهم الحقيقية تجاه مصلحة الضرائب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04800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71500" y="30480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32510" y="3185160"/>
            <a:ext cx="21223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02 مخاطر الأخطاء البشرية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3446145"/>
            <a:ext cx="28432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الاعتماد على التعبئة اليدوية للتصاريح الدورية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320" y="3617595"/>
            <a:ext cx="25131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(مثل تصريح G50) يعرّض المقاولين للغرامات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7272" y="3816191"/>
            <a:ext cx="17536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والتأخير في المواعيد القانونية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09575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4095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32510" y="4232910"/>
            <a:ext cx="21223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03 غرامات التأخير المالي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6320" y="4493895"/>
            <a:ext cx="28792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غياب نظام متابعة وتنبيه ذكي للمواعيد القانونية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6320" y="466534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يؤدي إلى غرامات باهظة على المقاولين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7272" y="4863941"/>
            <a:ext cx="10550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وخسارة مالية كبيرة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143500"/>
            <a:ext cx="5143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571500" y="5143500"/>
            <a:ext cx="57150" cy="8096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32510" y="5280660"/>
            <a:ext cx="30044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04 التكاليف الباهظة وهشاشة الأرشفة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6320" y="5541645"/>
            <a:ext cx="28132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أعباء التعاقد مع مكاتب المحاسبة وغياب التخزين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7272" y="5740241"/>
            <a:ext cx="18746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السحابي الآمن للمستندات الجبائية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2865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334708" y="15173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الحل: MATAX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477000" y="2000250"/>
            <a:ext cx="5143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6477000" y="20002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938010" y="2137410"/>
            <a:ext cx="20803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تبسيط الجباية بضغطة زر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941820" y="2398395"/>
            <a:ext cx="29452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تحويل النصوص القانونية المعقدة إلى واجهات رقمية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41820" y="2569845"/>
            <a:ext cx="23511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سلسة وتفاعلية — دون خبرة محاسبية مسبقة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42772" y="2720816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تقليل زمن التأهيل لـ 48 ساعة فقط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477000" y="2952750"/>
            <a:ext cx="5143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477000" y="29527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938010" y="3089910"/>
            <a:ext cx="21727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🔔 نظام تنبيه ذكي واستباقي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41820" y="3350895"/>
            <a:ext cx="25371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تنبيهات عبر الرسائل النصية القصيرة (SMS)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1820" y="3522345"/>
            <a:ext cx="2543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والبريد الإلكتروني قبل المواعيد الجبائية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42772" y="3673316"/>
            <a:ext cx="15721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حماية المقاولين من الغرامات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477000" y="3905250"/>
            <a:ext cx="5143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6477000" y="39052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938010" y="4042410"/>
            <a:ext cx="22567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📋 أتمتة دقيقة بنسبة خطأ 0%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941820" y="4303395"/>
            <a:ext cx="19190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توليد تصاريح G50 بضغطة زر واحدة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41820" y="4474845"/>
            <a:ext cx="2381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وتقضي تماماً على مخاطر الأخطاء البشرية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942772" y="4625816"/>
            <a:ext cx="23697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من عملية تأخذ ساعات إلى عملية رقمية مؤتمتة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477000" y="4857750"/>
            <a:ext cx="5143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6477000" y="48577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938010" y="4994910"/>
            <a:ext cx="18451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☁️ أرشفة سحابية مشفرة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941820" y="5255895"/>
            <a:ext cx="2081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منظومة سحابية آمنة لأرشفة الملفات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941820" y="5427345"/>
            <a:ext cx="21771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الجبائية والمحاسبية بتشفير 256-SSL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942772" y="5578316"/>
            <a:ext cx="15116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حماية البيانات من الاختراق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6477000" y="5810250"/>
            <a:ext cx="5143500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6477000" y="5810250"/>
            <a:ext cx="57150" cy="238125"/>
          </a:xfrm>
          <a:prstGeom prst="roundRect">
            <a:avLst>
              <a:gd name="adj" fmla="val 33333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939915" y="5868352"/>
            <a:ext cx="38050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💰 اشتراكات اقتصادية — 60% أقل من المكاتب التقليدية</a:t>
            </a:r>
          </a:p>
        </p:txBody>
      </p:sp>
      <p:sp>
        <p:nvSpPr>
          <p:cNvPr id="68" name="Line 68"/>
          <p:cNvSpPr/>
          <p:nvPr/>
        </p:nvSpPr>
        <p:spPr>
          <a:xfrm>
            <a:off x="381000" y="6381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69570" y="657034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421487" y="657034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المشكلة والحل المقترح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822209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الجوانب الابتكارية للمشروع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50143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6 مبادرات تميز MATAX عن الحلول التقليدية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022384" y="6331268"/>
            <a:ext cx="38057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الابتكار في التكنولوجيا الجبائية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991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| الجوانب الابتكارية للمشروع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4430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6 مبادرات تجعل MATAX خياراً استراتيجياً للمقاولين والشركات الجزائرية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066925" y="1590675"/>
            <a:ext cx="533400" cy="533400"/>
          </a:xfrm>
          <a:prstGeom prst="ellipse">
            <a:avLst/>
          </a:prstGeom>
          <a:solidFill>
            <a:srgbClr val="003366">
              <a:alpha val="1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241456" y="173926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8311" y="2235518"/>
            <a:ext cx="11306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بسيطة وسلسة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6634" y="254269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واجهة مستخدم سلسة لا تتطلب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0166" y="2733199"/>
            <a:ext cx="1246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خبرة محاسبية مسبقة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0634" y="3027045"/>
            <a:ext cx="18059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تقليل زمن التأهيل لـ 48 ساعة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33875" y="138112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33875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829300" y="1590675"/>
            <a:ext cx="533400" cy="533400"/>
          </a:xfrm>
          <a:prstGeom prst="ellipse">
            <a:avLst/>
          </a:prstGeom>
          <a:solidFill>
            <a:srgbClr val="0066CC">
              <a:alpha val="12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003831" y="173926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18798" y="223551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استباقية واستشراف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4283" y="2542699"/>
            <a:ext cx="1383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تنبيهات ذكية عبر SMS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56289" y="2733199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والبريد الإلكتروني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92196" y="3027045"/>
            <a:ext cx="20076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متابعة مسبقة للمواعيد الجبائية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138112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9625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591675" y="1590675"/>
            <a:ext cx="533400" cy="533400"/>
          </a:xfrm>
          <a:prstGeom prst="ellipse">
            <a:avLst/>
          </a:prstGeom>
          <a:solidFill>
            <a:srgbClr val="0099AA">
              <a:alpha val="12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69689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⚖️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37117" y="2235518"/>
            <a:ext cx="14425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ملاءمة قانونية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36641" y="2542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تطابق مع الإطار القانوني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9957" y="2733199"/>
            <a:ext cx="596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الجزائري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01014" y="3027045"/>
            <a:ext cx="2114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تحديث تلقائي مع القوانين المالية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76237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2066925" y="3971925"/>
            <a:ext cx="533400" cy="533400"/>
          </a:xfrm>
          <a:prstGeom prst="ellipse">
            <a:avLst/>
          </a:prstGeom>
          <a:solidFill>
            <a:srgbClr val="2E7D32">
              <a:alpha val="12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241456" y="412051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68311" y="4616768"/>
            <a:ext cx="11306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أتمتة شاملة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0382" y="49239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توليد تلقائي للتصريحات G50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15704" y="5114449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بصيغة PDF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33884" y="5408295"/>
            <a:ext cx="999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صفر أخطاء يدوية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333875" y="376237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333875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5829300" y="3971925"/>
            <a:ext cx="533400" cy="533400"/>
          </a:xfrm>
          <a:prstGeom prst="ellipse">
            <a:avLst/>
          </a:prstGeom>
          <a:solidFill>
            <a:srgbClr val="1565C0">
              <a:alpha val="12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003831" y="412051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18798" y="461676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اشتراكات اقتصادية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61265" y="49239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تقليل التكاليف بنسبة 60%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22260" y="51144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مقارنة بالمكاتب التقليدية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00122" y="540829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اشتراكات من 1,490 دج/شهر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96250" y="376237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809625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9591675" y="3971925"/>
            <a:ext cx="533400" cy="533400"/>
          </a:xfrm>
          <a:prstGeom prst="ellipse">
            <a:avLst/>
          </a:prstGeom>
          <a:solidFill>
            <a:srgbClr val="6A1B9A">
              <a:alpha val="12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69689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☁️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004800" y="4616768"/>
            <a:ext cx="17071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بنية تحتية سحابية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81384" y="492394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استضافة Cloudflare المحمية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61682" y="5114449"/>
            <a:ext cx="993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بتشفير 256-SSL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51521" y="5408295"/>
            <a:ext cx="1213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مزامنة Google Drive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2845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PRODUCT.md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05498" y="6284595"/>
            <a:ext cx="1181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الجوانب الابتكارية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92833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السوق والنموذج التجاري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0422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3 شرائح مستهدفة و 3 مصادر إيرادات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نموذج أعمال حديث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522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398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يستهدف شرائح متنوعة من المقاولين والشركات الجزائرية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7150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715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715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66364" y="1517332"/>
            <a:ext cx="21442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الشرائح المستهدفة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1558" y="214836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المقاولون والشركات الناشئة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4415" y="2410778"/>
            <a:ext cx="30510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890,000 مقاول + 46,000 مؤسسة صغيرة ومتوسطة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665095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النمو الأسرع مع أولوية للرقمنة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190875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31908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1558" y="3338989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مكاتب المحاسبة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415" y="3601402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2,613 مكتب + 12,560 محاسب معتمد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3855720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الاحتراف: بحاجة لأدوات رقمية متقدمة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38150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43815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1558" y="452961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المؤسسات المتوسطة والكبيرة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4415" y="4792028"/>
            <a:ext cx="33240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58,000 مؤسسة + 1,200 مؤسسة خارج النظام الجبائي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320" y="5046345"/>
            <a:ext cx="2081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حلول مخصصة للمؤسسات متعددة الفروع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03680" y="15173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مصادر الإيرادات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2000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477000" y="2000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36105" y="2140268"/>
            <a:ext cx="26900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الاشتراكات الشهرية/السنوية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39915" y="2439352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Start: 1,490 دج | Pro: 3,490 دج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39915" y="26489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Enterprise: 5,990 دج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39915" y="2915602"/>
            <a:ext cx="20114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مصدر الإيراد الأساسي + 70%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3381375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77000" y="33813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936105" y="3521392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الخدمات الإضافية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39915" y="3820478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دعم تقني مخصص + استشارات ضريبية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1820" y="4074795"/>
            <a:ext cx="2519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هوامش ربح عالية + تعميق العلاقة مع العميل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477000" y="4572000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77000" y="45720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936105" y="471201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الشراكات والتعاون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39915" y="5011102"/>
            <a:ext cx="1888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عمولات بيع مشترك مع البنوك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41820" y="5265420"/>
            <a:ext cx="277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توسيع قاعدة المستخدمين عبر شراكات استراتيجية</a:t>
            </a:r>
          </a:p>
        </p:txBody>
      </p:sp>
      <p:sp>
        <p:nvSpPr>
          <p:cNvPr id="49" name="Line 49"/>
          <p:cNvSpPr/>
          <p:nvPr/>
        </p:nvSpPr>
        <p:spPr>
          <a:xfrm>
            <a:off x="381000" y="6381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69570" y="6570345"/>
            <a:ext cx="2195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 + PRODUCT.md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388483" y="6570345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السوق والنموذج التجاري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9043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 — التميّز التنافسي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948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يتفوق على المنافسين بفضل أتمتة الإجراءات الجبائية بالكامل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523875"/>
          </a:xfrm>
          <a:prstGeom prst="roundRect">
            <a:avLst>
              <a:gd name="adj" fmla="val 10909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56820" y="1537335"/>
            <a:ext cx="6773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المعيار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3179" y="1537335"/>
            <a:ext cx="526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8153" y="1537335"/>
            <a:ext cx="9461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Compta 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6187" y="1537335"/>
            <a:ext cx="400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2163" y="1537335"/>
            <a:ext cx="778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FiscalPro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1905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10916" y="2164556"/>
            <a:ext cx="17691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التصريح الجبائي الآلي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45109" y="2164556"/>
            <a:ext cx="682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متكامل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0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65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16929" y="216455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جزئي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571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54234" y="2831306"/>
            <a:ext cx="1682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نظام التنبيهات الذكي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01791" y="283130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استباقي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01916" y="283130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سلبي فقط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65660" y="283130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75674" y="28313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محدود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2385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80962" y="3498056"/>
            <a:ext cx="2029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الأرشفة السحابية المشفرة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01791" y="349805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256-SSL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25681" y="349805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Cloud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06916" y="349805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محلي فقط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70660" y="34980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9052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7691" y="4164806"/>
            <a:ext cx="2375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الامتثال للتشريعات الجزائرية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91527" y="4164806"/>
            <a:ext cx="9894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تحديث فوري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48184" y="4164806"/>
            <a:ext cx="486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بطيء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11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متوسط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16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محدود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572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451134" y="4831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الشهرية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22366" y="4823460"/>
            <a:ext cx="7277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1,490 دج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8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5,000+ دج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39955" y="482346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15,000+ دج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9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3,500+ دج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238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451134" y="54983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السنوية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76161" y="549021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16,880 دج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3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60,000+ دج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93749" y="5490210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180,000+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4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42,000+ دج</a:t>
            </a:r>
          </a:p>
        </p:txBody>
      </p:sp>
      <p:sp>
        <p:nvSpPr>
          <p:cNvPr id="52" name="Line 52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369570" y="6284595"/>
            <a:ext cx="12830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مقارنة السوق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71506" y="6284595"/>
            <a:ext cx="1048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التميّز التنافسي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الجدوى المالية ومؤشرات الأداء الرئيسية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نموذج أعمال حديث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6841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القوائم المالية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7680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المطلوب: 3,880,000 دج — BEP في الشهر 4 — VAN: +79.6M دج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92805" y="1516856"/>
            <a:ext cx="5483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البيان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62587" y="1516856"/>
            <a:ext cx="1028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السنة الأولى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1851" y="1516856"/>
            <a:ext cx="808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الملاحظات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857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49362" y="2050256"/>
            <a:ext cx="16352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الإيرادات التشغيلية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28293" y="2042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9,600,000 دج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0518" y="2066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960 عميل × 10,000 دج/شهر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428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935998" y="2621756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الإجمالية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28293" y="26136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5,265,000 دج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07782" y="263794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تشغيل + تسويق + تطوير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000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758788" y="31932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صافي الربح قبل الضرائب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28293" y="3185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4,335,000 دج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67837" y="320135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هامش صافي +45.2%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571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565827" y="3764756"/>
            <a:ext cx="22023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التدفقات النقدية التراكمية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35882" y="375666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+79,600,000 دج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6057" y="3780949"/>
            <a:ext cx="9998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VAN على 3 سنوات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143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715470" y="4336256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70299" y="4328160"/>
            <a:ext cx="10134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سنة + 9 أشهر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18296" y="4352449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استرداد سريع جداً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714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912370" y="49077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1275" y="4899660"/>
            <a:ext cx="13914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الشهر 4 | 61 عميل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1313" y="4923949"/>
            <a:ext cx="8893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BEP مبكر جداً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286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640649" y="5479256"/>
            <a:ext cx="20527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67723" y="5471160"/>
            <a:ext cx="618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+46.6%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27284" y="5495449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585787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589455" y="6041231"/>
            <a:ext cx="2155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العائد على الاستثمار (ROI)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60135" y="6033135"/>
            <a:ext cx="4337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247%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98793" y="6057424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العائد على 3 سنوات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66559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04510" y="66655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القوائم المالية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7426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مؤشرات الأداء الرئيسية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869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حقق نتائج استثنائية: VAN +79.6M | DR 1y9m | BEP 4 months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1156" y="1594485"/>
            <a:ext cx="21649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6A34A"/>
                </a:solidFill>
                <a:latin typeface="Georgia"/>
                <a:ea typeface="Microsoft YaHei"/>
                <a:cs typeface="Georgia"/>
              </a:rPr>
              <a:t>+79.6M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1882" y="2330768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القيمة المضافة الصافية (VAN)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618" y="2648902"/>
            <a:ext cx="2778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التدفقات النقدية التراكمية على 3 سنوات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3241" y="3108960"/>
            <a:ext cx="23407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العائد على الاستثمار: 247%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336972" y="1594485"/>
            <a:ext cx="151805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1y9m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54164" y="2330768"/>
            <a:ext cx="22836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8532" y="2648902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التعافي السريع جداً للاستثمار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43093" y="3108960"/>
            <a:ext cx="1105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أقل من 24 شهر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09625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81595" y="1594485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891B2"/>
                </a:solidFill>
                <a:latin typeface="Georgia"/>
                <a:ea typeface="Microsoft YaHei"/>
                <a:cs typeface="Georgia"/>
              </a:rPr>
              <a:t>61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52819" y="2330768"/>
            <a:ext cx="18111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6491" y="2648902"/>
            <a:ext cx="8037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الشهر 4 فقط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2054" y="3108960"/>
            <a:ext cx="13326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61 عميل للتعادل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412877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7C3AED"/>
                </a:solidFill>
                <a:latin typeface="Georgia"/>
                <a:ea typeface="Microsoft YaHei"/>
                <a:cs typeface="Georgia"/>
              </a:rPr>
              <a:t>46.6%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2003" y="4759642"/>
            <a:ext cx="24632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2700" y="5077778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8090" y="5537835"/>
            <a:ext cx="15510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+45.2% صافي الربح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333875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333875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75252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EA580C"/>
                </a:solidFill>
                <a:latin typeface="Georgia"/>
                <a:ea typeface="Microsoft YaHei"/>
                <a:cs typeface="Georgia"/>
              </a:rPr>
              <a:t>3.88M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30536" y="4759642"/>
            <a:ext cx="2330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 (CAPEX)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55049" y="5077778"/>
            <a:ext cx="1881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التكاليف الثابتة المتغيرة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72496" y="5537835"/>
            <a:ext cx="10470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أقل من 4M دج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9625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09625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319874" y="4023360"/>
            <a:ext cx="10770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960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56632" y="4759642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العملاء المستهدفون (السنة 1)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52428" y="5077778"/>
            <a:ext cx="18118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النمو المتوقع خلال 12 شهر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55874" y="5537835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80 عميل/شهر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1436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33222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88483" y="63322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مؤشرات الأداء الرئيسية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316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513470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النموذج التجريبي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2818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عرض تفاعلي لمنصة MATAX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62564" y="6331268"/>
            <a:ext cx="2365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منصة حية ومتكاملة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| النموذج التجريبي — عرض المنصة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9129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MATAX: واجهة عربية سلسة — لا حاجة لخبرة محاسبية مسبقة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437102" y="153352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التطبيق الجوال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09750" y="200025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571750" y="2047875"/>
            <a:ext cx="1524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000250" y="228600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391556" y="2461260"/>
            <a:ext cx="1693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التحكم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00250" y="2905125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416766" y="320944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لوحة تحكم المقاول]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000250" y="3714750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543532" y="4019074"/>
            <a:ext cx="138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قائمة الجباية]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000250" y="452437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507778" y="4723924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إعدادات الحساب]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800308" y="1533525"/>
            <a:ext cx="23063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لوحة التحكم على الويب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62750" y="2000250"/>
            <a:ext cx="438150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762750" y="2000250"/>
            <a:ext cx="4381500" cy="333375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762750" y="2238375"/>
            <a:ext cx="4381500" cy="952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877050" y="2105025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7067550" y="2105025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258050" y="2105025"/>
            <a:ext cx="114300" cy="114300"/>
          </a:xfrm>
          <a:prstGeom prst="ellipse">
            <a:avLst/>
          </a:prstGeom>
          <a:solidFill>
            <a:srgbClr val="27CA4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191500" y="2095500"/>
            <a:ext cx="1905000" cy="133350"/>
          </a:xfrm>
          <a:prstGeom prst="roundRect">
            <a:avLst>
              <a:gd name="adj" fmla="val 214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953250" y="247650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850324" y="2651760"/>
            <a:ext cx="2206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تحكم المحاسب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953250" y="3095625"/>
            <a:ext cx="4000500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060257" y="349519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إدارة محفظة العملاء]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953250" y="4095750"/>
            <a:ext cx="40005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52994" y="4542949"/>
            <a:ext cx="20010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تقارير الجباية والتصرح]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5524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762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38212" y="5850731"/>
            <a:ext cx="17297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🌐 واجهة عربية بالكامل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191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367212" y="5850731"/>
            <a:ext cx="1469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📱 متوافق مع الجوال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620000" y="5667375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796212" y="5850731"/>
            <a:ext cx="12966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🚀 سرعة في الأداء</a:t>
            </a:r>
          </a:p>
        </p:txBody>
      </p:sp>
      <p:sp>
        <p:nvSpPr>
          <p:cNvPr id="48" name="Line 48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69570" y="6665595"/>
            <a:ext cx="154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النموذج التجريبي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769531" y="66655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عرض المنصة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5458149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المراحل التنفيذية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29812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خطة العمل والخريطة الزمنية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012507" y="6331268"/>
            <a:ext cx="28156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من التخطيط إلى التنفيذ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1851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| فريق العمل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149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فريق مؤسس متكامل بخبرات متنوعة في المحاسبة والتقنية والإشراف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809750" y="1619250"/>
            <a:ext cx="857250" cy="857250"/>
          </a:xfrm>
          <a:prstGeom prst="ellipse">
            <a:avLst/>
          </a:prstGeom>
          <a:solidFill>
            <a:srgbClr val="003366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043415" y="1880235"/>
            <a:ext cx="389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HI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8006" y="2552700"/>
            <a:ext cx="114073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حموم إكرام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0645" y="2850356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صاحبة المشروع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3623" y="3085624"/>
            <a:ext cx="1929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محاسبة + تكنولوجيا المعلومات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1910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429250" y="1619250"/>
            <a:ext cx="857250" cy="857250"/>
          </a:xfrm>
          <a:prstGeom prst="ellipse">
            <a:avLst/>
          </a:prstGeom>
          <a:solidFill>
            <a:srgbClr val="0066CC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5778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BM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1992" y="2552700"/>
            <a:ext cx="13717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بلعباس مختار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03245" y="28503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المشرف على المشروع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2691" y="308562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 محاسبة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810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9048750" y="1619250"/>
            <a:ext cx="857250" cy="857250"/>
          </a:xfrm>
          <a:prstGeom prst="ellipse">
            <a:avLst/>
          </a:prstGeom>
          <a:solidFill>
            <a:srgbClr val="0099AA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973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99AA"/>
                </a:solidFill>
                <a:latin typeface="Georgia"/>
                <a:ea typeface="Microsoft YaHei"/>
                <a:cs typeface="Georgia"/>
              </a:rPr>
              <a:t>MF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49249" y="2552700"/>
            <a:ext cx="12562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مفتاح فاطمة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79427" y="2850356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المشرفة على المشروع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16436" y="308562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أستاذة محاسبة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52425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352425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3905250"/>
            <a:ext cx="11049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2761" y="3702368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الخريطة الزمنية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62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494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المرحلة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5047" y="4552474"/>
            <a:ext cx="959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MVP &amp; الإطلاق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445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0-6 أشهر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230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+400 عميل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2385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32385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9714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المرحلة 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98134" y="4552474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التوسع والنمو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210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6-18 شهر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995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+960 عميل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715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447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المرحلة 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24465" y="4552474"/>
            <a:ext cx="1267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الابتكار والتمكين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4535" y="47701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18-36 شهر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2531" y="4892516"/>
            <a:ext cx="6909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+2,500 عميل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191500" y="4143375"/>
            <a:ext cx="3238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8191500" y="4143375"/>
            <a:ext cx="3238500" cy="571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40066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المرحلة 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214757" y="4552474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الريادة والتوطين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583293" y="47701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36+ شهر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93822" y="4892516"/>
            <a:ext cx="12338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ريادة السوق الجزائري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62000" y="5238750"/>
            <a:ext cx="10477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762000" y="5238750"/>
            <a:ext cx="57150" cy="809625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28712" y="5374481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المراحل الرئيسية: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0618" y="5609749"/>
            <a:ext cx="45233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BEP الشهر 4 | 400 عميل السنة 1 | 960 عميل الشهر 12 | 2,500 عميل الشهر 36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30618" y="5828824"/>
            <a:ext cx="4061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توسيع Zakat &amp; Douane في 2026 | AI/ML للاستشراف الضريبي في 2027</a:t>
            </a:r>
          </a:p>
        </p:txBody>
      </p:sp>
      <p:sp>
        <p:nvSpPr>
          <p:cNvPr id="64" name="Line 6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69570" y="647509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خطة العمل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38464" y="6475095"/>
            <a:ext cx="17150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فريق العمل والخريطة الزمنية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2026-06-10T18:38:49Z</dcterms:created>
  <dcterms:modified xsi:type="dcterms:W3CDTF">2026-06-10T18:38:49Z</dcterms:modified>
  <cp:category/>
  <cp:contentStatus/>
</cp:coreProperties>
</file>