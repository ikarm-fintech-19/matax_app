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99E2B55-E8CA-4CF4-8CF9-37B91878B98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مقدمة سريعة: "مرحباً، أنا حموم إكرام، أقدم لكم مشروع التخرج: منصة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MATAX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للتجزئة الجبائية الرقمية الذكية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تأكيد على أن المشروع يجمع بين المحاسبة والتقنية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عرض سريع للمحاور الستة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التأكيد على أن العرض سيستمر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دقيقة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"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المشكلة الأساسية: تعقيد الإجراءات الجبائية في الجزائر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"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الحل: منصة رقمية ذكية تبسط كل شيء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المشكلات (الجانب الأيسر)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تعقيد التشريعات الجبائية: صعوبة استيعاب القوانين المالية السنوية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مخاطر الأخطاء البشرية: اليدوية والتأخير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غرامات التأخير: غياب نظام متابعة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التكاليف الباهظة: مكاتب المحاسبة + الأرشفة الورقية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الحلول (الجانب الأيمن)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تبسيط الجباية: واجهات سلسة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نظام تنبيه ذكي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 SMS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والبريد الإلكتروني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الأتمتة: تصريح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G50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آلي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أرشفة سحابية: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-SSL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اشتراكات اقتصادية: أقل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% من المكاتب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"6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مبادرات تميز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MATAX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عن أي حلول أخرى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بسيطة وسلسة: واجهة مستخدم لا تتطلب خبرة مسبقة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استباقية واستشراف: تنبيهات قبل المواعيد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ملاءمة قانونية: تحديث تلقائي مع القوانين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أتمتة شاملة: صفر أخطاء يدوية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اشتراكات اقتصادية: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1,490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دج/شهر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بنية تحتية سحابية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 Cloudflare +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تشفير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"3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شرائح مستهدفة و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مصادر إيرادات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الشرائح المستهدفة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المقاولون والشركات الناشئة: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890,000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مقاول +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46,000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مؤسسة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مكاتب المحاسبة: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2,613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مكتب +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12,560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محاسب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المؤسسات المتوسطة والكبيرة: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58,000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مؤسسة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مصادر الإيرادات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الاشتراكات الشهرية/السنوية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 Start 1,490 | Pro 3,490 | Enterprise 5,990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الخدمات الإضافية: دعم + استشارات + تدريب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الشراكات: بنوك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+ ERP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جدول مقارنة مع المنافسين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MATAX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يتفوق في: التصريح الآلي + التنبيهات + الأرشفة + الامتثال + التكلفة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التكلفة: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1,490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دج فقط مقارنة بـ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5,000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-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15,000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دج للمنافسين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"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الجدوى المالية ممتازة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 VAN +79.6M | DR 1y9m | BEP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الشهر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الإيرادات: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9,600,000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دج (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960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عميل ×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10,000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دج)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التكاليف: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5,265,000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دج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صافي الربح: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4,335,000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دج (هامش +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45.2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%)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VAN: +79,600,000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دج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DR: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سنة +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أشهر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BEP: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الشهر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(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61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عميل)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OM: +46.6%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ROI: 247%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التكلفة/عميل: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5,484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دج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(LTV/CAC = 7.3x)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عرض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بطاقات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KPI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VAN +79.6M | DR 1y9m | BEP 61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عميل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| OM 46.6% | CAPEX 3.88M | 960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عميل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"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عرض تفاعلي لمنصة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MATAX: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واجهة عربية سلسة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عرض صور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原型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(placeholder)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تأكيد على: الواجهة العربية + التوافق مع الجوال + السرعة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رابط المعاينة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 https://matax-frontend.onrender.com/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"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خطة عمل واضحة: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مراحل خلال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شهر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الفريق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حموم إكرام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PDG (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محاسبة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+ IT)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يزيد زين الدين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CFO (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محاسبة + مالية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سعيد بن عمر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—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CTO (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برمجة + قواعد بيانات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المراحل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1. MVP &amp; launch: 0-6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أشهر (+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61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عميل)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التوسع: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-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شهر (+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960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عميل)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الابتكار: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-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شهر (+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2,500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عميل)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4.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الريادة: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+ شهر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•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المراحل الرئيسية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: BEP </a:t>
            </a:r>
            <a:r>
              <a:rPr b="0" lang="ar-DZ" sz="1800" strike="noStrike" u="none">
                <a:solidFill>
                  <a:schemeClr val="dk1"/>
                </a:solidFill>
                <a:effectLst/>
                <a:uFillTx/>
                <a:latin typeface="+mn-lt"/>
                <a:cs typeface="+mn-cs"/>
              </a:rPr>
              <a:t>الشهر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|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960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عميل الشهر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|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2,500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عميل الشهر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578E8F-F912-470F-83EF-7BD506A99FD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DACF90-627F-4B69-B245-F785A8EDFE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E12A4D-7AF4-4FBD-8B24-1DE1683DEA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8B1619-87A4-42B7-A78F-47447639067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D32D9F-B503-438F-A0FF-E82F0CE652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EAB5FD-A28C-4B5B-870C-6085AF91027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29BA58-0089-489E-9E3C-35900093F1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955114-E65F-4ED6-9110-CD3B9AFF643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34E863-EE2A-496D-8910-6BBF6ADA37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B22837-CD99-4330-894F-DF638833B16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93FC4C-D53B-47D4-AB87-373EF919064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3"/>
          <p:cNvSpPr/>
          <p:nvPr/>
        </p:nvSpPr>
        <p:spPr>
          <a:xfrm>
            <a:off x="0" y="0"/>
            <a:ext cx="12191760" cy="95220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4"/>
          <p:cNvSpPr/>
          <p:nvPr/>
        </p:nvSpPr>
        <p:spPr>
          <a:xfrm>
            <a:off x="0" y="0"/>
            <a:ext cx="56880" cy="95220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5"/>
          <p:cNvSpPr/>
          <p:nvPr/>
        </p:nvSpPr>
        <p:spPr>
          <a:xfrm>
            <a:off x="10287000" y="237960"/>
            <a:ext cx="1523520" cy="47592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10702080" y="406800"/>
            <a:ext cx="694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7"/>
          <p:cNvSpPr/>
          <p:nvPr/>
        </p:nvSpPr>
        <p:spPr>
          <a:xfrm>
            <a:off x="4532760" y="2246040"/>
            <a:ext cx="312624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3900" strike="noStrike" u="none">
                <a:solidFill>
                  <a:srgbClr val="003366"/>
                </a:solidFill>
                <a:effectLst/>
                <a:uFillTx/>
                <a:latin typeface="Georgia"/>
                <a:cs typeface="Georgia"/>
              </a:rPr>
              <a:t>منصة</a:t>
            </a:r>
            <a:r>
              <a:rPr b="1" lang="en-US" sz="3900" strike="noStrike" u="none">
                <a:solidFill>
                  <a:srgbClr val="003366"/>
                </a:solidFill>
                <a:effectLst/>
                <a:uFillTx/>
                <a:latin typeface="Georgia"/>
                <a:ea typeface="Microsoft YaHei"/>
              </a:rPr>
              <a:t> </a:t>
            </a:r>
            <a:r>
              <a:rPr b="1" lang="en-US" sz="3900" strike="noStrike" u="none">
                <a:solidFill>
                  <a:srgbClr val="003366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4294440" y="2946960"/>
            <a:ext cx="36025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2700" strike="noStrike" u="none">
                <a:solidFill>
                  <a:srgbClr val="003366"/>
                </a:solidFill>
                <a:effectLst/>
                <a:uFillTx/>
                <a:latin typeface="Georgia"/>
                <a:cs typeface="Georgia"/>
              </a:rPr>
              <a:t>التسيير الجبائي الرقمي الذكي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4475880" y="3632040"/>
            <a:ext cx="32396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6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منصة رقمية مبتكرة في مجال التكنولوجيا الجبائية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Line 10"/>
          <p:cNvSpPr/>
          <p:nvPr/>
        </p:nvSpPr>
        <p:spPr>
          <a:xfrm>
            <a:off x="4000680" y="4191120"/>
            <a:ext cx="4190760" cy="9000"/>
          </a:xfrm>
          <a:custGeom>
            <a:avLst/>
            <a:gdLst>
              <a:gd name="textAreaLeft" fmla="*/ 0 w 4190760"/>
              <a:gd name="textAreaRight" fmla="*/ 4191120 w 419076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Ellipse 11"/>
          <p:cNvSpPr/>
          <p:nvPr/>
        </p:nvSpPr>
        <p:spPr>
          <a:xfrm>
            <a:off x="6048360" y="4143240"/>
            <a:ext cx="95040" cy="95040"/>
          </a:xfrm>
          <a:prstGeom prst="ellipse">
            <a:avLst/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2"/>
          <p:cNvSpPr/>
          <p:nvPr/>
        </p:nvSpPr>
        <p:spPr>
          <a:xfrm>
            <a:off x="5492160" y="4584240"/>
            <a:ext cx="120708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6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إعداد: حموم إكرام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3"/>
          <p:cNvSpPr/>
          <p:nvPr/>
        </p:nvSpPr>
        <p:spPr>
          <a:xfrm>
            <a:off x="5397120" y="4997880"/>
            <a:ext cx="13975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3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إشراف: أ. بلعباس مخطار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4"/>
          <p:cNvSpPr/>
          <p:nvPr/>
        </p:nvSpPr>
        <p:spPr>
          <a:xfrm>
            <a:off x="4316400" y="5378760"/>
            <a:ext cx="35586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3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جامعة ابن خلدون تيارت | ماستر محاسبة وجباية | </a:t>
            </a:r>
            <a:r>
              <a:rPr b="0" lang="en-US" sz="13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2025/2026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5"/>
          <p:cNvSpPr/>
          <p:nvPr/>
        </p:nvSpPr>
        <p:spPr>
          <a:xfrm>
            <a:off x="0" y="6334200"/>
            <a:ext cx="12191760" cy="52344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6"/>
          <p:cNvSpPr/>
          <p:nvPr/>
        </p:nvSpPr>
        <p:spPr>
          <a:xfrm>
            <a:off x="5036400" y="6535080"/>
            <a:ext cx="21182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عرض التخرج</a:t>
            </a:r>
            <a:r>
              <a:rPr b="0" lang="en-US" sz="105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 — </a:t>
            </a:r>
            <a:r>
              <a:rPr b="0" lang="en-US" sz="105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startup thesis defense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3"/>
          <p:cNvSpPr/>
          <p:nvPr/>
        </p:nvSpPr>
        <p:spPr>
          <a:xfrm>
            <a:off x="0" y="0"/>
            <a:ext cx="12191760" cy="66636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4"/>
          <p:cNvSpPr/>
          <p:nvPr/>
        </p:nvSpPr>
        <p:spPr>
          <a:xfrm>
            <a:off x="0" y="0"/>
            <a:ext cx="56880" cy="66636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354240" y="211320"/>
            <a:ext cx="15030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21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فهرس المحتويات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10752120" y="292320"/>
            <a:ext cx="694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762120" y="1095480"/>
            <a:ext cx="5143320" cy="85680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8"/>
          <p:cNvSpPr/>
          <p:nvPr/>
        </p:nvSpPr>
        <p:spPr>
          <a:xfrm>
            <a:off x="762120" y="109548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1108800" y="1232640"/>
            <a:ext cx="47808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03366"/>
                </a:solidFill>
                <a:effectLst/>
                <a:uFillTx/>
                <a:latin typeface="Georgia"/>
                <a:ea typeface="Microsoft YaHei"/>
              </a:rPr>
              <a:t>01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1741320" y="1346040"/>
            <a:ext cx="15433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65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المشكلة والحل المقترح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1129680" y="1677240"/>
            <a:ext cx="1968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تعقيد الإجراءات الجبائية وأهمية الحلول الرقمية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12"/>
          <p:cNvSpPr/>
          <p:nvPr/>
        </p:nvSpPr>
        <p:spPr>
          <a:xfrm>
            <a:off x="6286680" y="1095480"/>
            <a:ext cx="5143320" cy="85680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3"/>
          <p:cNvSpPr/>
          <p:nvPr/>
        </p:nvSpPr>
        <p:spPr>
          <a:xfrm>
            <a:off x="6286680" y="109548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4"/>
          <p:cNvSpPr/>
          <p:nvPr/>
        </p:nvSpPr>
        <p:spPr>
          <a:xfrm>
            <a:off x="6633360" y="1232640"/>
            <a:ext cx="47808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03366"/>
                </a:solidFill>
                <a:effectLst/>
                <a:uFillTx/>
                <a:latin typeface="Georgia"/>
                <a:ea typeface="Microsoft YaHei"/>
              </a:rPr>
              <a:t>02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5"/>
          <p:cNvSpPr/>
          <p:nvPr/>
        </p:nvSpPr>
        <p:spPr>
          <a:xfrm>
            <a:off x="7265520" y="1346040"/>
            <a:ext cx="12121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65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الجوانب الابتكارية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6"/>
          <p:cNvSpPr/>
          <p:nvPr/>
        </p:nvSpPr>
        <p:spPr>
          <a:xfrm>
            <a:off x="6654240" y="1677240"/>
            <a:ext cx="1611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ما يميز</a:t>
            </a:r>
            <a:r>
              <a:rPr b="0" lang="en-US" sz="10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10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MATAX </a:t>
            </a: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عن الحلول التقليدية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17"/>
          <p:cNvSpPr/>
          <p:nvPr/>
        </p:nvSpPr>
        <p:spPr>
          <a:xfrm>
            <a:off x="762120" y="2190600"/>
            <a:ext cx="5143320" cy="85680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18"/>
          <p:cNvSpPr/>
          <p:nvPr/>
        </p:nvSpPr>
        <p:spPr>
          <a:xfrm>
            <a:off x="762120" y="219060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9"/>
          <p:cNvSpPr/>
          <p:nvPr/>
        </p:nvSpPr>
        <p:spPr>
          <a:xfrm>
            <a:off x="1108800" y="2327760"/>
            <a:ext cx="47808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03366"/>
                </a:solidFill>
                <a:effectLst/>
                <a:uFillTx/>
                <a:latin typeface="Georgia"/>
                <a:ea typeface="Microsoft YaHei"/>
              </a:rPr>
              <a:t>03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0"/>
          <p:cNvSpPr/>
          <p:nvPr/>
        </p:nvSpPr>
        <p:spPr>
          <a:xfrm>
            <a:off x="1741320" y="2441160"/>
            <a:ext cx="17121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65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السوق والنموذج التجاري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1"/>
          <p:cNvSpPr/>
          <p:nvPr/>
        </p:nvSpPr>
        <p:spPr>
          <a:xfrm>
            <a:off x="1129680" y="2772720"/>
            <a:ext cx="1535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السوق المستهدف ومصادر الإيرادات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22"/>
          <p:cNvSpPr/>
          <p:nvPr/>
        </p:nvSpPr>
        <p:spPr>
          <a:xfrm>
            <a:off x="6286680" y="2190600"/>
            <a:ext cx="5143320" cy="85680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23"/>
          <p:cNvSpPr/>
          <p:nvPr/>
        </p:nvSpPr>
        <p:spPr>
          <a:xfrm>
            <a:off x="6286680" y="219060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4"/>
          <p:cNvSpPr/>
          <p:nvPr/>
        </p:nvSpPr>
        <p:spPr>
          <a:xfrm>
            <a:off x="6633360" y="2327760"/>
            <a:ext cx="47808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03366"/>
                </a:solidFill>
                <a:effectLst/>
                <a:uFillTx/>
                <a:latin typeface="Georgia"/>
                <a:ea typeface="Microsoft YaHei"/>
              </a:rPr>
              <a:t>04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5"/>
          <p:cNvSpPr/>
          <p:nvPr/>
        </p:nvSpPr>
        <p:spPr>
          <a:xfrm>
            <a:off x="7265520" y="2441160"/>
            <a:ext cx="9957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65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الدراسة المالية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6"/>
          <p:cNvSpPr/>
          <p:nvPr/>
        </p:nvSpPr>
        <p:spPr>
          <a:xfrm>
            <a:off x="6654240" y="2772720"/>
            <a:ext cx="13204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الجدوى المالية ومؤشرات الأداء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27"/>
          <p:cNvSpPr/>
          <p:nvPr/>
        </p:nvSpPr>
        <p:spPr>
          <a:xfrm>
            <a:off x="762120" y="3286080"/>
            <a:ext cx="5143320" cy="85680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28"/>
          <p:cNvSpPr/>
          <p:nvPr/>
        </p:nvSpPr>
        <p:spPr>
          <a:xfrm>
            <a:off x="762120" y="328608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9"/>
          <p:cNvSpPr/>
          <p:nvPr/>
        </p:nvSpPr>
        <p:spPr>
          <a:xfrm>
            <a:off x="1108800" y="3423240"/>
            <a:ext cx="47808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03366"/>
                </a:solidFill>
                <a:effectLst/>
                <a:uFillTx/>
                <a:latin typeface="Georgia"/>
                <a:ea typeface="Microsoft YaHei"/>
              </a:rPr>
              <a:t>05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0"/>
          <p:cNvSpPr/>
          <p:nvPr/>
        </p:nvSpPr>
        <p:spPr>
          <a:xfrm>
            <a:off x="1741320" y="3536640"/>
            <a:ext cx="11667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65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النموذج التجريبي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1"/>
          <p:cNvSpPr/>
          <p:nvPr/>
        </p:nvSpPr>
        <p:spPr>
          <a:xfrm>
            <a:off x="1129680" y="3868200"/>
            <a:ext cx="1738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عرض المنصة وال</a:t>
            </a:r>
            <a:r>
              <a:rPr b="0" lang="en-US" sz="10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10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Özellik</a:t>
            </a: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ات الرئيسية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32"/>
          <p:cNvSpPr/>
          <p:nvPr/>
        </p:nvSpPr>
        <p:spPr>
          <a:xfrm>
            <a:off x="6286680" y="3286080"/>
            <a:ext cx="5143320" cy="85680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33"/>
          <p:cNvSpPr/>
          <p:nvPr/>
        </p:nvSpPr>
        <p:spPr>
          <a:xfrm>
            <a:off x="6286680" y="328608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4"/>
          <p:cNvSpPr/>
          <p:nvPr/>
        </p:nvSpPr>
        <p:spPr>
          <a:xfrm>
            <a:off x="6633360" y="3423240"/>
            <a:ext cx="47808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03366"/>
                </a:solidFill>
                <a:effectLst/>
                <a:uFillTx/>
                <a:latin typeface="Georgia"/>
                <a:ea typeface="Microsoft YaHei"/>
              </a:rPr>
              <a:t>06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5"/>
          <p:cNvSpPr/>
          <p:nvPr/>
        </p:nvSpPr>
        <p:spPr>
          <a:xfrm>
            <a:off x="7265520" y="3536640"/>
            <a:ext cx="11253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65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المراحل التنفيذية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6"/>
          <p:cNvSpPr/>
          <p:nvPr/>
        </p:nvSpPr>
        <p:spPr>
          <a:xfrm>
            <a:off x="6654240" y="3868200"/>
            <a:ext cx="12276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خطة العمل والخريطة الزمنية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Line 37"/>
          <p:cNvSpPr/>
          <p:nvPr/>
        </p:nvSpPr>
        <p:spPr>
          <a:xfrm>
            <a:off x="380880" y="633420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0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8"/>
          <p:cNvSpPr/>
          <p:nvPr/>
        </p:nvSpPr>
        <p:spPr>
          <a:xfrm>
            <a:off x="11485080" y="6535080"/>
            <a:ext cx="148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02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Freeform 3"/>
          <p:cNvSpPr/>
          <p:nvPr/>
        </p:nvSpPr>
        <p:spPr>
          <a:xfrm>
            <a:off x="5715000" y="0"/>
            <a:ext cx="6476760" cy="6857640"/>
          </a:xfrm>
          <a:custGeom>
            <a:avLst/>
            <a:gdLst>
              <a:gd name="textAreaLeft" fmla="*/ 0 w 6476760"/>
              <a:gd name="textAreaRight" fmla="*/ 6477120 w 6476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11430000" y="0"/>
            <a:ext cx="761760" cy="6857640"/>
          </a:xfrm>
          <a:prstGeom prst="rect">
            <a:avLst/>
          </a:prstGeom>
          <a:solidFill>
            <a:srgbClr val="00224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5"/>
          <p:cNvSpPr/>
          <p:nvPr/>
        </p:nvSpPr>
        <p:spPr>
          <a:xfrm>
            <a:off x="0" y="2286000"/>
            <a:ext cx="114120" cy="228564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876240" y="2305080"/>
            <a:ext cx="371196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0" strike="noStrike" u="none">
                <a:solidFill>
                  <a:srgbClr val="ffffff">
                    <a:alpha val="8000"/>
                  </a:srgbClr>
                </a:solidFill>
                <a:effectLst/>
                <a:uFillTx/>
                <a:latin typeface="Georgia"/>
                <a:ea typeface="Microsoft YaHei"/>
              </a:rPr>
              <a:t>01</a:t>
            </a:r>
            <a:endParaRPr b="0" lang="en-US" sz="2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3570120" y="2626920"/>
            <a:ext cx="398772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3900" strike="noStrike" u="none">
                <a:solidFill>
                  <a:srgbClr val="ffffff"/>
                </a:solidFill>
                <a:effectLst/>
                <a:uFillTx/>
                <a:latin typeface="Georgia"/>
                <a:cs typeface="Georgia"/>
              </a:rPr>
              <a:t>المشكلة والحل المقترح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3596760" y="3520440"/>
            <a:ext cx="28612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800" strike="noStrike" u="none">
                <a:solidFill>
                  <a:srgbClr val="e8f4fc"/>
                </a:solidFill>
                <a:effectLst/>
                <a:uFillTx/>
                <a:latin typeface="Arial"/>
                <a:cs typeface="Arial"/>
              </a:rPr>
              <a:t>تعقيد الإجراءات الجبائية وغياب الرقمنة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Line 9"/>
          <p:cNvSpPr/>
          <p:nvPr/>
        </p:nvSpPr>
        <p:spPr>
          <a:xfrm>
            <a:off x="3619440" y="2428920"/>
            <a:ext cx="1142640" cy="9000"/>
          </a:xfrm>
          <a:custGeom>
            <a:avLst/>
            <a:gdLst>
              <a:gd name="textAreaLeft" fmla="*/ 0 w 1142640"/>
              <a:gd name="textAreaRight" fmla="*/ 1143000 w 1142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9824760" y="6331320"/>
            <a:ext cx="20030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ea typeface="Microsoft YaHei"/>
              </a:rPr>
              <a:t>MATAX — </a:t>
            </a:r>
            <a:r>
              <a:rPr b="0" lang="ar-DZ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cs typeface="Arial"/>
              </a:rPr>
              <a:t>من التقاليد إلى الرقمنة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0" y="0"/>
            <a:ext cx="12191760" cy="66636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4"/>
          <p:cNvSpPr/>
          <p:nvPr/>
        </p:nvSpPr>
        <p:spPr>
          <a:xfrm>
            <a:off x="0" y="0"/>
            <a:ext cx="56880" cy="66636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354240" y="211320"/>
            <a:ext cx="2490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01 | </a:t>
            </a:r>
            <a:r>
              <a:rPr b="1" lang="ar-DZ" sz="21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المشكلة والحل المقترح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10942920" y="292320"/>
            <a:ext cx="694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7"/>
          <p:cNvSpPr/>
          <p:nvPr/>
        </p:nvSpPr>
        <p:spPr>
          <a:xfrm>
            <a:off x="0" y="666720"/>
            <a:ext cx="12191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8"/>
          <p:cNvSpPr/>
          <p:nvPr/>
        </p:nvSpPr>
        <p:spPr>
          <a:xfrm>
            <a:off x="0" y="666720"/>
            <a:ext cx="56880" cy="475920"/>
          </a:xfrm>
          <a:prstGeom prst="rect">
            <a:avLst/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363960" y="825840"/>
            <a:ext cx="3560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MATAX </a:t>
            </a: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يحل 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4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مشاكل حرجة من خلال 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5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ركائز رقمية متكاملة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0"/>
          <p:cNvSpPr/>
          <p:nvPr/>
        </p:nvSpPr>
        <p:spPr>
          <a:xfrm>
            <a:off x="380880" y="1333440"/>
            <a:ext cx="5524200" cy="4762080"/>
          </a:xfrm>
          <a:prstGeom prst="roundRect">
            <a:avLst>
              <a:gd name="adj" fmla="val 1600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1"/>
          <p:cNvSpPr/>
          <p:nvPr/>
        </p:nvSpPr>
        <p:spPr>
          <a:xfrm>
            <a:off x="380880" y="1333440"/>
            <a:ext cx="5524200" cy="47592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12"/>
          <p:cNvSpPr/>
          <p:nvPr/>
        </p:nvSpPr>
        <p:spPr>
          <a:xfrm>
            <a:off x="380880" y="1714680"/>
            <a:ext cx="5524200" cy="9504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3"/>
          <p:cNvSpPr/>
          <p:nvPr/>
        </p:nvSpPr>
        <p:spPr>
          <a:xfrm>
            <a:off x="2905560" y="1495440"/>
            <a:ext cx="4744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5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المشكلة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4"/>
          <p:cNvSpPr/>
          <p:nvPr/>
        </p:nvSpPr>
        <p:spPr>
          <a:xfrm>
            <a:off x="571680" y="2000160"/>
            <a:ext cx="5143320" cy="856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15"/>
          <p:cNvSpPr/>
          <p:nvPr/>
        </p:nvSpPr>
        <p:spPr>
          <a:xfrm>
            <a:off x="571680" y="200016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6"/>
          <p:cNvSpPr/>
          <p:nvPr/>
        </p:nvSpPr>
        <p:spPr>
          <a:xfrm>
            <a:off x="1032480" y="2156400"/>
            <a:ext cx="14079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c62828"/>
                </a:solidFill>
                <a:effectLst/>
                <a:uFillTx/>
                <a:latin typeface="Arial"/>
                <a:ea typeface="Microsoft YaHei"/>
              </a:rPr>
              <a:t>01 </a:t>
            </a:r>
            <a:r>
              <a:rPr b="1" lang="ar-DZ" sz="120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تعقيد التشريعات الجبائية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7"/>
          <p:cNvSpPr/>
          <p:nvPr/>
        </p:nvSpPr>
        <p:spPr>
          <a:xfrm>
            <a:off x="1035360" y="2418840"/>
            <a:ext cx="26182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صعوبة استيعاب القوانين المالية السنوية وتداخل الإجراءات الإدارية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8"/>
          <p:cNvSpPr/>
          <p:nvPr/>
        </p:nvSpPr>
        <p:spPr>
          <a:xfrm>
            <a:off x="571680" y="3000240"/>
            <a:ext cx="5143320" cy="856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19"/>
          <p:cNvSpPr/>
          <p:nvPr/>
        </p:nvSpPr>
        <p:spPr>
          <a:xfrm>
            <a:off x="571680" y="300024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0"/>
          <p:cNvSpPr/>
          <p:nvPr/>
        </p:nvSpPr>
        <p:spPr>
          <a:xfrm>
            <a:off x="1032480" y="3156480"/>
            <a:ext cx="1368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c62828"/>
                </a:solidFill>
                <a:effectLst/>
                <a:uFillTx/>
                <a:latin typeface="Arial"/>
                <a:ea typeface="Microsoft YaHei"/>
              </a:rPr>
              <a:t>02 </a:t>
            </a:r>
            <a:r>
              <a:rPr b="1" lang="ar-DZ" sz="120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مخاطر الأخطاء البشرية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1"/>
          <p:cNvSpPr/>
          <p:nvPr/>
        </p:nvSpPr>
        <p:spPr>
          <a:xfrm>
            <a:off x="1035360" y="3418920"/>
            <a:ext cx="17830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الاعتماد على التعبئة اليدوية للتصاريح الدورية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22"/>
          <p:cNvSpPr/>
          <p:nvPr/>
        </p:nvSpPr>
        <p:spPr>
          <a:xfrm>
            <a:off x="571680" y="4000680"/>
            <a:ext cx="5143320" cy="856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23"/>
          <p:cNvSpPr/>
          <p:nvPr/>
        </p:nvSpPr>
        <p:spPr>
          <a:xfrm>
            <a:off x="571680" y="400068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4"/>
          <p:cNvSpPr/>
          <p:nvPr/>
        </p:nvSpPr>
        <p:spPr>
          <a:xfrm>
            <a:off x="1032480" y="4156560"/>
            <a:ext cx="1300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c62828"/>
                </a:solidFill>
                <a:effectLst/>
                <a:uFillTx/>
                <a:latin typeface="Arial"/>
                <a:ea typeface="Microsoft YaHei"/>
              </a:rPr>
              <a:t>03 </a:t>
            </a:r>
            <a:r>
              <a:rPr b="1" lang="ar-DZ" sz="120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غرامات التأخير المالي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5"/>
          <p:cNvSpPr/>
          <p:nvPr/>
        </p:nvSpPr>
        <p:spPr>
          <a:xfrm>
            <a:off x="1035360" y="4419000"/>
            <a:ext cx="18223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غياب نظام متابعة وتنبيه ذكي للمواعيد القانونية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26"/>
          <p:cNvSpPr/>
          <p:nvPr/>
        </p:nvSpPr>
        <p:spPr>
          <a:xfrm>
            <a:off x="571680" y="5000760"/>
            <a:ext cx="5143320" cy="856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27"/>
          <p:cNvSpPr/>
          <p:nvPr/>
        </p:nvSpPr>
        <p:spPr>
          <a:xfrm>
            <a:off x="571680" y="500076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8"/>
          <p:cNvSpPr/>
          <p:nvPr/>
        </p:nvSpPr>
        <p:spPr>
          <a:xfrm>
            <a:off x="1032480" y="5157000"/>
            <a:ext cx="18961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c62828"/>
                </a:solidFill>
                <a:effectLst/>
                <a:uFillTx/>
                <a:latin typeface="Arial"/>
                <a:ea typeface="Microsoft YaHei"/>
              </a:rPr>
              <a:t>04 </a:t>
            </a:r>
            <a:r>
              <a:rPr b="1" lang="ar-DZ" sz="120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التكاليف الباهظة وهشاشة الأرشفة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9"/>
          <p:cNvSpPr/>
          <p:nvPr/>
        </p:nvSpPr>
        <p:spPr>
          <a:xfrm>
            <a:off x="1035360" y="5419080"/>
            <a:ext cx="22370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أعباء التعاقد مع مكاتب المحاسبة وغياب التخزين السحابي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30"/>
          <p:cNvSpPr/>
          <p:nvPr/>
        </p:nvSpPr>
        <p:spPr>
          <a:xfrm>
            <a:off x="6286680" y="1333440"/>
            <a:ext cx="5524200" cy="4762080"/>
          </a:xfrm>
          <a:prstGeom prst="roundRect">
            <a:avLst>
              <a:gd name="adj" fmla="val 1600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31"/>
          <p:cNvSpPr/>
          <p:nvPr/>
        </p:nvSpPr>
        <p:spPr>
          <a:xfrm>
            <a:off x="6286680" y="1333440"/>
            <a:ext cx="5524200" cy="47592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32"/>
          <p:cNvSpPr/>
          <p:nvPr/>
        </p:nvSpPr>
        <p:spPr>
          <a:xfrm>
            <a:off x="6286680" y="1714680"/>
            <a:ext cx="5524200" cy="9504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3"/>
          <p:cNvSpPr/>
          <p:nvPr/>
        </p:nvSpPr>
        <p:spPr>
          <a:xfrm>
            <a:off x="8529480" y="1495440"/>
            <a:ext cx="1037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5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الحل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: MATAX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4"/>
          <p:cNvSpPr/>
          <p:nvPr/>
        </p:nvSpPr>
        <p:spPr>
          <a:xfrm>
            <a:off x="6477120" y="2000160"/>
            <a:ext cx="5143320" cy="8092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35"/>
          <p:cNvSpPr/>
          <p:nvPr/>
        </p:nvSpPr>
        <p:spPr>
          <a:xfrm>
            <a:off x="6477120" y="2000160"/>
            <a:ext cx="56880" cy="8092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9" name="Group 39"/>
          <p:cNvGrpSpPr/>
          <p:nvPr/>
        </p:nvGrpSpPr>
        <p:grpSpPr>
          <a:xfrm>
            <a:off x="6730920" y="2181240"/>
            <a:ext cx="177480" cy="228240"/>
            <a:chOff x="6730920" y="2181240"/>
            <a:chExt cx="177480" cy="228240"/>
          </a:xfrm>
        </p:grpSpPr>
        <p:sp>
          <p:nvSpPr>
            <p:cNvPr id="160" name="Freeform 36"/>
            <p:cNvSpPr/>
            <p:nvPr/>
          </p:nvSpPr>
          <p:spPr>
            <a:xfrm>
              <a:off x="6730920" y="2206800"/>
              <a:ext cx="177480" cy="202680"/>
            </a:xfrm>
            <a:custGeom>
              <a:avLst/>
              <a:gdLst>
                <a:gd name="textAreaLeft" fmla="*/ 0 w 177480"/>
                <a:gd name="textAreaRight" fmla="*/ 177840 w 177480"/>
                <a:gd name="textAreaTop" fmla="*/ 0 h 202680"/>
                <a:gd name="textAreaBottom" fmla="*/ 203040 h 202680"/>
              </a:gdLst>
              <a:ahLst/>
              <a:cxnLst/>
              <a:rect l="textAreaLeft" t="textAreaTop" r="textAreaRight" b="textAreaBottom"/>
              <a:pathLst>
                <a:path w="177800" h="203200">
                  <a:moveTo>
                    <a:pt x="50800" y="0"/>
                  </a:moveTo>
                  <a:lnTo>
                    <a:pt x="25400" y="0"/>
                  </a:lnTo>
                  <a:cubicBezTo>
                    <a:pt x="11372" y="0"/>
                    <a:pt x="0" y="11372"/>
                    <a:pt x="0" y="25400"/>
                  </a:cubicBezTo>
                  <a:lnTo>
                    <a:pt x="0" y="177800"/>
                  </a:lnTo>
                  <a:cubicBezTo>
                    <a:pt x="0" y="191828"/>
                    <a:pt x="11372" y="203200"/>
                    <a:pt x="25400" y="203200"/>
                  </a:cubicBezTo>
                  <a:lnTo>
                    <a:pt x="152400" y="203200"/>
                  </a:lnTo>
                  <a:cubicBezTo>
                    <a:pt x="166428" y="203200"/>
                    <a:pt x="177800" y="191828"/>
                    <a:pt x="177800" y="177800"/>
                  </a:cubicBezTo>
                  <a:lnTo>
                    <a:pt x="177800" y="25400"/>
                  </a:lnTo>
                  <a:cubicBezTo>
                    <a:pt x="177800" y="11372"/>
                    <a:pt x="166428" y="0"/>
                    <a:pt x="152400" y="0"/>
                  </a:cubicBezTo>
                  <a:lnTo>
                    <a:pt x="127000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Freeform 37"/>
            <p:cNvSpPr/>
            <p:nvPr/>
          </p:nvSpPr>
          <p:spPr>
            <a:xfrm>
              <a:off x="6781680" y="2181240"/>
              <a:ext cx="75960" cy="5040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76200" h="50800">
                  <a:moveTo>
                    <a:pt x="0" y="25400"/>
                  </a:moveTo>
                  <a:cubicBezTo>
                    <a:pt x="0" y="11372"/>
                    <a:pt x="11372" y="0"/>
                    <a:pt x="25400" y="0"/>
                  </a:cubicBezTo>
                  <a:lnTo>
                    <a:pt x="50800" y="0"/>
                  </a:lnTo>
                  <a:cubicBezTo>
                    <a:pt x="64828" y="0"/>
                    <a:pt x="76200" y="11372"/>
                    <a:pt x="76200" y="25400"/>
                  </a:cubicBezTo>
                  <a:cubicBezTo>
                    <a:pt x="76200" y="39428"/>
                    <a:pt x="64828" y="50800"/>
                    <a:pt x="50800" y="50800"/>
                  </a:cubicBezTo>
                  <a:lnTo>
                    <a:pt x="25400" y="50800"/>
                  </a:lnTo>
                  <a:cubicBezTo>
                    <a:pt x="11372" y="50800"/>
                    <a:pt x="0" y="39428"/>
                    <a:pt x="0" y="25400"/>
                  </a:cubicBez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Freeform 38"/>
            <p:cNvSpPr/>
            <p:nvPr/>
          </p:nvSpPr>
          <p:spPr>
            <a:xfrm>
              <a:off x="6781680" y="2295360"/>
              <a:ext cx="75960" cy="5040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76200" h="50800">
                  <a:moveTo>
                    <a:pt x="0" y="25400"/>
                  </a:moveTo>
                  <a:lnTo>
                    <a:pt x="25400" y="50800"/>
                  </a:ln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TextBox 40"/>
          <p:cNvSpPr/>
          <p:nvPr/>
        </p:nvSpPr>
        <p:spPr>
          <a:xfrm>
            <a:off x="7081920" y="2145600"/>
            <a:ext cx="62964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تبسيط الجباية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41"/>
          <p:cNvSpPr/>
          <p:nvPr/>
        </p:nvSpPr>
        <p:spPr>
          <a:xfrm>
            <a:off x="7084800" y="2379240"/>
            <a:ext cx="14518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واجهات رقمية سلسة دون خبرة محاسبية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42"/>
          <p:cNvSpPr/>
          <p:nvPr/>
        </p:nvSpPr>
        <p:spPr>
          <a:xfrm>
            <a:off x="6477120" y="2905200"/>
            <a:ext cx="5143320" cy="8092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43"/>
          <p:cNvSpPr/>
          <p:nvPr/>
        </p:nvSpPr>
        <p:spPr>
          <a:xfrm>
            <a:off x="6477120" y="2905200"/>
            <a:ext cx="56880" cy="8092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7" name="Group 46"/>
          <p:cNvGrpSpPr/>
          <p:nvPr/>
        </p:nvGrpSpPr>
        <p:grpSpPr>
          <a:xfrm>
            <a:off x="6718320" y="3086280"/>
            <a:ext cx="202680" cy="227880"/>
            <a:chOff x="6718320" y="3086280"/>
            <a:chExt cx="202680" cy="227880"/>
          </a:xfrm>
        </p:grpSpPr>
        <p:sp>
          <p:nvSpPr>
            <p:cNvPr id="168" name="Freeform 44"/>
            <p:cNvSpPr/>
            <p:nvPr/>
          </p:nvSpPr>
          <p:spPr>
            <a:xfrm>
              <a:off x="6718320" y="3086280"/>
              <a:ext cx="202680" cy="177480"/>
            </a:xfrm>
            <a:custGeom>
              <a:avLst/>
              <a:gdLst>
                <a:gd name="textAreaLeft" fmla="*/ 0 w 202680"/>
                <a:gd name="textAreaRight" fmla="*/ 203040 w 20268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203200" h="177800">
                  <a:moveTo>
                    <a:pt x="76200" y="25400"/>
                  </a:moveTo>
                  <a:cubicBezTo>
                    <a:pt x="76200" y="11372"/>
                    <a:pt x="87572" y="0"/>
                    <a:pt x="101600" y="0"/>
                  </a:cubicBezTo>
                  <a:cubicBezTo>
                    <a:pt x="115628" y="0"/>
                    <a:pt x="127000" y="11372"/>
                    <a:pt x="127000" y="25400"/>
                  </a:cubicBezTo>
                  <a:cubicBezTo>
                    <a:pt x="156720" y="39453"/>
                    <a:pt x="176259" y="68761"/>
                    <a:pt x="177800" y="101600"/>
                  </a:cubicBezTo>
                  <a:lnTo>
                    <a:pt x="177800" y="139700"/>
                  </a:lnTo>
                  <a:cubicBezTo>
                    <a:pt x="179738" y="155712"/>
                    <a:pt x="189165" y="169852"/>
                    <a:pt x="203200" y="177800"/>
                  </a:cubicBezTo>
                  <a:lnTo>
                    <a:pt x="0" y="177800"/>
                  </a:lnTo>
                  <a:cubicBezTo>
                    <a:pt x="14035" y="169852"/>
                    <a:pt x="23462" y="155712"/>
                    <a:pt x="25400" y="139700"/>
                  </a:cubicBezTo>
                  <a:lnTo>
                    <a:pt x="25400" y="101600"/>
                  </a:lnTo>
                  <a:cubicBezTo>
                    <a:pt x="26941" y="68761"/>
                    <a:pt x="46480" y="39453"/>
                    <a:pt x="76200" y="25400"/>
                  </a:cubicBez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Freeform 45"/>
            <p:cNvSpPr/>
            <p:nvPr/>
          </p:nvSpPr>
          <p:spPr>
            <a:xfrm>
              <a:off x="6781680" y="3263760"/>
              <a:ext cx="75960" cy="5040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76200" h="50800">
                  <a:moveTo>
                    <a:pt x="0" y="0"/>
                  </a:moveTo>
                  <a:lnTo>
                    <a:pt x="0" y="12700"/>
                  </a:lnTo>
                  <a:cubicBezTo>
                    <a:pt x="0" y="33742"/>
                    <a:pt x="17058" y="50800"/>
                    <a:pt x="38100" y="50800"/>
                  </a:cubicBezTo>
                  <a:cubicBezTo>
                    <a:pt x="59142" y="50800"/>
                    <a:pt x="76200" y="33742"/>
                    <a:pt x="76200" y="12700"/>
                  </a:cubicBez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TextBox 47"/>
          <p:cNvSpPr/>
          <p:nvPr/>
        </p:nvSpPr>
        <p:spPr>
          <a:xfrm>
            <a:off x="7081920" y="3050280"/>
            <a:ext cx="11383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نظام تنبيه ذكي واستباقي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48"/>
          <p:cNvSpPr/>
          <p:nvPr/>
        </p:nvSpPr>
        <p:spPr>
          <a:xfrm>
            <a:off x="7084800" y="3284280"/>
            <a:ext cx="1673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رسائل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SMS </a:t>
            </a: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والبريد الإلكتروني قبل المواعيد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49"/>
          <p:cNvSpPr/>
          <p:nvPr/>
        </p:nvSpPr>
        <p:spPr>
          <a:xfrm>
            <a:off x="6477120" y="3809880"/>
            <a:ext cx="5143320" cy="8092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50"/>
          <p:cNvSpPr/>
          <p:nvPr/>
        </p:nvSpPr>
        <p:spPr>
          <a:xfrm>
            <a:off x="6477120" y="3809880"/>
            <a:ext cx="56880" cy="8092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4" name="Group 59"/>
          <p:cNvGrpSpPr/>
          <p:nvPr/>
        </p:nvGrpSpPr>
        <p:grpSpPr>
          <a:xfrm>
            <a:off x="6718320" y="3990960"/>
            <a:ext cx="202680" cy="228240"/>
            <a:chOff x="6718320" y="3990960"/>
            <a:chExt cx="202680" cy="228240"/>
          </a:xfrm>
        </p:grpSpPr>
        <p:sp>
          <p:nvSpPr>
            <p:cNvPr id="175" name="Freeform 51"/>
            <p:cNvSpPr/>
            <p:nvPr/>
          </p:nvSpPr>
          <p:spPr>
            <a:xfrm>
              <a:off x="6718320" y="3990960"/>
              <a:ext cx="202680" cy="228240"/>
            </a:xfrm>
            <a:custGeom>
              <a:avLst/>
              <a:gdLst>
                <a:gd name="textAreaLeft" fmla="*/ 0 w 202680"/>
                <a:gd name="textAreaRight" fmla="*/ 203040 w 202680"/>
                <a:gd name="textAreaTop" fmla="*/ 0 h 228240"/>
                <a:gd name="textAreaBottom" fmla="*/ 228600 h 228240"/>
              </a:gdLst>
              <a:ahLst/>
              <a:cxnLst/>
              <a:rect l="textAreaLeft" t="textAreaTop" r="textAreaRight" b="textAreaBottom"/>
              <a:pathLst>
                <a:path w="203200" h="228600">
                  <a:moveTo>
                    <a:pt x="0" y="25400"/>
                  </a:moveTo>
                  <a:cubicBezTo>
                    <a:pt x="0" y="11372"/>
                    <a:pt x="11372" y="0"/>
                    <a:pt x="25400" y="0"/>
                  </a:cubicBezTo>
                  <a:lnTo>
                    <a:pt x="177800" y="0"/>
                  </a:lnTo>
                  <a:cubicBezTo>
                    <a:pt x="191828" y="0"/>
                    <a:pt x="203200" y="11372"/>
                    <a:pt x="203200" y="25400"/>
                  </a:cubicBezTo>
                  <a:lnTo>
                    <a:pt x="203200" y="203200"/>
                  </a:lnTo>
                  <a:cubicBezTo>
                    <a:pt x="203200" y="217228"/>
                    <a:pt x="191828" y="228600"/>
                    <a:pt x="177800" y="228600"/>
                  </a:cubicBezTo>
                  <a:lnTo>
                    <a:pt x="25400" y="228600"/>
                  </a:lnTo>
                  <a:cubicBezTo>
                    <a:pt x="11372" y="228600"/>
                    <a:pt x="0" y="217228"/>
                    <a:pt x="0" y="203200"/>
                  </a:cubicBezTo>
                  <a:lnTo>
                    <a:pt x="0" y="25400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eform 52"/>
            <p:cNvSpPr/>
            <p:nvPr/>
          </p:nvSpPr>
          <p:spPr>
            <a:xfrm>
              <a:off x="6769080" y="4041720"/>
              <a:ext cx="101160" cy="3780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01600" h="38100">
                  <a:moveTo>
                    <a:pt x="0" y="12700"/>
                  </a:moveTo>
                  <a:cubicBezTo>
                    <a:pt x="0" y="5686"/>
                    <a:pt x="5686" y="0"/>
                    <a:pt x="12700" y="0"/>
                  </a:cubicBezTo>
                  <a:lnTo>
                    <a:pt x="88900" y="0"/>
                  </a:lnTo>
                  <a:cubicBezTo>
                    <a:pt x="95914" y="0"/>
                    <a:pt x="101600" y="5686"/>
                    <a:pt x="101600" y="12700"/>
                  </a:cubicBezTo>
                  <a:lnTo>
                    <a:pt x="101600" y="25400"/>
                  </a:lnTo>
                  <a:cubicBezTo>
                    <a:pt x="101600" y="32414"/>
                    <a:pt x="95914" y="38100"/>
                    <a:pt x="88900" y="38100"/>
                  </a:cubicBezTo>
                  <a:lnTo>
                    <a:pt x="12700" y="38100"/>
                  </a:lnTo>
                  <a:cubicBezTo>
                    <a:pt x="5686" y="38100"/>
                    <a:pt x="0" y="32414"/>
                    <a:pt x="0" y="25400"/>
                  </a:cubicBezTo>
                  <a:lnTo>
                    <a:pt x="0" y="12700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840" bIns="-68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Freeform 53"/>
            <p:cNvSpPr/>
            <p:nvPr/>
          </p:nvSpPr>
          <p:spPr>
            <a:xfrm>
              <a:off x="6769080" y="413064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Freeform 54"/>
            <p:cNvSpPr/>
            <p:nvPr/>
          </p:nvSpPr>
          <p:spPr>
            <a:xfrm>
              <a:off x="6819840" y="413064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Freeform 55"/>
            <p:cNvSpPr/>
            <p:nvPr/>
          </p:nvSpPr>
          <p:spPr>
            <a:xfrm>
              <a:off x="6870600" y="413064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Freeform 56"/>
            <p:cNvSpPr/>
            <p:nvPr/>
          </p:nvSpPr>
          <p:spPr>
            <a:xfrm>
              <a:off x="6769080" y="416880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Freeform 57"/>
            <p:cNvSpPr/>
            <p:nvPr/>
          </p:nvSpPr>
          <p:spPr>
            <a:xfrm>
              <a:off x="6819840" y="416880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Freeform 58"/>
            <p:cNvSpPr/>
            <p:nvPr/>
          </p:nvSpPr>
          <p:spPr>
            <a:xfrm>
              <a:off x="6870600" y="416880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3" name="TextBox 60"/>
          <p:cNvSpPr/>
          <p:nvPr/>
        </p:nvSpPr>
        <p:spPr>
          <a:xfrm>
            <a:off x="7081920" y="3955320"/>
            <a:ext cx="140436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الأتمتة الكاملة والتصريح الآلي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61"/>
          <p:cNvSpPr/>
          <p:nvPr/>
        </p:nvSpPr>
        <p:spPr>
          <a:xfrm>
            <a:off x="7084800" y="4188960"/>
            <a:ext cx="13431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توليد تصاريح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G50 </a:t>
            </a: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بنسبة خطأ 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0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%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62"/>
          <p:cNvSpPr/>
          <p:nvPr/>
        </p:nvSpPr>
        <p:spPr>
          <a:xfrm>
            <a:off x="6477120" y="4714920"/>
            <a:ext cx="5143320" cy="8092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63"/>
          <p:cNvSpPr/>
          <p:nvPr/>
        </p:nvSpPr>
        <p:spPr>
          <a:xfrm>
            <a:off x="6477120" y="4714920"/>
            <a:ext cx="56880" cy="8092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Freeform 64"/>
          <p:cNvSpPr/>
          <p:nvPr/>
        </p:nvSpPr>
        <p:spPr>
          <a:xfrm>
            <a:off x="6692760" y="4917240"/>
            <a:ext cx="253800" cy="168840"/>
          </a:xfrm>
          <a:custGeom>
            <a:avLst/>
            <a:gdLst>
              <a:gd name="textAreaLeft" fmla="*/ 0 w 253800"/>
              <a:gd name="textAreaRight" fmla="*/ 254160 w 253800"/>
              <a:gd name="textAreaTop" fmla="*/ 0 h 168840"/>
              <a:gd name="textAreaBottom" fmla="*/ 169200 h 168840"/>
            </a:gdLst>
            <a:ahLst/>
            <a:cxnLst/>
            <a:rect l="textAreaLeft" t="textAreaTop" r="textAreaRight" b="textAreaBottom"/>
            <a:pathLst>
              <a:path w="254000" h="169088">
                <a:moveTo>
                  <a:pt x="59144" y="169037"/>
                </a:moveTo>
                <a:cubicBezTo>
                  <a:pt x="26480" y="169037"/>
                  <a:pt x="0" y="143548"/>
                  <a:pt x="0" y="112103"/>
                </a:cubicBezTo>
                <a:cubicBezTo>
                  <a:pt x="0" y="80670"/>
                  <a:pt x="26480" y="55181"/>
                  <a:pt x="59144" y="55181"/>
                </a:cubicBezTo>
                <a:cubicBezTo>
                  <a:pt x="64135" y="32804"/>
                  <a:pt x="81928" y="14541"/>
                  <a:pt x="105816" y="7264"/>
                </a:cubicBezTo>
                <a:cubicBezTo>
                  <a:pt x="129692" y="0"/>
                  <a:pt x="156058" y="4813"/>
                  <a:pt x="174955" y="19964"/>
                </a:cubicBezTo>
                <a:cubicBezTo>
                  <a:pt x="193853" y="35077"/>
                  <a:pt x="202413" y="58153"/>
                  <a:pt x="197434" y="80531"/>
                </a:cubicBezTo>
                <a:lnTo>
                  <a:pt x="210007" y="80531"/>
                </a:lnTo>
                <a:cubicBezTo>
                  <a:pt x="234302" y="80531"/>
                  <a:pt x="254000" y="100343"/>
                  <a:pt x="254000" y="124803"/>
                </a:cubicBezTo>
                <a:cubicBezTo>
                  <a:pt x="254000" y="149276"/>
                  <a:pt x="234302" y="169088"/>
                  <a:pt x="209995" y="169088"/>
                </a:cubicBezTo>
                <a:lnTo>
                  <a:pt x="59144" y="169088"/>
                </a:lnTo>
              </a:path>
            </a:pathLst>
          </a:custGeom>
          <a:noFill/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65"/>
          <p:cNvSpPr/>
          <p:nvPr/>
        </p:nvSpPr>
        <p:spPr>
          <a:xfrm>
            <a:off x="7081920" y="4860000"/>
            <a:ext cx="100368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أرشفة سحابية مشفرة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66"/>
          <p:cNvSpPr/>
          <p:nvPr/>
        </p:nvSpPr>
        <p:spPr>
          <a:xfrm>
            <a:off x="7084800" y="5094000"/>
            <a:ext cx="14900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تخزين آمن للمستندات الجبائية والمحاسبية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67"/>
          <p:cNvSpPr/>
          <p:nvPr/>
        </p:nvSpPr>
        <p:spPr>
          <a:xfrm>
            <a:off x="6477120" y="5619600"/>
            <a:ext cx="5143320" cy="380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68"/>
          <p:cNvSpPr/>
          <p:nvPr/>
        </p:nvSpPr>
        <p:spPr>
          <a:xfrm>
            <a:off x="6477120" y="5619600"/>
            <a:ext cx="56880" cy="38052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2" name="Group 71"/>
          <p:cNvGrpSpPr/>
          <p:nvPr/>
        </p:nvGrpSpPr>
        <p:grpSpPr>
          <a:xfrm>
            <a:off x="6685920" y="5710320"/>
            <a:ext cx="216720" cy="199440"/>
            <a:chOff x="6685920" y="5710320"/>
            <a:chExt cx="216720" cy="199440"/>
          </a:xfrm>
        </p:grpSpPr>
        <p:sp>
          <p:nvSpPr>
            <p:cNvPr id="193" name="Freeform 69"/>
            <p:cNvSpPr/>
            <p:nvPr/>
          </p:nvSpPr>
          <p:spPr>
            <a:xfrm>
              <a:off x="6685920" y="5710320"/>
              <a:ext cx="216720" cy="198000"/>
            </a:xfrm>
            <a:custGeom>
              <a:avLst/>
              <a:gdLst>
                <a:gd name="textAreaLeft" fmla="*/ 0 w 216720"/>
                <a:gd name="textAreaRight" fmla="*/ 217080 w 216720"/>
                <a:gd name="textAreaTop" fmla="*/ 0 h 198000"/>
                <a:gd name="textAreaBottom" fmla="*/ 198360 h 198000"/>
              </a:gdLst>
              <a:ahLst/>
              <a:cxnLst/>
              <a:rect l="textAreaLeft" t="textAreaTop" r="textAreaRight" b="textAreaBottom"/>
              <a:pathLst>
                <a:path w="217007" h="198314">
                  <a:moveTo>
                    <a:pt x="109009" y="198314"/>
                  </a:moveTo>
                  <a:cubicBezTo>
                    <a:pt x="39394" y="176735"/>
                    <a:pt x="0" y="103262"/>
                    <a:pt x="20553" y="33338"/>
                  </a:cubicBezTo>
                  <a:cubicBezTo>
                    <a:pt x="55174" y="34922"/>
                    <a:pt x="89052" y="22965"/>
                    <a:pt x="115009" y="0"/>
                  </a:cubicBezTo>
                  <a:cubicBezTo>
                    <a:pt x="140966" y="22965"/>
                    <a:pt x="174844" y="34922"/>
                    <a:pt x="209466" y="33338"/>
                  </a:cubicBezTo>
                  <a:cubicBezTo>
                    <a:pt x="217007" y="58997"/>
                    <a:pt x="216659" y="86332"/>
                    <a:pt x="208466" y="111792"/>
                  </a:cubicBezTo>
                </a:path>
              </a:pathLst>
            </a:custGeom>
            <a:noFill/>
            <a:ln w="19050">
              <a:solidFill>
                <a:srgbClr val="0099a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Freeform 70"/>
            <p:cNvSpPr/>
            <p:nvPr/>
          </p:nvSpPr>
          <p:spPr>
            <a:xfrm>
              <a:off x="6834240" y="5865840"/>
              <a:ext cx="66240" cy="4392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66675" h="44450">
                  <a:moveTo>
                    <a:pt x="0" y="22225"/>
                  </a:moveTo>
                  <a:lnTo>
                    <a:pt x="22225" y="44450"/>
                  </a:lnTo>
                  <a:lnTo>
                    <a:pt x="66675" y="0"/>
                  </a:lnTo>
                </a:path>
              </a:pathLst>
            </a:custGeom>
            <a:noFill/>
            <a:ln w="19050">
              <a:solidFill>
                <a:srgbClr val="0099a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" bIns="-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" name="TextBox 72"/>
          <p:cNvSpPr/>
          <p:nvPr/>
        </p:nvSpPr>
        <p:spPr>
          <a:xfrm>
            <a:off x="7082640" y="5744520"/>
            <a:ext cx="18936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050" strike="noStrike" u="none">
                <a:solidFill>
                  <a:srgbClr val="0099aa"/>
                </a:solidFill>
                <a:effectLst/>
                <a:uFillTx/>
                <a:latin typeface="Arial"/>
                <a:cs typeface="Arial"/>
              </a:rPr>
              <a:t>اشتراكات اقتصادية مقارنة بالمكاتب التقليدية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Line 73"/>
          <p:cNvSpPr/>
          <p:nvPr/>
        </p:nvSpPr>
        <p:spPr>
          <a:xfrm>
            <a:off x="380880" y="633420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0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74"/>
          <p:cNvSpPr/>
          <p:nvPr/>
        </p:nvSpPr>
        <p:spPr>
          <a:xfrm>
            <a:off x="369720" y="6522840"/>
            <a:ext cx="889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المصدر: دراسةالمشروع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75"/>
          <p:cNvSpPr/>
          <p:nvPr/>
        </p:nvSpPr>
        <p:spPr>
          <a:xfrm>
            <a:off x="5688360" y="6522840"/>
            <a:ext cx="8146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المشكلة والحل المقترح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76"/>
          <p:cNvSpPr/>
          <p:nvPr/>
        </p:nvSpPr>
        <p:spPr>
          <a:xfrm>
            <a:off x="11485080" y="6506640"/>
            <a:ext cx="148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Microsoft YaHei"/>
              </a:rPr>
              <a:t>04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Freeform 3"/>
          <p:cNvSpPr/>
          <p:nvPr/>
        </p:nvSpPr>
        <p:spPr>
          <a:xfrm>
            <a:off x="5715000" y="0"/>
            <a:ext cx="6476760" cy="6857640"/>
          </a:xfrm>
          <a:custGeom>
            <a:avLst/>
            <a:gdLst>
              <a:gd name="textAreaLeft" fmla="*/ 0 w 6476760"/>
              <a:gd name="textAreaRight" fmla="*/ 6477120 w 6476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1430000" y="0"/>
            <a:ext cx="761760" cy="6857640"/>
          </a:xfrm>
          <a:prstGeom prst="rect">
            <a:avLst/>
          </a:prstGeom>
          <a:solidFill>
            <a:srgbClr val="00224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5"/>
          <p:cNvSpPr/>
          <p:nvPr/>
        </p:nvSpPr>
        <p:spPr>
          <a:xfrm>
            <a:off x="0" y="2286000"/>
            <a:ext cx="114120" cy="228564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6"/>
          <p:cNvSpPr/>
          <p:nvPr/>
        </p:nvSpPr>
        <p:spPr>
          <a:xfrm>
            <a:off x="876240" y="2305080"/>
            <a:ext cx="371196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0" strike="noStrike" u="none">
                <a:solidFill>
                  <a:srgbClr val="ffffff">
                    <a:alpha val="8000"/>
                  </a:srgbClr>
                </a:solidFill>
                <a:effectLst/>
                <a:uFillTx/>
                <a:latin typeface="Georgia"/>
                <a:ea typeface="Microsoft YaHei"/>
              </a:rPr>
              <a:t>02</a:t>
            </a:r>
            <a:endParaRPr b="0" lang="en-US" sz="2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7"/>
          <p:cNvSpPr/>
          <p:nvPr/>
        </p:nvSpPr>
        <p:spPr>
          <a:xfrm>
            <a:off x="3570120" y="2626920"/>
            <a:ext cx="474804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3900" strike="noStrike" u="none">
                <a:solidFill>
                  <a:srgbClr val="ffffff"/>
                </a:solidFill>
                <a:effectLst/>
                <a:uFillTx/>
                <a:latin typeface="Georgia"/>
                <a:cs typeface="Georgia"/>
              </a:rPr>
              <a:t>الجوانب الابتكارية للمشروع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8"/>
          <p:cNvSpPr/>
          <p:nvPr/>
        </p:nvSpPr>
        <p:spPr>
          <a:xfrm>
            <a:off x="3596760" y="3520440"/>
            <a:ext cx="3423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e8f4fc"/>
                </a:solidFill>
                <a:effectLst/>
                <a:uFillTx/>
                <a:latin typeface="Arial"/>
                <a:ea typeface="Microsoft YaHei"/>
              </a:rPr>
              <a:t>6 </a:t>
            </a:r>
            <a:r>
              <a:rPr b="0" lang="ar-DZ" sz="1800" strike="noStrike" u="none">
                <a:solidFill>
                  <a:srgbClr val="e8f4fc"/>
                </a:solidFill>
                <a:effectLst/>
                <a:uFillTx/>
                <a:latin typeface="Arial"/>
                <a:cs typeface="Arial"/>
              </a:rPr>
              <a:t>مبادرات تميز</a:t>
            </a:r>
            <a:r>
              <a:rPr b="0" lang="en-US" sz="1800" strike="noStrike" u="none">
                <a:solidFill>
                  <a:srgbClr val="e8f4fc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1800" strike="noStrike" u="none">
                <a:solidFill>
                  <a:srgbClr val="e8f4fc"/>
                </a:solidFill>
                <a:effectLst/>
                <a:uFillTx/>
                <a:latin typeface="Arial"/>
                <a:ea typeface="Microsoft YaHei"/>
              </a:rPr>
              <a:t>MATAX </a:t>
            </a:r>
            <a:r>
              <a:rPr b="0" lang="ar-DZ" sz="1800" strike="noStrike" u="none">
                <a:solidFill>
                  <a:srgbClr val="e8f4fc"/>
                </a:solidFill>
                <a:effectLst/>
                <a:uFillTx/>
                <a:latin typeface="Arial"/>
                <a:cs typeface="Arial"/>
              </a:rPr>
              <a:t>عن الحلول التقليدية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Line 9"/>
          <p:cNvSpPr/>
          <p:nvPr/>
        </p:nvSpPr>
        <p:spPr>
          <a:xfrm>
            <a:off x="3619440" y="2428920"/>
            <a:ext cx="1142640" cy="9000"/>
          </a:xfrm>
          <a:custGeom>
            <a:avLst/>
            <a:gdLst>
              <a:gd name="textAreaLeft" fmla="*/ 0 w 1142640"/>
              <a:gd name="textAreaRight" fmla="*/ 1143000 w 1142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0"/>
          <p:cNvSpPr/>
          <p:nvPr/>
        </p:nvSpPr>
        <p:spPr>
          <a:xfrm>
            <a:off x="9344160" y="6331320"/>
            <a:ext cx="24836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ea typeface="Microsoft YaHei"/>
              </a:rPr>
              <a:t>MATAX — </a:t>
            </a:r>
            <a:r>
              <a:rPr b="0" lang="ar-DZ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cs typeface="Arial"/>
              </a:rPr>
              <a:t>الابتكار في التكنولوجيا الجبائية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3"/>
          <p:cNvSpPr/>
          <p:nvPr/>
        </p:nvSpPr>
        <p:spPr>
          <a:xfrm>
            <a:off x="0" y="0"/>
            <a:ext cx="12191760" cy="66636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4"/>
          <p:cNvSpPr/>
          <p:nvPr/>
        </p:nvSpPr>
        <p:spPr>
          <a:xfrm>
            <a:off x="0" y="0"/>
            <a:ext cx="56880" cy="66636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5"/>
          <p:cNvSpPr/>
          <p:nvPr/>
        </p:nvSpPr>
        <p:spPr>
          <a:xfrm>
            <a:off x="354240" y="211320"/>
            <a:ext cx="29196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02 | </a:t>
            </a:r>
            <a:r>
              <a:rPr b="1" lang="ar-DZ" sz="21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الجوانب الابتكارية للمشروع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6"/>
          <p:cNvSpPr/>
          <p:nvPr/>
        </p:nvSpPr>
        <p:spPr>
          <a:xfrm>
            <a:off x="10942920" y="292320"/>
            <a:ext cx="694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7"/>
          <p:cNvSpPr/>
          <p:nvPr/>
        </p:nvSpPr>
        <p:spPr>
          <a:xfrm>
            <a:off x="0" y="666720"/>
            <a:ext cx="12191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8"/>
          <p:cNvSpPr/>
          <p:nvPr/>
        </p:nvSpPr>
        <p:spPr>
          <a:xfrm>
            <a:off x="0" y="666720"/>
            <a:ext cx="56880" cy="475920"/>
          </a:xfrm>
          <a:prstGeom prst="rect">
            <a:avLst/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9"/>
          <p:cNvSpPr/>
          <p:nvPr/>
        </p:nvSpPr>
        <p:spPr>
          <a:xfrm>
            <a:off x="363960" y="825840"/>
            <a:ext cx="41205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6 </a:t>
            </a: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مبادرات تجعل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MATAX </a:t>
            </a: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خياراً استراتيجياً للمقاولين والشركات الجزائرية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10"/>
          <p:cNvSpPr/>
          <p:nvPr/>
        </p:nvSpPr>
        <p:spPr>
          <a:xfrm>
            <a:off x="571680" y="1380960"/>
            <a:ext cx="3524040" cy="219024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11"/>
          <p:cNvSpPr/>
          <p:nvPr/>
        </p:nvSpPr>
        <p:spPr>
          <a:xfrm>
            <a:off x="571680" y="1380960"/>
            <a:ext cx="3524040" cy="5688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Ellipse 12"/>
          <p:cNvSpPr/>
          <p:nvPr/>
        </p:nvSpPr>
        <p:spPr>
          <a:xfrm>
            <a:off x="2152800" y="1676520"/>
            <a:ext cx="418680" cy="418680"/>
          </a:xfrm>
          <a:prstGeom prst="ellipse">
            <a:avLst/>
          </a:prstGeom>
          <a:solidFill>
            <a:srgbClr val="003366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3"/>
          <p:cNvSpPr/>
          <p:nvPr/>
        </p:nvSpPr>
        <p:spPr>
          <a:xfrm>
            <a:off x="2243520" y="1790640"/>
            <a:ext cx="237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003366"/>
                </a:solidFill>
                <a:effectLst/>
                <a:uFillTx/>
                <a:latin typeface="Arial"/>
                <a:ea typeface="Microsoft YaHei"/>
              </a:rPr>
              <a:t>🚀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4"/>
          <p:cNvSpPr/>
          <p:nvPr/>
        </p:nvSpPr>
        <p:spPr>
          <a:xfrm>
            <a:off x="1933200" y="2216520"/>
            <a:ext cx="8006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بسيطة وسلسة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5"/>
          <p:cNvSpPr/>
          <p:nvPr/>
        </p:nvSpPr>
        <p:spPr>
          <a:xfrm>
            <a:off x="1324800" y="2514240"/>
            <a:ext cx="20174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واجهة مستخدم سلسة لا تتطلب خبرة محاسبية مسبقة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6"/>
          <p:cNvSpPr/>
          <p:nvPr/>
        </p:nvSpPr>
        <p:spPr>
          <a:xfrm>
            <a:off x="1703160" y="2760480"/>
            <a:ext cx="1260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تقليل زمن التأهيل ل 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48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ساعة فقط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17"/>
          <p:cNvSpPr/>
          <p:nvPr/>
        </p:nvSpPr>
        <p:spPr>
          <a:xfrm>
            <a:off x="4334040" y="1380960"/>
            <a:ext cx="3524040" cy="219024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18"/>
          <p:cNvSpPr/>
          <p:nvPr/>
        </p:nvSpPr>
        <p:spPr>
          <a:xfrm>
            <a:off x="4334040" y="1380960"/>
            <a:ext cx="3524040" cy="5688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Ellipse 19"/>
          <p:cNvSpPr/>
          <p:nvPr/>
        </p:nvSpPr>
        <p:spPr>
          <a:xfrm>
            <a:off x="5915160" y="1676520"/>
            <a:ext cx="418680" cy="418680"/>
          </a:xfrm>
          <a:prstGeom prst="ellipse">
            <a:avLst/>
          </a:prstGeom>
          <a:solidFill>
            <a:srgbClr val="0066cc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0"/>
          <p:cNvSpPr/>
          <p:nvPr/>
        </p:nvSpPr>
        <p:spPr>
          <a:xfrm>
            <a:off x="6005880" y="1790640"/>
            <a:ext cx="237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0066cc"/>
                </a:solidFill>
                <a:effectLst/>
                <a:uFillTx/>
                <a:latin typeface="Arial"/>
                <a:ea typeface="Microsoft YaHei"/>
              </a:rPr>
              <a:t>🔔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1"/>
          <p:cNvSpPr/>
          <p:nvPr/>
        </p:nvSpPr>
        <p:spPr>
          <a:xfrm>
            <a:off x="5546160" y="2216520"/>
            <a:ext cx="1099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0066cc"/>
                </a:solidFill>
                <a:effectLst/>
                <a:uFillTx/>
                <a:latin typeface="Arial"/>
                <a:cs typeface="Arial"/>
              </a:rPr>
              <a:t>استباقية واستشراف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2"/>
          <p:cNvSpPr/>
          <p:nvPr/>
        </p:nvSpPr>
        <p:spPr>
          <a:xfrm>
            <a:off x="5231520" y="2514240"/>
            <a:ext cx="17280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تنبيهات ذكية عبر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SMS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والبريد الإلكتروني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3"/>
          <p:cNvSpPr/>
          <p:nvPr/>
        </p:nvSpPr>
        <p:spPr>
          <a:xfrm>
            <a:off x="5560200" y="2760480"/>
            <a:ext cx="1070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متابعة مسبقة للمواعيد الجبائية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24"/>
          <p:cNvSpPr/>
          <p:nvPr/>
        </p:nvSpPr>
        <p:spPr>
          <a:xfrm>
            <a:off x="8096400" y="1380960"/>
            <a:ext cx="3524040" cy="219024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25"/>
          <p:cNvSpPr/>
          <p:nvPr/>
        </p:nvSpPr>
        <p:spPr>
          <a:xfrm>
            <a:off x="8096400" y="1380960"/>
            <a:ext cx="3524040" cy="5688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Ellipse 26"/>
          <p:cNvSpPr/>
          <p:nvPr/>
        </p:nvSpPr>
        <p:spPr>
          <a:xfrm>
            <a:off x="9677520" y="1676520"/>
            <a:ext cx="418680" cy="418680"/>
          </a:xfrm>
          <a:prstGeom prst="ellipse">
            <a:avLst/>
          </a:prstGeom>
          <a:solidFill>
            <a:srgbClr val="0099aa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7"/>
          <p:cNvSpPr/>
          <p:nvPr/>
        </p:nvSpPr>
        <p:spPr>
          <a:xfrm>
            <a:off x="9767520" y="1790640"/>
            <a:ext cx="2386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0099aa"/>
                </a:solidFill>
                <a:effectLst/>
                <a:uFillTx/>
                <a:latin typeface="Arial"/>
                <a:ea typeface="Microsoft YaHei"/>
              </a:rPr>
              <a:t>⚖️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8"/>
          <p:cNvSpPr/>
          <p:nvPr/>
        </p:nvSpPr>
        <p:spPr>
          <a:xfrm>
            <a:off x="9452160" y="2216520"/>
            <a:ext cx="8121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0099aa"/>
                </a:solidFill>
                <a:effectLst/>
                <a:uFillTx/>
                <a:latin typeface="Arial"/>
                <a:cs typeface="Arial"/>
              </a:rPr>
              <a:t>ملاءمة قانونية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9"/>
          <p:cNvSpPr/>
          <p:nvPr/>
        </p:nvSpPr>
        <p:spPr>
          <a:xfrm>
            <a:off x="9159480" y="2514240"/>
            <a:ext cx="1397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تطابق مع الإطار القانوني الجزائري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30"/>
          <p:cNvSpPr/>
          <p:nvPr/>
        </p:nvSpPr>
        <p:spPr>
          <a:xfrm>
            <a:off x="9286560" y="2760480"/>
            <a:ext cx="11433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تحديث تلقائي مع القوانين المالية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31"/>
          <p:cNvSpPr/>
          <p:nvPr/>
        </p:nvSpPr>
        <p:spPr>
          <a:xfrm>
            <a:off x="571680" y="3809880"/>
            <a:ext cx="3524040" cy="219024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32"/>
          <p:cNvSpPr/>
          <p:nvPr/>
        </p:nvSpPr>
        <p:spPr>
          <a:xfrm>
            <a:off x="571680" y="3809880"/>
            <a:ext cx="3524040" cy="568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Ellipse 33"/>
          <p:cNvSpPr/>
          <p:nvPr/>
        </p:nvSpPr>
        <p:spPr>
          <a:xfrm>
            <a:off x="2152800" y="4105440"/>
            <a:ext cx="418680" cy="418680"/>
          </a:xfrm>
          <a:prstGeom prst="ellipse">
            <a:avLst/>
          </a:prstGeom>
          <a:solidFill>
            <a:srgbClr val="2e7d32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34"/>
          <p:cNvSpPr/>
          <p:nvPr/>
        </p:nvSpPr>
        <p:spPr>
          <a:xfrm>
            <a:off x="2243520" y="4219560"/>
            <a:ext cx="237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📱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35"/>
          <p:cNvSpPr/>
          <p:nvPr/>
        </p:nvSpPr>
        <p:spPr>
          <a:xfrm>
            <a:off x="2010600" y="4645440"/>
            <a:ext cx="6454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أتمتة شاملة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36"/>
          <p:cNvSpPr/>
          <p:nvPr/>
        </p:nvSpPr>
        <p:spPr>
          <a:xfrm>
            <a:off x="1735560" y="4943160"/>
            <a:ext cx="11952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توليد تلقائي للتصريحات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G50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7"/>
          <p:cNvSpPr/>
          <p:nvPr/>
        </p:nvSpPr>
        <p:spPr>
          <a:xfrm>
            <a:off x="1588320" y="5189400"/>
            <a:ext cx="14900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صفر أخطاء يدوية في الإجراءات الجبائية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38"/>
          <p:cNvSpPr/>
          <p:nvPr/>
        </p:nvSpPr>
        <p:spPr>
          <a:xfrm>
            <a:off x="4334040" y="3809880"/>
            <a:ext cx="3524040" cy="219024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39"/>
          <p:cNvSpPr/>
          <p:nvPr/>
        </p:nvSpPr>
        <p:spPr>
          <a:xfrm>
            <a:off x="4334040" y="3809880"/>
            <a:ext cx="3524040" cy="568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Ellipse 40"/>
          <p:cNvSpPr/>
          <p:nvPr/>
        </p:nvSpPr>
        <p:spPr>
          <a:xfrm>
            <a:off x="5915160" y="4105440"/>
            <a:ext cx="418680" cy="418680"/>
          </a:xfrm>
          <a:prstGeom prst="ellipse">
            <a:avLst/>
          </a:prstGeom>
          <a:solidFill>
            <a:srgbClr val="1565c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41"/>
          <p:cNvSpPr/>
          <p:nvPr/>
        </p:nvSpPr>
        <p:spPr>
          <a:xfrm>
            <a:off x="6005880" y="4219560"/>
            <a:ext cx="237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565c0"/>
                </a:solidFill>
                <a:effectLst/>
                <a:uFillTx/>
                <a:latin typeface="Arial"/>
                <a:ea typeface="Microsoft YaHei"/>
              </a:rPr>
              <a:t>💰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42"/>
          <p:cNvSpPr/>
          <p:nvPr/>
        </p:nvSpPr>
        <p:spPr>
          <a:xfrm>
            <a:off x="5574960" y="4645440"/>
            <a:ext cx="10414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565c0"/>
                </a:solidFill>
                <a:effectLst/>
                <a:uFillTx/>
                <a:latin typeface="Arial"/>
                <a:cs typeface="Arial"/>
              </a:rPr>
              <a:t>اشتراكات اقتصادية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43"/>
          <p:cNvSpPr/>
          <p:nvPr/>
        </p:nvSpPr>
        <p:spPr>
          <a:xfrm>
            <a:off x="5252040" y="4943160"/>
            <a:ext cx="16876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تقليل التكاليف بنسبة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60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% مقارنة بالمكاتب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44"/>
          <p:cNvSpPr/>
          <p:nvPr/>
        </p:nvSpPr>
        <p:spPr>
          <a:xfrm>
            <a:off x="5531400" y="5189400"/>
            <a:ext cx="11286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اشتراكات من 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1,490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دج/شهر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45"/>
          <p:cNvSpPr/>
          <p:nvPr/>
        </p:nvSpPr>
        <p:spPr>
          <a:xfrm>
            <a:off x="8096400" y="3809880"/>
            <a:ext cx="3524040" cy="219024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46"/>
          <p:cNvSpPr/>
          <p:nvPr/>
        </p:nvSpPr>
        <p:spPr>
          <a:xfrm>
            <a:off x="8096400" y="3809880"/>
            <a:ext cx="3524040" cy="568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Ellipse 47"/>
          <p:cNvSpPr/>
          <p:nvPr/>
        </p:nvSpPr>
        <p:spPr>
          <a:xfrm>
            <a:off x="9677520" y="4105440"/>
            <a:ext cx="418680" cy="418680"/>
          </a:xfrm>
          <a:prstGeom prst="ellipse">
            <a:avLst/>
          </a:prstGeom>
          <a:solidFill>
            <a:srgbClr val="6a1b9a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8"/>
          <p:cNvSpPr/>
          <p:nvPr/>
        </p:nvSpPr>
        <p:spPr>
          <a:xfrm>
            <a:off x="9767520" y="4219560"/>
            <a:ext cx="2386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6a1b9a"/>
                </a:solidFill>
                <a:effectLst/>
                <a:uFillTx/>
                <a:latin typeface="Arial"/>
                <a:ea typeface="Microsoft YaHei"/>
              </a:rPr>
              <a:t>☁️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49"/>
          <p:cNvSpPr/>
          <p:nvPr/>
        </p:nvSpPr>
        <p:spPr>
          <a:xfrm>
            <a:off x="9357120" y="4645440"/>
            <a:ext cx="10018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6a1b9a"/>
                </a:solidFill>
                <a:effectLst/>
                <a:uFillTx/>
                <a:latin typeface="Arial"/>
                <a:cs typeface="Arial"/>
              </a:rPr>
              <a:t>بنية تحتية سحابية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50"/>
          <p:cNvSpPr/>
          <p:nvPr/>
        </p:nvSpPr>
        <p:spPr>
          <a:xfrm>
            <a:off x="9230040" y="4943160"/>
            <a:ext cx="12556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استضافة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Cloudflare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المحمية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51"/>
          <p:cNvSpPr/>
          <p:nvPr/>
        </p:nvSpPr>
        <p:spPr>
          <a:xfrm>
            <a:off x="8985600" y="5189400"/>
            <a:ext cx="1745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تشفير 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256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-SSL + </a:t>
            </a: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مزامنة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Google Drive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Line 52"/>
          <p:cNvSpPr/>
          <p:nvPr/>
        </p:nvSpPr>
        <p:spPr>
          <a:xfrm>
            <a:off x="380880" y="633420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0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53"/>
          <p:cNvSpPr/>
          <p:nvPr/>
        </p:nvSpPr>
        <p:spPr>
          <a:xfrm>
            <a:off x="369720" y="6522840"/>
            <a:ext cx="10908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المصدر</a:t>
            </a:r>
            <a:r>
              <a:rPr b="0" lang="en-US" sz="90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: PRODUCT.md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54"/>
          <p:cNvSpPr/>
          <p:nvPr/>
        </p:nvSpPr>
        <p:spPr>
          <a:xfrm>
            <a:off x="5764320" y="6522840"/>
            <a:ext cx="6627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الجوانب الابتكارية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55"/>
          <p:cNvSpPr/>
          <p:nvPr/>
        </p:nvSpPr>
        <p:spPr>
          <a:xfrm>
            <a:off x="11485080" y="6506640"/>
            <a:ext cx="148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Microsoft YaHei"/>
              </a:rPr>
              <a:t>06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Freeform 3"/>
          <p:cNvSpPr/>
          <p:nvPr/>
        </p:nvSpPr>
        <p:spPr>
          <a:xfrm>
            <a:off x="5715000" y="0"/>
            <a:ext cx="6476760" cy="6857640"/>
          </a:xfrm>
          <a:custGeom>
            <a:avLst/>
            <a:gdLst>
              <a:gd name="textAreaLeft" fmla="*/ 0 w 6476760"/>
              <a:gd name="textAreaRight" fmla="*/ 6477120 w 6476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4"/>
          <p:cNvSpPr/>
          <p:nvPr/>
        </p:nvSpPr>
        <p:spPr>
          <a:xfrm>
            <a:off x="11430000" y="0"/>
            <a:ext cx="761760" cy="6857640"/>
          </a:xfrm>
          <a:prstGeom prst="rect">
            <a:avLst/>
          </a:prstGeom>
          <a:solidFill>
            <a:srgbClr val="00224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5"/>
          <p:cNvSpPr/>
          <p:nvPr/>
        </p:nvSpPr>
        <p:spPr>
          <a:xfrm>
            <a:off x="0" y="2286000"/>
            <a:ext cx="114120" cy="228564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6"/>
          <p:cNvSpPr/>
          <p:nvPr/>
        </p:nvSpPr>
        <p:spPr>
          <a:xfrm>
            <a:off x="876240" y="2305080"/>
            <a:ext cx="371196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0" strike="noStrike" u="none">
                <a:solidFill>
                  <a:srgbClr val="ffffff">
                    <a:alpha val="8000"/>
                  </a:srgbClr>
                </a:solidFill>
                <a:effectLst/>
                <a:uFillTx/>
                <a:latin typeface="Georgia"/>
                <a:ea typeface="Microsoft YaHei"/>
              </a:rPr>
              <a:t>03</a:t>
            </a:r>
            <a:endParaRPr b="0" lang="en-US" sz="2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7"/>
          <p:cNvSpPr/>
          <p:nvPr/>
        </p:nvSpPr>
        <p:spPr>
          <a:xfrm>
            <a:off x="3570120" y="2626920"/>
            <a:ext cx="417132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3900" strike="noStrike" u="none">
                <a:solidFill>
                  <a:srgbClr val="ffffff"/>
                </a:solidFill>
                <a:effectLst/>
                <a:uFillTx/>
                <a:latin typeface="Georgia"/>
                <a:cs typeface="Georgia"/>
              </a:rPr>
              <a:t>السوق والنموذج التجاري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8"/>
          <p:cNvSpPr/>
          <p:nvPr/>
        </p:nvSpPr>
        <p:spPr>
          <a:xfrm>
            <a:off x="3596760" y="3520440"/>
            <a:ext cx="2847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e8f4fc"/>
                </a:solidFill>
                <a:effectLst/>
                <a:uFillTx/>
                <a:latin typeface="Arial"/>
                <a:ea typeface="Microsoft YaHei"/>
              </a:rPr>
              <a:t>3 </a:t>
            </a:r>
            <a:r>
              <a:rPr b="0" lang="ar-DZ" sz="1800" strike="noStrike" u="none">
                <a:solidFill>
                  <a:srgbClr val="e8f4fc"/>
                </a:solidFill>
                <a:effectLst/>
                <a:uFillTx/>
                <a:latin typeface="Arial"/>
                <a:cs typeface="Arial"/>
              </a:rPr>
              <a:t>شرائح مستهدفة و </a:t>
            </a:r>
            <a:r>
              <a:rPr b="0" lang="en-US" sz="1800" strike="noStrike" u="none">
                <a:solidFill>
                  <a:srgbClr val="e8f4fc"/>
                </a:solidFill>
                <a:effectLst/>
                <a:uFillTx/>
                <a:latin typeface="Arial"/>
                <a:ea typeface="Microsoft YaHei"/>
              </a:rPr>
              <a:t>3</a:t>
            </a:r>
            <a:r>
              <a:rPr b="0" lang="en-US" sz="1800" strike="noStrike" u="none">
                <a:solidFill>
                  <a:srgbClr val="e8f4fc"/>
                </a:solidFill>
                <a:effectLst/>
                <a:uFillTx/>
                <a:latin typeface="Arial"/>
                <a:ea typeface="Microsoft YaHei"/>
              </a:rPr>
              <a:t> مصادر إيرادات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Line 9"/>
          <p:cNvSpPr/>
          <p:nvPr/>
        </p:nvSpPr>
        <p:spPr>
          <a:xfrm>
            <a:off x="3619440" y="2428920"/>
            <a:ext cx="1142640" cy="9000"/>
          </a:xfrm>
          <a:custGeom>
            <a:avLst/>
            <a:gdLst>
              <a:gd name="textAreaLeft" fmla="*/ 0 w 1142640"/>
              <a:gd name="textAreaRight" fmla="*/ 1143000 w 1142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0"/>
          <p:cNvSpPr/>
          <p:nvPr/>
        </p:nvSpPr>
        <p:spPr>
          <a:xfrm>
            <a:off x="9938160" y="6331320"/>
            <a:ext cx="18896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ea typeface="Microsoft YaHei"/>
              </a:rPr>
              <a:t>MATAX — </a:t>
            </a:r>
            <a:r>
              <a:rPr b="0" lang="ar-DZ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cs typeface="Arial"/>
              </a:rPr>
              <a:t>نموذج أعمال حديث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3"/>
          <p:cNvSpPr/>
          <p:nvPr/>
        </p:nvSpPr>
        <p:spPr>
          <a:xfrm>
            <a:off x="0" y="0"/>
            <a:ext cx="12191760" cy="66636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4"/>
          <p:cNvSpPr/>
          <p:nvPr/>
        </p:nvSpPr>
        <p:spPr>
          <a:xfrm>
            <a:off x="0" y="0"/>
            <a:ext cx="56880" cy="66636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5"/>
          <p:cNvSpPr/>
          <p:nvPr/>
        </p:nvSpPr>
        <p:spPr>
          <a:xfrm>
            <a:off x="354240" y="211320"/>
            <a:ext cx="27061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03 | </a:t>
            </a:r>
            <a:r>
              <a:rPr b="1" lang="ar-DZ" sz="21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السوق والنموذج التجاري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6"/>
          <p:cNvSpPr/>
          <p:nvPr/>
        </p:nvSpPr>
        <p:spPr>
          <a:xfrm>
            <a:off x="10942920" y="292320"/>
            <a:ext cx="694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7"/>
          <p:cNvSpPr/>
          <p:nvPr/>
        </p:nvSpPr>
        <p:spPr>
          <a:xfrm>
            <a:off x="0" y="666720"/>
            <a:ext cx="12191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8"/>
          <p:cNvSpPr/>
          <p:nvPr/>
        </p:nvSpPr>
        <p:spPr>
          <a:xfrm>
            <a:off x="0" y="666720"/>
            <a:ext cx="56880" cy="475920"/>
          </a:xfrm>
          <a:prstGeom prst="rect">
            <a:avLst/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9"/>
          <p:cNvSpPr/>
          <p:nvPr/>
        </p:nvSpPr>
        <p:spPr>
          <a:xfrm>
            <a:off x="363960" y="825840"/>
            <a:ext cx="37245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MATAX </a:t>
            </a: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يستهدف شرائح متنوعة من المقاولين والشركات الجزائرية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10"/>
          <p:cNvSpPr/>
          <p:nvPr/>
        </p:nvSpPr>
        <p:spPr>
          <a:xfrm>
            <a:off x="380880" y="1333440"/>
            <a:ext cx="5714640" cy="4857480"/>
          </a:xfrm>
          <a:prstGeom prst="roundRect">
            <a:avLst>
              <a:gd name="adj" fmla="val 1569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11"/>
          <p:cNvSpPr/>
          <p:nvPr/>
        </p:nvSpPr>
        <p:spPr>
          <a:xfrm>
            <a:off x="380880" y="1333440"/>
            <a:ext cx="5714640" cy="47592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12"/>
          <p:cNvSpPr/>
          <p:nvPr/>
        </p:nvSpPr>
        <p:spPr>
          <a:xfrm>
            <a:off x="380880" y="1714680"/>
            <a:ext cx="5714640" cy="9504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3"/>
          <p:cNvSpPr/>
          <p:nvPr/>
        </p:nvSpPr>
        <p:spPr>
          <a:xfrm>
            <a:off x="2658600" y="1495440"/>
            <a:ext cx="1158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5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الشرائح المستهدفة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14"/>
          <p:cNvSpPr/>
          <p:nvPr/>
        </p:nvSpPr>
        <p:spPr>
          <a:xfrm>
            <a:off x="571680" y="2000160"/>
            <a:ext cx="5333760" cy="1142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15"/>
          <p:cNvSpPr/>
          <p:nvPr/>
        </p:nvSpPr>
        <p:spPr>
          <a:xfrm>
            <a:off x="571680" y="2000160"/>
            <a:ext cx="56880" cy="114264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86" name="Group 18"/>
          <p:cNvGrpSpPr/>
          <p:nvPr/>
        </p:nvGrpSpPr>
        <p:grpSpPr>
          <a:xfrm>
            <a:off x="905040" y="2333520"/>
            <a:ext cx="190080" cy="285480"/>
            <a:chOff x="905040" y="2333520"/>
            <a:chExt cx="190080" cy="285480"/>
          </a:xfrm>
        </p:grpSpPr>
        <p:sp>
          <p:nvSpPr>
            <p:cNvPr id="287" name="Freeform 16"/>
            <p:cNvSpPr/>
            <p:nvPr/>
          </p:nvSpPr>
          <p:spPr>
            <a:xfrm>
              <a:off x="936720" y="2333520"/>
              <a:ext cx="126720" cy="12672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127000" h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eform 17"/>
            <p:cNvSpPr/>
            <p:nvPr/>
          </p:nvSpPr>
          <p:spPr>
            <a:xfrm>
              <a:off x="905040" y="2523960"/>
              <a:ext cx="190080" cy="950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190500" h="95250">
                  <a:moveTo>
                    <a:pt x="0" y="95250"/>
                  </a:move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lnTo>
                    <a:pt x="127000" y="0"/>
                  </a:lnTo>
                  <a:cubicBezTo>
                    <a:pt x="162070" y="0"/>
                    <a:pt x="190500" y="28430"/>
                    <a:pt x="190500" y="63500"/>
                  </a:cubicBezTo>
                  <a:lnTo>
                    <a:pt x="190500" y="9525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9" name="TextBox 19"/>
          <p:cNvSpPr/>
          <p:nvPr/>
        </p:nvSpPr>
        <p:spPr>
          <a:xfrm>
            <a:off x="1317240" y="2100600"/>
            <a:ext cx="14702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28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المقاولون والشركات الناشئة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0"/>
          <p:cNvSpPr/>
          <p:nvPr/>
        </p:nvSpPr>
        <p:spPr>
          <a:xfrm>
            <a:off x="1321200" y="2352240"/>
            <a:ext cx="22543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890,000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مقاول +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46,000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مؤسسة صغيرة ومتوسطة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1"/>
          <p:cNvSpPr/>
          <p:nvPr/>
        </p:nvSpPr>
        <p:spPr>
          <a:xfrm>
            <a:off x="1321920" y="2550960"/>
            <a:ext cx="14043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شريحة النمو الأسرع مع أولوية للرقمنة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22"/>
          <p:cNvSpPr/>
          <p:nvPr/>
        </p:nvSpPr>
        <p:spPr>
          <a:xfrm>
            <a:off x="571680" y="3286080"/>
            <a:ext cx="5333760" cy="1142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23"/>
          <p:cNvSpPr/>
          <p:nvPr/>
        </p:nvSpPr>
        <p:spPr>
          <a:xfrm>
            <a:off x="571680" y="3286080"/>
            <a:ext cx="56880" cy="11426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94" name="Group 35"/>
          <p:cNvGrpSpPr/>
          <p:nvPr/>
        </p:nvGrpSpPr>
        <p:grpSpPr>
          <a:xfrm>
            <a:off x="857160" y="3635280"/>
            <a:ext cx="285480" cy="279000"/>
            <a:chOff x="857160" y="3635280"/>
            <a:chExt cx="285480" cy="279000"/>
          </a:xfrm>
        </p:grpSpPr>
        <p:sp>
          <p:nvSpPr>
            <p:cNvPr id="295" name="Freeform 24"/>
            <p:cNvSpPr/>
            <p:nvPr/>
          </p:nvSpPr>
          <p:spPr>
            <a:xfrm>
              <a:off x="873000" y="3635280"/>
              <a:ext cx="142560" cy="26964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269640"/>
                <a:gd name="textAreaBottom" fmla="*/ 270000 h 269640"/>
              </a:gdLst>
              <a:ahLst/>
              <a:cxnLst/>
              <a:rect l="textAreaLeft" t="textAreaTop" r="textAreaRight" b="textAreaBottom"/>
              <a:pathLst>
                <a:path w="142875" h="269875">
                  <a:moveTo>
                    <a:pt x="0" y="269875"/>
                  </a:moveTo>
                  <a:lnTo>
                    <a:pt x="0" y="31750"/>
                  </a:lnTo>
                  <a:cubicBezTo>
                    <a:pt x="0" y="15875"/>
                    <a:pt x="15875" y="0"/>
                    <a:pt x="31750" y="0"/>
                  </a:cubicBezTo>
                  <a:lnTo>
                    <a:pt x="111125" y="0"/>
                  </a:lnTo>
                  <a:cubicBezTo>
                    <a:pt x="127000" y="0"/>
                    <a:pt x="142875" y="15875"/>
                    <a:pt x="142875" y="31750"/>
                  </a:cubicBezTo>
                  <a:lnTo>
                    <a:pt x="142875" y="269875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Freeform 25"/>
            <p:cNvSpPr/>
            <p:nvPr/>
          </p:nvSpPr>
          <p:spPr>
            <a:xfrm>
              <a:off x="1063800" y="3699000"/>
              <a:ext cx="63000" cy="20592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205920"/>
                <a:gd name="textAreaBottom" fmla="*/ 206280 h 205920"/>
              </a:gdLst>
              <a:ahLst/>
              <a:cxnLst/>
              <a:rect l="textAreaLeft" t="textAreaTop" r="textAreaRight" b="textAreaBottom"/>
              <a:pathLst>
                <a:path w="63500" h="206375">
                  <a:moveTo>
                    <a:pt x="0" y="0"/>
                  </a:moveTo>
                  <a:lnTo>
                    <a:pt x="31750" y="0"/>
                  </a:lnTo>
                  <a:cubicBezTo>
                    <a:pt x="47625" y="0"/>
                    <a:pt x="63500" y="15875"/>
                    <a:pt x="63500" y="31750"/>
                  </a:cubicBezTo>
                  <a:lnTo>
                    <a:pt x="63500" y="206375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eform 26"/>
            <p:cNvSpPr/>
            <p:nvPr/>
          </p:nvSpPr>
          <p:spPr>
            <a:xfrm>
              <a:off x="857160" y="3905280"/>
              <a:ext cx="285480" cy="900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Freeform 27"/>
            <p:cNvSpPr/>
            <p:nvPr/>
          </p:nvSpPr>
          <p:spPr>
            <a:xfrm>
              <a:off x="968400" y="376236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Freeform 28"/>
            <p:cNvSpPr/>
            <p:nvPr/>
          </p:nvSpPr>
          <p:spPr>
            <a:xfrm>
              <a:off x="968400" y="382572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Freeform 29"/>
            <p:cNvSpPr/>
            <p:nvPr/>
          </p:nvSpPr>
          <p:spPr>
            <a:xfrm>
              <a:off x="968400" y="369900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Freeform 30"/>
            <p:cNvSpPr/>
            <p:nvPr/>
          </p:nvSpPr>
          <p:spPr>
            <a:xfrm>
              <a:off x="920880" y="376236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Freeform 31"/>
            <p:cNvSpPr/>
            <p:nvPr/>
          </p:nvSpPr>
          <p:spPr>
            <a:xfrm>
              <a:off x="920880" y="382572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Freeform 32"/>
            <p:cNvSpPr/>
            <p:nvPr/>
          </p:nvSpPr>
          <p:spPr>
            <a:xfrm>
              <a:off x="920880" y="369900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Freeform 33"/>
            <p:cNvSpPr/>
            <p:nvPr/>
          </p:nvSpPr>
          <p:spPr>
            <a:xfrm>
              <a:off x="1079640" y="376236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Freeform 34"/>
            <p:cNvSpPr/>
            <p:nvPr/>
          </p:nvSpPr>
          <p:spPr>
            <a:xfrm>
              <a:off x="1079640" y="382572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6" name="TextBox 36"/>
          <p:cNvSpPr/>
          <p:nvPr/>
        </p:nvSpPr>
        <p:spPr>
          <a:xfrm>
            <a:off x="1317240" y="3386520"/>
            <a:ext cx="8290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280" strike="noStrike" u="none">
                <a:solidFill>
                  <a:srgbClr val="0066cc"/>
                </a:solidFill>
                <a:effectLst/>
                <a:uFillTx/>
                <a:latin typeface="Arial"/>
                <a:cs typeface="Arial"/>
              </a:rPr>
              <a:t>مكاتب المحاسبة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37"/>
          <p:cNvSpPr/>
          <p:nvPr/>
        </p:nvSpPr>
        <p:spPr>
          <a:xfrm>
            <a:off x="1321200" y="3638160"/>
            <a:ext cx="16596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2,613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مكتب +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12,560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محاسب معتمد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38"/>
          <p:cNvSpPr/>
          <p:nvPr/>
        </p:nvSpPr>
        <p:spPr>
          <a:xfrm>
            <a:off x="1321920" y="3836520"/>
            <a:ext cx="16880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شريحة الاحتراف: بحاجة لأدوات رقمية متقدمة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39"/>
          <p:cNvSpPr/>
          <p:nvPr/>
        </p:nvSpPr>
        <p:spPr>
          <a:xfrm>
            <a:off x="571680" y="4572000"/>
            <a:ext cx="5333760" cy="1142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40"/>
          <p:cNvSpPr/>
          <p:nvPr/>
        </p:nvSpPr>
        <p:spPr>
          <a:xfrm>
            <a:off x="571680" y="4572000"/>
            <a:ext cx="56880" cy="1142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11" name="Group 45"/>
          <p:cNvGrpSpPr/>
          <p:nvPr/>
        </p:nvGrpSpPr>
        <p:grpSpPr>
          <a:xfrm>
            <a:off x="857160" y="4920840"/>
            <a:ext cx="301320" cy="279360"/>
            <a:chOff x="857160" y="4920840"/>
            <a:chExt cx="301320" cy="279360"/>
          </a:xfrm>
        </p:grpSpPr>
        <p:sp>
          <p:nvSpPr>
            <p:cNvPr id="312" name="Freeform 41"/>
            <p:cNvSpPr/>
            <p:nvPr/>
          </p:nvSpPr>
          <p:spPr>
            <a:xfrm>
              <a:off x="873000" y="5000760"/>
              <a:ext cx="158400" cy="19008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158750" h="190500">
                  <a:moveTo>
                    <a:pt x="0" y="190500"/>
                  </a:moveTo>
                  <a:cubicBezTo>
                    <a:pt x="18209" y="126682"/>
                    <a:pt x="31480" y="63071"/>
                    <a:pt x="31750" y="0"/>
                  </a:cubicBezTo>
                  <a:lnTo>
                    <a:pt x="127000" y="0"/>
                  </a:lnTo>
                  <a:cubicBezTo>
                    <a:pt x="127270" y="63071"/>
                    <a:pt x="140541" y="126682"/>
                    <a:pt x="158750" y="190500"/>
                  </a:cubicBez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eform 42"/>
            <p:cNvSpPr/>
            <p:nvPr/>
          </p:nvSpPr>
          <p:spPr>
            <a:xfrm>
              <a:off x="1008000" y="5064120"/>
              <a:ext cx="102960" cy="126720"/>
            </a:xfrm>
            <a:custGeom>
              <a:avLst/>
              <a:gdLst>
                <a:gd name="textAreaLeft" fmla="*/ 0 w 102960"/>
                <a:gd name="textAreaRight" fmla="*/ 103320 w 10296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103187" h="127000">
                  <a:moveTo>
                    <a:pt x="0" y="0"/>
                  </a:moveTo>
                  <a:lnTo>
                    <a:pt x="71438" y="0"/>
                  </a:lnTo>
                  <a:cubicBezTo>
                    <a:pt x="71834" y="41466"/>
                    <a:pt x="85630" y="84074"/>
                    <a:pt x="103187" y="127000"/>
                  </a:cubicBez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Freeform 43"/>
            <p:cNvSpPr/>
            <p:nvPr/>
          </p:nvSpPr>
          <p:spPr>
            <a:xfrm>
              <a:off x="952560" y="4920840"/>
              <a:ext cx="190080" cy="320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90500" h="32276">
                  <a:moveTo>
                    <a:pt x="0" y="16138"/>
                  </a:moveTo>
                  <a:cubicBezTo>
                    <a:pt x="7321" y="5938"/>
                    <a:pt x="19197" y="0"/>
                    <a:pt x="31750" y="263"/>
                  </a:cubicBezTo>
                  <a:cubicBezTo>
                    <a:pt x="44303" y="0"/>
                    <a:pt x="56179" y="5938"/>
                    <a:pt x="63500" y="16138"/>
                  </a:cubicBezTo>
                  <a:cubicBezTo>
                    <a:pt x="70821" y="26338"/>
                    <a:pt x="82697" y="32276"/>
                    <a:pt x="95250" y="32013"/>
                  </a:cubicBezTo>
                  <a:cubicBezTo>
                    <a:pt x="107803" y="32276"/>
                    <a:pt x="119679" y="26338"/>
                    <a:pt x="127000" y="16138"/>
                  </a:cubicBezTo>
                  <a:cubicBezTo>
                    <a:pt x="134321" y="5938"/>
                    <a:pt x="146197" y="0"/>
                    <a:pt x="158750" y="263"/>
                  </a:cubicBezTo>
                  <a:cubicBezTo>
                    <a:pt x="171303" y="0"/>
                    <a:pt x="183179" y="5938"/>
                    <a:pt x="190500" y="16138"/>
                  </a:cubicBez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600" bIns="-126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Freeform 44"/>
            <p:cNvSpPr/>
            <p:nvPr/>
          </p:nvSpPr>
          <p:spPr>
            <a:xfrm>
              <a:off x="857160" y="5191200"/>
              <a:ext cx="301320" cy="900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301625" h="9525">
                  <a:moveTo>
                    <a:pt x="0" y="0"/>
                  </a:moveTo>
                  <a:lnTo>
                    <a:pt x="301625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6" name="TextBox 46"/>
          <p:cNvSpPr/>
          <p:nvPr/>
        </p:nvSpPr>
        <p:spPr>
          <a:xfrm>
            <a:off x="1317240" y="4672440"/>
            <a:ext cx="15660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28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المؤسسات المتوسطة والكبيرة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47"/>
          <p:cNvSpPr/>
          <p:nvPr/>
        </p:nvSpPr>
        <p:spPr>
          <a:xfrm>
            <a:off x="1321200" y="4924080"/>
            <a:ext cx="22824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58,000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مؤسسة +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1,200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مؤسسة خارج النظام الجبائي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48"/>
          <p:cNvSpPr/>
          <p:nvPr/>
        </p:nvSpPr>
        <p:spPr>
          <a:xfrm>
            <a:off x="1321920" y="5122440"/>
            <a:ext cx="15040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حلول مخصصة للمؤسسات متعددة الفروع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ectangle 49"/>
          <p:cNvSpPr/>
          <p:nvPr/>
        </p:nvSpPr>
        <p:spPr>
          <a:xfrm>
            <a:off x="6286680" y="1333440"/>
            <a:ext cx="5524200" cy="4857480"/>
          </a:xfrm>
          <a:prstGeom prst="roundRect">
            <a:avLst>
              <a:gd name="adj" fmla="val 1569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 50"/>
          <p:cNvSpPr/>
          <p:nvPr/>
        </p:nvSpPr>
        <p:spPr>
          <a:xfrm>
            <a:off x="6286680" y="1333440"/>
            <a:ext cx="5524200" cy="475920"/>
          </a:xfrm>
          <a:prstGeom prst="roundRect">
            <a:avLst>
              <a:gd name="adj" fmla="val 16000"/>
            </a:avLst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51"/>
          <p:cNvSpPr/>
          <p:nvPr/>
        </p:nvSpPr>
        <p:spPr>
          <a:xfrm>
            <a:off x="6286680" y="1714680"/>
            <a:ext cx="5524200" cy="95040"/>
          </a:xfrm>
          <a:prstGeom prst="rect">
            <a:avLst/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52"/>
          <p:cNvSpPr/>
          <p:nvPr/>
        </p:nvSpPr>
        <p:spPr>
          <a:xfrm>
            <a:off x="8542440" y="1495440"/>
            <a:ext cx="1011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5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مصادر الإيرادات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53"/>
          <p:cNvSpPr/>
          <p:nvPr/>
        </p:nvSpPr>
        <p:spPr>
          <a:xfrm>
            <a:off x="6477120" y="2000160"/>
            <a:ext cx="5143320" cy="1333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54"/>
          <p:cNvSpPr/>
          <p:nvPr/>
        </p:nvSpPr>
        <p:spPr>
          <a:xfrm>
            <a:off x="6477120" y="2000160"/>
            <a:ext cx="56880" cy="133308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55"/>
          <p:cNvSpPr/>
          <p:nvPr/>
        </p:nvSpPr>
        <p:spPr>
          <a:xfrm>
            <a:off x="6936120" y="2187720"/>
            <a:ext cx="15591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الاشتراكات الشهرية/السنوية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56"/>
          <p:cNvSpPr/>
          <p:nvPr/>
        </p:nvSpPr>
        <p:spPr>
          <a:xfrm>
            <a:off x="6940800" y="2485440"/>
            <a:ext cx="27864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Start: 1,490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دج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| Pro: 3,490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دج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| Enterprise: 5,990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57"/>
          <p:cNvSpPr/>
          <p:nvPr/>
        </p:nvSpPr>
        <p:spPr>
          <a:xfrm>
            <a:off x="6940080" y="2725200"/>
            <a:ext cx="1373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05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مصدر الإيراد الأساسي + </a:t>
            </a:r>
            <a:r>
              <a:rPr b="1" lang="en-US" sz="105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70</a:t>
            </a:r>
            <a:r>
              <a:rPr b="1" lang="en-US" sz="105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%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58"/>
          <p:cNvSpPr/>
          <p:nvPr/>
        </p:nvSpPr>
        <p:spPr>
          <a:xfrm>
            <a:off x="6941880" y="2950920"/>
            <a:ext cx="1269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تقليل الاعتماد على المكاتب التقليدية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59"/>
          <p:cNvSpPr/>
          <p:nvPr/>
        </p:nvSpPr>
        <p:spPr>
          <a:xfrm>
            <a:off x="6477120" y="3476520"/>
            <a:ext cx="5143320" cy="1142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60"/>
          <p:cNvSpPr/>
          <p:nvPr/>
        </p:nvSpPr>
        <p:spPr>
          <a:xfrm>
            <a:off x="6477120" y="3476520"/>
            <a:ext cx="56880" cy="114264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61"/>
          <p:cNvSpPr/>
          <p:nvPr/>
        </p:nvSpPr>
        <p:spPr>
          <a:xfrm>
            <a:off x="6936120" y="3616560"/>
            <a:ext cx="955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0099aa"/>
                </a:solidFill>
                <a:effectLst/>
                <a:uFillTx/>
                <a:latin typeface="Arial"/>
                <a:cs typeface="Arial"/>
              </a:rPr>
              <a:t>الخدمات الإضافية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62"/>
          <p:cNvSpPr/>
          <p:nvPr/>
        </p:nvSpPr>
        <p:spPr>
          <a:xfrm>
            <a:off x="6940800" y="3895200"/>
            <a:ext cx="19933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دعم تقني مخصص + استشارات ضريبية + تدريب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63"/>
          <p:cNvSpPr/>
          <p:nvPr/>
        </p:nvSpPr>
        <p:spPr>
          <a:xfrm>
            <a:off x="6941880" y="4169880"/>
            <a:ext cx="1644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هوامش ربح عالية + تعميق العلاقة مع العميل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64"/>
          <p:cNvSpPr/>
          <p:nvPr/>
        </p:nvSpPr>
        <p:spPr>
          <a:xfrm>
            <a:off x="6477120" y="4762440"/>
            <a:ext cx="5143320" cy="1142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65"/>
          <p:cNvSpPr/>
          <p:nvPr/>
        </p:nvSpPr>
        <p:spPr>
          <a:xfrm>
            <a:off x="6477120" y="4762440"/>
            <a:ext cx="56880" cy="114264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66"/>
          <p:cNvSpPr/>
          <p:nvPr/>
        </p:nvSpPr>
        <p:spPr>
          <a:xfrm>
            <a:off x="6936120" y="4902480"/>
            <a:ext cx="10234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565c0"/>
                </a:solidFill>
                <a:effectLst/>
                <a:uFillTx/>
                <a:latin typeface="Arial"/>
                <a:cs typeface="Arial"/>
              </a:rPr>
              <a:t>الشراكات والتعاون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67"/>
          <p:cNvSpPr/>
          <p:nvPr/>
        </p:nvSpPr>
        <p:spPr>
          <a:xfrm>
            <a:off x="6940800" y="5181120"/>
            <a:ext cx="22399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عمولات بيع مشترك مع البنوك + تكامل مع أنظمة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ERP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68"/>
          <p:cNvSpPr/>
          <p:nvPr/>
        </p:nvSpPr>
        <p:spPr>
          <a:xfrm>
            <a:off x="6941880" y="5455800"/>
            <a:ext cx="17935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توسيع قاعدة المستخدمين عبر شراكات استراتيجية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Line 69"/>
          <p:cNvSpPr/>
          <p:nvPr/>
        </p:nvSpPr>
        <p:spPr>
          <a:xfrm>
            <a:off x="380880" y="633420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0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70"/>
          <p:cNvSpPr/>
          <p:nvPr/>
        </p:nvSpPr>
        <p:spPr>
          <a:xfrm>
            <a:off x="369720" y="6522840"/>
            <a:ext cx="1763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المصدر: دراسةالمشروع</a:t>
            </a:r>
            <a:r>
              <a:rPr b="0" lang="en-US" sz="90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0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+ PRODUCT.md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71"/>
          <p:cNvSpPr/>
          <p:nvPr/>
        </p:nvSpPr>
        <p:spPr>
          <a:xfrm>
            <a:off x="5645160" y="6522840"/>
            <a:ext cx="9010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السوق والنموذج التجاري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72"/>
          <p:cNvSpPr/>
          <p:nvPr/>
        </p:nvSpPr>
        <p:spPr>
          <a:xfrm>
            <a:off x="11485080" y="6506640"/>
            <a:ext cx="148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Microsoft YaHei"/>
              </a:rPr>
              <a:t>08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3"/>
          <p:cNvSpPr/>
          <p:nvPr/>
        </p:nvSpPr>
        <p:spPr>
          <a:xfrm>
            <a:off x="0" y="0"/>
            <a:ext cx="12191760" cy="66636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Rectangle 4"/>
          <p:cNvSpPr/>
          <p:nvPr/>
        </p:nvSpPr>
        <p:spPr>
          <a:xfrm>
            <a:off x="0" y="0"/>
            <a:ext cx="56880" cy="66636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5"/>
          <p:cNvSpPr/>
          <p:nvPr/>
        </p:nvSpPr>
        <p:spPr>
          <a:xfrm>
            <a:off x="354240" y="211320"/>
            <a:ext cx="44114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03 | </a:t>
            </a:r>
            <a:r>
              <a:rPr b="1" lang="ar-DZ" sz="21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السوق والنموذج التجاري — التميّز التنافسي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6"/>
          <p:cNvSpPr/>
          <p:nvPr/>
        </p:nvSpPr>
        <p:spPr>
          <a:xfrm>
            <a:off x="10942920" y="292320"/>
            <a:ext cx="694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7"/>
          <p:cNvSpPr/>
          <p:nvPr/>
        </p:nvSpPr>
        <p:spPr>
          <a:xfrm>
            <a:off x="0" y="666720"/>
            <a:ext cx="12191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8"/>
          <p:cNvSpPr/>
          <p:nvPr/>
        </p:nvSpPr>
        <p:spPr>
          <a:xfrm>
            <a:off x="0" y="666720"/>
            <a:ext cx="56880" cy="475920"/>
          </a:xfrm>
          <a:prstGeom prst="rect">
            <a:avLst/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9"/>
          <p:cNvSpPr/>
          <p:nvPr/>
        </p:nvSpPr>
        <p:spPr>
          <a:xfrm>
            <a:off x="363960" y="825840"/>
            <a:ext cx="38538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MATAX </a:t>
            </a: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يتفوق على المنافسين بفضل أتمتة الإجراءات الجبائية بالكامل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10"/>
          <p:cNvSpPr/>
          <p:nvPr/>
        </p:nvSpPr>
        <p:spPr>
          <a:xfrm>
            <a:off x="571680" y="1333440"/>
            <a:ext cx="11048760" cy="523440"/>
          </a:xfrm>
          <a:prstGeom prst="roundRect">
            <a:avLst>
              <a:gd name="adj" fmla="val 7273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11"/>
          <p:cNvSpPr/>
          <p:nvPr/>
        </p:nvSpPr>
        <p:spPr>
          <a:xfrm>
            <a:off x="2025000" y="1527840"/>
            <a:ext cx="331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2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المعيار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2"/>
          <p:cNvSpPr/>
          <p:nvPr/>
        </p:nvSpPr>
        <p:spPr>
          <a:xfrm>
            <a:off x="4073760" y="1527840"/>
            <a:ext cx="520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MATAX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3"/>
          <p:cNvSpPr/>
          <p:nvPr/>
        </p:nvSpPr>
        <p:spPr>
          <a:xfrm>
            <a:off x="5806080" y="1527840"/>
            <a:ext cx="864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Compta Pro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4"/>
          <p:cNvSpPr/>
          <p:nvPr/>
        </p:nvSpPr>
        <p:spPr>
          <a:xfrm>
            <a:off x="7927920" y="1527840"/>
            <a:ext cx="4316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SAGE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5"/>
          <p:cNvSpPr/>
          <p:nvPr/>
        </p:nvSpPr>
        <p:spPr>
          <a:xfrm>
            <a:off x="9705240" y="1527840"/>
            <a:ext cx="687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FiscalPro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16"/>
          <p:cNvSpPr/>
          <p:nvPr/>
        </p:nvSpPr>
        <p:spPr>
          <a:xfrm>
            <a:off x="571680" y="1905120"/>
            <a:ext cx="11048760" cy="66636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7"/>
          <p:cNvSpPr/>
          <p:nvPr/>
        </p:nvSpPr>
        <p:spPr>
          <a:xfrm>
            <a:off x="1673280" y="2183760"/>
            <a:ext cx="10339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التصريح الجبائي الآلي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Freeform 18"/>
          <p:cNvSpPr/>
          <p:nvPr/>
        </p:nvSpPr>
        <p:spPr>
          <a:xfrm>
            <a:off x="4302000" y="2165400"/>
            <a:ext cx="190080" cy="126720"/>
          </a:xfrm>
          <a:custGeom>
            <a:avLst/>
            <a:gdLst>
              <a:gd name="textAreaLeft" fmla="*/ 0 w 190080"/>
              <a:gd name="textAreaRight" fmla="*/ 190440 w 19008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90500" h="127000">
                <a:moveTo>
                  <a:pt x="0" y="63500"/>
                </a:moveTo>
                <a:lnTo>
                  <a:pt x="63500" y="127000"/>
                </a:lnTo>
                <a:lnTo>
                  <a:pt x="190500" y="0"/>
                </a:lnTo>
              </a:path>
            </a:pathLst>
          </a:custGeom>
          <a:noFill/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19"/>
          <p:cNvSpPr/>
          <p:nvPr/>
        </p:nvSpPr>
        <p:spPr>
          <a:xfrm>
            <a:off x="4199760" y="2199960"/>
            <a:ext cx="267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متكامل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1" name="Group 22"/>
          <p:cNvGrpSpPr/>
          <p:nvPr/>
        </p:nvGrpSpPr>
        <p:grpSpPr>
          <a:xfrm>
            <a:off x="6219720" y="2152800"/>
            <a:ext cx="151920" cy="151920"/>
            <a:chOff x="6219720" y="2152800"/>
            <a:chExt cx="151920" cy="151920"/>
          </a:xfrm>
        </p:grpSpPr>
        <p:sp>
          <p:nvSpPr>
            <p:cNvPr id="362" name="Freeform 20"/>
            <p:cNvSpPr/>
            <p:nvPr/>
          </p:nvSpPr>
          <p:spPr>
            <a:xfrm>
              <a:off x="6219720" y="215280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Freeform 21"/>
            <p:cNvSpPr/>
            <p:nvPr/>
          </p:nvSpPr>
          <p:spPr>
            <a:xfrm>
              <a:off x="6219720" y="215280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4" name="TextBox 23"/>
          <p:cNvSpPr/>
          <p:nvPr/>
        </p:nvSpPr>
        <p:spPr>
          <a:xfrm>
            <a:off x="6030360" y="2199960"/>
            <a:ext cx="4161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غير متوفر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5" name="Group 26"/>
          <p:cNvGrpSpPr/>
          <p:nvPr/>
        </p:nvGrpSpPr>
        <p:grpSpPr>
          <a:xfrm>
            <a:off x="8124840" y="2152800"/>
            <a:ext cx="151920" cy="151920"/>
            <a:chOff x="8124840" y="2152800"/>
            <a:chExt cx="151920" cy="151920"/>
          </a:xfrm>
        </p:grpSpPr>
        <p:sp>
          <p:nvSpPr>
            <p:cNvPr id="366" name="Freeform 24"/>
            <p:cNvSpPr/>
            <p:nvPr/>
          </p:nvSpPr>
          <p:spPr>
            <a:xfrm>
              <a:off x="8124840" y="215280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Freeform 25"/>
            <p:cNvSpPr/>
            <p:nvPr/>
          </p:nvSpPr>
          <p:spPr>
            <a:xfrm>
              <a:off x="8124840" y="215280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8" name="TextBox 27"/>
          <p:cNvSpPr/>
          <p:nvPr/>
        </p:nvSpPr>
        <p:spPr>
          <a:xfrm>
            <a:off x="7935480" y="2199960"/>
            <a:ext cx="4161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غير متوفر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Freeform 28"/>
          <p:cNvSpPr/>
          <p:nvPr/>
        </p:nvSpPr>
        <p:spPr>
          <a:xfrm>
            <a:off x="10017000" y="2228760"/>
            <a:ext cx="177480" cy="9000"/>
          </a:xfrm>
          <a:custGeom>
            <a:avLst/>
            <a:gdLst>
              <a:gd name="textAreaLeft" fmla="*/ 0 w 177480"/>
              <a:gd name="textAreaRight" fmla="*/ 177840 w 17748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77800" h="9525">
                <a:moveTo>
                  <a:pt x="0" y="0"/>
                </a:moveTo>
                <a:lnTo>
                  <a:pt x="177800" y="0"/>
                </a:lnTo>
              </a:path>
            </a:pathLst>
          </a:custGeom>
          <a:noFill/>
          <a:ln w="1905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29"/>
          <p:cNvSpPr/>
          <p:nvPr/>
        </p:nvSpPr>
        <p:spPr>
          <a:xfrm>
            <a:off x="9933840" y="2199960"/>
            <a:ext cx="2296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ff9800"/>
                </a:solidFill>
                <a:effectLst/>
                <a:uFillTx/>
                <a:latin typeface="Arial"/>
                <a:cs typeface="Arial"/>
              </a:rPr>
              <a:t>جزئي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30"/>
          <p:cNvSpPr/>
          <p:nvPr/>
        </p:nvSpPr>
        <p:spPr>
          <a:xfrm>
            <a:off x="571680" y="2619360"/>
            <a:ext cx="11048760" cy="666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31"/>
          <p:cNvSpPr/>
          <p:nvPr/>
        </p:nvSpPr>
        <p:spPr>
          <a:xfrm>
            <a:off x="1721160" y="2898000"/>
            <a:ext cx="93924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نظام التنبيهات الذكي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Freeform 32"/>
          <p:cNvSpPr/>
          <p:nvPr/>
        </p:nvSpPr>
        <p:spPr>
          <a:xfrm>
            <a:off x="4302000" y="2879640"/>
            <a:ext cx="190080" cy="126720"/>
          </a:xfrm>
          <a:custGeom>
            <a:avLst/>
            <a:gdLst>
              <a:gd name="textAreaLeft" fmla="*/ 0 w 190080"/>
              <a:gd name="textAreaRight" fmla="*/ 190440 w 19008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90500" h="127000">
                <a:moveTo>
                  <a:pt x="0" y="63500"/>
                </a:moveTo>
                <a:lnTo>
                  <a:pt x="63500" y="127000"/>
                </a:lnTo>
                <a:lnTo>
                  <a:pt x="190500" y="0"/>
                </a:lnTo>
              </a:path>
            </a:pathLst>
          </a:custGeom>
          <a:noFill/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33"/>
          <p:cNvSpPr/>
          <p:nvPr/>
        </p:nvSpPr>
        <p:spPr>
          <a:xfrm>
            <a:off x="4190400" y="2914200"/>
            <a:ext cx="2865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استباقي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5" name="Group 36"/>
          <p:cNvGrpSpPr/>
          <p:nvPr/>
        </p:nvGrpSpPr>
        <p:grpSpPr>
          <a:xfrm>
            <a:off x="6219720" y="2867040"/>
            <a:ext cx="151920" cy="151920"/>
            <a:chOff x="6219720" y="2867040"/>
            <a:chExt cx="151920" cy="151920"/>
          </a:xfrm>
        </p:grpSpPr>
        <p:sp>
          <p:nvSpPr>
            <p:cNvPr id="376" name="Freeform 34"/>
            <p:cNvSpPr/>
            <p:nvPr/>
          </p:nvSpPr>
          <p:spPr>
            <a:xfrm>
              <a:off x="6219720" y="286704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Freeform 35"/>
            <p:cNvSpPr/>
            <p:nvPr/>
          </p:nvSpPr>
          <p:spPr>
            <a:xfrm>
              <a:off x="6219720" y="286704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8" name="TextBox 37"/>
          <p:cNvSpPr/>
          <p:nvPr/>
        </p:nvSpPr>
        <p:spPr>
          <a:xfrm>
            <a:off x="6055200" y="2914200"/>
            <a:ext cx="366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سلبي فقط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9" name="Group 40"/>
          <p:cNvGrpSpPr/>
          <p:nvPr/>
        </p:nvGrpSpPr>
        <p:grpSpPr>
          <a:xfrm>
            <a:off x="8124840" y="2867040"/>
            <a:ext cx="151920" cy="151920"/>
            <a:chOff x="8124840" y="2867040"/>
            <a:chExt cx="151920" cy="151920"/>
          </a:xfrm>
        </p:grpSpPr>
        <p:sp>
          <p:nvSpPr>
            <p:cNvPr id="380" name="Freeform 38"/>
            <p:cNvSpPr/>
            <p:nvPr/>
          </p:nvSpPr>
          <p:spPr>
            <a:xfrm>
              <a:off x="8124840" y="286704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Freeform 39"/>
            <p:cNvSpPr/>
            <p:nvPr/>
          </p:nvSpPr>
          <p:spPr>
            <a:xfrm>
              <a:off x="8124840" y="286704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2" name="TextBox 41"/>
          <p:cNvSpPr/>
          <p:nvPr/>
        </p:nvSpPr>
        <p:spPr>
          <a:xfrm>
            <a:off x="7935480" y="2914200"/>
            <a:ext cx="4161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غير متوفر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Freeform 42"/>
          <p:cNvSpPr/>
          <p:nvPr/>
        </p:nvSpPr>
        <p:spPr>
          <a:xfrm>
            <a:off x="10017000" y="2943360"/>
            <a:ext cx="177480" cy="9000"/>
          </a:xfrm>
          <a:custGeom>
            <a:avLst/>
            <a:gdLst>
              <a:gd name="textAreaLeft" fmla="*/ 0 w 177480"/>
              <a:gd name="textAreaRight" fmla="*/ 177840 w 17748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77800" h="9525">
                <a:moveTo>
                  <a:pt x="0" y="0"/>
                </a:moveTo>
                <a:lnTo>
                  <a:pt x="177800" y="0"/>
                </a:lnTo>
              </a:path>
            </a:pathLst>
          </a:custGeom>
          <a:noFill/>
          <a:ln w="1905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43"/>
          <p:cNvSpPr/>
          <p:nvPr/>
        </p:nvSpPr>
        <p:spPr>
          <a:xfrm>
            <a:off x="9923040" y="2914200"/>
            <a:ext cx="2516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ff9800"/>
                </a:solidFill>
                <a:effectLst/>
                <a:uFillTx/>
                <a:latin typeface="Arial"/>
                <a:cs typeface="Arial"/>
              </a:rPr>
              <a:t>محدود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44"/>
          <p:cNvSpPr/>
          <p:nvPr/>
        </p:nvSpPr>
        <p:spPr>
          <a:xfrm>
            <a:off x="571680" y="3333600"/>
            <a:ext cx="11048760" cy="66636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45"/>
          <p:cNvSpPr/>
          <p:nvPr/>
        </p:nvSpPr>
        <p:spPr>
          <a:xfrm>
            <a:off x="1589040" y="3612240"/>
            <a:ext cx="120276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الأرشفة السحابية المشفرة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Freeform 46"/>
          <p:cNvSpPr/>
          <p:nvPr/>
        </p:nvSpPr>
        <p:spPr>
          <a:xfrm>
            <a:off x="4302000" y="3594240"/>
            <a:ext cx="190080" cy="126720"/>
          </a:xfrm>
          <a:custGeom>
            <a:avLst/>
            <a:gdLst>
              <a:gd name="textAreaLeft" fmla="*/ 0 w 190080"/>
              <a:gd name="textAreaRight" fmla="*/ 190440 w 19008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90500" h="127000">
                <a:moveTo>
                  <a:pt x="0" y="63500"/>
                </a:moveTo>
                <a:lnTo>
                  <a:pt x="63500" y="127000"/>
                </a:lnTo>
                <a:lnTo>
                  <a:pt x="190500" y="0"/>
                </a:lnTo>
              </a:path>
            </a:pathLst>
          </a:custGeom>
          <a:noFill/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47"/>
          <p:cNvSpPr/>
          <p:nvPr/>
        </p:nvSpPr>
        <p:spPr>
          <a:xfrm>
            <a:off x="4092840" y="3628440"/>
            <a:ext cx="4813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256-SSL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Freeform 48"/>
          <p:cNvSpPr/>
          <p:nvPr/>
        </p:nvSpPr>
        <p:spPr>
          <a:xfrm>
            <a:off x="6207120" y="3594240"/>
            <a:ext cx="190080" cy="126720"/>
          </a:xfrm>
          <a:custGeom>
            <a:avLst/>
            <a:gdLst>
              <a:gd name="textAreaLeft" fmla="*/ 0 w 190080"/>
              <a:gd name="textAreaRight" fmla="*/ 190440 w 19008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90500" h="127000">
                <a:moveTo>
                  <a:pt x="0" y="63500"/>
                </a:moveTo>
                <a:lnTo>
                  <a:pt x="63500" y="127000"/>
                </a:lnTo>
                <a:lnTo>
                  <a:pt x="190500" y="0"/>
                </a:lnTo>
              </a:path>
            </a:pathLst>
          </a:custGeom>
          <a:noFill/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49"/>
          <p:cNvSpPr/>
          <p:nvPr/>
        </p:nvSpPr>
        <p:spPr>
          <a:xfrm>
            <a:off x="6076800" y="3628440"/>
            <a:ext cx="3236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Cloud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1" name="Group 52"/>
          <p:cNvGrpSpPr/>
          <p:nvPr/>
        </p:nvGrpSpPr>
        <p:grpSpPr>
          <a:xfrm>
            <a:off x="8124840" y="3581280"/>
            <a:ext cx="151920" cy="151920"/>
            <a:chOff x="8124840" y="3581280"/>
            <a:chExt cx="151920" cy="151920"/>
          </a:xfrm>
        </p:grpSpPr>
        <p:sp>
          <p:nvSpPr>
            <p:cNvPr id="392" name="Freeform 50"/>
            <p:cNvSpPr/>
            <p:nvPr/>
          </p:nvSpPr>
          <p:spPr>
            <a:xfrm>
              <a:off x="8124840" y="358128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Freeform 51"/>
            <p:cNvSpPr/>
            <p:nvPr/>
          </p:nvSpPr>
          <p:spPr>
            <a:xfrm>
              <a:off x="8124840" y="358128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4" name="TextBox 53"/>
          <p:cNvSpPr/>
          <p:nvPr/>
        </p:nvSpPr>
        <p:spPr>
          <a:xfrm>
            <a:off x="7951320" y="3628440"/>
            <a:ext cx="384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محلي فقط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5" name="Group 56"/>
          <p:cNvGrpSpPr/>
          <p:nvPr/>
        </p:nvGrpSpPr>
        <p:grpSpPr>
          <a:xfrm>
            <a:off x="10029960" y="3581280"/>
            <a:ext cx="151920" cy="151920"/>
            <a:chOff x="10029960" y="3581280"/>
            <a:chExt cx="151920" cy="151920"/>
          </a:xfrm>
        </p:grpSpPr>
        <p:sp>
          <p:nvSpPr>
            <p:cNvPr id="396" name="Freeform 54"/>
            <p:cNvSpPr/>
            <p:nvPr/>
          </p:nvSpPr>
          <p:spPr>
            <a:xfrm>
              <a:off x="10029960" y="358128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Freeform 55"/>
            <p:cNvSpPr/>
            <p:nvPr/>
          </p:nvSpPr>
          <p:spPr>
            <a:xfrm>
              <a:off x="10029960" y="358128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8" name="TextBox 57"/>
          <p:cNvSpPr/>
          <p:nvPr/>
        </p:nvSpPr>
        <p:spPr>
          <a:xfrm>
            <a:off x="9840240" y="3628440"/>
            <a:ext cx="4161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غير متوفر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58"/>
          <p:cNvSpPr/>
          <p:nvPr/>
        </p:nvSpPr>
        <p:spPr>
          <a:xfrm>
            <a:off x="571680" y="4048200"/>
            <a:ext cx="11048760" cy="666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59"/>
          <p:cNvSpPr/>
          <p:nvPr/>
        </p:nvSpPr>
        <p:spPr>
          <a:xfrm>
            <a:off x="1530000" y="4326840"/>
            <a:ext cx="13212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الامتثال للتشريعات الجزائرية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Freeform 60"/>
          <p:cNvSpPr/>
          <p:nvPr/>
        </p:nvSpPr>
        <p:spPr>
          <a:xfrm>
            <a:off x="4302000" y="4308480"/>
            <a:ext cx="190080" cy="126720"/>
          </a:xfrm>
          <a:custGeom>
            <a:avLst/>
            <a:gdLst>
              <a:gd name="textAreaLeft" fmla="*/ 0 w 190080"/>
              <a:gd name="textAreaRight" fmla="*/ 190440 w 19008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90500" h="127000">
                <a:moveTo>
                  <a:pt x="0" y="63500"/>
                </a:moveTo>
                <a:lnTo>
                  <a:pt x="63500" y="127000"/>
                </a:lnTo>
                <a:lnTo>
                  <a:pt x="190500" y="0"/>
                </a:lnTo>
              </a:path>
            </a:pathLst>
          </a:custGeom>
          <a:noFill/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61"/>
          <p:cNvSpPr/>
          <p:nvPr/>
        </p:nvSpPr>
        <p:spPr>
          <a:xfrm>
            <a:off x="4065120" y="4343040"/>
            <a:ext cx="536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م</a:t>
            </a:r>
            <a:r>
              <a:rPr b="0" lang="en-US" sz="98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8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Updates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3" name="Group 64"/>
          <p:cNvGrpSpPr/>
          <p:nvPr/>
        </p:nvGrpSpPr>
        <p:grpSpPr>
          <a:xfrm>
            <a:off x="6219720" y="4295880"/>
            <a:ext cx="151920" cy="151920"/>
            <a:chOff x="6219720" y="4295880"/>
            <a:chExt cx="151920" cy="151920"/>
          </a:xfrm>
        </p:grpSpPr>
        <p:sp>
          <p:nvSpPr>
            <p:cNvPr id="404" name="Freeform 62"/>
            <p:cNvSpPr/>
            <p:nvPr/>
          </p:nvSpPr>
          <p:spPr>
            <a:xfrm>
              <a:off x="6219720" y="429588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Freeform 63"/>
            <p:cNvSpPr/>
            <p:nvPr/>
          </p:nvSpPr>
          <p:spPr>
            <a:xfrm>
              <a:off x="6219720" y="429588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6" name="TextBox 65"/>
          <p:cNvSpPr/>
          <p:nvPr/>
        </p:nvSpPr>
        <p:spPr>
          <a:xfrm>
            <a:off x="6125400" y="4343040"/>
            <a:ext cx="2264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بطيء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Freeform 66"/>
          <p:cNvSpPr/>
          <p:nvPr/>
        </p:nvSpPr>
        <p:spPr>
          <a:xfrm>
            <a:off x="8112240" y="4308480"/>
            <a:ext cx="190080" cy="126720"/>
          </a:xfrm>
          <a:custGeom>
            <a:avLst/>
            <a:gdLst>
              <a:gd name="textAreaLeft" fmla="*/ 0 w 190080"/>
              <a:gd name="textAreaRight" fmla="*/ 190440 w 19008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90500" h="127000">
                <a:moveTo>
                  <a:pt x="0" y="63500"/>
                </a:moveTo>
                <a:lnTo>
                  <a:pt x="63500" y="127000"/>
                </a:lnTo>
                <a:lnTo>
                  <a:pt x="190500" y="0"/>
                </a:lnTo>
              </a:path>
            </a:pathLst>
          </a:custGeom>
          <a:noFill/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67"/>
          <p:cNvSpPr/>
          <p:nvPr/>
        </p:nvSpPr>
        <p:spPr>
          <a:xfrm>
            <a:off x="8008560" y="4343040"/>
            <a:ext cx="2703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متوسط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9" name="Group 70"/>
          <p:cNvGrpSpPr/>
          <p:nvPr/>
        </p:nvGrpSpPr>
        <p:grpSpPr>
          <a:xfrm>
            <a:off x="10029960" y="4295880"/>
            <a:ext cx="151920" cy="151920"/>
            <a:chOff x="10029960" y="4295880"/>
            <a:chExt cx="151920" cy="151920"/>
          </a:xfrm>
        </p:grpSpPr>
        <p:sp>
          <p:nvSpPr>
            <p:cNvPr id="410" name="Freeform 68"/>
            <p:cNvSpPr/>
            <p:nvPr/>
          </p:nvSpPr>
          <p:spPr>
            <a:xfrm>
              <a:off x="10029960" y="429588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Freeform 69"/>
            <p:cNvSpPr/>
            <p:nvPr/>
          </p:nvSpPr>
          <p:spPr>
            <a:xfrm>
              <a:off x="10029960" y="429588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2" name="TextBox 71"/>
          <p:cNvSpPr/>
          <p:nvPr/>
        </p:nvSpPr>
        <p:spPr>
          <a:xfrm>
            <a:off x="9923040" y="4343040"/>
            <a:ext cx="2516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محدود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72"/>
          <p:cNvSpPr/>
          <p:nvPr/>
        </p:nvSpPr>
        <p:spPr>
          <a:xfrm>
            <a:off x="571680" y="4762440"/>
            <a:ext cx="11048760" cy="66636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73"/>
          <p:cNvSpPr/>
          <p:nvPr/>
        </p:nvSpPr>
        <p:spPr>
          <a:xfrm>
            <a:off x="1834560" y="5041080"/>
            <a:ext cx="71208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التكلفة الشهرية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74"/>
          <p:cNvSpPr/>
          <p:nvPr/>
        </p:nvSpPr>
        <p:spPr>
          <a:xfrm>
            <a:off x="4068000" y="5041080"/>
            <a:ext cx="5310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1,490 </a:t>
            </a: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75"/>
          <p:cNvSpPr/>
          <p:nvPr/>
        </p:nvSpPr>
        <p:spPr>
          <a:xfrm>
            <a:off x="5931000" y="5041080"/>
            <a:ext cx="61488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c62828"/>
                </a:solidFill>
                <a:effectLst/>
                <a:uFillTx/>
                <a:latin typeface="Arial"/>
                <a:ea typeface="Microsoft YaHei"/>
              </a:rPr>
              <a:t>5,000+ </a:t>
            </a:r>
            <a:r>
              <a:rPr b="1" lang="ar-DZ" sz="113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76"/>
          <p:cNvSpPr/>
          <p:nvPr/>
        </p:nvSpPr>
        <p:spPr>
          <a:xfrm>
            <a:off x="7796520" y="5041080"/>
            <a:ext cx="69444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c62828"/>
                </a:solidFill>
                <a:effectLst/>
                <a:uFillTx/>
                <a:latin typeface="Arial"/>
                <a:ea typeface="Microsoft YaHei"/>
              </a:rPr>
              <a:t>15,000+ </a:t>
            </a:r>
            <a:r>
              <a:rPr b="1" lang="ar-DZ" sz="113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77"/>
          <p:cNvSpPr/>
          <p:nvPr/>
        </p:nvSpPr>
        <p:spPr>
          <a:xfrm>
            <a:off x="9741240" y="5041080"/>
            <a:ext cx="61488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ff9800"/>
                </a:solidFill>
                <a:effectLst/>
                <a:uFillTx/>
                <a:latin typeface="Arial"/>
                <a:ea typeface="Microsoft YaHei"/>
              </a:rPr>
              <a:t>3,500+ </a:t>
            </a:r>
            <a:r>
              <a:rPr b="1" lang="ar-DZ" sz="1130" strike="noStrike" u="none">
                <a:solidFill>
                  <a:srgbClr val="ff9800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78"/>
          <p:cNvSpPr/>
          <p:nvPr/>
        </p:nvSpPr>
        <p:spPr>
          <a:xfrm>
            <a:off x="571680" y="5477040"/>
            <a:ext cx="11048760" cy="571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79"/>
          <p:cNvSpPr/>
          <p:nvPr/>
        </p:nvSpPr>
        <p:spPr>
          <a:xfrm>
            <a:off x="1846080" y="5707800"/>
            <a:ext cx="68904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التكلفة السنوية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80"/>
          <p:cNvSpPr/>
          <p:nvPr/>
        </p:nvSpPr>
        <p:spPr>
          <a:xfrm>
            <a:off x="4028400" y="5707800"/>
            <a:ext cx="6109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16,880 </a:t>
            </a: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81"/>
          <p:cNvSpPr/>
          <p:nvPr/>
        </p:nvSpPr>
        <p:spPr>
          <a:xfrm>
            <a:off x="5891400" y="5707800"/>
            <a:ext cx="69444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c62828"/>
                </a:solidFill>
                <a:effectLst/>
                <a:uFillTx/>
                <a:latin typeface="Arial"/>
                <a:ea typeface="Microsoft YaHei"/>
              </a:rPr>
              <a:t>60,000+ </a:t>
            </a:r>
            <a:r>
              <a:rPr b="1" lang="ar-DZ" sz="113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82"/>
          <p:cNvSpPr/>
          <p:nvPr/>
        </p:nvSpPr>
        <p:spPr>
          <a:xfrm>
            <a:off x="7756560" y="5707800"/>
            <a:ext cx="7740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c62828"/>
                </a:solidFill>
                <a:effectLst/>
                <a:uFillTx/>
                <a:latin typeface="Arial"/>
                <a:ea typeface="Microsoft YaHei"/>
              </a:rPr>
              <a:t>180,000+ </a:t>
            </a:r>
            <a:r>
              <a:rPr b="1" lang="ar-DZ" sz="113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83"/>
          <p:cNvSpPr/>
          <p:nvPr/>
        </p:nvSpPr>
        <p:spPr>
          <a:xfrm>
            <a:off x="9701280" y="5707800"/>
            <a:ext cx="69444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ff9800"/>
                </a:solidFill>
                <a:effectLst/>
                <a:uFillTx/>
                <a:latin typeface="Arial"/>
                <a:ea typeface="Microsoft YaHei"/>
              </a:rPr>
              <a:t>42,000+ </a:t>
            </a:r>
            <a:r>
              <a:rPr b="1" lang="ar-DZ" sz="1130" strike="noStrike" u="none">
                <a:solidFill>
                  <a:srgbClr val="ff9800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Line 84"/>
          <p:cNvSpPr/>
          <p:nvPr/>
        </p:nvSpPr>
        <p:spPr>
          <a:xfrm>
            <a:off x="380880" y="633420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0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85"/>
          <p:cNvSpPr/>
          <p:nvPr/>
        </p:nvSpPr>
        <p:spPr>
          <a:xfrm>
            <a:off x="369720" y="6522840"/>
            <a:ext cx="8312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المصدر: مقارنة السوق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86"/>
          <p:cNvSpPr/>
          <p:nvPr/>
        </p:nvSpPr>
        <p:spPr>
          <a:xfrm>
            <a:off x="5833080" y="6522840"/>
            <a:ext cx="5248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التميّز التنافسي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87"/>
          <p:cNvSpPr/>
          <p:nvPr/>
        </p:nvSpPr>
        <p:spPr>
          <a:xfrm>
            <a:off x="11485080" y="6506640"/>
            <a:ext cx="148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Microsoft YaHei"/>
              </a:rPr>
              <a:t>09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Freeform 3"/>
          <p:cNvSpPr/>
          <p:nvPr/>
        </p:nvSpPr>
        <p:spPr>
          <a:xfrm>
            <a:off x="5715000" y="0"/>
            <a:ext cx="6476760" cy="6857640"/>
          </a:xfrm>
          <a:custGeom>
            <a:avLst/>
            <a:gdLst>
              <a:gd name="textAreaLeft" fmla="*/ 0 w 6476760"/>
              <a:gd name="textAreaRight" fmla="*/ 6477120 w 6476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4"/>
          <p:cNvSpPr/>
          <p:nvPr/>
        </p:nvSpPr>
        <p:spPr>
          <a:xfrm>
            <a:off x="11430000" y="0"/>
            <a:ext cx="761760" cy="6857640"/>
          </a:xfrm>
          <a:prstGeom prst="rect">
            <a:avLst/>
          </a:prstGeom>
          <a:solidFill>
            <a:srgbClr val="00224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Rectangle 5"/>
          <p:cNvSpPr/>
          <p:nvPr/>
        </p:nvSpPr>
        <p:spPr>
          <a:xfrm>
            <a:off x="0" y="2286000"/>
            <a:ext cx="114120" cy="228564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6"/>
          <p:cNvSpPr/>
          <p:nvPr/>
        </p:nvSpPr>
        <p:spPr>
          <a:xfrm>
            <a:off x="876240" y="2305080"/>
            <a:ext cx="371196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0" strike="noStrike" u="none">
                <a:solidFill>
                  <a:srgbClr val="ffffff">
                    <a:alpha val="8000"/>
                  </a:srgbClr>
                </a:solidFill>
                <a:effectLst/>
                <a:uFillTx/>
                <a:latin typeface="Georgia"/>
                <a:ea typeface="Microsoft YaHei"/>
              </a:rPr>
              <a:t>04</a:t>
            </a:r>
            <a:endParaRPr b="0" lang="en-US" sz="2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7"/>
          <p:cNvSpPr/>
          <p:nvPr/>
        </p:nvSpPr>
        <p:spPr>
          <a:xfrm>
            <a:off x="3570120" y="2626920"/>
            <a:ext cx="243324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3900" strike="noStrike" u="none">
                <a:solidFill>
                  <a:srgbClr val="ffffff"/>
                </a:solidFill>
                <a:effectLst/>
                <a:uFillTx/>
                <a:latin typeface="Georgia"/>
                <a:cs typeface="Georgia"/>
              </a:rPr>
              <a:t>الدراسة المالية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8"/>
          <p:cNvSpPr/>
          <p:nvPr/>
        </p:nvSpPr>
        <p:spPr>
          <a:xfrm>
            <a:off x="3596760" y="3520440"/>
            <a:ext cx="2920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800" strike="noStrike" u="none">
                <a:solidFill>
                  <a:srgbClr val="e8f4fc"/>
                </a:solidFill>
                <a:effectLst/>
                <a:uFillTx/>
                <a:latin typeface="Arial"/>
                <a:cs typeface="Arial"/>
              </a:rPr>
              <a:t>الجدوى المالية ومؤشرات الأداء الرئيسية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Line 9"/>
          <p:cNvSpPr/>
          <p:nvPr/>
        </p:nvSpPr>
        <p:spPr>
          <a:xfrm>
            <a:off x="3619440" y="2428920"/>
            <a:ext cx="1142640" cy="9000"/>
          </a:xfrm>
          <a:custGeom>
            <a:avLst/>
            <a:gdLst>
              <a:gd name="textAreaLeft" fmla="*/ 0 w 1142640"/>
              <a:gd name="textAreaRight" fmla="*/ 1143000 w 1142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10"/>
          <p:cNvSpPr/>
          <p:nvPr/>
        </p:nvSpPr>
        <p:spPr>
          <a:xfrm>
            <a:off x="9938160" y="6331320"/>
            <a:ext cx="18896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ea typeface="Microsoft YaHei"/>
              </a:rPr>
              <a:t>MATAX — </a:t>
            </a:r>
            <a:r>
              <a:rPr b="0" lang="ar-DZ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cs typeface="Arial"/>
              </a:rPr>
              <a:t>نموذج أعمال حديث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ectangle 3"/>
          <p:cNvSpPr/>
          <p:nvPr/>
        </p:nvSpPr>
        <p:spPr>
          <a:xfrm>
            <a:off x="0" y="0"/>
            <a:ext cx="12191760" cy="66636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4"/>
          <p:cNvSpPr/>
          <p:nvPr/>
        </p:nvSpPr>
        <p:spPr>
          <a:xfrm>
            <a:off x="0" y="0"/>
            <a:ext cx="56880" cy="66636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5"/>
          <p:cNvSpPr/>
          <p:nvPr/>
        </p:nvSpPr>
        <p:spPr>
          <a:xfrm>
            <a:off x="354240" y="211320"/>
            <a:ext cx="3372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04 | </a:t>
            </a:r>
            <a:r>
              <a:rPr b="1" lang="ar-DZ" sz="21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الدراسة المالية — القوائم المالية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6"/>
          <p:cNvSpPr/>
          <p:nvPr/>
        </p:nvSpPr>
        <p:spPr>
          <a:xfrm>
            <a:off x="10942920" y="292320"/>
            <a:ext cx="694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7"/>
          <p:cNvSpPr/>
          <p:nvPr/>
        </p:nvSpPr>
        <p:spPr>
          <a:xfrm>
            <a:off x="0" y="666720"/>
            <a:ext cx="12191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8"/>
          <p:cNvSpPr/>
          <p:nvPr/>
        </p:nvSpPr>
        <p:spPr>
          <a:xfrm>
            <a:off x="0" y="666720"/>
            <a:ext cx="56880" cy="475920"/>
          </a:xfrm>
          <a:prstGeom prst="rect">
            <a:avLst/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9"/>
          <p:cNvSpPr/>
          <p:nvPr/>
        </p:nvSpPr>
        <p:spPr>
          <a:xfrm>
            <a:off x="363960" y="825840"/>
            <a:ext cx="47268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التمويل المطلوب: 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3,880,000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دج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— 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BEP </a:t>
            </a: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في الشهر 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4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— 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VAN: +79.6M </a:t>
            </a: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10"/>
          <p:cNvSpPr/>
          <p:nvPr/>
        </p:nvSpPr>
        <p:spPr>
          <a:xfrm>
            <a:off x="571680" y="1285920"/>
            <a:ext cx="11048760" cy="47592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11"/>
          <p:cNvSpPr/>
          <p:nvPr/>
        </p:nvSpPr>
        <p:spPr>
          <a:xfrm>
            <a:off x="2729880" y="1469160"/>
            <a:ext cx="2545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البيان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12"/>
          <p:cNvSpPr/>
          <p:nvPr/>
        </p:nvSpPr>
        <p:spPr>
          <a:xfrm>
            <a:off x="6382440" y="1469160"/>
            <a:ext cx="5695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السنة الأولى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13"/>
          <p:cNvSpPr/>
          <p:nvPr/>
        </p:nvSpPr>
        <p:spPr>
          <a:xfrm>
            <a:off x="9761400" y="1469160"/>
            <a:ext cx="47916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الملاحظات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Rectangle 14"/>
          <p:cNvSpPr/>
          <p:nvPr/>
        </p:nvSpPr>
        <p:spPr>
          <a:xfrm>
            <a:off x="571680" y="1809720"/>
            <a:ext cx="11048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15"/>
          <p:cNvSpPr/>
          <p:nvPr/>
        </p:nvSpPr>
        <p:spPr>
          <a:xfrm>
            <a:off x="2427120" y="1992960"/>
            <a:ext cx="85968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الإيرادات التشغيلية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16"/>
          <p:cNvSpPr/>
          <p:nvPr/>
        </p:nvSpPr>
        <p:spPr>
          <a:xfrm>
            <a:off x="6262200" y="1992960"/>
            <a:ext cx="8100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9,600,000 </a:t>
            </a: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17"/>
          <p:cNvSpPr/>
          <p:nvPr/>
        </p:nvSpPr>
        <p:spPr>
          <a:xfrm>
            <a:off x="9340920" y="2009160"/>
            <a:ext cx="13201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960 </a:t>
            </a:r>
            <a:r>
              <a:rPr b="0" lang="ar-DZ" sz="98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عميل × </a:t>
            </a: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10,000</a:t>
            </a: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 دج/شهر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18"/>
          <p:cNvSpPr/>
          <p:nvPr/>
        </p:nvSpPr>
        <p:spPr>
          <a:xfrm>
            <a:off x="571680" y="2333520"/>
            <a:ext cx="11048760" cy="475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19"/>
          <p:cNvSpPr/>
          <p:nvPr/>
        </p:nvSpPr>
        <p:spPr>
          <a:xfrm>
            <a:off x="2489040" y="2517120"/>
            <a:ext cx="7362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التكلفة الإجمالية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20"/>
          <p:cNvSpPr/>
          <p:nvPr/>
        </p:nvSpPr>
        <p:spPr>
          <a:xfrm>
            <a:off x="6262200" y="2517120"/>
            <a:ext cx="8100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c62828"/>
                </a:solidFill>
                <a:effectLst/>
                <a:uFillTx/>
                <a:latin typeface="Arial"/>
                <a:ea typeface="Microsoft YaHei"/>
              </a:rPr>
              <a:t>5,265,000 </a:t>
            </a:r>
            <a:r>
              <a:rPr b="1" lang="ar-DZ" sz="113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21"/>
          <p:cNvSpPr/>
          <p:nvPr/>
        </p:nvSpPr>
        <p:spPr>
          <a:xfrm>
            <a:off x="9493200" y="2533320"/>
            <a:ext cx="10159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تشغيل + تسويق + تطوير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22"/>
          <p:cNvSpPr/>
          <p:nvPr/>
        </p:nvSpPr>
        <p:spPr>
          <a:xfrm>
            <a:off x="571680" y="2857680"/>
            <a:ext cx="11048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23"/>
          <p:cNvSpPr/>
          <p:nvPr/>
        </p:nvSpPr>
        <p:spPr>
          <a:xfrm>
            <a:off x="2265480" y="3040920"/>
            <a:ext cx="118368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صافي الربح قبل الضرائب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24"/>
          <p:cNvSpPr/>
          <p:nvPr/>
        </p:nvSpPr>
        <p:spPr>
          <a:xfrm>
            <a:off x="6262200" y="3040920"/>
            <a:ext cx="8100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4,335,000 </a:t>
            </a: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25"/>
          <p:cNvSpPr/>
          <p:nvPr/>
        </p:nvSpPr>
        <p:spPr>
          <a:xfrm>
            <a:off x="9519120" y="3057120"/>
            <a:ext cx="9640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هامش صافي +</a:t>
            </a:r>
            <a:r>
              <a:rPr b="0" lang="en-US" sz="98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45.2</a:t>
            </a:r>
            <a:r>
              <a:rPr b="0" lang="en-US" sz="98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%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26"/>
          <p:cNvSpPr/>
          <p:nvPr/>
        </p:nvSpPr>
        <p:spPr>
          <a:xfrm>
            <a:off x="571680" y="3381480"/>
            <a:ext cx="11048760" cy="475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27"/>
          <p:cNvSpPr/>
          <p:nvPr/>
        </p:nvSpPr>
        <p:spPr>
          <a:xfrm>
            <a:off x="2280600" y="3564720"/>
            <a:ext cx="115344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التدفقات النقدية التراكمية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28"/>
          <p:cNvSpPr/>
          <p:nvPr/>
        </p:nvSpPr>
        <p:spPr>
          <a:xfrm>
            <a:off x="6180480" y="3564720"/>
            <a:ext cx="97344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+79,600,000 </a:t>
            </a: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29"/>
          <p:cNvSpPr/>
          <p:nvPr/>
        </p:nvSpPr>
        <p:spPr>
          <a:xfrm>
            <a:off x="9579600" y="3580920"/>
            <a:ext cx="8431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VAN </a:t>
            </a:r>
            <a:r>
              <a:rPr b="0" lang="ar-DZ" sz="98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على </a:t>
            </a: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3</a:t>
            </a: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 سنوات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Rectangle 30"/>
          <p:cNvSpPr/>
          <p:nvPr/>
        </p:nvSpPr>
        <p:spPr>
          <a:xfrm>
            <a:off x="571680" y="3905280"/>
            <a:ext cx="11048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31"/>
          <p:cNvSpPr/>
          <p:nvPr/>
        </p:nvSpPr>
        <p:spPr>
          <a:xfrm>
            <a:off x="2214360" y="4088520"/>
            <a:ext cx="128556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معدل الخصم الداخلي</a:t>
            </a:r>
            <a:r>
              <a:rPr b="1" lang="en-US" sz="113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13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(DR)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32"/>
          <p:cNvSpPr/>
          <p:nvPr/>
        </p:nvSpPr>
        <p:spPr>
          <a:xfrm>
            <a:off x="6310080" y="4088520"/>
            <a:ext cx="71424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سنة + </a:t>
            </a: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9</a:t>
            </a: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 أشهر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33"/>
          <p:cNvSpPr/>
          <p:nvPr/>
        </p:nvSpPr>
        <p:spPr>
          <a:xfrm>
            <a:off x="9527760" y="4104720"/>
            <a:ext cx="9468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إ</a:t>
            </a: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recovery </a:t>
            </a:r>
            <a:r>
              <a:rPr b="0" lang="ar-DZ" sz="98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سريع جداً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34"/>
          <p:cNvSpPr/>
          <p:nvPr/>
        </p:nvSpPr>
        <p:spPr>
          <a:xfrm>
            <a:off x="571680" y="4429080"/>
            <a:ext cx="11048760" cy="475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35"/>
          <p:cNvSpPr/>
          <p:nvPr/>
        </p:nvSpPr>
        <p:spPr>
          <a:xfrm>
            <a:off x="2360520" y="4612320"/>
            <a:ext cx="99288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نقطة التعادل</a:t>
            </a:r>
            <a:r>
              <a:rPr b="1" lang="en-US" sz="113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13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(BEP)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36"/>
          <p:cNvSpPr/>
          <p:nvPr/>
        </p:nvSpPr>
        <p:spPr>
          <a:xfrm>
            <a:off x="6188040" y="4612320"/>
            <a:ext cx="9583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الشهر </a:t>
            </a: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4</a:t>
            </a: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 | </a:t>
            </a: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61</a:t>
            </a: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 عميل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37"/>
          <p:cNvSpPr/>
          <p:nvPr/>
        </p:nvSpPr>
        <p:spPr>
          <a:xfrm>
            <a:off x="9397800" y="4628520"/>
            <a:ext cx="12063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BE break-even </a:t>
            </a:r>
            <a:r>
              <a:rPr b="0" lang="ar-DZ" sz="98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مبكر جداً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38"/>
          <p:cNvSpPr/>
          <p:nvPr/>
        </p:nvSpPr>
        <p:spPr>
          <a:xfrm>
            <a:off x="571680" y="4952880"/>
            <a:ext cx="11048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39"/>
          <p:cNvSpPr/>
          <p:nvPr/>
        </p:nvSpPr>
        <p:spPr>
          <a:xfrm>
            <a:off x="2167920" y="5136480"/>
            <a:ext cx="13788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هامش الربح التشغيلي</a:t>
            </a:r>
            <a:r>
              <a:rPr b="1" lang="en-US" sz="113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13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(OM)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40"/>
          <p:cNvSpPr/>
          <p:nvPr/>
        </p:nvSpPr>
        <p:spPr>
          <a:xfrm>
            <a:off x="6421680" y="5136480"/>
            <a:ext cx="49104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+46.6%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41"/>
          <p:cNvSpPr/>
          <p:nvPr/>
        </p:nvSpPr>
        <p:spPr>
          <a:xfrm>
            <a:off x="9533160" y="5152680"/>
            <a:ext cx="9360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هامش صافي مرتفع جداً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42"/>
          <p:cNvSpPr/>
          <p:nvPr/>
        </p:nvSpPr>
        <p:spPr>
          <a:xfrm>
            <a:off x="571680" y="5477040"/>
            <a:ext cx="11048760" cy="475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43"/>
          <p:cNvSpPr/>
          <p:nvPr/>
        </p:nvSpPr>
        <p:spPr>
          <a:xfrm>
            <a:off x="2197440" y="5660280"/>
            <a:ext cx="13194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العائد على الاستثمار</a:t>
            </a:r>
            <a:r>
              <a:rPr b="1" lang="en-US" sz="113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13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(ROI)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44"/>
          <p:cNvSpPr/>
          <p:nvPr/>
        </p:nvSpPr>
        <p:spPr>
          <a:xfrm>
            <a:off x="6483600" y="5660280"/>
            <a:ext cx="36756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247%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45"/>
          <p:cNvSpPr/>
          <p:nvPr/>
        </p:nvSpPr>
        <p:spPr>
          <a:xfrm>
            <a:off x="9601920" y="5676480"/>
            <a:ext cx="798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العائد على </a:t>
            </a: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3</a:t>
            </a: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 سنوات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46"/>
          <p:cNvSpPr/>
          <p:nvPr/>
        </p:nvSpPr>
        <p:spPr>
          <a:xfrm>
            <a:off x="571680" y="6000840"/>
            <a:ext cx="11048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47"/>
          <p:cNvSpPr/>
          <p:nvPr/>
        </p:nvSpPr>
        <p:spPr>
          <a:xfrm>
            <a:off x="2289240" y="6184080"/>
            <a:ext cx="113616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التكلفة المقدرة لكل عميل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48"/>
          <p:cNvSpPr/>
          <p:nvPr/>
        </p:nvSpPr>
        <p:spPr>
          <a:xfrm>
            <a:off x="6401520" y="6184080"/>
            <a:ext cx="5310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30" strike="noStrike" u="none">
                <a:solidFill>
                  <a:srgbClr val="003366"/>
                </a:solidFill>
                <a:effectLst/>
                <a:uFillTx/>
                <a:latin typeface="Arial"/>
                <a:ea typeface="Microsoft YaHei"/>
              </a:rPr>
              <a:t>5,484 </a:t>
            </a:r>
            <a:r>
              <a:rPr b="1" lang="ar-DZ" sz="113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49"/>
          <p:cNvSpPr/>
          <p:nvPr/>
        </p:nvSpPr>
        <p:spPr>
          <a:xfrm>
            <a:off x="9557280" y="6200280"/>
            <a:ext cx="8874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8a8a8a"/>
                </a:solidFill>
                <a:effectLst/>
                <a:uFillTx/>
                <a:latin typeface="Arial"/>
                <a:ea typeface="Microsoft YaHei"/>
              </a:rPr>
              <a:t>LTV/CAC = 7.3x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Line 50"/>
          <p:cNvSpPr/>
          <p:nvPr/>
        </p:nvSpPr>
        <p:spPr>
          <a:xfrm>
            <a:off x="380880" y="652464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0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51"/>
          <p:cNvSpPr/>
          <p:nvPr/>
        </p:nvSpPr>
        <p:spPr>
          <a:xfrm>
            <a:off x="369720" y="6665760"/>
            <a:ext cx="889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المصدر: دراسةالمشروع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52"/>
          <p:cNvSpPr/>
          <p:nvPr/>
        </p:nvSpPr>
        <p:spPr>
          <a:xfrm>
            <a:off x="5864400" y="6665760"/>
            <a:ext cx="4629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القوائم المالية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53"/>
          <p:cNvSpPr/>
          <p:nvPr/>
        </p:nvSpPr>
        <p:spPr>
          <a:xfrm>
            <a:off x="11495160" y="6649560"/>
            <a:ext cx="1382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Microsoft YaHei"/>
              </a:rPr>
              <a:t>11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3"/>
          <p:cNvSpPr/>
          <p:nvPr/>
        </p:nvSpPr>
        <p:spPr>
          <a:xfrm>
            <a:off x="0" y="0"/>
            <a:ext cx="12191760" cy="66636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Rectangle 4"/>
          <p:cNvSpPr/>
          <p:nvPr/>
        </p:nvSpPr>
        <p:spPr>
          <a:xfrm>
            <a:off x="0" y="0"/>
            <a:ext cx="56880" cy="66636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5"/>
          <p:cNvSpPr/>
          <p:nvPr/>
        </p:nvSpPr>
        <p:spPr>
          <a:xfrm>
            <a:off x="354240" y="211320"/>
            <a:ext cx="4281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04 | </a:t>
            </a:r>
            <a:r>
              <a:rPr b="1" lang="ar-DZ" sz="21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الدراسة المالية — مؤشرات الأداء الرئيسية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6"/>
          <p:cNvSpPr/>
          <p:nvPr/>
        </p:nvSpPr>
        <p:spPr>
          <a:xfrm>
            <a:off x="10942920" y="292320"/>
            <a:ext cx="694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Rectangle 7"/>
          <p:cNvSpPr/>
          <p:nvPr/>
        </p:nvSpPr>
        <p:spPr>
          <a:xfrm>
            <a:off x="0" y="666720"/>
            <a:ext cx="12191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Rectangle 8"/>
          <p:cNvSpPr/>
          <p:nvPr/>
        </p:nvSpPr>
        <p:spPr>
          <a:xfrm>
            <a:off x="0" y="666720"/>
            <a:ext cx="56880" cy="475920"/>
          </a:xfrm>
          <a:prstGeom prst="rect">
            <a:avLst/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9"/>
          <p:cNvSpPr/>
          <p:nvPr/>
        </p:nvSpPr>
        <p:spPr>
          <a:xfrm>
            <a:off x="363960" y="825840"/>
            <a:ext cx="47642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MATAX </a:t>
            </a: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حقق نتائج استثنائية</a:t>
            </a: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: VAN +79.6M | DR 1y9m | BEP 4 months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Rectangle 10"/>
          <p:cNvSpPr/>
          <p:nvPr/>
        </p:nvSpPr>
        <p:spPr>
          <a:xfrm>
            <a:off x="571680" y="1333440"/>
            <a:ext cx="3524040" cy="2095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Rectangle 11"/>
          <p:cNvSpPr/>
          <p:nvPr/>
        </p:nvSpPr>
        <p:spPr>
          <a:xfrm>
            <a:off x="571680" y="1333440"/>
            <a:ext cx="3524040" cy="759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12"/>
          <p:cNvSpPr/>
          <p:nvPr/>
        </p:nvSpPr>
        <p:spPr>
          <a:xfrm>
            <a:off x="1248840" y="1674360"/>
            <a:ext cx="216936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900" strike="noStrike" u="none">
                <a:solidFill>
                  <a:srgbClr val="2e7d32"/>
                </a:solidFill>
                <a:effectLst/>
                <a:uFillTx/>
                <a:latin typeface="Georgia"/>
                <a:ea typeface="Microsoft YaHei"/>
              </a:rPr>
              <a:t>+79.6M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Box 13"/>
          <p:cNvSpPr/>
          <p:nvPr/>
        </p:nvSpPr>
        <p:spPr>
          <a:xfrm>
            <a:off x="1440720" y="2330640"/>
            <a:ext cx="17856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القيمة المضافة الصافية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(VAN)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14"/>
          <p:cNvSpPr/>
          <p:nvPr/>
        </p:nvSpPr>
        <p:spPr>
          <a:xfrm>
            <a:off x="1504080" y="2629800"/>
            <a:ext cx="1658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التدفقات النقدية التراكمية على </a:t>
            </a:r>
            <a:r>
              <a:rPr b="0" lang="en-US" sz="10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3</a:t>
            </a:r>
            <a:r>
              <a:rPr b="0" lang="en-US" sz="10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سنوات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15"/>
          <p:cNvSpPr/>
          <p:nvPr/>
        </p:nvSpPr>
        <p:spPr>
          <a:xfrm>
            <a:off x="1597320" y="3013560"/>
            <a:ext cx="1471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20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العائد على الاستثمار: </a:t>
            </a:r>
            <a:r>
              <a:rPr b="1" lang="en-US" sz="120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247</a:t>
            </a:r>
            <a:r>
              <a:rPr b="1" lang="en-US" sz="120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Rectangle 16"/>
          <p:cNvSpPr/>
          <p:nvPr/>
        </p:nvSpPr>
        <p:spPr>
          <a:xfrm>
            <a:off x="4334040" y="1333440"/>
            <a:ext cx="3524040" cy="2095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Rectangle 17"/>
          <p:cNvSpPr/>
          <p:nvPr/>
        </p:nvSpPr>
        <p:spPr>
          <a:xfrm>
            <a:off x="4334040" y="1333440"/>
            <a:ext cx="3524040" cy="7596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18"/>
          <p:cNvSpPr/>
          <p:nvPr/>
        </p:nvSpPr>
        <p:spPr>
          <a:xfrm>
            <a:off x="5345640" y="1674360"/>
            <a:ext cx="150084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900" strike="noStrike" u="none">
                <a:solidFill>
                  <a:srgbClr val="0066cc"/>
                </a:solidFill>
                <a:effectLst/>
                <a:uFillTx/>
                <a:latin typeface="Georgia"/>
                <a:ea typeface="Microsoft YaHei"/>
              </a:rPr>
              <a:t>1y9m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19"/>
          <p:cNvSpPr/>
          <p:nvPr/>
        </p:nvSpPr>
        <p:spPr>
          <a:xfrm>
            <a:off x="5330160" y="2330640"/>
            <a:ext cx="1531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معدل الخصم الداخلي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(DR)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20"/>
          <p:cNvSpPr/>
          <p:nvPr/>
        </p:nvSpPr>
        <p:spPr>
          <a:xfrm>
            <a:off x="5491080" y="2629800"/>
            <a:ext cx="12092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التعافي السريع جداً للاستثمار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21"/>
          <p:cNvSpPr/>
          <p:nvPr/>
        </p:nvSpPr>
        <p:spPr>
          <a:xfrm>
            <a:off x="5686200" y="3013560"/>
            <a:ext cx="8190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200" strike="noStrike" u="none">
                <a:solidFill>
                  <a:srgbClr val="0066cc"/>
                </a:solidFill>
                <a:effectLst/>
                <a:uFillTx/>
                <a:latin typeface="Arial"/>
                <a:cs typeface="Arial"/>
              </a:rPr>
              <a:t>أقل من </a:t>
            </a:r>
            <a:r>
              <a:rPr b="1" lang="en-US" sz="1200" strike="noStrike" u="none">
                <a:solidFill>
                  <a:srgbClr val="0066cc"/>
                </a:solidFill>
                <a:effectLst/>
                <a:uFillTx/>
                <a:latin typeface="Arial"/>
                <a:ea typeface="Microsoft YaHei"/>
              </a:rPr>
              <a:t>24</a:t>
            </a:r>
            <a:r>
              <a:rPr b="1" lang="en-US" sz="1200" strike="noStrike" u="none">
                <a:solidFill>
                  <a:srgbClr val="0066cc"/>
                </a:solidFill>
                <a:effectLst/>
                <a:uFillTx/>
                <a:latin typeface="Arial"/>
                <a:ea typeface="Microsoft YaHei"/>
              </a:rPr>
              <a:t> شهر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Rectangle 22"/>
          <p:cNvSpPr/>
          <p:nvPr/>
        </p:nvSpPr>
        <p:spPr>
          <a:xfrm>
            <a:off x="8096400" y="1333440"/>
            <a:ext cx="3524040" cy="2095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Rectangle 23"/>
          <p:cNvSpPr/>
          <p:nvPr/>
        </p:nvSpPr>
        <p:spPr>
          <a:xfrm>
            <a:off x="8096400" y="1333440"/>
            <a:ext cx="3524040" cy="7596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24"/>
          <p:cNvSpPr/>
          <p:nvPr/>
        </p:nvSpPr>
        <p:spPr>
          <a:xfrm>
            <a:off x="9513000" y="1674360"/>
            <a:ext cx="69048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900" strike="noStrike" u="none">
                <a:solidFill>
                  <a:srgbClr val="0099aa"/>
                </a:solidFill>
                <a:effectLst/>
                <a:uFillTx/>
                <a:latin typeface="Georgia"/>
                <a:ea typeface="Microsoft YaHei"/>
              </a:rPr>
              <a:t>61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25"/>
          <p:cNvSpPr/>
          <p:nvPr/>
        </p:nvSpPr>
        <p:spPr>
          <a:xfrm>
            <a:off x="9266760" y="2330640"/>
            <a:ext cx="1182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نقطة التعادل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(BEP)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26"/>
          <p:cNvSpPr/>
          <p:nvPr/>
        </p:nvSpPr>
        <p:spPr>
          <a:xfrm>
            <a:off x="9588960" y="2629800"/>
            <a:ext cx="5382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الشهر </a:t>
            </a:r>
            <a:r>
              <a:rPr b="0" lang="en-US" sz="10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4</a:t>
            </a:r>
            <a:r>
              <a:rPr b="0" lang="en-US" sz="10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فقط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27"/>
          <p:cNvSpPr/>
          <p:nvPr/>
        </p:nvSpPr>
        <p:spPr>
          <a:xfrm>
            <a:off x="9440280" y="3013560"/>
            <a:ext cx="835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099aa"/>
                </a:solidFill>
                <a:effectLst/>
                <a:uFillTx/>
                <a:latin typeface="Arial"/>
                <a:ea typeface="Microsoft YaHei"/>
              </a:rPr>
              <a:t>61 </a:t>
            </a:r>
            <a:r>
              <a:rPr b="1" lang="ar-DZ" sz="1200" strike="noStrike" u="none">
                <a:solidFill>
                  <a:srgbClr val="0099aa"/>
                </a:solidFill>
                <a:effectLst/>
                <a:uFillTx/>
                <a:latin typeface="Arial"/>
                <a:cs typeface="Arial"/>
              </a:rPr>
              <a:t>عميل للتعادل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Rectangle 28"/>
          <p:cNvSpPr/>
          <p:nvPr/>
        </p:nvSpPr>
        <p:spPr>
          <a:xfrm>
            <a:off x="571680" y="3666960"/>
            <a:ext cx="3524040" cy="2095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Rectangle 29"/>
          <p:cNvSpPr/>
          <p:nvPr/>
        </p:nvSpPr>
        <p:spPr>
          <a:xfrm>
            <a:off x="571680" y="3666960"/>
            <a:ext cx="3524040" cy="7596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30"/>
          <p:cNvSpPr/>
          <p:nvPr/>
        </p:nvSpPr>
        <p:spPr>
          <a:xfrm>
            <a:off x="1494360" y="4008240"/>
            <a:ext cx="167796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900" strike="noStrike" u="none">
                <a:solidFill>
                  <a:srgbClr val="1565c0"/>
                </a:solidFill>
                <a:effectLst/>
                <a:uFillTx/>
                <a:latin typeface="Georgia"/>
                <a:ea typeface="Microsoft YaHei"/>
              </a:rPr>
              <a:t>46.6%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31"/>
          <p:cNvSpPr/>
          <p:nvPr/>
        </p:nvSpPr>
        <p:spPr>
          <a:xfrm>
            <a:off x="1512000" y="4664520"/>
            <a:ext cx="1642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هامش الربح التشغيلي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(OM)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32"/>
          <p:cNvSpPr/>
          <p:nvPr/>
        </p:nvSpPr>
        <p:spPr>
          <a:xfrm>
            <a:off x="1830600" y="4963320"/>
            <a:ext cx="10054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هامش صافي مرتفع جداً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33"/>
          <p:cNvSpPr/>
          <p:nvPr/>
        </p:nvSpPr>
        <p:spPr>
          <a:xfrm>
            <a:off x="1755720" y="5347440"/>
            <a:ext cx="11556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565c0"/>
                </a:solidFill>
                <a:effectLst/>
                <a:uFillTx/>
                <a:latin typeface="Arial"/>
                <a:ea typeface="Microsoft YaHei"/>
              </a:rPr>
              <a:t>+45.2% </a:t>
            </a:r>
            <a:r>
              <a:rPr b="1" lang="ar-DZ" sz="1200" strike="noStrike" u="none">
                <a:solidFill>
                  <a:srgbClr val="1565c0"/>
                </a:solidFill>
                <a:effectLst/>
                <a:uFillTx/>
                <a:latin typeface="Arial"/>
                <a:cs typeface="Arial"/>
              </a:rPr>
              <a:t>صافي الربح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34"/>
          <p:cNvSpPr/>
          <p:nvPr/>
        </p:nvSpPr>
        <p:spPr>
          <a:xfrm>
            <a:off x="4334040" y="3666960"/>
            <a:ext cx="3524040" cy="2095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Rectangle 35"/>
          <p:cNvSpPr/>
          <p:nvPr/>
        </p:nvSpPr>
        <p:spPr>
          <a:xfrm>
            <a:off x="4334040" y="3666960"/>
            <a:ext cx="3524040" cy="7596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36"/>
          <p:cNvSpPr/>
          <p:nvPr/>
        </p:nvSpPr>
        <p:spPr>
          <a:xfrm>
            <a:off x="5218560" y="4008240"/>
            <a:ext cx="175428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900" strike="noStrike" u="none">
                <a:solidFill>
                  <a:srgbClr val="6a1b9a"/>
                </a:solidFill>
                <a:effectLst/>
                <a:uFillTx/>
                <a:latin typeface="Georgia"/>
                <a:ea typeface="Microsoft YaHei"/>
              </a:rPr>
              <a:t>3.88M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37"/>
          <p:cNvSpPr/>
          <p:nvPr/>
        </p:nvSpPr>
        <p:spPr>
          <a:xfrm>
            <a:off x="5267160" y="4664520"/>
            <a:ext cx="1657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التمويل المطلوب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(CAPEX)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Box 38"/>
          <p:cNvSpPr/>
          <p:nvPr/>
        </p:nvSpPr>
        <p:spPr>
          <a:xfrm>
            <a:off x="5612040" y="4963320"/>
            <a:ext cx="967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التكاليف الثابتة المتغيرة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39"/>
          <p:cNvSpPr/>
          <p:nvPr/>
        </p:nvSpPr>
        <p:spPr>
          <a:xfrm>
            <a:off x="5708880" y="5347440"/>
            <a:ext cx="7736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200" strike="noStrike" u="none">
                <a:solidFill>
                  <a:srgbClr val="6a1b9a"/>
                </a:solidFill>
                <a:effectLst/>
                <a:uFillTx/>
                <a:latin typeface="Arial"/>
                <a:cs typeface="Arial"/>
              </a:rPr>
              <a:t>أقل من </a:t>
            </a:r>
            <a:r>
              <a:rPr b="1" lang="en-US" sz="1200" strike="noStrike" u="none">
                <a:solidFill>
                  <a:srgbClr val="6a1b9a"/>
                </a:solidFill>
                <a:effectLst/>
                <a:uFillTx/>
                <a:latin typeface="Arial"/>
                <a:ea typeface="Microsoft YaHei"/>
              </a:rPr>
              <a:t>4</a:t>
            </a:r>
            <a:r>
              <a:rPr b="1" lang="en-US" sz="1200" strike="noStrike" u="none">
                <a:solidFill>
                  <a:srgbClr val="6a1b9a"/>
                </a:solidFill>
                <a:effectLst/>
                <a:uFillTx/>
                <a:latin typeface="Arial"/>
                <a:ea typeface="Microsoft YaHei"/>
              </a:rPr>
              <a:t>M </a:t>
            </a:r>
            <a:r>
              <a:rPr b="1" lang="ar-DZ" sz="1200" strike="noStrike" u="none">
                <a:solidFill>
                  <a:srgbClr val="6a1b9a"/>
                </a:solidFill>
                <a:effectLst/>
                <a:uFillTx/>
                <a:latin typeface="Arial"/>
                <a:cs typeface="Arial"/>
              </a:rPr>
              <a:t>دج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Rectangle 40"/>
          <p:cNvSpPr/>
          <p:nvPr/>
        </p:nvSpPr>
        <p:spPr>
          <a:xfrm>
            <a:off x="8096400" y="3666960"/>
            <a:ext cx="3524040" cy="2095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Rectangle 41"/>
          <p:cNvSpPr/>
          <p:nvPr/>
        </p:nvSpPr>
        <p:spPr>
          <a:xfrm>
            <a:off x="8096400" y="3666960"/>
            <a:ext cx="3524040" cy="7596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42"/>
          <p:cNvSpPr/>
          <p:nvPr/>
        </p:nvSpPr>
        <p:spPr>
          <a:xfrm>
            <a:off x="9341280" y="4008240"/>
            <a:ext cx="103356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900" strike="noStrike" u="none">
                <a:solidFill>
                  <a:srgbClr val="c62828"/>
                </a:solidFill>
                <a:effectLst/>
                <a:uFillTx/>
                <a:latin typeface="Georgia"/>
                <a:ea typeface="Microsoft YaHei"/>
              </a:rPr>
              <a:t>960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43"/>
          <p:cNvSpPr/>
          <p:nvPr/>
        </p:nvSpPr>
        <p:spPr>
          <a:xfrm>
            <a:off x="9014760" y="4664520"/>
            <a:ext cx="16866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العملاء المستهدفون (السنة 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1</a:t>
            </a:r>
            <a:r>
              <a:rPr b="1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44"/>
          <p:cNvSpPr/>
          <p:nvPr/>
        </p:nvSpPr>
        <p:spPr>
          <a:xfrm>
            <a:off x="9263520" y="4963320"/>
            <a:ext cx="11894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105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النمو المتوقع خلال </a:t>
            </a:r>
            <a:r>
              <a:rPr b="0" lang="en-US" sz="10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12</a:t>
            </a:r>
            <a:r>
              <a:rPr b="0" lang="en-US" sz="105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شهر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45"/>
          <p:cNvSpPr/>
          <p:nvPr/>
        </p:nvSpPr>
        <p:spPr>
          <a:xfrm>
            <a:off x="9489240" y="5347440"/>
            <a:ext cx="738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c62828"/>
                </a:solidFill>
                <a:effectLst/>
                <a:uFillTx/>
                <a:latin typeface="Arial"/>
                <a:ea typeface="Microsoft YaHei"/>
              </a:rPr>
              <a:t>80 </a:t>
            </a:r>
            <a:r>
              <a:rPr b="1" lang="ar-DZ" sz="1200" strike="noStrike" u="none">
                <a:solidFill>
                  <a:srgbClr val="c62828"/>
                </a:solidFill>
                <a:effectLst/>
                <a:uFillTx/>
                <a:latin typeface="Arial"/>
                <a:cs typeface="Arial"/>
              </a:rPr>
              <a:t>عميل/شهر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Line 46"/>
          <p:cNvSpPr/>
          <p:nvPr/>
        </p:nvSpPr>
        <p:spPr>
          <a:xfrm>
            <a:off x="380880" y="604836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0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47"/>
          <p:cNvSpPr/>
          <p:nvPr/>
        </p:nvSpPr>
        <p:spPr>
          <a:xfrm>
            <a:off x="369720" y="6237000"/>
            <a:ext cx="889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المصدر: دراسةالمشروع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48"/>
          <p:cNvSpPr/>
          <p:nvPr/>
        </p:nvSpPr>
        <p:spPr>
          <a:xfrm>
            <a:off x="5662440" y="6237000"/>
            <a:ext cx="8665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مؤشرات الأداء الرئيسية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49"/>
          <p:cNvSpPr/>
          <p:nvPr/>
        </p:nvSpPr>
        <p:spPr>
          <a:xfrm>
            <a:off x="11485080" y="6220800"/>
            <a:ext cx="148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Microsoft YaHei"/>
              </a:rPr>
              <a:t>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Freeform 3"/>
          <p:cNvSpPr/>
          <p:nvPr/>
        </p:nvSpPr>
        <p:spPr>
          <a:xfrm>
            <a:off x="5715000" y="0"/>
            <a:ext cx="6476760" cy="6857640"/>
          </a:xfrm>
          <a:custGeom>
            <a:avLst/>
            <a:gdLst>
              <a:gd name="textAreaLeft" fmla="*/ 0 w 6476760"/>
              <a:gd name="textAreaRight" fmla="*/ 6477120 w 6476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Rectangle 4"/>
          <p:cNvSpPr/>
          <p:nvPr/>
        </p:nvSpPr>
        <p:spPr>
          <a:xfrm>
            <a:off x="11430000" y="0"/>
            <a:ext cx="761760" cy="6857640"/>
          </a:xfrm>
          <a:prstGeom prst="rect">
            <a:avLst/>
          </a:prstGeom>
          <a:solidFill>
            <a:srgbClr val="00224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Rectangle 5"/>
          <p:cNvSpPr/>
          <p:nvPr/>
        </p:nvSpPr>
        <p:spPr>
          <a:xfrm>
            <a:off x="0" y="2286000"/>
            <a:ext cx="114120" cy="228564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6"/>
          <p:cNvSpPr/>
          <p:nvPr/>
        </p:nvSpPr>
        <p:spPr>
          <a:xfrm>
            <a:off x="876240" y="2305080"/>
            <a:ext cx="371196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0" strike="noStrike" u="none">
                <a:solidFill>
                  <a:srgbClr val="ffffff">
                    <a:alpha val="8000"/>
                  </a:srgbClr>
                </a:solidFill>
                <a:effectLst/>
                <a:uFillTx/>
                <a:latin typeface="Georgia"/>
                <a:ea typeface="Microsoft YaHei"/>
              </a:rPr>
              <a:t>05</a:t>
            </a:r>
            <a:endParaRPr b="0" lang="en-US" sz="2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Box 7"/>
          <p:cNvSpPr/>
          <p:nvPr/>
        </p:nvSpPr>
        <p:spPr>
          <a:xfrm>
            <a:off x="3570120" y="2626920"/>
            <a:ext cx="306360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3900" strike="noStrike" u="none">
                <a:solidFill>
                  <a:srgbClr val="ffffff"/>
                </a:solidFill>
                <a:effectLst/>
                <a:uFillTx/>
                <a:latin typeface="Georgia"/>
                <a:cs typeface="Georgia"/>
              </a:rPr>
              <a:t>النموذج التجريبي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Box 8"/>
          <p:cNvSpPr/>
          <p:nvPr/>
        </p:nvSpPr>
        <p:spPr>
          <a:xfrm>
            <a:off x="3596760" y="3520440"/>
            <a:ext cx="2370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800" strike="noStrike" u="none">
                <a:solidFill>
                  <a:srgbClr val="e8f4fc"/>
                </a:solidFill>
                <a:effectLst/>
                <a:uFillTx/>
                <a:latin typeface="Arial"/>
                <a:cs typeface="Arial"/>
              </a:rPr>
              <a:t>عرض تفاعلي لمنصة</a:t>
            </a:r>
            <a:r>
              <a:rPr b="0" lang="en-US" sz="1800" strike="noStrike" u="none">
                <a:solidFill>
                  <a:srgbClr val="e8f4fc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1800" strike="noStrike" u="none">
                <a:solidFill>
                  <a:srgbClr val="e8f4fc"/>
                </a:solidFill>
                <a:effectLst/>
                <a:uFillTx/>
                <a:latin typeface="Arial"/>
                <a:ea typeface="Microsoft YaHei"/>
              </a:rPr>
              <a:t>MATAX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Line 9"/>
          <p:cNvSpPr/>
          <p:nvPr/>
        </p:nvSpPr>
        <p:spPr>
          <a:xfrm>
            <a:off x="3619440" y="2428920"/>
            <a:ext cx="1142640" cy="9000"/>
          </a:xfrm>
          <a:custGeom>
            <a:avLst/>
            <a:gdLst>
              <a:gd name="textAreaLeft" fmla="*/ 0 w 1142640"/>
              <a:gd name="textAreaRight" fmla="*/ 1143000 w 1142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10"/>
          <p:cNvSpPr/>
          <p:nvPr/>
        </p:nvSpPr>
        <p:spPr>
          <a:xfrm>
            <a:off x="9934560" y="6331320"/>
            <a:ext cx="18932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ea typeface="Microsoft YaHei"/>
              </a:rPr>
              <a:t>MATAX — </a:t>
            </a:r>
            <a:r>
              <a:rPr b="0" lang="ar-DZ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cs typeface="Arial"/>
              </a:rPr>
              <a:t>منصة حية ومتكاملة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Rectangle 3"/>
          <p:cNvSpPr/>
          <p:nvPr/>
        </p:nvSpPr>
        <p:spPr>
          <a:xfrm>
            <a:off x="0" y="0"/>
            <a:ext cx="12191760" cy="66636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Rectangle 4"/>
          <p:cNvSpPr/>
          <p:nvPr/>
        </p:nvSpPr>
        <p:spPr>
          <a:xfrm>
            <a:off x="0" y="0"/>
            <a:ext cx="56880" cy="66636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5"/>
          <p:cNvSpPr/>
          <p:nvPr/>
        </p:nvSpPr>
        <p:spPr>
          <a:xfrm>
            <a:off x="354240" y="211320"/>
            <a:ext cx="36615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05 | </a:t>
            </a:r>
            <a:r>
              <a:rPr b="1" lang="ar-DZ" sz="21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النموذج التجريبي — عرض المنصة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6"/>
          <p:cNvSpPr/>
          <p:nvPr/>
        </p:nvSpPr>
        <p:spPr>
          <a:xfrm>
            <a:off x="10942920" y="292320"/>
            <a:ext cx="694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Rectangle 7"/>
          <p:cNvSpPr/>
          <p:nvPr/>
        </p:nvSpPr>
        <p:spPr>
          <a:xfrm>
            <a:off x="0" y="666720"/>
            <a:ext cx="12191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8"/>
          <p:cNvSpPr/>
          <p:nvPr/>
        </p:nvSpPr>
        <p:spPr>
          <a:xfrm>
            <a:off x="0" y="666720"/>
            <a:ext cx="56880" cy="475920"/>
          </a:xfrm>
          <a:prstGeom prst="rect">
            <a:avLst/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9"/>
          <p:cNvSpPr/>
          <p:nvPr/>
        </p:nvSpPr>
        <p:spPr>
          <a:xfrm>
            <a:off x="363960" y="825840"/>
            <a:ext cx="3558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MATAX: </a:t>
            </a: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واجهة عربية سلسة — لا حاجة لخبرة محاسبية مسبقة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Rectangle 10"/>
          <p:cNvSpPr/>
          <p:nvPr/>
        </p:nvSpPr>
        <p:spPr>
          <a:xfrm>
            <a:off x="571680" y="1333440"/>
            <a:ext cx="5333760" cy="3809520"/>
          </a:xfrm>
          <a:prstGeom prst="roundRect">
            <a:avLst>
              <a:gd name="adj" fmla="val 2500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Rectangle 11"/>
          <p:cNvSpPr/>
          <p:nvPr/>
        </p:nvSpPr>
        <p:spPr>
          <a:xfrm>
            <a:off x="571680" y="1333440"/>
            <a:ext cx="5333760" cy="475920"/>
          </a:xfrm>
          <a:prstGeom prst="roundRect">
            <a:avLst>
              <a:gd name="adj" fmla="val 20000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Rectangle 12"/>
          <p:cNvSpPr/>
          <p:nvPr/>
        </p:nvSpPr>
        <p:spPr>
          <a:xfrm>
            <a:off x="571680" y="1714680"/>
            <a:ext cx="5333760" cy="9504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13"/>
          <p:cNvSpPr/>
          <p:nvPr/>
        </p:nvSpPr>
        <p:spPr>
          <a:xfrm>
            <a:off x="2830320" y="1511640"/>
            <a:ext cx="815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التطبيق الجوال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Rectangle 14"/>
          <p:cNvSpPr/>
          <p:nvPr/>
        </p:nvSpPr>
        <p:spPr>
          <a:xfrm>
            <a:off x="1619280" y="2000160"/>
            <a:ext cx="3047760" cy="28573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Rectangle 15"/>
          <p:cNvSpPr/>
          <p:nvPr/>
        </p:nvSpPr>
        <p:spPr>
          <a:xfrm>
            <a:off x="2381400" y="2048040"/>
            <a:ext cx="1523520" cy="7596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Rectangle 16"/>
          <p:cNvSpPr/>
          <p:nvPr/>
        </p:nvSpPr>
        <p:spPr>
          <a:xfrm>
            <a:off x="1857240" y="2286000"/>
            <a:ext cx="2571480" cy="333000"/>
          </a:xfrm>
          <a:prstGeom prst="roundRect">
            <a:avLst>
              <a:gd name="adj" fmla="val 11429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17"/>
          <p:cNvSpPr/>
          <p:nvPr/>
        </p:nvSpPr>
        <p:spPr>
          <a:xfrm>
            <a:off x="2675880" y="2409480"/>
            <a:ext cx="9342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[</a:t>
            </a:r>
            <a:r>
              <a:rPr b="0" lang="ar-DZ" sz="980" strike="noStrike" u="none">
                <a:solidFill>
                  <a:srgbClr val="cccccc"/>
                </a:solidFill>
                <a:effectLst/>
                <a:uFillTx/>
                <a:latin typeface="Arial"/>
                <a:cs typeface="Arial"/>
              </a:rPr>
              <a:t>صورة التطبيق الجوال</a:t>
            </a: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]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Rectangle 18"/>
          <p:cNvSpPr/>
          <p:nvPr/>
        </p:nvSpPr>
        <p:spPr>
          <a:xfrm>
            <a:off x="1857240" y="2714760"/>
            <a:ext cx="2571480" cy="57132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19"/>
          <p:cNvSpPr/>
          <p:nvPr/>
        </p:nvSpPr>
        <p:spPr>
          <a:xfrm>
            <a:off x="2747520" y="2961720"/>
            <a:ext cx="7909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[</a:t>
            </a:r>
            <a:r>
              <a:rPr b="0" lang="ar-DZ" sz="980" strike="noStrike" u="none">
                <a:solidFill>
                  <a:srgbClr val="cccccc"/>
                </a:solidFill>
                <a:effectLst/>
                <a:uFillTx/>
                <a:latin typeface="Arial"/>
                <a:cs typeface="Arial"/>
              </a:rPr>
              <a:t>لوحة تحكم المقاول</a:t>
            </a: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]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Rectangle 20"/>
          <p:cNvSpPr/>
          <p:nvPr/>
        </p:nvSpPr>
        <p:spPr>
          <a:xfrm>
            <a:off x="1857240" y="3381480"/>
            <a:ext cx="2571480" cy="57132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21"/>
          <p:cNvSpPr/>
          <p:nvPr/>
        </p:nvSpPr>
        <p:spPr>
          <a:xfrm>
            <a:off x="2872080" y="3628440"/>
            <a:ext cx="5414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[</a:t>
            </a:r>
            <a:r>
              <a:rPr b="0" lang="ar-DZ" sz="980" strike="noStrike" u="none">
                <a:solidFill>
                  <a:srgbClr val="cccccc"/>
                </a:solidFill>
                <a:effectLst/>
                <a:uFillTx/>
                <a:latin typeface="Arial"/>
                <a:cs typeface="Arial"/>
              </a:rPr>
              <a:t>قائمة الجباية</a:t>
            </a: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]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Rectangle 22"/>
          <p:cNvSpPr/>
          <p:nvPr/>
        </p:nvSpPr>
        <p:spPr>
          <a:xfrm>
            <a:off x="1857240" y="4048200"/>
            <a:ext cx="2571480" cy="57132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23"/>
          <p:cNvSpPr/>
          <p:nvPr/>
        </p:nvSpPr>
        <p:spPr>
          <a:xfrm>
            <a:off x="2785320" y="4295160"/>
            <a:ext cx="7153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[</a:t>
            </a:r>
            <a:r>
              <a:rPr b="0" lang="ar-DZ" sz="980" strike="noStrike" u="none">
                <a:solidFill>
                  <a:srgbClr val="cccccc"/>
                </a:solidFill>
                <a:effectLst/>
                <a:uFillTx/>
                <a:latin typeface="Arial"/>
                <a:cs typeface="Arial"/>
              </a:rPr>
              <a:t>إعدادات الحساب</a:t>
            </a: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]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Rectangle 24"/>
          <p:cNvSpPr/>
          <p:nvPr/>
        </p:nvSpPr>
        <p:spPr>
          <a:xfrm>
            <a:off x="6286680" y="1333440"/>
            <a:ext cx="5333760" cy="3809520"/>
          </a:xfrm>
          <a:prstGeom prst="roundRect">
            <a:avLst>
              <a:gd name="adj" fmla="val 2500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25"/>
          <p:cNvSpPr/>
          <p:nvPr/>
        </p:nvSpPr>
        <p:spPr>
          <a:xfrm>
            <a:off x="6286680" y="1333440"/>
            <a:ext cx="5333760" cy="475920"/>
          </a:xfrm>
          <a:prstGeom prst="roundRect">
            <a:avLst>
              <a:gd name="adj" fmla="val 20000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Rectangle 26"/>
          <p:cNvSpPr/>
          <p:nvPr/>
        </p:nvSpPr>
        <p:spPr>
          <a:xfrm>
            <a:off x="6286680" y="1714680"/>
            <a:ext cx="5333760" cy="9504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27"/>
          <p:cNvSpPr/>
          <p:nvPr/>
        </p:nvSpPr>
        <p:spPr>
          <a:xfrm>
            <a:off x="8305920" y="1511640"/>
            <a:ext cx="12945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لوحة التحكم على الويب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Rectangle 28"/>
          <p:cNvSpPr/>
          <p:nvPr/>
        </p:nvSpPr>
        <p:spPr>
          <a:xfrm>
            <a:off x="6858000" y="2000160"/>
            <a:ext cx="4190760" cy="2857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Rectangle 29"/>
          <p:cNvSpPr/>
          <p:nvPr/>
        </p:nvSpPr>
        <p:spPr>
          <a:xfrm>
            <a:off x="6858000" y="2000160"/>
            <a:ext cx="4190760" cy="285480"/>
          </a:xfrm>
          <a:prstGeom prst="roundRect">
            <a:avLst>
              <a:gd name="adj" fmla="val 26667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Ellipse 30"/>
          <p:cNvSpPr/>
          <p:nvPr/>
        </p:nvSpPr>
        <p:spPr>
          <a:xfrm>
            <a:off x="6953400" y="2095560"/>
            <a:ext cx="95040" cy="950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Ellipse 31"/>
          <p:cNvSpPr/>
          <p:nvPr/>
        </p:nvSpPr>
        <p:spPr>
          <a:xfrm>
            <a:off x="7095960" y="2095560"/>
            <a:ext cx="95040" cy="950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Ellipse 32"/>
          <p:cNvSpPr/>
          <p:nvPr/>
        </p:nvSpPr>
        <p:spPr>
          <a:xfrm>
            <a:off x="7238880" y="2095560"/>
            <a:ext cx="95040" cy="95040"/>
          </a:xfrm>
          <a:prstGeom prst="ellipse">
            <a:avLst/>
          </a:prstGeom>
          <a:solidFill>
            <a:srgbClr val="27ca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Rectangle 33"/>
          <p:cNvSpPr/>
          <p:nvPr/>
        </p:nvSpPr>
        <p:spPr>
          <a:xfrm>
            <a:off x="8096400" y="2076480"/>
            <a:ext cx="1714320" cy="132840"/>
          </a:xfrm>
          <a:prstGeom prst="roundRect">
            <a:avLst>
              <a:gd name="adj" fmla="val 21429"/>
            </a:avLst>
          </a:prstGeom>
          <a:solidFill>
            <a:srgbClr val="e0e0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Rectangle 34"/>
          <p:cNvSpPr/>
          <p:nvPr/>
        </p:nvSpPr>
        <p:spPr>
          <a:xfrm>
            <a:off x="7095960" y="2428920"/>
            <a:ext cx="3714480" cy="380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35"/>
          <p:cNvSpPr/>
          <p:nvPr/>
        </p:nvSpPr>
        <p:spPr>
          <a:xfrm>
            <a:off x="8522640" y="2580840"/>
            <a:ext cx="861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[</a:t>
            </a:r>
            <a:r>
              <a:rPr b="0" lang="ar-DZ" sz="980" strike="noStrike" u="none">
                <a:solidFill>
                  <a:srgbClr val="cccccc"/>
                </a:solidFill>
                <a:effectLst/>
                <a:uFillTx/>
                <a:latin typeface="Arial"/>
                <a:cs typeface="Arial"/>
              </a:rPr>
              <a:t>لوحة تحكم المحاسب</a:t>
            </a: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]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Rectangle 36"/>
          <p:cNvSpPr/>
          <p:nvPr/>
        </p:nvSpPr>
        <p:spPr>
          <a:xfrm>
            <a:off x="7095960" y="2952720"/>
            <a:ext cx="3714480" cy="76176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Box 37"/>
          <p:cNvSpPr/>
          <p:nvPr/>
        </p:nvSpPr>
        <p:spPr>
          <a:xfrm>
            <a:off x="8521200" y="3304800"/>
            <a:ext cx="8640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[</a:t>
            </a:r>
            <a:r>
              <a:rPr b="0" lang="ar-DZ" sz="980" strike="noStrike" u="none">
                <a:solidFill>
                  <a:srgbClr val="cccccc"/>
                </a:solidFill>
                <a:effectLst/>
                <a:uFillTx/>
                <a:latin typeface="Arial"/>
                <a:cs typeface="Arial"/>
              </a:rPr>
              <a:t>إدارة محفظة العملاء</a:t>
            </a: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]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Rectangle 38"/>
          <p:cNvSpPr/>
          <p:nvPr/>
        </p:nvSpPr>
        <p:spPr>
          <a:xfrm>
            <a:off x="7095960" y="3857760"/>
            <a:ext cx="3714480" cy="85680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39"/>
          <p:cNvSpPr/>
          <p:nvPr/>
        </p:nvSpPr>
        <p:spPr>
          <a:xfrm>
            <a:off x="8453160" y="4257360"/>
            <a:ext cx="10000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[</a:t>
            </a:r>
            <a:r>
              <a:rPr b="0" lang="ar-DZ" sz="980" strike="noStrike" u="none">
                <a:solidFill>
                  <a:srgbClr val="cccccc"/>
                </a:solidFill>
                <a:effectLst/>
                <a:uFillTx/>
                <a:latin typeface="Arial"/>
                <a:cs typeface="Arial"/>
              </a:rPr>
              <a:t>تقارير الجباية والتصرح</a:t>
            </a:r>
            <a:r>
              <a:rPr b="0" lang="en-US" sz="980" strike="noStrike" u="none">
                <a:solidFill>
                  <a:srgbClr val="cccccc"/>
                </a:solidFill>
                <a:effectLst/>
                <a:uFillTx/>
                <a:latin typeface="Arial"/>
                <a:ea typeface="Microsoft YaHei"/>
              </a:rPr>
              <a:t>]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Rectangle 40"/>
          <p:cNvSpPr/>
          <p:nvPr/>
        </p:nvSpPr>
        <p:spPr>
          <a:xfrm>
            <a:off x="571680" y="5334120"/>
            <a:ext cx="11048760" cy="9522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Rectangle 41"/>
          <p:cNvSpPr/>
          <p:nvPr/>
        </p:nvSpPr>
        <p:spPr>
          <a:xfrm>
            <a:off x="762120" y="5524560"/>
            <a:ext cx="3238200" cy="571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87" name="Group 48"/>
          <p:cNvGrpSpPr/>
          <p:nvPr/>
        </p:nvGrpSpPr>
        <p:grpSpPr>
          <a:xfrm>
            <a:off x="949320" y="5681520"/>
            <a:ext cx="177480" cy="188640"/>
            <a:chOff x="949320" y="5681520"/>
            <a:chExt cx="177480" cy="188640"/>
          </a:xfrm>
        </p:grpSpPr>
        <p:sp>
          <p:nvSpPr>
            <p:cNvPr id="588" name="Freeform 42"/>
            <p:cNvSpPr/>
            <p:nvPr/>
          </p:nvSpPr>
          <p:spPr>
            <a:xfrm>
              <a:off x="949320" y="5718960"/>
              <a:ext cx="55080" cy="7344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55562" h="73665">
                  <a:moveTo>
                    <a:pt x="55562" y="0"/>
                  </a:moveTo>
                  <a:cubicBezTo>
                    <a:pt x="55562" y="49095"/>
                    <a:pt x="30682" y="73665"/>
                    <a:pt x="0" y="73665"/>
                  </a:cubicBezTo>
                </a:path>
              </a:pathLst>
            </a:custGeom>
            <a:noFill/>
            <a:ln w="19050">
              <a:solidFill>
                <a:srgbClr val="0033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0" bIns="28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Freeform 43"/>
            <p:cNvSpPr/>
            <p:nvPr/>
          </p:nvSpPr>
          <p:spPr>
            <a:xfrm>
              <a:off x="949320" y="5718960"/>
              <a:ext cx="77400" cy="9000"/>
            </a:xfrm>
            <a:custGeom>
              <a:avLst/>
              <a:gdLst>
                <a:gd name="textAreaLeft" fmla="*/ 0 w 77400"/>
                <a:gd name="textAreaRight" fmla="*/ 77760 w 774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77787" h="9525">
                  <a:moveTo>
                    <a:pt x="0" y="0"/>
                  </a:moveTo>
                  <a:lnTo>
                    <a:pt x="77787" y="0"/>
                  </a:lnTo>
                </a:path>
              </a:pathLst>
            </a:custGeom>
            <a:noFill/>
            <a:ln w="19050">
              <a:solidFill>
                <a:srgbClr val="0033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" name="Freeform 44"/>
            <p:cNvSpPr/>
            <p:nvPr/>
          </p:nvSpPr>
          <p:spPr>
            <a:xfrm>
              <a:off x="960480" y="5748480"/>
              <a:ext cx="66240" cy="4392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66675" h="44450">
                  <a:moveTo>
                    <a:pt x="0" y="0"/>
                  </a:moveTo>
                  <a:cubicBezTo>
                    <a:pt x="0" y="23825"/>
                    <a:pt x="25025" y="43428"/>
                    <a:pt x="66675" y="44450"/>
                  </a:cubicBezTo>
                </a:path>
              </a:pathLst>
            </a:custGeom>
            <a:noFill/>
            <a:ln w="19050">
              <a:solidFill>
                <a:srgbClr val="0033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" bIns="-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Freeform 45"/>
            <p:cNvSpPr/>
            <p:nvPr/>
          </p:nvSpPr>
          <p:spPr>
            <a:xfrm>
              <a:off x="1038240" y="5770440"/>
              <a:ext cx="88560" cy="9972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99720"/>
                <a:gd name="textAreaBottom" fmla="*/ 100080 h 99720"/>
              </a:gdLst>
              <a:ahLst/>
              <a:cxnLst/>
              <a:rect l="textAreaLeft" t="textAreaTop" r="textAreaRight" b="textAreaBottom"/>
              <a:pathLst>
                <a:path w="88900" h="100012">
                  <a:moveTo>
                    <a:pt x="0" y="100012"/>
                  </a:moveTo>
                  <a:lnTo>
                    <a:pt x="44450" y="0"/>
                  </a:lnTo>
                  <a:lnTo>
                    <a:pt x="88900" y="100012"/>
                  </a:lnTo>
                </a:path>
              </a:pathLst>
            </a:custGeom>
            <a:noFill/>
            <a:ln w="19050">
              <a:solidFill>
                <a:srgbClr val="0033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eform 46"/>
            <p:cNvSpPr/>
            <p:nvPr/>
          </p:nvSpPr>
          <p:spPr>
            <a:xfrm>
              <a:off x="1048320" y="5848200"/>
              <a:ext cx="68400" cy="90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68897" h="9525">
                  <a:moveTo>
                    <a:pt x="68897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33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Freeform 47"/>
            <p:cNvSpPr/>
            <p:nvPr/>
          </p:nvSpPr>
          <p:spPr>
            <a:xfrm>
              <a:off x="979200" y="568152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8812" y="6467"/>
                  </a:lnTo>
                </a:path>
              </a:pathLst>
            </a:custGeom>
            <a:noFill/>
            <a:ln w="19050">
              <a:solidFill>
                <a:srgbClr val="0033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4" name="TextBox 49"/>
          <p:cNvSpPr/>
          <p:nvPr/>
        </p:nvSpPr>
        <p:spPr>
          <a:xfrm>
            <a:off x="1320120" y="5716080"/>
            <a:ext cx="895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05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واجهة عربية بالكامل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Rectangle 50"/>
          <p:cNvSpPr/>
          <p:nvPr/>
        </p:nvSpPr>
        <p:spPr>
          <a:xfrm>
            <a:off x="4191120" y="5524560"/>
            <a:ext cx="3238200" cy="571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96" name="Group 54"/>
          <p:cNvGrpSpPr/>
          <p:nvPr/>
        </p:nvGrpSpPr>
        <p:grpSpPr>
          <a:xfrm>
            <a:off x="4400640" y="5681520"/>
            <a:ext cx="132840" cy="199800"/>
            <a:chOff x="4400640" y="5681520"/>
            <a:chExt cx="132840" cy="199800"/>
          </a:xfrm>
        </p:grpSpPr>
        <p:sp>
          <p:nvSpPr>
            <p:cNvPr id="597" name="Freeform 51"/>
            <p:cNvSpPr/>
            <p:nvPr/>
          </p:nvSpPr>
          <p:spPr>
            <a:xfrm>
              <a:off x="4400640" y="5681520"/>
              <a:ext cx="132840" cy="1998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199800"/>
                <a:gd name="textAreaBottom" fmla="*/ 200160 h 199800"/>
              </a:gdLst>
              <a:ahLst/>
              <a:cxnLst/>
              <a:rect l="textAreaLeft" t="textAreaTop" r="textAreaRight" b="textAreaBottom"/>
              <a:pathLst>
                <a:path w="133350" h="200025">
                  <a:moveTo>
                    <a:pt x="0" y="22225"/>
                  </a:moveTo>
                  <a:cubicBezTo>
                    <a:pt x="0" y="9950"/>
                    <a:pt x="9950" y="0"/>
                    <a:pt x="22225" y="0"/>
                  </a:cubicBezTo>
                  <a:lnTo>
                    <a:pt x="111125" y="0"/>
                  </a:lnTo>
                  <a:cubicBezTo>
                    <a:pt x="123400" y="0"/>
                    <a:pt x="133350" y="9950"/>
                    <a:pt x="133350" y="22225"/>
                  </a:cubicBezTo>
                  <a:lnTo>
                    <a:pt x="133350" y="177800"/>
                  </a:lnTo>
                  <a:cubicBezTo>
                    <a:pt x="133350" y="190075"/>
                    <a:pt x="123400" y="200025"/>
                    <a:pt x="111125" y="200025"/>
                  </a:cubicBezTo>
                  <a:lnTo>
                    <a:pt x="22225" y="200025"/>
                  </a:lnTo>
                  <a:cubicBezTo>
                    <a:pt x="9950" y="200025"/>
                    <a:pt x="0" y="190075"/>
                    <a:pt x="0" y="177800"/>
                  </a:cubicBez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Freeform 52"/>
            <p:cNvSpPr/>
            <p:nvPr/>
          </p:nvSpPr>
          <p:spPr>
            <a:xfrm>
              <a:off x="4456080" y="5692680"/>
              <a:ext cx="21960" cy="900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2225" h="9525">
                  <a:moveTo>
                    <a:pt x="0" y="0"/>
                  </a:moveTo>
                  <a:lnTo>
                    <a:pt x="22225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Freeform 53"/>
            <p:cNvSpPr/>
            <p:nvPr/>
          </p:nvSpPr>
          <p:spPr>
            <a:xfrm>
              <a:off x="4467240" y="5837400"/>
              <a:ext cx="9000" cy="9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9525" h="9525">
                  <a:moveTo>
                    <a:pt x="0" y="0"/>
                  </a:moveTo>
                  <a:lnTo>
                    <a:pt x="0" y="111"/>
                  </a:lnTo>
                </a:path>
              </a:pathLst>
            </a:custGeom>
            <a:noFill/>
            <a:ln w="19050">
              <a:solidFill>
                <a:srgbClr val="0066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0" name="TextBox 55"/>
          <p:cNvSpPr/>
          <p:nvPr/>
        </p:nvSpPr>
        <p:spPr>
          <a:xfrm>
            <a:off x="4749120" y="5716080"/>
            <a:ext cx="7704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050" strike="noStrike" u="none">
                <a:solidFill>
                  <a:srgbClr val="0066cc"/>
                </a:solidFill>
                <a:effectLst/>
                <a:uFillTx/>
                <a:latin typeface="Arial"/>
                <a:cs typeface="Arial"/>
              </a:rPr>
              <a:t>متوافق مع الجوال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Rectangle 56"/>
          <p:cNvSpPr/>
          <p:nvPr/>
        </p:nvSpPr>
        <p:spPr>
          <a:xfrm>
            <a:off x="7620120" y="5524560"/>
            <a:ext cx="3238200" cy="571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2" name="Group 60"/>
          <p:cNvGrpSpPr/>
          <p:nvPr/>
        </p:nvGrpSpPr>
        <p:grpSpPr>
          <a:xfrm>
            <a:off x="7803720" y="5692680"/>
            <a:ext cx="181080" cy="181080"/>
            <a:chOff x="7803720" y="5692680"/>
            <a:chExt cx="181080" cy="181080"/>
          </a:xfrm>
        </p:grpSpPr>
        <p:sp>
          <p:nvSpPr>
            <p:cNvPr id="603" name="Freeform 57"/>
            <p:cNvSpPr/>
            <p:nvPr/>
          </p:nvSpPr>
          <p:spPr>
            <a:xfrm>
              <a:off x="7807320" y="5692680"/>
              <a:ext cx="177480" cy="177480"/>
            </a:xfrm>
            <a:custGeom>
              <a:avLst/>
              <a:gdLst>
                <a:gd name="textAreaLeft" fmla="*/ 0 w 177480"/>
                <a:gd name="textAreaRight" fmla="*/ 177840 w 17748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177800" h="177800">
                  <a:moveTo>
                    <a:pt x="0" y="100012"/>
                  </a:moveTo>
                  <a:cubicBezTo>
                    <a:pt x="40785" y="104859"/>
                    <a:pt x="72941" y="137015"/>
                    <a:pt x="77788" y="177800"/>
                  </a:cubicBezTo>
                  <a:cubicBezTo>
                    <a:pt x="97757" y="166287"/>
                    <a:pt x="110364" y="145276"/>
                    <a:pt x="111125" y="122238"/>
                  </a:cubicBezTo>
                  <a:cubicBezTo>
                    <a:pt x="149283" y="108814"/>
                    <a:pt x="175598" y="73728"/>
                    <a:pt x="177800" y="33338"/>
                  </a:cubicBezTo>
                  <a:cubicBezTo>
                    <a:pt x="177800" y="14926"/>
                    <a:pt x="162874" y="0"/>
                    <a:pt x="144463" y="0"/>
                  </a:cubicBezTo>
                  <a:cubicBezTo>
                    <a:pt x="104072" y="2202"/>
                    <a:pt x="68986" y="28517"/>
                    <a:pt x="55563" y="66675"/>
                  </a:cubicBezTo>
                  <a:cubicBezTo>
                    <a:pt x="32524" y="67436"/>
                    <a:pt x="11513" y="80043"/>
                    <a:pt x="0" y="100012"/>
                  </a:cubicBez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Freeform 58"/>
            <p:cNvSpPr/>
            <p:nvPr/>
          </p:nvSpPr>
          <p:spPr>
            <a:xfrm>
              <a:off x="7803720" y="5803920"/>
              <a:ext cx="69840" cy="698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9840"/>
                <a:gd name="textAreaBottom" fmla="*/ 70200 h 69840"/>
              </a:gdLst>
              <a:ahLst/>
              <a:cxnLst/>
              <a:rect l="textAreaLeft" t="textAreaTop" r="textAreaRight" b="textAreaBottom"/>
              <a:pathLst>
                <a:path w="70185" h="70185">
                  <a:moveTo>
                    <a:pt x="36847" y="0"/>
                  </a:moveTo>
                  <a:cubicBezTo>
                    <a:pt x="13188" y="13357"/>
                    <a:pt x="0" y="39734"/>
                    <a:pt x="3510" y="66675"/>
                  </a:cubicBezTo>
                  <a:cubicBezTo>
                    <a:pt x="30451" y="70185"/>
                    <a:pt x="56828" y="56997"/>
                    <a:pt x="70185" y="33338"/>
                  </a:cubicBez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Freeform 59"/>
            <p:cNvSpPr/>
            <p:nvPr/>
          </p:nvSpPr>
          <p:spPr>
            <a:xfrm>
              <a:off x="7918560" y="5737320"/>
              <a:ext cx="21960" cy="2196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2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2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19050">
              <a:solidFill>
                <a:srgbClr val="2e7d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2680" bIns="-226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6" name="TextBox 61"/>
          <p:cNvSpPr/>
          <p:nvPr/>
        </p:nvSpPr>
        <p:spPr>
          <a:xfrm>
            <a:off x="8178120" y="5716080"/>
            <a:ext cx="685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05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سرعة في الأداء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Line 62"/>
          <p:cNvSpPr/>
          <p:nvPr/>
        </p:nvSpPr>
        <p:spPr>
          <a:xfrm>
            <a:off x="380880" y="652464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0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Box 63"/>
          <p:cNvSpPr/>
          <p:nvPr/>
        </p:nvSpPr>
        <p:spPr>
          <a:xfrm>
            <a:off x="369720" y="6665760"/>
            <a:ext cx="9669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المصدر: النموذج التجريبي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64"/>
          <p:cNvSpPr/>
          <p:nvPr/>
        </p:nvSpPr>
        <p:spPr>
          <a:xfrm>
            <a:off x="5828400" y="6665760"/>
            <a:ext cx="5342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عرض المنصة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65"/>
          <p:cNvSpPr/>
          <p:nvPr/>
        </p:nvSpPr>
        <p:spPr>
          <a:xfrm>
            <a:off x="11485080" y="6649560"/>
            <a:ext cx="148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Microsoft YaHei"/>
              </a:rPr>
              <a:t>14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Freeform 3"/>
          <p:cNvSpPr/>
          <p:nvPr/>
        </p:nvSpPr>
        <p:spPr>
          <a:xfrm>
            <a:off x="5715000" y="0"/>
            <a:ext cx="6476760" cy="6857640"/>
          </a:xfrm>
          <a:custGeom>
            <a:avLst/>
            <a:gdLst>
              <a:gd name="textAreaLeft" fmla="*/ 0 w 6476760"/>
              <a:gd name="textAreaRight" fmla="*/ 6477120 w 6476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Rectangle 4"/>
          <p:cNvSpPr/>
          <p:nvPr/>
        </p:nvSpPr>
        <p:spPr>
          <a:xfrm>
            <a:off x="11430000" y="0"/>
            <a:ext cx="761760" cy="6857640"/>
          </a:xfrm>
          <a:prstGeom prst="rect">
            <a:avLst/>
          </a:prstGeom>
          <a:solidFill>
            <a:srgbClr val="00224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Rectangle 5"/>
          <p:cNvSpPr/>
          <p:nvPr/>
        </p:nvSpPr>
        <p:spPr>
          <a:xfrm>
            <a:off x="0" y="2286000"/>
            <a:ext cx="114120" cy="228564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Box 6"/>
          <p:cNvSpPr/>
          <p:nvPr/>
        </p:nvSpPr>
        <p:spPr>
          <a:xfrm>
            <a:off x="876240" y="2305080"/>
            <a:ext cx="371196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0" strike="noStrike" u="none">
                <a:solidFill>
                  <a:srgbClr val="ffffff">
                    <a:alpha val="8000"/>
                  </a:srgbClr>
                </a:solidFill>
                <a:effectLst/>
                <a:uFillTx/>
                <a:latin typeface="Georgia"/>
                <a:ea typeface="Microsoft YaHei"/>
              </a:rPr>
              <a:t>06</a:t>
            </a:r>
            <a:endParaRPr b="0" lang="en-US" sz="2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Box 7"/>
          <p:cNvSpPr/>
          <p:nvPr/>
        </p:nvSpPr>
        <p:spPr>
          <a:xfrm>
            <a:off x="3570120" y="2626920"/>
            <a:ext cx="300276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3900" strike="noStrike" u="none">
                <a:solidFill>
                  <a:srgbClr val="ffffff"/>
                </a:solidFill>
                <a:effectLst/>
                <a:uFillTx/>
                <a:latin typeface="Georgia"/>
                <a:cs typeface="Georgia"/>
              </a:rPr>
              <a:t>المراحل التنفيذية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8"/>
          <p:cNvSpPr/>
          <p:nvPr/>
        </p:nvSpPr>
        <p:spPr>
          <a:xfrm>
            <a:off x="3596760" y="3520440"/>
            <a:ext cx="21160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800" strike="noStrike" u="none">
                <a:solidFill>
                  <a:srgbClr val="e8f4fc"/>
                </a:solidFill>
                <a:effectLst/>
                <a:uFillTx/>
                <a:latin typeface="Arial"/>
                <a:cs typeface="Arial"/>
              </a:rPr>
              <a:t>خطة العمل والخريطة الزمنية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Line 9"/>
          <p:cNvSpPr/>
          <p:nvPr/>
        </p:nvSpPr>
        <p:spPr>
          <a:xfrm>
            <a:off x="3619440" y="2428920"/>
            <a:ext cx="1142640" cy="9000"/>
          </a:xfrm>
          <a:custGeom>
            <a:avLst/>
            <a:gdLst>
              <a:gd name="textAreaLeft" fmla="*/ 0 w 1142640"/>
              <a:gd name="textAreaRight" fmla="*/ 1143000 w 1142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Box 10"/>
          <p:cNvSpPr/>
          <p:nvPr/>
        </p:nvSpPr>
        <p:spPr>
          <a:xfrm>
            <a:off x="9787320" y="6331320"/>
            <a:ext cx="20404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ea typeface="Microsoft YaHei"/>
              </a:rPr>
              <a:t>MATAX — </a:t>
            </a:r>
            <a:r>
              <a:rPr b="0" lang="ar-DZ" sz="1350" strike="noStrike" u="none">
                <a:solidFill>
                  <a:srgbClr val="ffffff">
                    <a:alpha val="40000"/>
                  </a:srgbClr>
                </a:solidFill>
                <a:effectLst/>
                <a:uFillTx/>
                <a:latin typeface="Arial"/>
                <a:cs typeface="Arial"/>
              </a:rPr>
              <a:t>من التخطيط إلى التنفيذ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Rectangle 3"/>
          <p:cNvSpPr/>
          <p:nvPr/>
        </p:nvSpPr>
        <p:spPr>
          <a:xfrm>
            <a:off x="0" y="0"/>
            <a:ext cx="12191760" cy="66636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Rectangle 4"/>
          <p:cNvSpPr/>
          <p:nvPr/>
        </p:nvSpPr>
        <p:spPr>
          <a:xfrm>
            <a:off x="0" y="0"/>
            <a:ext cx="56880" cy="66636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Box 5"/>
          <p:cNvSpPr/>
          <p:nvPr/>
        </p:nvSpPr>
        <p:spPr>
          <a:xfrm>
            <a:off x="354240" y="211320"/>
            <a:ext cx="332568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06 | </a:t>
            </a:r>
            <a:r>
              <a:rPr b="1" lang="ar-DZ" sz="21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المراحل التنفيذية — فريق العمل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Box 6"/>
          <p:cNvSpPr/>
          <p:nvPr/>
        </p:nvSpPr>
        <p:spPr>
          <a:xfrm>
            <a:off x="10942920" y="292320"/>
            <a:ext cx="6944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Georgia"/>
                <a:ea typeface="Microsoft YaHei"/>
              </a:rPr>
              <a:t>MATAX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Rectangle 7"/>
          <p:cNvSpPr/>
          <p:nvPr/>
        </p:nvSpPr>
        <p:spPr>
          <a:xfrm>
            <a:off x="0" y="666720"/>
            <a:ext cx="12191760" cy="4759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Rectangle 8"/>
          <p:cNvSpPr/>
          <p:nvPr/>
        </p:nvSpPr>
        <p:spPr>
          <a:xfrm>
            <a:off x="0" y="666720"/>
            <a:ext cx="56880" cy="475920"/>
          </a:xfrm>
          <a:prstGeom prst="rect">
            <a:avLst/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Box 9"/>
          <p:cNvSpPr/>
          <p:nvPr/>
        </p:nvSpPr>
        <p:spPr>
          <a:xfrm>
            <a:off x="363960" y="825840"/>
            <a:ext cx="3124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فريق مؤسس متكامل بخبرات متنوعة في المحاسبة والتقنية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Rectangle 10"/>
          <p:cNvSpPr/>
          <p:nvPr/>
        </p:nvSpPr>
        <p:spPr>
          <a:xfrm>
            <a:off x="571680" y="1333440"/>
            <a:ext cx="3524040" cy="17143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Rectangle 11"/>
          <p:cNvSpPr/>
          <p:nvPr/>
        </p:nvSpPr>
        <p:spPr>
          <a:xfrm>
            <a:off x="571680" y="1333440"/>
            <a:ext cx="3524040" cy="7596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Ellipse 12"/>
          <p:cNvSpPr/>
          <p:nvPr/>
        </p:nvSpPr>
        <p:spPr>
          <a:xfrm>
            <a:off x="2000160" y="1666800"/>
            <a:ext cx="666360" cy="666360"/>
          </a:xfrm>
          <a:prstGeom prst="ellipse">
            <a:avLst/>
          </a:prstGeom>
          <a:solidFill>
            <a:srgbClr val="00336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Box 13"/>
          <p:cNvSpPr/>
          <p:nvPr/>
        </p:nvSpPr>
        <p:spPr>
          <a:xfrm>
            <a:off x="2145240" y="1849680"/>
            <a:ext cx="3762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003366"/>
                </a:solidFill>
                <a:effectLst/>
                <a:uFillTx/>
                <a:latin typeface="Georgia"/>
                <a:ea typeface="Microsoft YaHei"/>
              </a:rPr>
              <a:t>HI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Box 14"/>
          <p:cNvSpPr/>
          <p:nvPr/>
        </p:nvSpPr>
        <p:spPr>
          <a:xfrm>
            <a:off x="2024280" y="2426040"/>
            <a:ext cx="6181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حموم إكرام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Box 15"/>
          <p:cNvSpPr/>
          <p:nvPr/>
        </p:nvSpPr>
        <p:spPr>
          <a:xfrm>
            <a:off x="1834200" y="2696400"/>
            <a:ext cx="997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050" strike="noStrike" u="none">
                <a:solidFill>
                  <a:srgbClr val="003366"/>
                </a:solidFill>
                <a:effectLst/>
                <a:uFillTx/>
                <a:latin typeface="Arial"/>
                <a:cs typeface="Arial"/>
              </a:rPr>
              <a:t>المديرة العامة</a:t>
            </a:r>
            <a:r>
              <a:rPr b="1" lang="en-US" sz="1050" strike="noStrike" u="none">
                <a:solidFill>
                  <a:srgbClr val="003366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050" strike="noStrike" u="none">
                <a:solidFill>
                  <a:srgbClr val="003366"/>
                </a:solidFill>
                <a:effectLst/>
                <a:uFillTx/>
                <a:latin typeface="Arial"/>
                <a:ea typeface="Microsoft YaHei"/>
              </a:rPr>
              <a:t>(PDG)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Box 16"/>
          <p:cNvSpPr/>
          <p:nvPr/>
        </p:nvSpPr>
        <p:spPr>
          <a:xfrm>
            <a:off x="1769760" y="2903400"/>
            <a:ext cx="11275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محاسبة + تكنولوجيا المعلومات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Rectangle 17"/>
          <p:cNvSpPr/>
          <p:nvPr/>
        </p:nvSpPr>
        <p:spPr>
          <a:xfrm>
            <a:off x="4334040" y="1333440"/>
            <a:ext cx="3524040" cy="17143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Rectangle 18"/>
          <p:cNvSpPr/>
          <p:nvPr/>
        </p:nvSpPr>
        <p:spPr>
          <a:xfrm>
            <a:off x="4334040" y="1333440"/>
            <a:ext cx="3524040" cy="7596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Ellipse 19"/>
          <p:cNvSpPr/>
          <p:nvPr/>
        </p:nvSpPr>
        <p:spPr>
          <a:xfrm>
            <a:off x="5762520" y="1666800"/>
            <a:ext cx="666360" cy="666360"/>
          </a:xfrm>
          <a:prstGeom prst="ellipse">
            <a:avLst/>
          </a:prstGeom>
          <a:solidFill>
            <a:srgbClr val="0066c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Box 20"/>
          <p:cNvSpPr/>
          <p:nvPr/>
        </p:nvSpPr>
        <p:spPr>
          <a:xfrm>
            <a:off x="5903640" y="1849680"/>
            <a:ext cx="384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0066cc"/>
                </a:solidFill>
                <a:effectLst/>
                <a:uFillTx/>
                <a:latin typeface="Georgia"/>
                <a:ea typeface="Microsoft YaHei"/>
              </a:rPr>
              <a:t>YZ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Box 21"/>
          <p:cNvSpPr/>
          <p:nvPr/>
        </p:nvSpPr>
        <p:spPr>
          <a:xfrm>
            <a:off x="5691600" y="2426040"/>
            <a:ext cx="8078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يزيد زين الدين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Box 22"/>
          <p:cNvSpPr/>
          <p:nvPr/>
        </p:nvSpPr>
        <p:spPr>
          <a:xfrm>
            <a:off x="5620680" y="2696400"/>
            <a:ext cx="950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050" strike="noStrike" u="none">
                <a:solidFill>
                  <a:srgbClr val="0066cc"/>
                </a:solidFill>
                <a:effectLst/>
                <a:uFillTx/>
                <a:latin typeface="Arial"/>
                <a:cs typeface="Arial"/>
              </a:rPr>
              <a:t>المدير المالي</a:t>
            </a:r>
            <a:r>
              <a:rPr b="1" lang="en-US" sz="1050" strike="noStrike" u="none">
                <a:solidFill>
                  <a:srgbClr val="0066cc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050" strike="noStrike" u="none">
                <a:solidFill>
                  <a:srgbClr val="0066cc"/>
                </a:solidFill>
                <a:effectLst/>
                <a:uFillTx/>
                <a:latin typeface="Arial"/>
                <a:ea typeface="Microsoft YaHei"/>
              </a:rPr>
              <a:t>(CFO)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Box 23"/>
          <p:cNvSpPr/>
          <p:nvPr/>
        </p:nvSpPr>
        <p:spPr>
          <a:xfrm>
            <a:off x="5646240" y="2903400"/>
            <a:ext cx="8985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محاسبة + تمويل + مالية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Rectangle 24"/>
          <p:cNvSpPr/>
          <p:nvPr/>
        </p:nvSpPr>
        <p:spPr>
          <a:xfrm>
            <a:off x="8096400" y="1333440"/>
            <a:ext cx="3524040" cy="17143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Rectangle 25"/>
          <p:cNvSpPr/>
          <p:nvPr/>
        </p:nvSpPr>
        <p:spPr>
          <a:xfrm>
            <a:off x="8096400" y="1333440"/>
            <a:ext cx="3524040" cy="7596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Ellipse 26"/>
          <p:cNvSpPr/>
          <p:nvPr/>
        </p:nvSpPr>
        <p:spPr>
          <a:xfrm>
            <a:off x="9524880" y="1666800"/>
            <a:ext cx="666360" cy="666360"/>
          </a:xfrm>
          <a:prstGeom prst="ellipse">
            <a:avLst/>
          </a:prstGeom>
          <a:solidFill>
            <a:srgbClr val="0099a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Box 27"/>
          <p:cNvSpPr/>
          <p:nvPr/>
        </p:nvSpPr>
        <p:spPr>
          <a:xfrm>
            <a:off x="9649440" y="1849680"/>
            <a:ext cx="4176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0099aa"/>
                </a:solidFill>
                <a:effectLst/>
                <a:uFillTx/>
                <a:latin typeface="Georgia"/>
                <a:ea typeface="Microsoft YaHei"/>
              </a:rPr>
              <a:t>SB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28"/>
          <p:cNvSpPr/>
          <p:nvPr/>
        </p:nvSpPr>
        <p:spPr>
          <a:xfrm>
            <a:off x="9487080" y="2426040"/>
            <a:ext cx="741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سعيد بن عمر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Box 29"/>
          <p:cNvSpPr/>
          <p:nvPr/>
        </p:nvSpPr>
        <p:spPr>
          <a:xfrm>
            <a:off x="9385560" y="2696400"/>
            <a:ext cx="945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050" strike="noStrike" u="none">
                <a:solidFill>
                  <a:srgbClr val="0099aa"/>
                </a:solidFill>
                <a:effectLst/>
                <a:uFillTx/>
                <a:latin typeface="Arial"/>
                <a:cs typeface="Arial"/>
              </a:rPr>
              <a:t>المدير التقني</a:t>
            </a:r>
            <a:r>
              <a:rPr b="1" lang="en-US" sz="1050" strike="noStrike" u="none">
                <a:solidFill>
                  <a:srgbClr val="0099a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1050" strike="noStrike" u="none">
                <a:solidFill>
                  <a:srgbClr val="0099aa"/>
                </a:solidFill>
                <a:effectLst/>
                <a:uFillTx/>
                <a:latin typeface="Arial"/>
                <a:ea typeface="Microsoft YaHei"/>
              </a:rPr>
              <a:t>(CTO)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Box 30"/>
          <p:cNvSpPr/>
          <p:nvPr/>
        </p:nvSpPr>
        <p:spPr>
          <a:xfrm>
            <a:off x="9276120" y="2903400"/>
            <a:ext cx="11638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برمجة + قواعد بيانات + سحابة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Rectangle 31"/>
          <p:cNvSpPr/>
          <p:nvPr/>
        </p:nvSpPr>
        <p:spPr>
          <a:xfrm>
            <a:off x="571680" y="3333600"/>
            <a:ext cx="11048760" cy="2857320"/>
          </a:xfrm>
          <a:prstGeom prst="roundRect">
            <a:avLst>
              <a:gd name="adj" fmla="val 2667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32"/>
          <p:cNvSpPr/>
          <p:nvPr/>
        </p:nvSpPr>
        <p:spPr>
          <a:xfrm>
            <a:off x="571680" y="3333600"/>
            <a:ext cx="11048760" cy="47592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Rectangle 33"/>
          <p:cNvSpPr/>
          <p:nvPr/>
        </p:nvSpPr>
        <p:spPr>
          <a:xfrm>
            <a:off x="571680" y="3714840"/>
            <a:ext cx="11048760" cy="95040"/>
          </a:xfrm>
          <a:prstGeom prst="rect">
            <a:avLst/>
          </a:prstGeom>
          <a:solidFill>
            <a:srgbClr val="003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Box 34"/>
          <p:cNvSpPr/>
          <p:nvPr/>
        </p:nvSpPr>
        <p:spPr>
          <a:xfrm>
            <a:off x="5655240" y="3511800"/>
            <a:ext cx="8805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35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الخريطة الزمنية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Rectangle 35"/>
          <p:cNvSpPr/>
          <p:nvPr/>
        </p:nvSpPr>
        <p:spPr>
          <a:xfrm>
            <a:off x="762120" y="3952800"/>
            <a:ext cx="2285640" cy="95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Rectangle 36"/>
          <p:cNvSpPr/>
          <p:nvPr/>
        </p:nvSpPr>
        <p:spPr>
          <a:xfrm>
            <a:off x="762120" y="3952800"/>
            <a:ext cx="2285640" cy="568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Box 37"/>
          <p:cNvSpPr/>
          <p:nvPr/>
        </p:nvSpPr>
        <p:spPr>
          <a:xfrm>
            <a:off x="1652400" y="4137840"/>
            <a:ext cx="504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20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المرحلة </a:t>
            </a:r>
            <a:r>
              <a:rPr b="1" lang="en-US" sz="120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Box 38"/>
          <p:cNvSpPr/>
          <p:nvPr/>
        </p:nvSpPr>
        <p:spPr>
          <a:xfrm>
            <a:off x="1463400" y="4371480"/>
            <a:ext cx="8827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8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MVP &amp; </a:t>
            </a:r>
            <a:r>
              <a:rPr b="1" lang="ar-DZ" sz="98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إ</a:t>
            </a:r>
            <a:r>
              <a:rPr b="1" lang="en-US" sz="98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US" sz="980" strike="noStrike" u="none">
                <a:solidFill>
                  <a:srgbClr val="1d1d1f"/>
                </a:solidFill>
                <a:effectLst/>
                <a:uFillTx/>
                <a:latin typeface="Arial"/>
                <a:ea typeface="Microsoft YaHei"/>
              </a:rPr>
              <a:t>launch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39"/>
          <p:cNvSpPr/>
          <p:nvPr/>
        </p:nvSpPr>
        <p:spPr>
          <a:xfrm>
            <a:off x="1712880" y="4598640"/>
            <a:ext cx="3834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0-6 </a:t>
            </a: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أشهر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Box 40"/>
          <p:cNvSpPr/>
          <p:nvPr/>
        </p:nvSpPr>
        <p:spPr>
          <a:xfrm>
            <a:off x="1695960" y="4741560"/>
            <a:ext cx="4176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e7d32"/>
                </a:solidFill>
                <a:effectLst/>
                <a:uFillTx/>
                <a:latin typeface="Arial"/>
                <a:ea typeface="Microsoft YaHei"/>
              </a:rPr>
              <a:t>+61 </a:t>
            </a:r>
            <a:r>
              <a:rPr b="0" lang="ar-DZ" sz="900" strike="noStrike" u="none">
                <a:solidFill>
                  <a:srgbClr val="2e7d32"/>
                </a:solidFill>
                <a:effectLst/>
                <a:uFillTx/>
                <a:latin typeface="Arial"/>
                <a:cs typeface="Arial"/>
              </a:rPr>
              <a:t>عميل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Rectangle 41"/>
          <p:cNvSpPr/>
          <p:nvPr/>
        </p:nvSpPr>
        <p:spPr>
          <a:xfrm>
            <a:off x="3238560" y="3952800"/>
            <a:ext cx="2285640" cy="95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Rectangle 42"/>
          <p:cNvSpPr/>
          <p:nvPr/>
        </p:nvSpPr>
        <p:spPr>
          <a:xfrm>
            <a:off x="3238560" y="3952800"/>
            <a:ext cx="2285640" cy="5688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43"/>
          <p:cNvSpPr/>
          <p:nvPr/>
        </p:nvSpPr>
        <p:spPr>
          <a:xfrm>
            <a:off x="4128840" y="4137840"/>
            <a:ext cx="504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200" strike="noStrike" u="none">
                <a:solidFill>
                  <a:srgbClr val="0066cc"/>
                </a:solidFill>
                <a:effectLst/>
                <a:uFillTx/>
                <a:latin typeface="Arial"/>
                <a:cs typeface="Arial"/>
              </a:rPr>
              <a:t>المرحلة </a:t>
            </a:r>
            <a:r>
              <a:rPr b="1" lang="en-US" sz="1200" strike="noStrike" u="none">
                <a:solidFill>
                  <a:srgbClr val="0066cc"/>
                </a:solidFill>
                <a:effectLst/>
                <a:uFillTx/>
                <a:latin typeface="Arial"/>
                <a:ea typeface="Microsoft YaHei"/>
              </a:rPr>
              <a:t>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44"/>
          <p:cNvSpPr/>
          <p:nvPr/>
        </p:nvSpPr>
        <p:spPr>
          <a:xfrm>
            <a:off x="4098600" y="4371480"/>
            <a:ext cx="5652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98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التوسع والنمو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Box 45"/>
          <p:cNvSpPr/>
          <p:nvPr/>
        </p:nvSpPr>
        <p:spPr>
          <a:xfrm>
            <a:off x="4169520" y="4598640"/>
            <a:ext cx="4233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6-18 </a:t>
            </a: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شهر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Box 46"/>
          <p:cNvSpPr/>
          <p:nvPr/>
        </p:nvSpPr>
        <p:spPr>
          <a:xfrm>
            <a:off x="4140720" y="4741560"/>
            <a:ext cx="4809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0066cc"/>
                </a:solidFill>
                <a:effectLst/>
                <a:uFillTx/>
                <a:latin typeface="Arial"/>
                <a:ea typeface="Microsoft YaHei"/>
              </a:rPr>
              <a:t>+960 </a:t>
            </a:r>
            <a:r>
              <a:rPr b="0" lang="ar-DZ" sz="900" strike="noStrike" u="none">
                <a:solidFill>
                  <a:srgbClr val="0066cc"/>
                </a:solidFill>
                <a:effectLst/>
                <a:uFillTx/>
                <a:latin typeface="Arial"/>
                <a:cs typeface="Arial"/>
              </a:rPr>
              <a:t>عميل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Rectangle 47"/>
          <p:cNvSpPr/>
          <p:nvPr/>
        </p:nvSpPr>
        <p:spPr>
          <a:xfrm>
            <a:off x="5715000" y="3952800"/>
            <a:ext cx="2285640" cy="95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Rectangle 48"/>
          <p:cNvSpPr/>
          <p:nvPr/>
        </p:nvSpPr>
        <p:spPr>
          <a:xfrm>
            <a:off x="5715000" y="3952800"/>
            <a:ext cx="2285640" cy="5688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49"/>
          <p:cNvSpPr/>
          <p:nvPr/>
        </p:nvSpPr>
        <p:spPr>
          <a:xfrm>
            <a:off x="6605280" y="4137840"/>
            <a:ext cx="504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200" strike="noStrike" u="none">
                <a:solidFill>
                  <a:srgbClr val="0099aa"/>
                </a:solidFill>
                <a:effectLst/>
                <a:uFillTx/>
                <a:latin typeface="Arial"/>
                <a:cs typeface="Arial"/>
              </a:rPr>
              <a:t>المرحلة </a:t>
            </a:r>
            <a:r>
              <a:rPr b="1" lang="en-US" sz="1200" strike="noStrike" u="none">
                <a:solidFill>
                  <a:srgbClr val="0099aa"/>
                </a:solidFill>
                <a:effectLst/>
                <a:uFillTx/>
                <a:latin typeface="Arial"/>
                <a:ea typeface="Microsoft YaHei"/>
              </a:rPr>
              <a:t>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50"/>
          <p:cNvSpPr/>
          <p:nvPr/>
        </p:nvSpPr>
        <p:spPr>
          <a:xfrm>
            <a:off x="6529320" y="4371480"/>
            <a:ext cx="6570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98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الابتكار والتمكين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51"/>
          <p:cNvSpPr/>
          <p:nvPr/>
        </p:nvSpPr>
        <p:spPr>
          <a:xfrm>
            <a:off x="6614280" y="4598640"/>
            <a:ext cx="486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18-36 </a:t>
            </a: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شهر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Box 52"/>
          <p:cNvSpPr/>
          <p:nvPr/>
        </p:nvSpPr>
        <p:spPr>
          <a:xfrm>
            <a:off x="6569280" y="4741560"/>
            <a:ext cx="5763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0099aa"/>
                </a:solidFill>
                <a:effectLst/>
                <a:uFillTx/>
                <a:latin typeface="Arial"/>
                <a:ea typeface="Microsoft YaHei"/>
              </a:rPr>
              <a:t>+2,500 </a:t>
            </a:r>
            <a:r>
              <a:rPr b="0" lang="ar-DZ" sz="900" strike="noStrike" u="none">
                <a:solidFill>
                  <a:srgbClr val="0099aa"/>
                </a:solidFill>
                <a:effectLst/>
                <a:uFillTx/>
                <a:latin typeface="Arial"/>
                <a:cs typeface="Arial"/>
              </a:rPr>
              <a:t>عميل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Rectangle 53"/>
          <p:cNvSpPr/>
          <p:nvPr/>
        </p:nvSpPr>
        <p:spPr>
          <a:xfrm>
            <a:off x="8191440" y="3952800"/>
            <a:ext cx="3238200" cy="95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Rectangle 54"/>
          <p:cNvSpPr/>
          <p:nvPr/>
        </p:nvSpPr>
        <p:spPr>
          <a:xfrm>
            <a:off x="8191440" y="3952800"/>
            <a:ext cx="3238200" cy="568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55"/>
          <p:cNvSpPr/>
          <p:nvPr/>
        </p:nvSpPr>
        <p:spPr>
          <a:xfrm>
            <a:off x="9558000" y="4137840"/>
            <a:ext cx="504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1200" strike="noStrike" u="none">
                <a:solidFill>
                  <a:srgbClr val="6a1b9a"/>
                </a:solidFill>
                <a:effectLst/>
                <a:uFillTx/>
                <a:latin typeface="Arial"/>
                <a:cs typeface="Arial"/>
              </a:rPr>
              <a:t>المرحلة </a:t>
            </a:r>
            <a:r>
              <a:rPr b="1" lang="en-US" sz="1200" strike="noStrike" u="none">
                <a:solidFill>
                  <a:srgbClr val="6a1b9a"/>
                </a:solidFill>
                <a:effectLst/>
                <a:uFillTx/>
                <a:latin typeface="Arial"/>
                <a:ea typeface="Microsoft YaHei"/>
              </a:rPr>
              <a:t>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Box 56"/>
          <p:cNvSpPr/>
          <p:nvPr/>
        </p:nvSpPr>
        <p:spPr>
          <a:xfrm>
            <a:off x="9482040" y="4371480"/>
            <a:ext cx="6570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ar-DZ" sz="980" strike="noStrike" u="none">
                <a:solidFill>
                  <a:srgbClr val="1d1d1f"/>
                </a:solidFill>
                <a:effectLst/>
                <a:uFillTx/>
                <a:latin typeface="Arial"/>
                <a:cs typeface="Arial"/>
              </a:rPr>
              <a:t>الريادة والتوطين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Box 57"/>
          <p:cNvSpPr/>
          <p:nvPr/>
        </p:nvSpPr>
        <p:spPr>
          <a:xfrm>
            <a:off x="9616320" y="4598640"/>
            <a:ext cx="38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36+ </a:t>
            </a:r>
            <a:r>
              <a:rPr b="0" lang="ar-DZ" sz="90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شهر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Box 58"/>
          <p:cNvSpPr/>
          <p:nvPr/>
        </p:nvSpPr>
        <p:spPr>
          <a:xfrm>
            <a:off x="9403920" y="4741560"/>
            <a:ext cx="8132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6a1b9a"/>
                </a:solidFill>
                <a:effectLst/>
                <a:uFillTx/>
                <a:latin typeface="Arial"/>
                <a:cs typeface="Arial"/>
              </a:rPr>
              <a:t>ريادة السوق الجزائري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Rectangle 59"/>
          <p:cNvSpPr/>
          <p:nvPr/>
        </p:nvSpPr>
        <p:spPr>
          <a:xfrm>
            <a:off x="762120" y="5143680"/>
            <a:ext cx="10477080" cy="856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Rectangle 60"/>
          <p:cNvSpPr/>
          <p:nvPr/>
        </p:nvSpPr>
        <p:spPr>
          <a:xfrm>
            <a:off x="762120" y="5143680"/>
            <a:ext cx="56880" cy="85680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Box 61"/>
          <p:cNvSpPr/>
          <p:nvPr/>
        </p:nvSpPr>
        <p:spPr>
          <a:xfrm>
            <a:off x="1128600" y="5288760"/>
            <a:ext cx="8352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ar-DZ" sz="1130" strike="noStrike" u="none">
                <a:solidFill>
                  <a:srgbClr val="cc0000"/>
                </a:solidFill>
                <a:effectLst/>
                <a:uFillTx/>
                <a:latin typeface="Arial"/>
                <a:cs typeface="Arial"/>
              </a:rPr>
              <a:t>المراحل الرئيسية</a:t>
            </a:r>
            <a:r>
              <a:rPr b="1" lang="en-US" sz="1130" strike="noStrike" u="none">
                <a:solidFill>
                  <a:srgbClr val="cc0000"/>
                </a:solidFill>
                <a:effectLst/>
                <a:uFillTx/>
                <a:latin typeface="Arial"/>
                <a:ea typeface="Microsoft YaHei"/>
              </a:rPr>
              <a:t>: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Box 62"/>
          <p:cNvSpPr/>
          <p:nvPr/>
        </p:nvSpPr>
        <p:spPr>
          <a:xfrm>
            <a:off x="1130760" y="5533560"/>
            <a:ext cx="35442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BEP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الشهر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4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|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960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عميل الشهر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12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|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2,500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عميل الشهر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36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|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25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+ مؤسسة كبرى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Box 63"/>
          <p:cNvSpPr/>
          <p:nvPr/>
        </p:nvSpPr>
        <p:spPr>
          <a:xfrm>
            <a:off x="1130760" y="5752800"/>
            <a:ext cx="33393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توسيع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Zakat &amp; Douane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في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2026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| AI/ML </a:t>
            </a:r>
            <a:r>
              <a:rPr b="0" lang="ar-DZ" sz="980" strike="noStrike" u="none">
                <a:solidFill>
                  <a:srgbClr val="5a5a5a"/>
                </a:solidFill>
                <a:effectLst/>
                <a:uFillTx/>
                <a:latin typeface="Arial"/>
                <a:cs typeface="Arial"/>
              </a:rPr>
              <a:t>للاستشراف الضريبي في </a:t>
            </a:r>
            <a:r>
              <a:rPr b="0" lang="en-US" sz="980" strike="noStrike" u="none">
                <a:solidFill>
                  <a:srgbClr val="5a5a5a"/>
                </a:solidFill>
                <a:effectLst/>
                <a:uFillTx/>
                <a:latin typeface="Arial"/>
                <a:ea typeface="Microsoft YaHei"/>
              </a:rPr>
              <a:t>2027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Line 64"/>
          <p:cNvSpPr/>
          <p:nvPr/>
        </p:nvSpPr>
        <p:spPr>
          <a:xfrm>
            <a:off x="380880" y="633420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0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Box 65"/>
          <p:cNvSpPr/>
          <p:nvPr/>
        </p:nvSpPr>
        <p:spPr>
          <a:xfrm>
            <a:off x="369720" y="6522840"/>
            <a:ext cx="74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المصدر: خطة العمل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Box 66"/>
          <p:cNvSpPr/>
          <p:nvPr/>
        </p:nvSpPr>
        <p:spPr>
          <a:xfrm>
            <a:off x="5798880" y="6522840"/>
            <a:ext cx="593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ar-DZ" sz="900" strike="noStrike" u="none">
                <a:solidFill>
                  <a:srgbClr val="8a8a8a"/>
                </a:solidFill>
                <a:effectLst/>
                <a:uFillTx/>
                <a:latin typeface="Arial"/>
                <a:cs typeface="Arial"/>
              </a:rPr>
              <a:t>المراحل التنفيذية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67"/>
          <p:cNvSpPr/>
          <p:nvPr/>
        </p:nvSpPr>
        <p:spPr>
          <a:xfrm>
            <a:off x="11485080" y="6506640"/>
            <a:ext cx="148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Microsoft YaHei"/>
              </a:rPr>
              <a:t>16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2026-06-10T18:22:15Z</dcterms:created>
  <dc:creator/>
  <dc:description/>
  <dc:language>ar-DZ</dc:language>
  <cp:lastModifiedBy/>
  <dcterms:modified xsi:type="dcterms:W3CDTF">2026-06-10T19:34:57Z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16</vt:i4>
  </property>
</Properties>
</file>