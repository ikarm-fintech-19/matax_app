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pn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png"/><Relationship Id="rId33" Type="http://schemas.openxmlformats.org/officeDocument/2006/relationships/image" Target="../media/image-12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676275"/>
            <a:ext cx="5429250" cy="5505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6086475" y="676275"/>
            <a:ext cx="5429250" cy="55054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86000"/>
            <a:ext cx="3952875" cy="22955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1971675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— Comité National de Labellisation des Projets Innovants, Startups et Incubateurs</a:t>
            </a:r>
            <a:endParaRPr lang="en-US" sz="800" dirty="0"/>
          </a:p>
        </p:txBody>
      </p:sp>
      <p:sp>
        <p:nvSpPr>
          <p:cNvPr id="9" name="Text 1"/>
          <p:cNvSpPr/>
          <p:nvPr/>
        </p:nvSpPr>
        <p:spPr>
          <a:xfrm>
            <a:off x="762000" y="2886075"/>
            <a:ext cx="242902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MATAX</a:t>
            </a:r>
            <a:endParaRPr lang="en-US" sz="5100" dirty="0"/>
          </a:p>
        </p:txBody>
      </p:sp>
      <p:sp>
        <p:nvSpPr>
          <p:cNvPr id="10" name="Text 2"/>
          <p:cNvSpPr/>
          <p:nvPr/>
        </p:nvSpPr>
        <p:spPr>
          <a:xfrm>
            <a:off x="762000" y="4124325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Conformité Fiscale Intelligente</a:t>
            </a:r>
            <a:endParaRPr lang="en-US" sz="2100" dirty="0"/>
          </a:p>
        </p:txBody>
      </p:sp>
      <p:sp>
        <p:nvSpPr>
          <p:cNvPr id="11" name="Text 3"/>
          <p:cNvSpPr/>
          <p:nvPr/>
        </p:nvSpPr>
        <p:spPr>
          <a:xfrm>
            <a:off x="762000" y="4619625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1D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conformité fiscale, simplifiée pour tous."</a:t>
            </a:r>
            <a:endParaRPr lang="en-US" sz="140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1375" y="1762125"/>
            <a:ext cx="62865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"/>
            <a:ext cx="3276600" cy="12287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50" y="2390775"/>
            <a:ext cx="647700" cy="685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2390775"/>
            <a:ext cx="647700" cy="685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350" y="3228975"/>
            <a:ext cx="647700" cy="685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3228975"/>
            <a:ext cx="647700" cy="685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6350" y="4067175"/>
            <a:ext cx="647700" cy="685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50" y="4067175"/>
            <a:ext cx="647700" cy="685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6350" y="4943475"/>
            <a:ext cx="647700" cy="685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3650" y="4943475"/>
            <a:ext cx="647700" cy="685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990600"/>
            <a:ext cx="19259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2500" dirty="0"/>
          </a:p>
        </p:txBody>
      </p:sp>
      <p:sp>
        <p:nvSpPr>
          <p:cNvPr id="15" name="Text 1"/>
          <p:cNvSpPr/>
          <p:nvPr/>
        </p:nvSpPr>
        <p:spPr>
          <a:xfrm>
            <a:off x="1495425" y="25812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2"/>
          <p:cNvSpPr/>
          <p:nvPr/>
        </p:nvSpPr>
        <p:spPr>
          <a:xfrm>
            <a:off x="2095500" y="2562225"/>
            <a:ext cx="2609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générale</a:t>
            </a:r>
            <a:endParaRPr lang="en-US" sz="1700" dirty="0"/>
          </a:p>
        </p:txBody>
      </p:sp>
      <p:sp>
        <p:nvSpPr>
          <p:cNvPr id="17" name="Text 3"/>
          <p:cNvSpPr/>
          <p:nvPr/>
        </p:nvSpPr>
        <p:spPr>
          <a:xfrm>
            <a:off x="6543675" y="2581275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4"/>
          <p:cNvSpPr/>
          <p:nvPr/>
        </p:nvSpPr>
        <p:spPr>
          <a:xfrm>
            <a:off x="7162800" y="2562225"/>
            <a:ext cx="2524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 ciblée</a:t>
            </a:r>
            <a:endParaRPr lang="en-US" sz="1700" dirty="0"/>
          </a:p>
        </p:txBody>
      </p:sp>
      <p:sp>
        <p:nvSpPr>
          <p:cNvPr id="19" name="Text 5"/>
          <p:cNvSpPr/>
          <p:nvPr/>
        </p:nvSpPr>
        <p:spPr>
          <a:xfrm>
            <a:off x="1476375" y="3419475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6"/>
          <p:cNvSpPr/>
          <p:nvPr/>
        </p:nvSpPr>
        <p:spPr>
          <a:xfrm>
            <a:off x="2095500" y="3400425"/>
            <a:ext cx="2828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Informations de contact</a:t>
            </a:r>
            <a:endParaRPr lang="en-US" sz="1700" dirty="0"/>
          </a:p>
        </p:txBody>
      </p:sp>
      <p:sp>
        <p:nvSpPr>
          <p:cNvPr id="21" name="Text 7"/>
          <p:cNvSpPr/>
          <p:nvPr/>
        </p:nvSpPr>
        <p:spPr>
          <a:xfrm>
            <a:off x="6538913" y="3419475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8"/>
          <p:cNvSpPr/>
          <p:nvPr/>
        </p:nvSpPr>
        <p:spPr>
          <a:xfrm>
            <a:off x="7162800" y="3400425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proposée</a:t>
            </a:r>
            <a:endParaRPr lang="en-US" sz="1700" dirty="0"/>
          </a:p>
        </p:txBody>
      </p:sp>
      <p:sp>
        <p:nvSpPr>
          <p:cNvPr id="23" name="Text 9"/>
          <p:cNvSpPr/>
          <p:nvPr/>
        </p:nvSpPr>
        <p:spPr>
          <a:xfrm>
            <a:off x="1476375" y="4257675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10"/>
          <p:cNvSpPr/>
          <p:nvPr/>
        </p:nvSpPr>
        <p:spPr>
          <a:xfrm>
            <a:off x="2095500" y="4238625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 du projet</a:t>
            </a:r>
            <a:endParaRPr lang="en-US" sz="1700" dirty="0"/>
          </a:p>
        </p:txBody>
      </p:sp>
      <p:sp>
        <p:nvSpPr>
          <p:cNvPr id="25" name="Text 11"/>
          <p:cNvSpPr/>
          <p:nvPr/>
        </p:nvSpPr>
        <p:spPr>
          <a:xfrm>
            <a:off x="6543675" y="4257675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12"/>
          <p:cNvSpPr/>
          <p:nvPr/>
        </p:nvSpPr>
        <p:spPr>
          <a:xfrm>
            <a:off x="7162800" y="4238625"/>
            <a:ext cx="115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700" dirty="0"/>
          </a:p>
        </p:txBody>
      </p:sp>
      <p:sp>
        <p:nvSpPr>
          <p:cNvPr id="27" name="Text 13"/>
          <p:cNvSpPr/>
          <p:nvPr/>
        </p:nvSpPr>
        <p:spPr>
          <a:xfrm>
            <a:off x="1466850" y="513397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14"/>
          <p:cNvSpPr/>
          <p:nvPr/>
        </p:nvSpPr>
        <p:spPr>
          <a:xfrm>
            <a:off x="2095500" y="5114925"/>
            <a:ext cx="981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L’équipe</a:t>
            </a:r>
            <a:endParaRPr lang="en-US" sz="1700" dirty="0"/>
          </a:p>
        </p:txBody>
      </p:sp>
      <p:sp>
        <p:nvSpPr>
          <p:cNvPr id="29" name="Text 15"/>
          <p:cNvSpPr/>
          <p:nvPr/>
        </p:nvSpPr>
        <p:spPr>
          <a:xfrm>
            <a:off x="6538913" y="5133975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0" name="Text 16"/>
          <p:cNvSpPr/>
          <p:nvPr/>
        </p:nvSpPr>
        <p:spPr>
          <a:xfrm>
            <a:off x="7162800" y="4962525"/>
            <a:ext cx="3695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PI, valeur, concurrence, marché, modèle, roadmap</a:t>
            </a:r>
            <a:endParaRPr lang="en-US" sz="1700" dirty="0"/>
          </a:p>
        </p:txBody>
      </p:sp>
      <p:sp>
        <p:nvSpPr>
          <p:cNvPr id="31" name="Text 17"/>
          <p:cNvSpPr/>
          <p:nvPr/>
        </p:nvSpPr>
        <p:spPr>
          <a:xfrm>
            <a:off x="762000" y="6381750"/>
            <a:ext cx="433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MATAX — Comité National de Labellisation des Projets Innovants</a:t>
            </a:r>
            <a:endParaRPr lang="en-US" sz="900" dirty="0"/>
          </a:p>
        </p:txBody>
      </p:sp>
      <p:sp>
        <p:nvSpPr>
          <p:cNvPr id="32" name="Text 18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5495925" cy="1152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143250"/>
            <a:ext cx="590550" cy="571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752850"/>
            <a:ext cx="95250" cy="952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857750"/>
            <a:ext cx="95250" cy="95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5467350"/>
            <a:ext cx="95250" cy="95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7025" y="2419350"/>
            <a:ext cx="4591050" cy="32575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838200" y="952500"/>
            <a:ext cx="422820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Générale</a:t>
            </a:r>
            <a:endParaRPr lang="en-US" sz="2500" dirty="0"/>
          </a:p>
        </p:txBody>
      </p:sp>
      <p:sp>
        <p:nvSpPr>
          <p:cNvPr id="13" name="Text 1"/>
          <p:cNvSpPr/>
          <p:nvPr/>
        </p:nvSpPr>
        <p:spPr>
          <a:xfrm>
            <a:off x="762000" y="2162175"/>
            <a:ext cx="521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du projet: MATAX</a:t>
            </a:r>
            <a:endParaRPr lang="en-US" sz="900" dirty="0"/>
          </a:p>
        </p:txBody>
      </p:sp>
      <p:sp>
        <p:nvSpPr>
          <p:cNvPr id="14" name="Text 2"/>
          <p:cNvSpPr/>
          <p:nvPr/>
        </p:nvSpPr>
        <p:spPr>
          <a:xfrm>
            <a:off x="762000" y="2428875"/>
            <a:ext cx="5219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"Votre conformité fiscale, en quelques clics."</a:t>
            </a:r>
            <a:endParaRPr lang="en-US" sz="1700" dirty="0"/>
          </a:p>
        </p:txBody>
      </p:sp>
      <p:sp>
        <p:nvSpPr>
          <p:cNvPr id="15" name="Text 3"/>
          <p:cNvSpPr/>
          <p:nvPr/>
        </p:nvSpPr>
        <p:spPr>
          <a:xfrm>
            <a:off x="762000" y="3305175"/>
            <a:ext cx="5219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</a:t>
            </a:r>
            <a:endParaRPr lang="en-US" sz="1100" dirty="0"/>
          </a:p>
        </p:txBody>
      </p:sp>
      <p:sp>
        <p:nvSpPr>
          <p:cNvPr id="16" name="Text 4"/>
          <p:cNvSpPr/>
          <p:nvPr/>
        </p:nvSpPr>
        <p:spPr>
          <a:xfrm>
            <a:off x="990600" y="3667125"/>
            <a:ext cx="4991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Matax est une plateforme numérique qui permet aux entreprises, commerçants immatriculés, particuliers assujettis et experts-comptables de gérer l’intégralité de leurs obligations fiscales DGI</a:t>
            </a:r>
            <a:endParaRPr lang="en-US" sz="1100" dirty="0"/>
          </a:p>
        </p:txBody>
      </p:sp>
      <p:sp>
        <p:nvSpPr>
          <p:cNvPr id="17" name="Text 5"/>
          <p:cNvSpPr/>
          <p:nvPr/>
        </p:nvSpPr>
        <p:spPr>
          <a:xfrm>
            <a:off x="990600" y="4772025"/>
            <a:ext cx="4991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Déclarations automatisées, calculs conformes aux lois en vigueur, tableau de bord des obligations personnalisé</a:t>
            </a:r>
            <a:endParaRPr lang="en-US" sz="1100" dirty="0"/>
          </a:p>
        </p:txBody>
      </p:sp>
      <p:sp>
        <p:nvSpPr>
          <p:cNvPr id="18" name="Text 6"/>
          <p:cNvSpPr/>
          <p:nvPr/>
        </p:nvSpPr>
        <p:spPr>
          <a:xfrm>
            <a:off x="990600" y="5381625"/>
            <a:ext cx="4772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professionnelle en option pour les cas complexes</a:t>
            </a:r>
            <a:endParaRPr lang="en-US" sz="1100" dirty="0"/>
          </a:p>
        </p:txBody>
      </p:sp>
      <p:sp>
        <p:nvSpPr>
          <p:cNvPr id="19" name="Text 7"/>
          <p:cNvSpPr/>
          <p:nvPr/>
        </p:nvSpPr>
        <p:spPr>
          <a:xfrm>
            <a:off x="762000" y="63817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20" name="Text 8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4625" y="2266950"/>
            <a:ext cx="4591050" cy="3257550"/>
          </a:xfrm>
          <a:prstGeom prst="rect">
            <a:avLst/>
          </a:prstGeom>
        </p:spPr>
      </p:pic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6550" y="2428875"/>
            <a:ext cx="1162050" cy="133350"/>
          </a:xfrm>
          <a:prstGeom prst="rect">
            <a:avLst/>
          </a:prstGeom>
        </p:spPr>
      </p:pic>
      <p:pic>
        <p:nvPicPr>
          <p:cNvPr id="2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20150" y="4619625"/>
            <a:ext cx="2247900" cy="1047750"/>
          </a:xfrm>
          <a:prstGeom prst="rect">
            <a:avLst/>
          </a:prstGeom>
        </p:spPr>
      </p:pic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50" y="2276475"/>
            <a:ext cx="4572000" cy="3257550"/>
          </a:xfrm>
          <a:prstGeom prst="rect">
            <a:avLst/>
          </a:prstGeom>
        </p:spPr>
      </p:pic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3050" y="4962525"/>
            <a:ext cx="180975" cy="171450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9442996" y="4972050"/>
            <a:ext cx="12726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DGI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5867400" cy="1152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552825"/>
            <a:ext cx="590550" cy="666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819525"/>
            <a:ext cx="4648200" cy="800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3962400"/>
            <a:ext cx="495300" cy="5048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667250"/>
            <a:ext cx="4648200" cy="800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" y="4810125"/>
            <a:ext cx="495300" cy="5048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1225" y="2257425"/>
            <a:ext cx="5448300" cy="3276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2638425"/>
            <a:ext cx="495300" cy="5048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3419475"/>
            <a:ext cx="495300" cy="5048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25" y="4352925"/>
            <a:ext cx="4648200" cy="800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0325" y="4667250"/>
            <a:ext cx="476250" cy="4857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838200" y="952500"/>
            <a:ext cx="459774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Informations de Contact</a:t>
            </a:r>
            <a:endParaRPr lang="en-US" sz="2500" dirty="0"/>
          </a:p>
        </p:txBody>
      </p:sp>
      <p:sp>
        <p:nvSpPr>
          <p:cNvPr id="18" name="Text 1"/>
          <p:cNvSpPr/>
          <p:nvPr/>
        </p:nvSpPr>
        <p:spPr>
          <a:xfrm>
            <a:off x="762000" y="2338388"/>
            <a:ext cx="462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du Projet</a:t>
            </a:r>
            <a:endParaRPr lang="en-US" sz="900" dirty="0"/>
          </a:p>
        </p:txBody>
      </p:sp>
      <p:sp>
        <p:nvSpPr>
          <p:cNvPr id="19" name="Text 2"/>
          <p:cNvSpPr/>
          <p:nvPr/>
        </p:nvSpPr>
        <p:spPr>
          <a:xfrm>
            <a:off x="762000" y="2605088"/>
            <a:ext cx="4629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Hamoum Ikram</a:t>
            </a:r>
            <a:endParaRPr lang="en-US" sz="2500" dirty="0"/>
          </a:p>
        </p:txBody>
      </p:sp>
      <p:sp>
        <p:nvSpPr>
          <p:cNvPr id="20" name="Text 3"/>
          <p:cNvSpPr/>
          <p:nvPr/>
        </p:nvSpPr>
        <p:spPr>
          <a:xfrm>
            <a:off x="762000" y="3071813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Fondatrice &amp; PDG</a:t>
            </a:r>
            <a:endParaRPr lang="en-US" sz="1400" dirty="0"/>
          </a:p>
        </p:txBody>
      </p:sp>
      <p:pic>
        <p:nvPicPr>
          <p:cNvPr id="2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8225" y="4105275"/>
            <a:ext cx="209550" cy="219075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1571625" y="4005262"/>
            <a:ext cx="2686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800" dirty="0"/>
          </a:p>
        </p:txBody>
      </p:sp>
      <p:sp>
        <p:nvSpPr>
          <p:cNvPr id="23" name="Text 5"/>
          <p:cNvSpPr/>
          <p:nvPr/>
        </p:nvSpPr>
        <p:spPr>
          <a:xfrm>
            <a:off x="1571625" y="4157663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ikramhamoum00@gmail.com</a:t>
            </a:r>
            <a:endParaRPr lang="en-US" sz="1200" dirty="0"/>
          </a:p>
        </p:txBody>
      </p:sp>
      <p:pic>
        <p:nvPicPr>
          <p:cNvPr id="2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8225" y="4953000"/>
            <a:ext cx="209550" cy="219075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1571625" y="4852988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800" dirty="0"/>
          </a:p>
        </p:txBody>
      </p:sp>
      <p:sp>
        <p:nvSpPr>
          <p:cNvPr id="26" name="Text 7"/>
          <p:cNvSpPr/>
          <p:nvPr/>
        </p:nvSpPr>
        <p:spPr>
          <a:xfrm>
            <a:off x="1571625" y="5005388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0672532599</a:t>
            </a:r>
            <a:endParaRPr lang="en-US" sz="1200" dirty="0"/>
          </a:p>
        </p:txBody>
      </p:sp>
      <p:pic>
        <p:nvPicPr>
          <p:cNvPr id="2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2781300"/>
            <a:ext cx="209550" cy="219075"/>
          </a:xfrm>
          <a:prstGeom prst="rect">
            <a:avLst/>
          </a:prstGeom>
        </p:spPr>
      </p:pic>
      <p:sp>
        <p:nvSpPr>
          <p:cNvPr id="28" name="Text 8"/>
          <p:cNvSpPr/>
          <p:nvPr/>
        </p:nvSpPr>
        <p:spPr>
          <a:xfrm>
            <a:off x="7124700" y="2652713"/>
            <a:ext cx="3448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</a:t>
            </a:r>
            <a:endParaRPr lang="en-US" sz="800" dirty="0"/>
          </a:p>
        </p:txBody>
      </p:sp>
      <p:sp>
        <p:nvSpPr>
          <p:cNvPr id="29" name="Text 9"/>
          <p:cNvSpPr/>
          <p:nvPr/>
        </p:nvSpPr>
        <p:spPr>
          <a:xfrm>
            <a:off x="7124700" y="2833688"/>
            <a:ext cx="3448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https://matax-frontend.onrender.com/</a:t>
            </a:r>
            <a:endParaRPr lang="en-US" sz="1200" dirty="0"/>
          </a:p>
        </p:txBody>
      </p:sp>
      <p:pic>
        <p:nvPicPr>
          <p:cNvPr id="3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72250" y="3562350"/>
            <a:ext cx="171450" cy="219075"/>
          </a:xfrm>
          <a:prstGeom prst="rect">
            <a:avLst/>
          </a:prstGeom>
        </p:spPr>
      </p:pic>
      <p:sp>
        <p:nvSpPr>
          <p:cNvPr id="31" name="Text 10"/>
          <p:cNvSpPr/>
          <p:nvPr/>
        </p:nvSpPr>
        <p:spPr>
          <a:xfrm>
            <a:off x="7124700" y="3433763"/>
            <a:ext cx="1247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</a:t>
            </a:r>
            <a:endParaRPr lang="en-US" sz="800" dirty="0"/>
          </a:p>
        </p:txBody>
      </p:sp>
      <p:sp>
        <p:nvSpPr>
          <p:cNvPr id="32" name="Text 11"/>
          <p:cNvSpPr/>
          <p:nvPr/>
        </p:nvSpPr>
        <p:spPr>
          <a:xfrm>
            <a:off x="7124700" y="3586163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Tiaret, Algérie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6557963" y="4776788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4" name="Text 13"/>
          <p:cNvSpPr/>
          <p:nvPr/>
        </p:nvSpPr>
        <p:spPr>
          <a:xfrm>
            <a:off x="7029450" y="4814888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"Votre comptable numérique, disponible 24h/24."</a:t>
            </a:r>
            <a:endParaRPr lang="en-US" sz="900" dirty="0"/>
          </a:p>
        </p:txBody>
      </p:sp>
      <p:sp>
        <p:nvSpPr>
          <p:cNvPr id="35" name="Text 14"/>
          <p:cNvSpPr/>
          <p:nvPr/>
        </p:nvSpPr>
        <p:spPr>
          <a:xfrm>
            <a:off x="762000" y="63817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36" name="Text 15"/>
          <p:cNvSpPr/>
          <p:nvPr/>
        </p:nvSpPr>
        <p:spPr>
          <a:xfrm>
            <a:off x="11258550" y="6381750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4648200" cy="1152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019300"/>
            <a:ext cx="400050" cy="400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628900"/>
            <a:ext cx="590550" cy="571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25" y="2019300"/>
            <a:ext cx="409575" cy="400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125" y="2628900"/>
            <a:ext cx="600075" cy="571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300" y="2019300"/>
            <a:ext cx="409575" cy="400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5300" y="2628900"/>
            <a:ext cx="600075" cy="571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838200" y="952500"/>
            <a:ext cx="3375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 du Projet</a:t>
            </a:r>
            <a:endParaRPr lang="en-US" sz="2500" dirty="0"/>
          </a:p>
        </p:txBody>
      </p:sp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25" y="2114550"/>
            <a:ext cx="209550" cy="209550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1257300" y="2066925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</a:t>
            </a:r>
            <a:endParaRPr lang="en-US" sz="1700" dirty="0"/>
          </a:p>
        </p:txBody>
      </p:sp>
      <p:sp>
        <p:nvSpPr>
          <p:cNvPr id="16" name="Text 2"/>
          <p:cNvSpPr/>
          <p:nvPr/>
        </p:nvSpPr>
        <p:spPr>
          <a:xfrm>
            <a:off x="762000" y="2828925"/>
            <a:ext cx="571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3"/>
          <p:cNvSpPr/>
          <p:nvPr/>
        </p:nvSpPr>
        <p:spPr>
          <a:xfrm>
            <a:off x="895350" y="2828925"/>
            <a:ext cx="316855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fiscalité algérienne est complexe, instable et intimidante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762000" y="3538538"/>
            <a:ext cx="571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895350" y="3538538"/>
            <a:ext cx="3168551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législation change chaque année; les calculs sont sources d’erreurs; démarches chronophages</a:t>
            </a:r>
            <a:endParaRPr lang="en-US" sz="1200" dirty="0"/>
          </a:p>
        </p:txBody>
      </p:sp>
      <p:pic>
        <p:nvPicPr>
          <p:cNvPr id="2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2950" y="2114550"/>
            <a:ext cx="171450" cy="20955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4940201" y="2066925"/>
            <a:ext cx="1247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700" dirty="0"/>
          </a:p>
        </p:txBody>
      </p:sp>
      <p:sp>
        <p:nvSpPr>
          <p:cNvPr id="22" name="Text 7"/>
          <p:cNvSpPr/>
          <p:nvPr/>
        </p:nvSpPr>
        <p:spPr>
          <a:xfrm>
            <a:off x="4444901" y="2828925"/>
            <a:ext cx="571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4578251" y="2828925"/>
            <a:ext cx="31687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 des déclarations (G50, G11, G04)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4444901" y="3538538"/>
            <a:ext cx="571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4578251" y="3538538"/>
            <a:ext cx="31687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IRG, IBS et TVA selon le code fiscal DGI 2026</a:t>
            </a:r>
            <a:endParaRPr lang="en-US" sz="1200" dirty="0"/>
          </a:p>
        </p:txBody>
      </p:sp>
      <p:sp>
        <p:nvSpPr>
          <p:cNvPr id="26" name="Text 11"/>
          <p:cNvSpPr/>
          <p:nvPr/>
        </p:nvSpPr>
        <p:spPr>
          <a:xfrm>
            <a:off x="4444901" y="4248150"/>
            <a:ext cx="571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4578251" y="4248150"/>
            <a:ext cx="31687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personnalisé + consultation professionnelle en option</a:t>
            </a:r>
            <a:endParaRPr lang="en-US" sz="1200" dirty="0"/>
          </a:p>
        </p:txBody>
      </p:sp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0550" y="2114550"/>
            <a:ext cx="219075" cy="20955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8623250" y="2066925"/>
            <a:ext cx="2152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ATTENDU</a:t>
            </a:r>
            <a:endParaRPr lang="en-US" sz="1700" dirty="0"/>
          </a:p>
        </p:txBody>
      </p:sp>
      <p:sp>
        <p:nvSpPr>
          <p:cNvPr id="30" name="Text 14"/>
          <p:cNvSpPr/>
          <p:nvPr/>
        </p:nvSpPr>
        <p:spPr>
          <a:xfrm>
            <a:off x="8127950" y="2828925"/>
            <a:ext cx="571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8261300" y="2828925"/>
            <a:ext cx="3168551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accessible à tous (particuliers, entreprises, professionnels)</a:t>
            </a:r>
            <a:endParaRPr lang="en-US" sz="1200" dirty="0"/>
          </a:p>
        </p:txBody>
      </p:sp>
      <p:sp>
        <p:nvSpPr>
          <p:cNvPr id="32" name="Text 16"/>
          <p:cNvSpPr/>
          <p:nvPr/>
        </p:nvSpPr>
        <p:spPr>
          <a:xfrm>
            <a:off x="8127950" y="3817144"/>
            <a:ext cx="571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3" name="Text 17"/>
          <p:cNvSpPr/>
          <p:nvPr/>
        </p:nvSpPr>
        <p:spPr>
          <a:xfrm>
            <a:off x="8261300" y="3817144"/>
            <a:ext cx="316855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d’erreurs/pénalités, moins de temps perdu</a:t>
            </a:r>
            <a:endParaRPr lang="en-US" sz="1200" dirty="0"/>
          </a:p>
        </p:txBody>
      </p:sp>
      <p:sp>
        <p:nvSpPr>
          <p:cNvPr id="34" name="Text 18"/>
          <p:cNvSpPr/>
          <p:nvPr/>
        </p:nvSpPr>
        <p:spPr>
          <a:xfrm>
            <a:off x="762000" y="63817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35" name="Text 19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2895600" cy="1152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2095500"/>
            <a:ext cx="3257550" cy="34575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2057400"/>
            <a:ext cx="3638550" cy="40290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175" y="2743200"/>
            <a:ext cx="628650" cy="571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6219825"/>
            <a:ext cx="10687050" cy="44767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838200" y="952500"/>
            <a:ext cx="16211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L'Équipe</a:t>
            </a:r>
            <a:endParaRPr lang="en-US" sz="2500" dirty="0"/>
          </a:p>
        </p:txBody>
      </p:sp>
      <p:sp>
        <p:nvSpPr>
          <p:cNvPr id="11" name="Text 1"/>
          <p:cNvSpPr/>
          <p:nvPr/>
        </p:nvSpPr>
        <p:spPr>
          <a:xfrm>
            <a:off x="4457700" y="1952625"/>
            <a:ext cx="6972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Hamoum Ikram</a:t>
            </a:r>
            <a:endParaRPr lang="en-US" sz="2100" dirty="0"/>
          </a:p>
        </p:txBody>
      </p:sp>
      <p:sp>
        <p:nvSpPr>
          <p:cNvPr id="12" name="Text 2"/>
          <p:cNvSpPr/>
          <p:nvPr/>
        </p:nvSpPr>
        <p:spPr>
          <a:xfrm>
            <a:off x="4457700" y="2333625"/>
            <a:ext cx="6972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Fondatrice &amp; PDG</a:t>
            </a:r>
            <a:endParaRPr lang="en-US" sz="1400" dirty="0"/>
          </a:p>
        </p:txBody>
      </p:sp>
      <p:sp>
        <p:nvSpPr>
          <p:cNvPr id="13" name="Text 3"/>
          <p:cNvSpPr/>
          <p:nvPr/>
        </p:nvSpPr>
        <p:spPr>
          <a:xfrm>
            <a:off x="4761607" y="3009900"/>
            <a:ext cx="10592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</a:t>
            </a:r>
            <a:endParaRPr lang="en-US" sz="1200" dirty="0"/>
          </a:p>
        </p:txBody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175" y="3019425"/>
            <a:ext cx="247650" cy="190500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8175" y="3467100"/>
            <a:ext cx="133350" cy="13335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4686300" y="3362325"/>
            <a:ext cx="4143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en Sciences Financières et Comptables (2024)</a:t>
            </a:r>
            <a:endParaRPr lang="en-US" sz="1100" dirty="0"/>
          </a:p>
        </p:txBody>
      </p:sp>
      <p:pic>
        <p:nvPicPr>
          <p:cNvPr id="1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8175" y="3829050"/>
            <a:ext cx="133350" cy="13335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4686300" y="3724275"/>
            <a:ext cx="3448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en Comptabilité et Fiscalité (en cours)</a:t>
            </a:r>
            <a:endParaRPr lang="en-US" sz="1100" dirty="0"/>
          </a:p>
        </p:txBody>
      </p:sp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8175" y="4191000"/>
            <a:ext cx="133350" cy="13335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4686300" y="4086225"/>
            <a:ext cx="5010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Terbass chez Naftal et Sonelgaz — systèmes de gestion financière</a:t>
            </a:r>
            <a:endParaRPr lang="en-US" sz="1100" dirty="0"/>
          </a:p>
        </p:txBody>
      </p:sp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8175" y="4552950"/>
            <a:ext cx="133350" cy="13335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4686300" y="4448175"/>
            <a:ext cx="5581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en cabinets comptables agréés — déclarations fiscales terrain</a:t>
            </a:r>
            <a:endParaRPr lang="en-US" sz="1100" dirty="0"/>
          </a:p>
        </p:txBody>
      </p:sp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48175" y="4914900"/>
            <a:ext cx="133350" cy="133350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4686300" y="4810125"/>
            <a:ext cx="5114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Ancienne gestionnaire/superviseure dans une société d’assurances</a:t>
            </a:r>
            <a:endParaRPr lang="en-US" sz="1100" dirty="0"/>
          </a:p>
        </p:txBody>
      </p:sp>
      <p:sp>
        <p:nvSpPr>
          <p:cNvPr id="25" name="Text 9"/>
          <p:cNvSpPr/>
          <p:nvPr/>
        </p:nvSpPr>
        <p:spPr>
          <a:xfrm>
            <a:off x="4713982" y="5314950"/>
            <a:ext cx="14564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</a:t>
            </a:r>
            <a:endParaRPr lang="en-US" sz="1200" dirty="0"/>
          </a:p>
        </p:txBody>
      </p:sp>
      <p:pic>
        <p:nvPicPr>
          <p:cNvPr id="2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8175" y="5324475"/>
            <a:ext cx="200025" cy="190500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48175" y="5657850"/>
            <a:ext cx="1257300" cy="352425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4610100" y="5724525"/>
            <a:ext cx="9334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highlight>
                  <a:srgbClr val="EEF5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Comptabilité</a:t>
            </a:r>
            <a:endParaRPr lang="en-US" sz="900" dirty="0"/>
          </a:p>
        </p:txBody>
      </p:sp>
      <p:pic>
        <p:nvPicPr>
          <p:cNvPr id="2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62625" y="5657850"/>
            <a:ext cx="914400" cy="352425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5924550" y="5724525"/>
            <a:ext cx="590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highlight>
                  <a:srgbClr val="EEF5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Fiscalité</a:t>
            </a:r>
            <a:endParaRPr lang="en-US" sz="900" dirty="0"/>
          </a:p>
        </p:txBody>
      </p:sp>
      <p:pic>
        <p:nvPicPr>
          <p:cNvPr id="3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4175" y="5657850"/>
            <a:ext cx="1924050" cy="352425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6896100" y="5724525"/>
            <a:ext cx="16002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highlight>
                  <a:srgbClr val="EEF5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Gestion administrative</a:t>
            </a:r>
            <a:endParaRPr lang="en-US" sz="900" dirty="0"/>
          </a:p>
        </p:txBody>
      </p:sp>
      <p:pic>
        <p:nvPicPr>
          <p:cNvPr id="3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15375" y="5657850"/>
            <a:ext cx="1123950" cy="352425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8877300" y="5724525"/>
            <a:ext cx="8001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highlight>
                  <a:srgbClr val="EEF5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900" dirty="0"/>
          </a:p>
        </p:txBody>
      </p:sp>
      <p:pic>
        <p:nvPicPr>
          <p:cNvPr id="3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96475" y="5657850"/>
            <a:ext cx="1476375" cy="352425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10058400" y="5724525"/>
            <a:ext cx="11525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highlight>
                  <a:srgbClr val="EEF5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Entrepreneuriat</a:t>
            </a:r>
            <a:endParaRPr lang="en-US" sz="900" dirty="0"/>
          </a:p>
        </p:txBody>
      </p:sp>
      <p:sp>
        <p:nvSpPr>
          <p:cNvPr id="37" name="Text 15"/>
          <p:cNvSpPr/>
          <p:nvPr/>
        </p:nvSpPr>
        <p:spPr>
          <a:xfrm>
            <a:off x="762000" y="6467475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38" name="Text 16"/>
          <p:cNvSpPr/>
          <p:nvPr/>
        </p:nvSpPr>
        <p:spPr>
          <a:xfrm>
            <a:off x="11258550" y="6467475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11153775" cy="10858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381250"/>
            <a:ext cx="323850" cy="3333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876550"/>
            <a:ext cx="323850" cy="3333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371850"/>
            <a:ext cx="323850" cy="3333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867150"/>
            <a:ext cx="323850" cy="3333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4362450"/>
            <a:ext cx="323850" cy="3333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4857750"/>
            <a:ext cx="323850" cy="3333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5375" y="2381250"/>
            <a:ext cx="2876550" cy="32670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2475" y="2038350"/>
            <a:ext cx="3257550" cy="38385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838200" y="952500"/>
            <a:ext cx="988456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fiscalité algérienne : complexe, instable, et coûteuse à gérer</a:t>
            </a:r>
            <a:endParaRPr lang="en-US" sz="2100" dirty="0"/>
          </a:p>
        </p:txBody>
      </p:sp>
      <p:pic>
        <p:nvPicPr>
          <p:cNvPr id="1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" y="2438400"/>
            <a:ext cx="209550" cy="219075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1219200" y="239315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législation en mouvement permanent</a:t>
            </a:r>
            <a:endParaRPr lang="en-US" sz="1100" dirty="0"/>
          </a:p>
        </p:txBody>
      </p:sp>
      <p:sp>
        <p:nvSpPr>
          <p:cNvPr id="18" name="Text 2"/>
          <p:cNvSpPr/>
          <p:nvPr/>
        </p:nvSpPr>
        <p:spPr>
          <a:xfrm>
            <a:off x="1219200" y="2621756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Changements annuels (taux, régimes, formulaires)</a:t>
            </a:r>
            <a:endParaRPr lang="en-US" sz="900" dirty="0"/>
          </a:p>
        </p:txBody>
      </p:sp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2933700"/>
            <a:ext cx="247650" cy="219075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1219200" y="2888456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peur des pénalités</a:t>
            </a:r>
            <a:endParaRPr lang="en-US" sz="1100" dirty="0"/>
          </a:p>
        </p:txBody>
      </p:sp>
      <p:sp>
        <p:nvSpPr>
          <p:cNvPr id="21" name="Text 4"/>
          <p:cNvSpPr/>
          <p:nvPr/>
        </p:nvSpPr>
        <p:spPr>
          <a:xfrm>
            <a:off x="1219200" y="3117056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Majorations, pénalités, redressements</a:t>
            </a:r>
            <a:endParaRPr lang="en-US" sz="900" dirty="0"/>
          </a:p>
        </p:txBody>
      </p:sp>
      <p:pic>
        <p:nvPicPr>
          <p:cNvPr id="2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8675" y="3429000"/>
            <a:ext cx="171450" cy="219075"/>
          </a:xfrm>
          <a:prstGeom prst="rect">
            <a:avLst/>
          </a:prstGeom>
        </p:spPr>
      </p:pic>
      <p:sp>
        <p:nvSpPr>
          <p:cNvPr id="23" name="Text 5"/>
          <p:cNvSpPr/>
          <p:nvPr/>
        </p:nvSpPr>
        <p:spPr>
          <a:xfrm>
            <a:off x="1219200" y="3383756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calculs sources d’erreurs</a:t>
            </a:r>
            <a:endParaRPr lang="en-US" sz="1100" dirty="0"/>
          </a:p>
        </p:txBody>
      </p:sp>
      <p:sp>
        <p:nvSpPr>
          <p:cNvPr id="24" name="Text 6"/>
          <p:cNvSpPr/>
          <p:nvPr/>
        </p:nvSpPr>
        <p:spPr>
          <a:xfrm>
            <a:off x="1219200" y="3612356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IRG, IBS, TVA, abattements, cotisations</a:t>
            </a:r>
            <a:endParaRPr lang="en-US" sz="900" dirty="0"/>
          </a:p>
        </p:txBody>
      </p:sp>
      <p:pic>
        <p:nvPicPr>
          <p:cNvPr id="2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9150" y="3924300"/>
            <a:ext cx="190500" cy="219075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>
            <a:off x="1219200" y="3879056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temps perdu entre les administrations</a:t>
            </a:r>
            <a:endParaRPr lang="en-US" sz="1100" dirty="0"/>
          </a:p>
        </p:txBody>
      </p:sp>
      <p:sp>
        <p:nvSpPr>
          <p:cNvPr id="27" name="Text 8"/>
          <p:cNvSpPr/>
          <p:nvPr/>
        </p:nvSpPr>
        <p:spPr>
          <a:xfrm>
            <a:off x="1219200" y="4107656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DGI, CASNOS, CNRC, centres des impôts</a:t>
            </a:r>
            <a:endParaRPr lang="en-US" sz="900" dirty="0"/>
          </a:p>
        </p:txBody>
      </p:sp>
      <p:pic>
        <p:nvPicPr>
          <p:cNvPr id="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0575" y="4419600"/>
            <a:ext cx="247650" cy="219075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1219200" y="4374356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procédure perçue comme opaque</a:t>
            </a:r>
            <a:endParaRPr lang="en-US" sz="1100" dirty="0"/>
          </a:p>
        </p:txBody>
      </p:sp>
      <p:sp>
        <p:nvSpPr>
          <p:cNvPr id="30" name="Text 10"/>
          <p:cNvSpPr/>
          <p:nvPr/>
        </p:nvSpPr>
        <p:spPr>
          <a:xfrm>
            <a:off x="1219200" y="4602956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jibâiya » intimidante, obligations méconnues</a:t>
            </a:r>
            <a:endParaRPr lang="en-US" sz="900" dirty="0"/>
          </a:p>
        </p:txBody>
      </p:sp>
      <p:pic>
        <p:nvPicPr>
          <p:cNvPr id="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625" y="4914900"/>
            <a:ext cx="209550" cy="219075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1219200" y="4869656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accès à l’expertise difficile</a:t>
            </a:r>
            <a:endParaRPr lang="en-US" sz="1100" dirty="0"/>
          </a:p>
        </p:txBody>
      </p:sp>
      <p:sp>
        <p:nvSpPr>
          <p:cNvPr id="33" name="Text 12"/>
          <p:cNvSpPr/>
          <p:nvPr/>
        </p:nvSpPr>
        <p:spPr>
          <a:xfrm>
            <a:off x="1219200" y="5098256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20 000 à 80 000 DA/mois</a:t>
            </a:r>
            <a:endParaRPr lang="en-US" sz="900" dirty="0"/>
          </a:p>
        </p:txBody>
      </p:sp>
      <p:sp>
        <p:nvSpPr>
          <p:cNvPr id="34" name="Text 13"/>
          <p:cNvSpPr/>
          <p:nvPr/>
        </p:nvSpPr>
        <p:spPr>
          <a:xfrm>
            <a:off x="762000" y="63817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35" name="Text 14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5276850" cy="1152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866900"/>
            <a:ext cx="3429000" cy="23336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0" y="1866900"/>
            <a:ext cx="3429000" cy="23336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525" y="1866900"/>
            <a:ext cx="3429000" cy="23336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400550"/>
            <a:ext cx="3429000" cy="1676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0" y="4400550"/>
            <a:ext cx="3429000" cy="1676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0" y="5210175"/>
            <a:ext cx="1171575" cy="666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6286500"/>
            <a:ext cx="10687050" cy="44767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838200" y="952500"/>
            <a:ext cx="40100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Proposée</a:t>
            </a:r>
            <a:endParaRPr lang="en-US" sz="2500" dirty="0"/>
          </a:p>
        </p:txBody>
      </p:sp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075" y="2209800"/>
            <a:ext cx="190500" cy="247650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1276350" y="2066925"/>
            <a:ext cx="2698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📋 Génération de déclarations</a:t>
            </a:r>
            <a:endParaRPr lang="en-US" sz="1200" dirty="0"/>
          </a:p>
        </p:txBody>
      </p:sp>
      <p:sp>
        <p:nvSpPr>
          <p:cNvPr id="16" name="Text 2"/>
          <p:cNvSpPr/>
          <p:nvPr/>
        </p:nvSpPr>
        <p:spPr>
          <a:xfrm>
            <a:off x="990600" y="2752725"/>
            <a:ext cx="29844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G50 (TVA mensuelle/trimestrielle), G11 (déclaration annuelle), G04 (déclaration employeur) — formulaires pré-remplis, prêts à soumettre à la DGI</a:t>
            </a:r>
            <a:endParaRPr lang="en-US" sz="900" dirty="0"/>
          </a:p>
        </p:txBody>
      </p:sp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0100" y="2076450"/>
            <a:ext cx="200025" cy="247650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>
            <a:off x="4908500" y="206692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🧮 Calcul d’impôts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4622750" y="2486025"/>
            <a:ext cx="298445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IRG salarial/professionnel, IBS (19/23/26%), TVA (19% / 9%) — conforme DGI 2026</a:t>
            </a:r>
            <a:endParaRPr lang="en-US" sz="900" dirty="0"/>
          </a:p>
        </p:txBody>
      </p:sp>
      <p:pic>
        <p:nvPicPr>
          <p:cNvPr id="2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39125" y="2209800"/>
            <a:ext cx="228600" cy="247650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8569226" y="2066925"/>
            <a:ext cx="267027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📅 Tableau de bord des obligations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8254901" y="2752725"/>
            <a:ext cx="2984599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par type d’entité + calendrier + alertes</a:t>
            </a:r>
            <a:endParaRPr lang="en-US" sz="900" dirty="0"/>
          </a:p>
        </p:txBody>
      </p:sp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075" y="4610100"/>
            <a:ext cx="304800" cy="257175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1390650" y="4601766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💬 Assistant fiscal DGI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990600" y="5020866"/>
            <a:ext cx="298445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réponses basées sur textes officiels (LF 2026) avec citation d’articles</a:t>
            </a:r>
            <a:endParaRPr lang="en-US" sz="900" dirty="0"/>
          </a:p>
        </p:txBody>
      </p:sp>
      <p:pic>
        <p:nvPicPr>
          <p:cNvPr id="2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0100" y="4743450"/>
            <a:ext cx="228600" cy="257175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4937075" y="4601766"/>
            <a:ext cx="2670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👨‍💼 Consultation professionnelle (option)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4622750" y="5287566"/>
            <a:ext cx="298445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relation avec experts agréés</a:t>
            </a:r>
            <a:endParaRPr lang="en-US" sz="900" dirty="0"/>
          </a:p>
        </p:txBody>
      </p:sp>
      <p:sp>
        <p:nvSpPr>
          <p:cNvPr id="29" name="Text 11"/>
          <p:cNvSpPr/>
          <p:nvPr/>
        </p:nvSpPr>
        <p:spPr>
          <a:xfrm>
            <a:off x="762000" y="65341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30" name="Text 12"/>
          <p:cNvSpPr/>
          <p:nvPr/>
        </p:nvSpPr>
        <p:spPr>
          <a:xfrm>
            <a:off x="11258550" y="6534150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3162300" cy="1152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25" y="1638300"/>
            <a:ext cx="6934200" cy="42195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2038350"/>
            <a:ext cx="6134100" cy="3238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213360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475" y="2133600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3975" y="2133600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0475" y="3886200"/>
            <a:ext cx="3829050" cy="4762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0475" y="4457700"/>
            <a:ext cx="382905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0475" y="5029200"/>
            <a:ext cx="3829050" cy="4762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10475" y="5600700"/>
            <a:ext cx="3829050" cy="476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475" y="6286500"/>
            <a:ext cx="10687050" cy="44767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838200" y="952500"/>
            <a:ext cx="18869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2500" dirty="0"/>
          </a:p>
        </p:txBody>
      </p:sp>
      <p:pic>
        <p:nvPicPr>
          <p:cNvPr id="1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2343150"/>
            <a:ext cx="6134100" cy="295275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762000" y="5362575"/>
            <a:ext cx="6629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:</a:t>
            </a:r>
            <a:endParaRPr lang="en-US" sz="1200" dirty="0"/>
          </a:p>
        </p:txBody>
      </p:sp>
      <p:sp>
        <p:nvSpPr>
          <p:cNvPr id="19" name="Text 2"/>
          <p:cNvSpPr/>
          <p:nvPr/>
        </p:nvSpPr>
        <p:spPr>
          <a:xfrm>
            <a:off x="762000" y="5686425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https://matax-frontend.onrender.com/</a:t>
            </a:r>
            <a:endParaRPr lang="en-US" sz="1400" dirty="0"/>
          </a:p>
        </p:txBody>
      </p:sp>
      <p:sp>
        <p:nvSpPr>
          <p:cNvPr id="20" name="Text 3"/>
          <p:cNvSpPr/>
          <p:nvPr/>
        </p:nvSpPr>
        <p:spPr>
          <a:xfrm>
            <a:off x="7620000" y="1876425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Prototype — Déjà en ligne</a:t>
            </a:r>
            <a:endParaRPr lang="en-US" sz="1700" dirty="0"/>
          </a:p>
        </p:txBody>
      </p:sp>
      <p:sp>
        <p:nvSpPr>
          <p:cNvPr id="21" name="Text 4"/>
          <p:cNvSpPr/>
          <p:nvPr/>
        </p:nvSpPr>
        <p:spPr>
          <a:xfrm>
            <a:off x="7620000" y="2600325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opérationnelle: création de compte, profil fiscal, calculateurs, génération de déclarations. Parcours guidé étape par étape, sans jargon inutile.</a:t>
            </a:r>
            <a:endParaRPr lang="en-US" sz="1100" dirty="0"/>
          </a:p>
        </p:txBody>
      </p:sp>
      <p:pic>
        <p:nvPicPr>
          <p:cNvPr id="2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62875" y="4019550"/>
            <a:ext cx="209550" cy="209550"/>
          </a:xfrm>
          <a:prstGeom prst="rect">
            <a:avLst/>
          </a:prstGeom>
        </p:spPr>
      </p:pic>
      <p:sp>
        <p:nvSpPr>
          <p:cNvPr id="23" name="Text 5"/>
          <p:cNvSpPr/>
          <p:nvPr/>
        </p:nvSpPr>
        <p:spPr>
          <a:xfrm>
            <a:off x="8077200" y="4010025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en ligne</a:t>
            </a:r>
            <a:endParaRPr lang="en-US" sz="1100" dirty="0"/>
          </a:p>
        </p:txBody>
      </p:sp>
      <p:pic>
        <p:nvPicPr>
          <p:cNvPr id="2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62875" y="4591050"/>
            <a:ext cx="209550" cy="209550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8077200" y="4581525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en français</a:t>
            </a:r>
            <a:endParaRPr lang="en-US" sz="1100" dirty="0"/>
          </a:p>
        </p:txBody>
      </p:sp>
      <p:pic>
        <p:nvPicPr>
          <p:cNvPr id="2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62875" y="5162550"/>
            <a:ext cx="209550" cy="209550"/>
          </a:xfrm>
          <a:prstGeom prst="rect">
            <a:avLst/>
          </a:prstGeom>
        </p:spPr>
      </p:pic>
      <p:sp>
        <p:nvSpPr>
          <p:cNvPr id="27" name="Text 7"/>
          <p:cNvSpPr/>
          <p:nvPr/>
        </p:nvSpPr>
        <p:spPr>
          <a:xfrm>
            <a:off x="8077200" y="5153025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Calculs conformes DGI 2026</a:t>
            </a:r>
            <a:endParaRPr lang="en-US" sz="1100" dirty="0"/>
          </a:p>
        </p:txBody>
      </p:sp>
      <p:pic>
        <p:nvPicPr>
          <p:cNvPr id="2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62875" y="5734050"/>
            <a:ext cx="209550" cy="209550"/>
          </a:xfrm>
          <a:prstGeom prst="rect">
            <a:avLst/>
          </a:prstGeom>
        </p:spPr>
      </p:pic>
      <p:sp>
        <p:nvSpPr>
          <p:cNvPr id="29" name="Text 8"/>
          <p:cNvSpPr/>
          <p:nvPr/>
        </p:nvSpPr>
        <p:spPr>
          <a:xfrm>
            <a:off x="8077200" y="5724525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utilisateur sécurisé</a:t>
            </a:r>
            <a:endParaRPr lang="en-US" sz="1100" dirty="0"/>
          </a:p>
        </p:txBody>
      </p:sp>
      <p:sp>
        <p:nvSpPr>
          <p:cNvPr id="30" name="Text 9"/>
          <p:cNvSpPr/>
          <p:nvPr/>
        </p:nvSpPr>
        <p:spPr>
          <a:xfrm>
            <a:off x="762000" y="65341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31" name="Text 10"/>
          <p:cNvSpPr/>
          <p:nvPr/>
        </p:nvSpPr>
        <p:spPr>
          <a:xfrm>
            <a:off x="11258550" y="6534150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5657850" cy="1152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975" y="2505075"/>
            <a:ext cx="9544050" cy="7143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975" y="3571875"/>
            <a:ext cx="9544050" cy="723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3975" y="4648200"/>
            <a:ext cx="9544050" cy="7143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838200" y="952500"/>
            <a:ext cx="438730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 Intellectuelle</a:t>
            </a:r>
            <a:endParaRPr lang="en-US" sz="2500" dirty="0"/>
          </a:p>
        </p:txBody>
      </p:sp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0675" y="2543175"/>
            <a:ext cx="219075" cy="257175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952625" y="2516981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Marque MATAX</a:t>
            </a:r>
            <a:endParaRPr lang="en-US" sz="1700" dirty="0"/>
          </a:p>
        </p:txBody>
      </p:sp>
      <p:sp>
        <p:nvSpPr>
          <p:cNvPr id="13" name="Text 2"/>
          <p:cNvSpPr/>
          <p:nvPr/>
        </p:nvSpPr>
        <p:spPr>
          <a:xfrm>
            <a:off x="1600200" y="2897981"/>
            <a:ext cx="92583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dépôt de marque en cours auprès de l’INAPI</a:t>
            </a:r>
            <a:endParaRPr lang="en-US" sz="1400" dirty="0"/>
          </a:p>
        </p:txBody>
      </p:sp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0675" y="3609975"/>
            <a:ext cx="304800" cy="257175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2038350" y="3588544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Plateforme web</a:t>
            </a:r>
            <a:endParaRPr lang="en-US" sz="1700" dirty="0"/>
          </a:p>
        </p:txBody>
      </p:sp>
      <p:sp>
        <p:nvSpPr>
          <p:cNvPr id="16" name="Text 4"/>
          <p:cNvSpPr/>
          <p:nvPr/>
        </p:nvSpPr>
        <p:spPr>
          <a:xfrm>
            <a:off x="1600200" y="3969544"/>
            <a:ext cx="92583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droits d’auteur sur le code source et l’interface utilisateur</a:t>
            </a:r>
            <a:endParaRPr lang="en-US" sz="1400" dirty="0"/>
          </a:p>
        </p:txBody>
      </p:sp>
      <p:pic>
        <p:nvPicPr>
          <p:cNvPr id="1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0675" y="4686300"/>
            <a:ext cx="304800" cy="257175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2038350" y="4660106"/>
            <a:ext cx="3038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Moteur de calcul fiscal</a:t>
            </a:r>
            <a:endParaRPr lang="en-US" sz="1700" dirty="0"/>
          </a:p>
        </p:txBody>
      </p:sp>
      <p:sp>
        <p:nvSpPr>
          <p:cNvPr id="19" name="Text 6"/>
          <p:cNvSpPr/>
          <p:nvPr/>
        </p:nvSpPr>
        <p:spPr>
          <a:xfrm>
            <a:off x="1600200" y="5041106"/>
            <a:ext cx="666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7"/>
          <p:cNvSpPr/>
          <p:nvPr/>
        </p:nvSpPr>
        <p:spPr>
          <a:xfrm>
            <a:off x="1743075" y="5041106"/>
            <a:ext cx="82105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 propriétaire IRG/IBS/TVA conforme DGI, mis à jour à chaque loi de finances</a:t>
            </a:r>
            <a:endParaRPr lang="en-US" sz="1400" dirty="0"/>
          </a:p>
        </p:txBody>
      </p:sp>
      <p:sp>
        <p:nvSpPr>
          <p:cNvPr id="21" name="Text 8"/>
          <p:cNvSpPr/>
          <p:nvPr/>
        </p:nvSpPr>
        <p:spPr>
          <a:xfrm>
            <a:off x="762000" y="63817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22" name="Text 9"/>
          <p:cNvSpPr/>
          <p:nvPr/>
        </p:nvSpPr>
        <p:spPr>
          <a:xfrm>
            <a:off x="11296650" y="63817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9267825" cy="1152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866900"/>
            <a:ext cx="5162550" cy="8858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2066925"/>
            <a:ext cx="476250" cy="4857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1866900"/>
            <a:ext cx="5162550" cy="8858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2066925"/>
            <a:ext cx="476250" cy="4857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847975"/>
            <a:ext cx="5162550" cy="8858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975" y="3048000"/>
            <a:ext cx="476250" cy="4857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6975" y="2847975"/>
            <a:ext cx="5162550" cy="8858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7475" y="3048000"/>
            <a:ext cx="476250" cy="4857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3829050"/>
            <a:ext cx="5162550" cy="8858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2975" y="4029075"/>
            <a:ext cx="476250" cy="4857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6975" y="3829050"/>
            <a:ext cx="5162550" cy="88582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67475" y="4029075"/>
            <a:ext cx="476250" cy="48577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4810125"/>
            <a:ext cx="10687050" cy="88582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2975" y="5010150"/>
            <a:ext cx="476250" cy="48577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838200" y="952500"/>
            <a:ext cx="800010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Matax apporte à chaque utilisateur</a:t>
            </a:r>
            <a:endParaRPr lang="en-US" sz="2500" dirty="0"/>
          </a:p>
        </p:txBody>
      </p:sp>
      <p:pic>
        <p:nvPicPr>
          <p:cNvPr id="2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6800" y="2181225"/>
            <a:ext cx="228600" cy="257175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1600200" y="2081212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Déclarations en minutes</a:t>
            </a:r>
            <a:endParaRPr lang="en-US" sz="1200" dirty="0"/>
          </a:p>
        </p:txBody>
      </p:sp>
      <p:sp>
        <p:nvSpPr>
          <p:cNvPr id="24" name="Text 2"/>
          <p:cNvSpPr/>
          <p:nvPr/>
        </p:nvSpPr>
        <p:spPr>
          <a:xfrm>
            <a:off x="1600200" y="2347913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déplacement ni rendez-vous</a:t>
            </a:r>
            <a:endParaRPr lang="en-US" sz="900" dirty="0"/>
          </a:p>
        </p:txBody>
      </p:sp>
      <p:pic>
        <p:nvPicPr>
          <p:cNvPr id="2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1300" y="2181225"/>
            <a:ext cx="228600" cy="257175"/>
          </a:xfrm>
          <a:prstGeom prst="rect">
            <a:avLst/>
          </a:prstGeom>
        </p:spPr>
      </p:pic>
      <p:sp>
        <p:nvSpPr>
          <p:cNvPr id="26" name="Text 3"/>
          <p:cNvSpPr/>
          <p:nvPr/>
        </p:nvSpPr>
        <p:spPr>
          <a:xfrm>
            <a:off x="7124700" y="2081212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Zéro erreur de calcul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7124700" y="2347913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 fiscal automatisé, mis à jour</a:t>
            </a:r>
            <a:endParaRPr lang="en-US" sz="900" dirty="0"/>
          </a:p>
        </p:txBody>
      </p:sp>
      <p:pic>
        <p:nvPicPr>
          <p:cNvPr id="2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7275" y="3162300"/>
            <a:ext cx="247650" cy="257175"/>
          </a:xfrm>
          <a:prstGeom prst="rect">
            <a:avLst/>
          </a:prstGeom>
        </p:spPr>
      </p:pic>
      <p:sp>
        <p:nvSpPr>
          <p:cNvPr id="29" name="Text 5"/>
          <p:cNvSpPr/>
          <p:nvPr/>
        </p:nvSpPr>
        <p:spPr>
          <a:xfrm>
            <a:off x="1600200" y="3062288"/>
            <a:ext cx="355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Toujours à jour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1600200" y="3328988"/>
            <a:ext cx="355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automatique des changements législatifs</a:t>
            </a:r>
            <a:endParaRPr lang="en-US" sz="900" dirty="0"/>
          </a:p>
        </p:txBody>
      </p:sp>
      <p:pic>
        <p:nvPicPr>
          <p:cNvPr id="3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10350" y="3162300"/>
            <a:ext cx="190500" cy="257175"/>
          </a:xfrm>
          <a:prstGeom prst="rect">
            <a:avLst/>
          </a:prstGeom>
        </p:spPr>
      </p:pic>
      <p:sp>
        <p:nvSpPr>
          <p:cNvPr id="32" name="Text 7"/>
          <p:cNvSpPr/>
          <p:nvPr/>
        </p:nvSpPr>
        <p:spPr>
          <a:xfrm>
            <a:off x="7124700" y="3062288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Disponible 24h/24, 7j/7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7124700" y="3328988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multi-appareils</a:t>
            </a:r>
            <a:endParaRPr lang="en-US" sz="900" dirty="0"/>
          </a:p>
        </p:txBody>
      </p:sp>
      <p:pic>
        <p:nvPicPr>
          <p:cNvPr id="34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7275" y="4143375"/>
            <a:ext cx="247650" cy="257175"/>
          </a:xfrm>
          <a:prstGeom prst="rect">
            <a:avLst/>
          </a:prstGeom>
        </p:spPr>
      </p:pic>
      <p:sp>
        <p:nvSpPr>
          <p:cNvPr id="35" name="Text 9"/>
          <p:cNvSpPr/>
          <p:nvPr/>
        </p:nvSpPr>
        <p:spPr>
          <a:xfrm>
            <a:off x="1600200" y="4043363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Données sécurisées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1600200" y="4310063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personnel et confidentiel</a:t>
            </a:r>
            <a:endParaRPr lang="en-US" sz="900" dirty="0"/>
          </a:p>
        </p:txBody>
      </p:sp>
      <p:pic>
        <p:nvPicPr>
          <p:cNvPr id="3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3200" y="4143375"/>
            <a:ext cx="304800" cy="257175"/>
          </a:xfrm>
          <a:prstGeom prst="rect">
            <a:avLst/>
          </a:prstGeom>
        </p:spPr>
      </p:pic>
      <p:sp>
        <p:nvSpPr>
          <p:cNvPr id="38" name="Text 11"/>
          <p:cNvSpPr/>
          <p:nvPr/>
        </p:nvSpPr>
        <p:spPr>
          <a:xfrm>
            <a:off x="7124700" y="4043363"/>
            <a:ext cx="3562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Un outil pour les experts-comptables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7124700" y="4310063"/>
            <a:ext cx="356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client plus rapide</a:t>
            </a:r>
            <a:endParaRPr lang="en-US" sz="900" dirty="0"/>
          </a:p>
        </p:txBody>
      </p:sp>
      <p:pic>
        <p:nvPicPr>
          <p:cNvPr id="40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66800" y="5124450"/>
            <a:ext cx="228600" cy="257175"/>
          </a:xfrm>
          <a:prstGeom prst="rect">
            <a:avLst/>
          </a:prstGeom>
        </p:spPr>
      </p:pic>
      <p:sp>
        <p:nvSpPr>
          <p:cNvPr id="41" name="Text 13"/>
          <p:cNvSpPr/>
          <p:nvPr/>
        </p:nvSpPr>
        <p:spPr>
          <a:xfrm>
            <a:off x="1600200" y="5024438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L’humain quand nécessaire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1600200" y="5291138"/>
            <a:ext cx="2686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pro en option</a:t>
            </a:r>
            <a:endParaRPr lang="en-US" sz="900" dirty="0"/>
          </a:p>
        </p:txBody>
      </p:sp>
      <p:sp>
        <p:nvSpPr>
          <p:cNvPr id="43" name="Text 15"/>
          <p:cNvSpPr/>
          <p:nvPr/>
        </p:nvSpPr>
        <p:spPr>
          <a:xfrm>
            <a:off x="762000" y="63817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44" name="Text 16"/>
          <p:cNvSpPr/>
          <p:nvPr/>
        </p:nvSpPr>
        <p:spPr>
          <a:xfrm>
            <a:off x="11334750" y="6381750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5876925" cy="1152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38200" y="952500"/>
            <a:ext cx="45310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Concurrentielle</a:t>
            </a:r>
            <a:endParaRPr lang="en-US" sz="2500" dirty="0"/>
          </a:p>
        </p:txBody>
      </p:sp>
      <p:sp>
        <p:nvSpPr>
          <p:cNvPr id="8" name="Text 1"/>
          <p:cNvSpPr/>
          <p:nvPr/>
        </p:nvSpPr>
        <p:spPr>
          <a:xfrm>
            <a:off x="857250" y="1900238"/>
            <a:ext cx="1047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Matax se démarque</a:t>
            </a:r>
            <a:endParaRPr lang="en-US" sz="1700" dirty="0"/>
          </a:p>
        </p:txBody>
      </p:sp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343150"/>
            <a:ext cx="2638425" cy="5334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000125" y="2490788"/>
            <a:ext cx="2333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Critère</a:t>
            </a:r>
            <a:endParaRPr lang="en-US" sz="1100" dirty="0"/>
          </a:p>
        </p:txBody>
      </p:sp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100" y="2343150"/>
            <a:ext cx="2905125" cy="5334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3619500" y="2490788"/>
            <a:ext cx="2598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0D948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Matax</a:t>
            </a:r>
            <a:endParaRPr lang="en-US" sz="1100" dirty="0"/>
          </a:p>
        </p:txBody>
      </p:sp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2343150"/>
            <a:ext cx="2638425" cy="53340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6503640" y="2490788"/>
            <a:ext cx="23172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0D1B2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Moustachir.dz</a:t>
            </a:r>
            <a:endParaRPr lang="en-US" sz="1100" dirty="0"/>
          </a:p>
        </p:txBody>
      </p:sp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43150"/>
            <a:ext cx="2390775" cy="53340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9106644" y="2490788"/>
            <a:ext cx="20852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0D1B2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Faire soi-même</a:t>
            </a:r>
            <a:endParaRPr lang="en-US" sz="1100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2847975"/>
            <a:ext cx="2638425" cy="53340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1000125" y="2995613"/>
            <a:ext cx="2333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Disponibilité</a:t>
            </a:r>
            <a:endParaRPr lang="en-US" sz="1100" dirty="0"/>
          </a:p>
        </p:txBody>
      </p:sp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67100" y="2847975"/>
            <a:ext cx="2905125" cy="53340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3619500" y="2995613"/>
            <a:ext cx="2598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en ligne</a:t>
            </a:r>
            <a:endParaRPr lang="en-US" sz="1100" dirty="0"/>
          </a:p>
        </p:txBody>
      </p:sp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3650" y="2847975"/>
            <a:ext cx="2638425" cy="533400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6503640" y="2995613"/>
            <a:ext cx="23172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rendez-vous</a:t>
            </a:r>
            <a:endParaRPr lang="en-US" sz="1100" dirty="0"/>
          </a:p>
        </p:txBody>
      </p:sp>
      <p:pic>
        <p:nvPicPr>
          <p:cNvPr id="2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53500" y="2847975"/>
            <a:ext cx="2390775" cy="53340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9106644" y="2995613"/>
            <a:ext cx="20852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mais risqué</a:t>
            </a:r>
            <a:endParaRPr lang="en-US" sz="1100" dirty="0"/>
          </a:p>
        </p:txBody>
      </p:sp>
      <p:pic>
        <p:nvPicPr>
          <p:cNvPr id="2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725" y="3352800"/>
            <a:ext cx="2638425" cy="53340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1000125" y="3500438"/>
            <a:ext cx="2333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Coût</a:t>
            </a:r>
            <a:endParaRPr lang="en-US" sz="1100" dirty="0"/>
          </a:p>
        </p:txBody>
      </p:sp>
      <p:pic>
        <p:nvPicPr>
          <p:cNvPr id="2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67100" y="3352800"/>
            <a:ext cx="2905125" cy="533400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3619500" y="3500438"/>
            <a:ext cx="2598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Abonnement abordable</a:t>
            </a:r>
            <a:endParaRPr lang="en-US" sz="1100" dirty="0"/>
          </a:p>
        </p:txBody>
      </p:sp>
      <p:pic>
        <p:nvPicPr>
          <p:cNvPr id="2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3650" y="3352800"/>
            <a:ext cx="2638425" cy="533400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6503640" y="3500438"/>
            <a:ext cx="23172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Honoraires élevés</a:t>
            </a:r>
            <a:endParaRPr lang="en-US" sz="1100" dirty="0"/>
          </a:p>
        </p:txBody>
      </p:sp>
      <p:pic>
        <p:nvPicPr>
          <p:cNvPr id="3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53500" y="3352800"/>
            <a:ext cx="2390775" cy="533400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9106644" y="3500438"/>
            <a:ext cx="20852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 mais risqué</a:t>
            </a:r>
            <a:endParaRPr lang="en-US" sz="1100" dirty="0"/>
          </a:p>
        </p:txBody>
      </p:sp>
      <p:pic>
        <p:nvPicPr>
          <p:cNvPr id="3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3857625"/>
            <a:ext cx="2638425" cy="533400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1000125" y="4005262"/>
            <a:ext cx="2333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Vitesse</a:t>
            </a:r>
            <a:endParaRPr lang="en-US" sz="1100" dirty="0"/>
          </a:p>
        </p:txBody>
      </p:sp>
      <p:pic>
        <p:nvPicPr>
          <p:cNvPr id="3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67100" y="3857625"/>
            <a:ext cx="2905125" cy="533400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3619500" y="4005262"/>
            <a:ext cx="2598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100" dirty="0"/>
          </a:p>
        </p:txBody>
      </p:sp>
      <p:pic>
        <p:nvPicPr>
          <p:cNvPr id="3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43650" y="3857625"/>
            <a:ext cx="2638425" cy="533400"/>
          </a:xfrm>
          <a:prstGeom prst="rect">
            <a:avLst/>
          </a:prstGeom>
        </p:spPr>
      </p:pic>
      <p:sp>
        <p:nvSpPr>
          <p:cNvPr id="38" name="Text 16"/>
          <p:cNvSpPr/>
          <p:nvPr/>
        </p:nvSpPr>
        <p:spPr>
          <a:xfrm>
            <a:off x="6503640" y="4005262"/>
            <a:ext cx="23172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Jours</a:t>
            </a:r>
            <a:endParaRPr lang="en-US" sz="1100" dirty="0"/>
          </a:p>
        </p:txBody>
      </p:sp>
      <p:pic>
        <p:nvPicPr>
          <p:cNvPr id="3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53500" y="3857625"/>
            <a:ext cx="2390775" cy="533400"/>
          </a:xfrm>
          <a:prstGeom prst="rect">
            <a:avLst/>
          </a:prstGeom>
        </p:spPr>
      </p:pic>
      <p:sp>
        <p:nvSpPr>
          <p:cNvPr id="40" name="Text 17"/>
          <p:cNvSpPr/>
          <p:nvPr/>
        </p:nvSpPr>
        <p:spPr>
          <a:xfrm>
            <a:off x="9106644" y="4005262"/>
            <a:ext cx="20852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 et incertain</a:t>
            </a:r>
            <a:endParaRPr lang="en-US" sz="1100" dirty="0"/>
          </a:p>
        </p:txBody>
      </p:sp>
      <p:pic>
        <p:nvPicPr>
          <p:cNvPr id="4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7725" y="4362450"/>
            <a:ext cx="2638425" cy="533400"/>
          </a:xfrm>
          <a:prstGeom prst="rect">
            <a:avLst/>
          </a:prstGeom>
        </p:spPr>
      </p:pic>
      <p:sp>
        <p:nvSpPr>
          <p:cNvPr id="42" name="Text 18"/>
          <p:cNvSpPr/>
          <p:nvPr/>
        </p:nvSpPr>
        <p:spPr>
          <a:xfrm>
            <a:off x="1000125" y="4510088"/>
            <a:ext cx="2333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Conformité DGI 2026</a:t>
            </a:r>
            <a:endParaRPr lang="en-US" sz="1100" dirty="0"/>
          </a:p>
        </p:txBody>
      </p:sp>
      <p:pic>
        <p:nvPicPr>
          <p:cNvPr id="4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67100" y="4362450"/>
            <a:ext cx="2905125" cy="533400"/>
          </a:xfrm>
          <a:prstGeom prst="rect">
            <a:avLst/>
          </a:prstGeom>
        </p:spPr>
      </p:pic>
      <p:sp>
        <p:nvSpPr>
          <p:cNvPr id="44" name="Text 19"/>
          <p:cNvSpPr/>
          <p:nvPr/>
        </p:nvSpPr>
        <p:spPr>
          <a:xfrm>
            <a:off x="3619500" y="4510088"/>
            <a:ext cx="2598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Automatique</a:t>
            </a:r>
            <a:endParaRPr lang="en-US" sz="1100" dirty="0"/>
          </a:p>
        </p:txBody>
      </p:sp>
      <p:pic>
        <p:nvPicPr>
          <p:cNvPr id="4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43650" y="4362450"/>
            <a:ext cx="2638425" cy="533400"/>
          </a:xfrm>
          <a:prstGeom prst="rect">
            <a:avLst/>
          </a:prstGeom>
        </p:spPr>
      </p:pic>
      <p:sp>
        <p:nvSpPr>
          <p:cNvPr id="46" name="Text 20"/>
          <p:cNvSpPr/>
          <p:nvPr/>
        </p:nvSpPr>
        <p:spPr>
          <a:xfrm>
            <a:off x="6503640" y="4510088"/>
            <a:ext cx="23172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 du consultant</a:t>
            </a:r>
            <a:endParaRPr lang="en-US" sz="1100" dirty="0"/>
          </a:p>
        </p:txBody>
      </p:sp>
      <p:pic>
        <p:nvPicPr>
          <p:cNvPr id="4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53500" y="4362450"/>
            <a:ext cx="2390775" cy="533400"/>
          </a:xfrm>
          <a:prstGeom prst="rect">
            <a:avLst/>
          </a:prstGeom>
        </p:spPr>
      </p:pic>
      <p:sp>
        <p:nvSpPr>
          <p:cNvPr id="48" name="Text 21"/>
          <p:cNvSpPr/>
          <p:nvPr/>
        </p:nvSpPr>
        <p:spPr>
          <a:xfrm>
            <a:off x="9106644" y="4510088"/>
            <a:ext cx="20852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garantie</a:t>
            </a:r>
            <a:endParaRPr lang="en-US" sz="1100" dirty="0"/>
          </a:p>
        </p:txBody>
      </p:sp>
      <p:pic>
        <p:nvPicPr>
          <p:cNvPr id="4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7725" y="4867275"/>
            <a:ext cx="2638425" cy="533400"/>
          </a:xfrm>
          <a:prstGeom prst="rect">
            <a:avLst/>
          </a:prstGeom>
        </p:spPr>
      </p:pic>
      <p:sp>
        <p:nvSpPr>
          <p:cNvPr id="50" name="Text 22"/>
          <p:cNvSpPr/>
          <p:nvPr/>
        </p:nvSpPr>
        <p:spPr>
          <a:xfrm>
            <a:off x="1000125" y="5014913"/>
            <a:ext cx="2333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Autonomie utilisateur</a:t>
            </a:r>
            <a:endParaRPr lang="en-US" sz="1100" dirty="0"/>
          </a:p>
        </p:txBody>
      </p:sp>
      <p:pic>
        <p:nvPicPr>
          <p:cNvPr id="5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67100" y="4867275"/>
            <a:ext cx="2905125" cy="533400"/>
          </a:xfrm>
          <a:prstGeom prst="rect">
            <a:avLst/>
          </a:prstGeom>
        </p:spPr>
      </p:pic>
      <p:sp>
        <p:nvSpPr>
          <p:cNvPr id="52" name="Text 23"/>
          <p:cNvSpPr/>
          <p:nvPr/>
        </p:nvSpPr>
        <p:spPr>
          <a:xfrm>
            <a:off x="3619500" y="5014913"/>
            <a:ext cx="2598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</a:t>
            </a:r>
            <a:endParaRPr lang="en-US" sz="1100" dirty="0"/>
          </a:p>
        </p:txBody>
      </p:sp>
      <p:pic>
        <p:nvPicPr>
          <p:cNvPr id="5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43650" y="4867275"/>
            <a:ext cx="2638425" cy="533400"/>
          </a:xfrm>
          <a:prstGeom prst="rect">
            <a:avLst/>
          </a:prstGeom>
        </p:spPr>
      </p:pic>
      <p:sp>
        <p:nvSpPr>
          <p:cNvPr id="54" name="Text 24"/>
          <p:cNvSpPr/>
          <p:nvPr/>
        </p:nvSpPr>
        <p:spPr>
          <a:xfrm>
            <a:off x="6503640" y="5014913"/>
            <a:ext cx="23172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Nulle</a:t>
            </a:r>
            <a:endParaRPr lang="en-US" sz="1100" dirty="0"/>
          </a:p>
        </p:txBody>
      </p:sp>
      <p:pic>
        <p:nvPicPr>
          <p:cNvPr id="5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53500" y="4867275"/>
            <a:ext cx="2390775" cy="533400"/>
          </a:xfrm>
          <a:prstGeom prst="rect">
            <a:avLst/>
          </a:prstGeom>
        </p:spPr>
      </p:pic>
      <p:sp>
        <p:nvSpPr>
          <p:cNvPr id="56" name="Text 25"/>
          <p:cNvSpPr/>
          <p:nvPr/>
        </p:nvSpPr>
        <p:spPr>
          <a:xfrm>
            <a:off x="9106644" y="5014913"/>
            <a:ext cx="20852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Partielle</a:t>
            </a:r>
            <a:endParaRPr lang="en-US" sz="1100" dirty="0"/>
          </a:p>
        </p:txBody>
      </p:sp>
      <p:pic>
        <p:nvPicPr>
          <p:cNvPr id="5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7725" y="5372100"/>
            <a:ext cx="2638425" cy="533400"/>
          </a:xfrm>
          <a:prstGeom prst="rect">
            <a:avLst/>
          </a:prstGeom>
        </p:spPr>
      </p:pic>
      <p:sp>
        <p:nvSpPr>
          <p:cNvPr id="58" name="Text 26"/>
          <p:cNvSpPr/>
          <p:nvPr/>
        </p:nvSpPr>
        <p:spPr>
          <a:xfrm>
            <a:off x="1000125" y="5519738"/>
            <a:ext cx="2333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Consultation pro disponible</a:t>
            </a:r>
            <a:endParaRPr lang="en-US" sz="1100" dirty="0"/>
          </a:p>
        </p:txBody>
      </p:sp>
      <p:pic>
        <p:nvPicPr>
          <p:cNvPr id="5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467100" y="5372100"/>
            <a:ext cx="2905125" cy="533400"/>
          </a:xfrm>
          <a:prstGeom prst="rect">
            <a:avLst/>
          </a:prstGeom>
        </p:spPr>
      </p:pic>
      <p:sp>
        <p:nvSpPr>
          <p:cNvPr id="60" name="Text 27"/>
          <p:cNvSpPr/>
          <p:nvPr/>
        </p:nvSpPr>
        <p:spPr>
          <a:xfrm>
            <a:off x="3619500" y="5519738"/>
            <a:ext cx="2598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option</a:t>
            </a:r>
            <a:endParaRPr lang="en-US" sz="1100" dirty="0"/>
          </a:p>
        </p:txBody>
      </p:sp>
      <p:pic>
        <p:nvPicPr>
          <p:cNvPr id="61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343650" y="5372100"/>
            <a:ext cx="2638425" cy="533400"/>
          </a:xfrm>
          <a:prstGeom prst="rect">
            <a:avLst/>
          </a:prstGeom>
        </p:spPr>
      </p:pic>
      <p:sp>
        <p:nvSpPr>
          <p:cNvPr id="62" name="Text 28"/>
          <p:cNvSpPr/>
          <p:nvPr/>
        </p:nvSpPr>
        <p:spPr>
          <a:xfrm>
            <a:off x="6503640" y="5519738"/>
            <a:ext cx="23172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Uniquement ça</a:t>
            </a:r>
            <a:endParaRPr lang="en-US" sz="1100" dirty="0"/>
          </a:p>
        </p:txBody>
      </p:sp>
      <p:pic>
        <p:nvPicPr>
          <p:cNvPr id="63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953500" y="5372100"/>
            <a:ext cx="2390775" cy="533400"/>
          </a:xfrm>
          <a:prstGeom prst="rect">
            <a:avLst/>
          </a:prstGeom>
        </p:spPr>
      </p:pic>
      <p:sp>
        <p:nvSpPr>
          <p:cNvPr id="64" name="Text 29"/>
          <p:cNvSpPr/>
          <p:nvPr/>
        </p:nvSpPr>
        <p:spPr>
          <a:xfrm>
            <a:off x="9106644" y="5519738"/>
            <a:ext cx="20852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100" dirty="0"/>
          </a:p>
        </p:txBody>
      </p:sp>
      <p:sp>
        <p:nvSpPr>
          <p:cNvPr id="65" name="Text 30"/>
          <p:cNvSpPr/>
          <p:nvPr/>
        </p:nvSpPr>
        <p:spPr>
          <a:xfrm>
            <a:off x="762000" y="63817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66" name="Text 31"/>
          <p:cNvSpPr/>
          <p:nvPr/>
        </p:nvSpPr>
        <p:spPr>
          <a:xfrm>
            <a:off x="11306175" y="638175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3800475" cy="11525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1828800"/>
            <a:ext cx="10763250" cy="1752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733800"/>
            <a:ext cx="2571750" cy="2019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7575" y="3733800"/>
            <a:ext cx="2571750" cy="2019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675" y="3733800"/>
            <a:ext cx="2571750" cy="2019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7775" y="3733800"/>
            <a:ext cx="2571750" cy="2019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838200" y="952500"/>
            <a:ext cx="24556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Cible</a:t>
            </a:r>
            <a:endParaRPr lang="en-US" sz="2500" dirty="0"/>
          </a:p>
        </p:txBody>
      </p:sp>
      <p:sp>
        <p:nvSpPr>
          <p:cNvPr id="13" name="Text 1"/>
          <p:cNvSpPr/>
          <p:nvPr/>
        </p:nvSpPr>
        <p:spPr>
          <a:xfrm>
            <a:off x="4114800" y="2066925"/>
            <a:ext cx="396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Statistique Centrale</a:t>
            </a:r>
            <a:endParaRPr lang="en-US" sz="1200" dirty="0"/>
          </a:p>
        </p:txBody>
      </p:sp>
      <p:sp>
        <p:nvSpPr>
          <p:cNvPr id="14" name="Text 2"/>
          <p:cNvSpPr/>
          <p:nvPr/>
        </p:nvSpPr>
        <p:spPr>
          <a:xfrm>
            <a:off x="4114800" y="2409825"/>
            <a:ext cx="3962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+1 500 000</a:t>
            </a:r>
            <a:endParaRPr lang="en-US" sz="4200" dirty="0"/>
          </a:p>
        </p:txBody>
      </p:sp>
      <p:sp>
        <p:nvSpPr>
          <p:cNvPr id="15" name="Text 3"/>
          <p:cNvSpPr/>
          <p:nvPr/>
        </p:nvSpPr>
        <p:spPr>
          <a:xfrm>
            <a:off x="4114800" y="3057525"/>
            <a:ext cx="396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entités immatriculées au CNRC en Algérie</a:t>
            </a:r>
            <a:endParaRPr lang="en-US" sz="1400" dirty="0"/>
          </a:p>
        </p:txBody>
      </p:sp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025" y="3905250"/>
            <a:ext cx="238125" cy="304800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971550" y="4305300"/>
            <a:ext cx="2171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Entreprises (EURL, SARL, SPA)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971550" y="4914900"/>
            <a:ext cx="217170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 IBS, TVA, G04, G11 — besoin de conformité complète et régulière</a:t>
            </a:r>
            <a:endParaRPr lang="en-US" sz="900" dirty="0"/>
          </a:p>
        </p:txBody>
      </p:sp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7125" y="3905250"/>
            <a:ext cx="342900" cy="30480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3676650" y="4305300"/>
            <a:ext cx="2171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Commerçants immatriculés (RC)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3676650" y="4914900"/>
            <a:ext cx="217170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Artisans, importateurs, détaillants — G50, TVA, IBS selon régime</a:t>
            </a:r>
            <a:endParaRPr lang="en-US" sz="900" dirty="0"/>
          </a:p>
        </p:txBody>
      </p:sp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2225" y="3905250"/>
            <a:ext cx="266700" cy="30480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6381750" y="430530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Particuliers assujettis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6381750" y="4648200"/>
            <a:ext cx="21717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Professions libérales, revenus locatifs, IRG non salarial</a:t>
            </a:r>
            <a:endParaRPr lang="en-US" sz="900" dirty="0"/>
          </a:p>
        </p:txBody>
      </p:sp>
      <p:pic>
        <p:nvPicPr>
          <p:cNvPr id="2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7325" y="3905250"/>
            <a:ext cx="342900" cy="30480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9086850" y="4305300"/>
            <a:ext cx="2171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Experts-comptables &amp; fiduciaires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9086850" y="4914900"/>
            <a:ext cx="217170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Multi-dossiers (segment futur) — professionnels gérant plusieurs clients</a:t>
            </a:r>
            <a:endParaRPr lang="en-US" sz="900" dirty="0"/>
          </a:p>
        </p:txBody>
      </p:sp>
      <p:sp>
        <p:nvSpPr>
          <p:cNvPr id="28" name="Text 12"/>
          <p:cNvSpPr/>
          <p:nvPr/>
        </p:nvSpPr>
        <p:spPr>
          <a:xfrm>
            <a:off x="762000" y="63817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29" name="Text 13"/>
          <p:cNvSpPr/>
          <p:nvPr/>
        </p:nvSpPr>
        <p:spPr>
          <a:xfrm>
            <a:off x="11306175" y="638175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675"/>
            <a:ext cx="4486275" cy="10096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790700"/>
            <a:ext cx="4333875" cy="9810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762125"/>
            <a:ext cx="6210300" cy="20288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5900" y="2762250"/>
            <a:ext cx="6134100" cy="4095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4229100"/>
            <a:ext cx="10763250" cy="20764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6381750"/>
            <a:ext cx="10687050" cy="37147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838200" y="723900"/>
            <a:ext cx="321706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Économique</a:t>
            </a:r>
            <a:endParaRPr lang="en-US" sz="2100" dirty="0"/>
          </a:p>
        </p:txBody>
      </p:sp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1485900"/>
            <a:ext cx="209550" cy="219075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066800" y="1462088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actuelle — V1</a:t>
            </a:r>
            <a:endParaRPr lang="en-US" sz="1400" dirty="0"/>
          </a:p>
        </p:txBody>
      </p:sp>
      <p:sp>
        <p:nvSpPr>
          <p:cNvPr id="13" name="Text 2"/>
          <p:cNvSpPr/>
          <p:nvPr/>
        </p:nvSpPr>
        <p:spPr>
          <a:xfrm>
            <a:off x="952500" y="1957388"/>
            <a:ext cx="396865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Abonnement unique donnant accès à toutes les fonctionnalités (G50/G11/G04, IRG/IBS/TVA, tableau de bord, assistant DGI). Consultation professionnelle en option.</a:t>
            </a:r>
            <a:endParaRPr lang="en-US" sz="900" dirty="0"/>
          </a:p>
        </p:txBody>
      </p:sp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6375" y="1485900"/>
            <a:ext cx="247650" cy="219075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5635526" y="1462088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future</a:t>
            </a:r>
            <a:endParaRPr lang="en-US" sz="1400" dirty="0"/>
          </a:p>
        </p:txBody>
      </p:sp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5900" y="1800225"/>
            <a:ext cx="1552575" cy="419100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5454551" y="1909762"/>
            <a:ext cx="1241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0D1B2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Formule</a:t>
            </a:r>
            <a:endParaRPr lang="en-US" sz="900" dirty="0"/>
          </a:p>
        </p:txBody>
      </p:sp>
      <p:pic>
        <p:nvPicPr>
          <p:cNvPr id="1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9900" y="1800225"/>
            <a:ext cx="2066925" cy="419100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6981676" y="1909762"/>
            <a:ext cx="1750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0D1B2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Cible</a:t>
            </a:r>
            <a:endParaRPr lang="en-US" sz="900" dirty="0"/>
          </a:p>
        </p:txBody>
      </p:sp>
      <p:pic>
        <p:nvPicPr>
          <p:cNvPr id="2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8250" y="1800225"/>
            <a:ext cx="2571750" cy="41910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9017943" y="1909762"/>
            <a:ext cx="2259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0D1B2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Contenu prévu</a:t>
            </a:r>
            <a:endParaRPr lang="en-US" sz="900" dirty="0"/>
          </a:p>
        </p:txBody>
      </p:sp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95900" y="2190750"/>
            <a:ext cx="1552575" cy="590550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5454551" y="2300288"/>
            <a:ext cx="1241375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900" dirty="0"/>
          </a:p>
        </p:txBody>
      </p:sp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9900" y="2190750"/>
            <a:ext cx="2066925" cy="590550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6981676" y="2300288"/>
            <a:ext cx="1750516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Particuliers / auto-entrepreneurs</a:t>
            </a:r>
            <a:endParaRPr lang="en-US" sz="900" dirty="0"/>
          </a:p>
        </p:txBody>
      </p:sp>
      <p:pic>
        <p:nvPicPr>
          <p:cNvPr id="2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8250" y="2190750"/>
            <a:ext cx="2571750" cy="590550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9017943" y="2300288"/>
            <a:ext cx="2259657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de base</a:t>
            </a:r>
            <a:endParaRPr lang="en-US" sz="900" dirty="0"/>
          </a:p>
        </p:txBody>
      </p:sp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95900" y="2762250"/>
            <a:ext cx="1552575" cy="409575"/>
          </a:xfrm>
          <a:prstGeom prst="rect">
            <a:avLst/>
          </a:prstGeom>
        </p:spPr>
      </p:pic>
      <p:sp>
        <p:nvSpPr>
          <p:cNvPr id="29" name="Text 10"/>
          <p:cNvSpPr/>
          <p:nvPr/>
        </p:nvSpPr>
        <p:spPr>
          <a:xfrm>
            <a:off x="5454551" y="2867025"/>
            <a:ext cx="12413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PME</a:t>
            </a:r>
            <a:endParaRPr lang="en-US" sz="900" dirty="0"/>
          </a:p>
        </p:txBody>
      </p:sp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19900" y="2762250"/>
            <a:ext cx="2066925" cy="409575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6981676" y="2867025"/>
            <a:ext cx="175051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TPE, SARL, commerçants</a:t>
            </a:r>
            <a:endParaRPr lang="en-US" sz="900" dirty="0"/>
          </a:p>
        </p:txBody>
      </p:sp>
      <p:pic>
        <p:nvPicPr>
          <p:cNvPr id="3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58250" y="2762250"/>
            <a:ext cx="2571750" cy="409575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9017943" y="2867025"/>
            <a:ext cx="225965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complet</a:t>
            </a:r>
            <a:endParaRPr lang="en-US" sz="900" dirty="0"/>
          </a:p>
        </p:txBody>
      </p:sp>
      <p:pic>
        <p:nvPicPr>
          <p:cNvPr id="3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95900" y="3143250"/>
            <a:ext cx="1552575" cy="600075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5454551" y="3252788"/>
            <a:ext cx="1241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900" dirty="0"/>
          </a:p>
        </p:txBody>
      </p:sp>
      <p:pic>
        <p:nvPicPr>
          <p:cNvPr id="3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19900" y="3143250"/>
            <a:ext cx="2066925" cy="600075"/>
          </a:xfrm>
          <a:prstGeom prst="rect">
            <a:avLst/>
          </a:prstGeom>
        </p:spPr>
      </p:pic>
      <p:sp>
        <p:nvSpPr>
          <p:cNvPr id="37" name="Text 14"/>
          <p:cNvSpPr/>
          <p:nvPr/>
        </p:nvSpPr>
        <p:spPr>
          <a:xfrm>
            <a:off x="6981676" y="3252788"/>
            <a:ext cx="17505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Comptables, fiduciaires</a:t>
            </a:r>
            <a:endParaRPr lang="en-US" sz="900" dirty="0"/>
          </a:p>
        </p:txBody>
      </p:sp>
      <p:pic>
        <p:nvPicPr>
          <p:cNvPr id="3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58250" y="3143250"/>
            <a:ext cx="2571750" cy="600075"/>
          </a:xfrm>
          <a:prstGeom prst="rect">
            <a:avLst/>
          </a:prstGeom>
        </p:spPr>
      </p:pic>
      <p:sp>
        <p:nvSpPr>
          <p:cNvPr id="39" name="Text 15"/>
          <p:cNvSpPr/>
          <p:nvPr/>
        </p:nvSpPr>
        <p:spPr>
          <a:xfrm>
            <a:off x="9017943" y="3252788"/>
            <a:ext cx="22596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Multi-dossiers, exports, support prioritaire</a:t>
            </a:r>
            <a:endParaRPr lang="en-US" sz="900" dirty="0"/>
          </a:p>
        </p:txBody>
      </p:sp>
      <p:pic>
        <p:nvPicPr>
          <p:cNvPr id="4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2475" y="3924300"/>
            <a:ext cx="209550" cy="209550"/>
          </a:xfrm>
          <a:prstGeom prst="rect">
            <a:avLst/>
          </a:prstGeom>
        </p:spPr>
      </p:pic>
      <p:sp>
        <p:nvSpPr>
          <p:cNvPr id="41" name="Text 16"/>
          <p:cNvSpPr/>
          <p:nvPr/>
        </p:nvSpPr>
        <p:spPr>
          <a:xfrm>
            <a:off x="1066800" y="3895725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de revenus</a:t>
            </a:r>
            <a:endParaRPr lang="en-US" sz="1400" dirty="0"/>
          </a:p>
        </p:txBody>
      </p:sp>
      <p:pic>
        <p:nvPicPr>
          <p:cNvPr id="4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5825" y="4400550"/>
            <a:ext cx="10420350" cy="1714500"/>
          </a:xfrm>
          <a:prstGeom prst="rect">
            <a:avLst/>
          </a:prstGeom>
        </p:spPr>
      </p:pic>
      <p:sp>
        <p:nvSpPr>
          <p:cNvPr id="43" name="Text 17"/>
          <p:cNvSpPr/>
          <p:nvPr/>
        </p:nvSpPr>
        <p:spPr>
          <a:xfrm>
            <a:off x="762000" y="655320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Comité National de Labellisation des Projets Innovants"</a:t>
            </a:r>
            <a:endParaRPr lang="en-US" sz="900" dirty="0"/>
          </a:p>
        </p:txBody>
      </p:sp>
      <p:sp>
        <p:nvSpPr>
          <p:cNvPr id="44" name="Text 18"/>
          <p:cNvSpPr/>
          <p:nvPr/>
        </p:nvSpPr>
        <p:spPr>
          <a:xfrm>
            <a:off x="11296650" y="65532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3124200"/>
            <a:ext cx="10172700" cy="1676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975" y="5924550"/>
            <a:ext cx="1924050" cy="571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300538" y="885825"/>
            <a:ext cx="35909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9100" dirty="0"/>
          </a:p>
        </p:txBody>
      </p:sp>
      <p:sp>
        <p:nvSpPr>
          <p:cNvPr id="7" name="Text 1"/>
          <p:cNvSpPr/>
          <p:nvPr/>
        </p:nvSpPr>
        <p:spPr>
          <a:xfrm>
            <a:off x="1057275" y="2333625"/>
            <a:ext cx="10077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"Construisons ensemble la conformité fiscale de demain en Algérie."</a:t>
            </a:r>
            <a:endParaRPr lang="en-US" sz="2100" dirty="0"/>
          </a:p>
        </p:txBody>
      </p:sp>
      <p:sp>
        <p:nvSpPr>
          <p:cNvPr id="8" name="Text 2"/>
          <p:cNvSpPr/>
          <p:nvPr/>
        </p:nvSpPr>
        <p:spPr>
          <a:xfrm>
            <a:off x="3433763" y="3524250"/>
            <a:ext cx="532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Hamoum Ikram — Fondatrice &amp; PDG, MATAX</a:t>
            </a:r>
            <a:endParaRPr lang="en-US" sz="17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175" y="4162425"/>
            <a:ext cx="209550" cy="20955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714500" y="413385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ikramhamoum00@gmail.com</a:t>
            </a:r>
            <a:endParaRPr lang="en-US" sz="14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1575" y="4162425"/>
            <a:ext cx="209550" cy="2095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5295900" y="413385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0672532599</a:t>
            </a:r>
            <a:endParaRPr lang="en-US" sz="14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2275" y="4162425"/>
            <a:ext cx="209550" cy="20955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7086600" y="4133850"/>
            <a:ext cx="369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https://matax-frontend.onrender.com/</a:t>
            </a:r>
            <a:endParaRPr lang="en-US" sz="1400" dirty="0"/>
          </a:p>
        </p:txBody>
      </p:sp>
      <p:sp>
        <p:nvSpPr>
          <p:cNvPr id="15" name="Text 6"/>
          <p:cNvSpPr/>
          <p:nvPr/>
        </p:nvSpPr>
        <p:spPr>
          <a:xfrm>
            <a:off x="2833688" y="5248275"/>
            <a:ext cx="6524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1D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"MATAX — La fiscalité algérienne, enfin accessible à tous."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dokie</cp:lastModifiedBy>
  <cp:revision>1</cp:revision>
  <dcterms:created xsi:type="dcterms:W3CDTF">2026-04-21T13:32:31Z</dcterms:created>
  <dcterms:modified xsi:type="dcterms:W3CDTF">2026-04-21T13:32:31Z</dcterms:modified>
</cp:coreProperties>
</file>