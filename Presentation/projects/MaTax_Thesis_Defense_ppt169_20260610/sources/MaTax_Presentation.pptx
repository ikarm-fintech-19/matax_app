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الأولى: التعريف بالمشروع. اذكري اسم المشروع والجامعة والتخصص.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الثانية: اشرحي المشكلة الجبائية الحقيقية في الجزائر ثم قدمي MaTax كالحل الذكي.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الثالثة: ركزي على أن MaTax ليست مجرد برنامج محاسبي بل منظومة متكاملة.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الرابعة: أرقام السوق مدعومة بإحصائيات المؤسسات الناشئة في الجزائر.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الخامسة: اشرحي الخارطة الزمنية المرحلية بالتفصيل.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السادسة: اشرحي مصادر الدخل الخمسة وأبرزي هامش الربح التشغيلي 46.6%.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السابعة: نموذج الأعمال BMC يوضح كيف يخلق MaTax قيمة ويحقق الربحية.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الثامنة: اعرضي الواجهة البصرية للمنصة وأكدي أنها قابلة للتطوير التدريجي.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التاسعة: أبرزي خبرتك الميدانية ثم اختمي بثقة بجملة قوية عن مستقبل MaTax.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0D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85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MaTax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التسيير الجبائي الرقمي الذكي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0" y="37033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جامعة ابن خلدون تيارت  |  </a:t>
            </a:r>
            <a:pPr algn="ctr" indent="0" marL="0">
              <a:buNone/>
            </a:pPr>
            <a:r>
              <a:rPr lang="en-US" sz="14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ماستر محاسبة وجباية  |  </a:t>
            </a:r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</a:rPr>
              <a:t>إعداد: حموم إكرام  |  إشراف: أ. بلعباس مخطار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المشكلة والحل المقترح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1F1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⚠️  المشكلة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تعقيد الإجراءات الجبائية وغياب الرقمنة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أخطاء بشرية في الحسابات اليدوية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غرامات التأخر بسبب ضياع المواعيد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أرشفة رقمية آمنة للوثائق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فجوة بين التكنولوجيا والقانون الجزائري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0FF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✅  الحل: MaTax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حساب آلي دقيق للضرائب وفق قانون المالية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وإرسال تصاريح G50 تلقائياً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ذكية بالمواعيد الجبائية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أرشفة سحابية آمنة للوثائق الرسمية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بسيطة لا تحتاج خبرة محاسبية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الجوانب الابتكارية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234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المسار الجبائي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منظومة رقمية واحدة تجمع الحساب والأرشفة والاستشارة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234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مستخدم بسيطة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9184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رقمية سلسة بدون خبرة محاسبية مسبقة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0058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234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تنبيهات ذكية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إشعارات استباقية بمواعيد التصريح والدفع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28600" y="29260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أمن البيانات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5760" y="3703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عالي وحماية وفق القانون الجزائري 18-07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54680" y="29260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جبائي موحد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291840" y="3703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 إلكتروني شامل يرافق المؤسسة في مسار نموها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80760" y="292608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00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شراكات استراتيجية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3703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من المحاسبين المعتمدين وحاضنات الأعمال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تحليل السوق والمنافسة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السوق الإجمالي (TAM)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2.88 مليار دج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30,000 مؤسسة على مستوى وطني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السوق المتاح (SAM)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768 مليون دج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8,000 مؤسسة في تيارت والولايات المجاورة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السوق المستهدف (SOM)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38.4 مليون دج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400 عميل في السنة الأولى (5%)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F6E"/>
                </a:solidFill>
              </a:rPr>
              <a:t>تحليل SWOT - ملخص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2004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0FF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2735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القوة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ريادة محلية، تكامل المسار، دقة الحساب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32004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1F1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2735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الضعف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تكاليف التطوير، الحاجة لكتلة حرجة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2004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EEF2FF"/>
          </a:solidFill>
          <a:ln w="19050">
            <a:solidFill>
              <a:srgbClr val="1B2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2735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6E"/>
                </a:solidFill>
              </a:rPr>
              <a:t>الفرص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دعم الدولة للرقمنة، نمو المقاولاتية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32004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BEB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32735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التهديدات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المنافسة التقليدية، تذبذب الإنترنت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خطة الإنتاج والتنظيم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600200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التأسيس والمسح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1143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8600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080"/>
                </a:solidFill>
              </a:rPr>
              <a:t>ش 1-2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دراسة ميدانية وانتقاء المؤسسات الشريكة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10058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1600200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التطوير التقني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67128" y="2194560"/>
            <a:ext cx="1143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28600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080"/>
                </a:solidFill>
              </a:rPr>
              <a:t>ش 3-6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بناء نظام ERP وتطوير التطبيق والواجهات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94176" y="10058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85616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67328" y="1600200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الإطلاق التجريبي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22776" y="2194560"/>
            <a:ext cx="1143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28600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080"/>
                </a:solidFill>
              </a:rPr>
              <a:t>ش 7-8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85616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اختبار المنصة مع مجموعة من المؤسسات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10058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41264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22976" y="1600200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التوسع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78424" y="2194560"/>
            <a:ext cx="1143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228600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080"/>
                </a:solidFill>
              </a:rPr>
              <a:t>ش 9-10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1264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حملات تسويقية وشراكات استراتيجية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05472" y="10058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96912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78624" y="1600200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الإطلاق الرسمي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34072" y="2194560"/>
            <a:ext cx="1143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228600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D080"/>
                </a:solidFill>
              </a:rPr>
              <a:t>ش 11-12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اختبارات الجودة والإطلاق الكامل لجميع الخدمات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F6E"/>
                </a:solidFill>
              </a:rPr>
              <a:t>الهيكل التنظيمي: CEO → قسم تقني + قسم جبائي + قسم تسويق + قسم مالي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التكاليف والإيرادات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📊  التكاليف السنوية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الاستثمارات (معدات + منصة)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91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2,898,000 دج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414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الأجور السنوية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441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3,808,200 دج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912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المشتريات المباشرة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319125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280,000 دج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49624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410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الأعباء غير المباشرة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94106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1,042,000 دج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💰  الإيرادات السنوية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60020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673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اشتراكات الباقات (SaaS)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06640" y="1673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3,840,000 دج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212848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الخدمات بالوحدة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0664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2,388,000 دج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825496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898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عمولات الشراكات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962,000 دج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438144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5112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التكوين والتدريب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35112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1,680,000 دج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050792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123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الإعلانات وتسويق البيانات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41239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740,000 دج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66344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إجمالي الإيرادات السنة الأولى: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78040" y="4709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D080"/>
                </a:solidFill>
              </a:rPr>
              <a:t>9,610,000 دج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نموذج الأعمال التجاري (BMC)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960120"/>
            <a:ext cx="1645920" cy="2194560"/>
          </a:xfrm>
          <a:prstGeom prst="roundRect">
            <a:avLst>
              <a:gd name="adj" fmla="val 388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" y="10149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الشركاء الرئيسيون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" y="1307592"/>
            <a:ext cx="1499616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مكاتب المحاسبة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حاضنات الأعمال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مزودو السحابة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645920" cy="1005840"/>
          </a:xfrm>
          <a:prstGeom prst="roundRect">
            <a:avLst>
              <a:gd name="adj" fmla="val 636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0149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الأنشطة الرئيسية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47672" y="1307592"/>
            <a:ext cx="1499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تطوير المنصة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تحديث القوانين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دعم العملاء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2057400"/>
            <a:ext cx="1645920" cy="1097280"/>
          </a:xfrm>
          <a:prstGeom prst="roundRect">
            <a:avLst>
              <a:gd name="adj" fmla="val 583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11226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الموارد الرئيسية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47672" y="2404872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فريق تقني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قاعدة بيانات قانونية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علاقات مهنية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960120"/>
            <a:ext cx="1920240" cy="219456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1014984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القيمة المقترحة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85032" y="1307592"/>
            <a:ext cx="1773936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تسيير جبائي آلي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أمان قانوني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توفير الوقت والمال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960120"/>
            <a:ext cx="1645920" cy="1005840"/>
          </a:xfrm>
          <a:prstGeom prst="roundRect">
            <a:avLst>
              <a:gd name="adj" fmla="val 6364"/>
            </a:avLst>
          </a:prstGeom>
          <a:solidFill>
            <a:srgbClr val="FFF1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10149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علاقات العملاء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96712" y="1307592"/>
            <a:ext cx="1499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دعم فني مباشر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تدريب رقمي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تقييم مستمر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2057400"/>
            <a:ext cx="1645920" cy="1097280"/>
          </a:xfrm>
          <a:prstGeom prst="roundRect">
            <a:avLst>
              <a:gd name="adj" fmla="val 5833"/>
            </a:avLst>
          </a:prstGeom>
          <a:solidFill>
            <a:srgbClr val="FFF1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96712" y="211226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القنوات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96712" y="2404872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تطبيق موبايل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موقع إلكتروني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شبكة شركاء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960120"/>
            <a:ext cx="1645920" cy="2194560"/>
          </a:xfrm>
          <a:prstGeom prst="roundRect">
            <a:avLst>
              <a:gd name="adj" fmla="val 388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01498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شرائح العملاء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34072" y="1307592"/>
            <a:ext cx="1499616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المقاولون الذاتيون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المؤسسات الصغيرة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المهنيون المستقلون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3246120"/>
            <a:ext cx="4297680" cy="1188720"/>
          </a:xfrm>
          <a:prstGeom prst="roundRect">
            <a:avLst>
              <a:gd name="adj" fmla="val 5385"/>
            </a:avLst>
          </a:prstGeom>
          <a:solidFill>
            <a:srgbClr val="FFF1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" y="3300984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هيكل التكاليف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0312" y="3593592"/>
            <a:ext cx="4151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تطوير المنصة 1.5م دج  |  الأجور 3.8م دج  |  التسويق 240 ألف دج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3246120"/>
            <a:ext cx="4434840" cy="1188720"/>
          </a:xfrm>
          <a:prstGeom prst="roundRect">
            <a:avLst>
              <a:gd name="adj" fmla="val 5385"/>
            </a:avLst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300984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</a:rPr>
              <a:t>مصادر الإيرادات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593592"/>
            <a:ext cx="42885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اشتراكات SaaS  |  خدمات بالوحدة  |  شراكات  |  تدريب  |  إعلانات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النموذج التجريبي الأولي (Prototype)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لوحة التحكم - MaTax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إجمالي الإيرادات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1,250,000 دج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508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15544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إجمالي المصاريف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21992" y="182880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890,000 دج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508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15544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صافي الربح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05072" y="182880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360,000 دج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3200400" cy="1783080"/>
          </a:xfrm>
          <a:prstGeom prst="roundRect">
            <a:avLst>
              <a:gd name="adj" fmla="val 4103"/>
            </a:avLst>
          </a:prstGeom>
          <a:solidFill>
            <a:srgbClr val="2635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📈  تطور الإيرادات الشهري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429000"/>
            <a:ext cx="2743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3520440"/>
            <a:ext cx="2743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3246120"/>
            <a:ext cx="2743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3337560"/>
            <a:ext cx="2743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3063240"/>
            <a:ext cx="2743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4231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2635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4871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📄  إرسال تصريح G50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4904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الفترة: الثاني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3154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النوع: TVA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94760" y="35204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إرسال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960120"/>
            <a:ext cx="3063240" cy="39776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89320" y="10789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6E"/>
                </a:solidFill>
              </a:rPr>
              <a:t>مميزات النموذج الأولي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15361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✅  حساب آلي للضرائب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89320" y="208483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📤  إرسال تصاريح G50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26334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☁️  أرشفة سحابية آمنة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89320" y="318211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🔔  تنبيهات المواعيد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89320" y="37307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📊  تقارير مالية فورية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89320" y="42793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🔐  حماية البيانات 18-07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الشهادات والإنجازات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89611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463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تربص ميداني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مؤسسة نافطال + مجمع سونلغاز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23160" y="7772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8961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1463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خبرة مهنية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14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مع محافظ حسابات وخبير قضائي + محاسب معتمد من وزير المالية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17720" y="7772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89611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1463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مشروع مبتكر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0916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في إطار القرار الوزاري 1275 للمؤسسات الناشئة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12280" y="7772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89611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1463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دعم أكاديمي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9037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إشراف أ. بلعباس مخطار + أ. مفتاح فاطمة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274320" y="2788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D080"/>
                </a:solidFill>
              </a:rPr>
              <a:t>مؤشرات الجدوى المالية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228600" y="3246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32004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صافي القيمة الحالية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2004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79.6 مليون دج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32004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إيجابي جداً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423160" y="3246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251460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مدة الاسترداد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251460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 سنة و9 أشهر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51460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سريع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17720" y="3246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70916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نقطة التعادل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70916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61 عميل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470916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الشهر الرابع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812280" y="32461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90372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هامش الربح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903720" y="3675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46.6%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90372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EFF"/>
                </a:solidFill>
              </a:rPr>
              <a:t>مرتفع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D080"/>
                </a:solidFill>
              </a:rPr>
              <a:t>MaTax — من تيارت إلى رقمنة الجزائر الجبائية  🇩🇿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MaTax - عرض مشروع المناقشة</dc:title>
  <dc:subject>PptxGenJS Presentation</dc:subject>
  <dc:creator>PptxGenJS</dc:creator>
  <cp:lastModifiedBy>PptxGenJS</cp:lastModifiedBy>
  <cp:revision>1</cp:revision>
  <dcterms:created xsi:type="dcterms:W3CDTF">2026-06-09T22:14:16Z</dcterms:created>
  <dcterms:modified xsi:type="dcterms:W3CDTF">2026-06-09T22:14:16Z</dcterms:modified>
</cp:coreProperties>
</file>