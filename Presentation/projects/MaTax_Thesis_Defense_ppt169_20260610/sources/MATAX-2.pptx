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F810FA-FF40-4DCA-9D95-B1A3929756DA}" v="53" dt="2026-04-21T19:43:26.5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9BFC82-F18E-49FA-ACAD-E5042C62A391}" type="datetimeFigureOut"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D38D3E-774B-474A-B602-0C1576BCBB4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921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atax-frontend.onrender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426726"/>
            <a:ext cx="13042821" cy="212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700"/>
              </a:lnSpc>
              <a:buNone/>
            </a:pPr>
            <a:r>
              <a:rPr lang="en-US" sz="13350" b="1" dirty="0">
                <a:solidFill>
                  <a:srgbClr val="0F4C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MATAX</a:t>
            </a:r>
            <a:endParaRPr lang="en-US" sz="13350" dirty="0"/>
          </a:p>
        </p:txBody>
      </p:sp>
      <p:sp>
        <p:nvSpPr>
          <p:cNvPr id="5" name="Text 2"/>
          <p:cNvSpPr/>
          <p:nvPr/>
        </p:nvSpPr>
        <p:spPr>
          <a:xfrm>
            <a:off x="2329458" y="3893344"/>
            <a:ext cx="997148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B6E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Plateforme de Conformité Fiscale Intelligente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793790" y="4800481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"La conformité fiscale, simplifiée pour tous."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93790" y="5565815"/>
            <a:ext cx="13042821" cy="1690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93790" y="5894546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5B6B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pour le Comité National de Labellisation des Projets Innovants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39253"/>
            <a:ext cx="510516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Présentation &amp; Contact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59856"/>
            <a:ext cx="1849993" cy="23124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27271" y="2659856"/>
            <a:ext cx="424612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MATAX — Qu'est-ce que c'est 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927271" y="3504605"/>
            <a:ext cx="424612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Plateforme numérique pour entreprises, commerçants, particuliers assujettis et experts‑comptables : déclarations automatisées, calculateurs conformes au Code Fiscal DGI 2026, tableau de bord personnalisé et consultation professionnelle en option.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2659856"/>
            <a:ext cx="1850112" cy="23125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90484" y="26598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Contact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590484" y="3150275"/>
            <a:ext cx="4233426" cy="28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Hamoum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Ikram — </a:t>
            </a:r>
            <a:r>
              <a:rPr lang="en-US" sz="1750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Fondatrice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&amp; PDG</a:t>
            </a:r>
            <a:endParaRPr lang="en-US" sz="1750" dirty="0">
              <a:latin typeface="Inter"/>
              <a:ea typeface="Inter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Licence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Sciences </a:t>
            </a:r>
            <a:r>
              <a:rPr lang="en-US" sz="1750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Financières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&amp; </a:t>
            </a:r>
            <a:r>
              <a:rPr lang="en-US" sz="1750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Comptables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(2024) · Master </a:t>
            </a:r>
            <a:r>
              <a:rPr lang="en-US" sz="1750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Comptabilité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&amp; </a:t>
            </a:r>
            <a:r>
              <a:rPr lang="en-US" sz="1750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Fiscalité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(</a:t>
            </a:r>
            <a:r>
              <a:rPr lang="en-US" sz="1750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en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cours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).</a:t>
            </a:r>
            <a:endParaRPr lang="en-US" sz="1750" dirty="0">
              <a:latin typeface="Inter"/>
              <a:ea typeface="Inter"/>
            </a:endParaRPr>
          </a:p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000000"/>
                </a:solidFill>
                <a:latin typeface="Inter"/>
                <a:ea typeface="Inter"/>
                <a:cs typeface="Inter" pitchFamily="34" charset="-120"/>
              </a:rPr>
              <a:t>📧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ikram.hm.hamoum@gmail.com </a:t>
            </a:r>
            <a:endParaRPr lang="en-US" sz="1750" dirty="0">
              <a:solidFill>
                <a:srgbClr val="000000"/>
              </a:solidFill>
              <a:latin typeface="Inter"/>
              <a:ea typeface="Inter"/>
              <a:cs typeface="Calibri" panose="020F0502020204030204"/>
            </a:endParaRPr>
          </a:p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000000"/>
                </a:solidFill>
                <a:latin typeface="Inter"/>
                <a:ea typeface="Inter"/>
                <a:cs typeface="Inter" pitchFamily="34" charset="-120"/>
              </a:rPr>
              <a:t>📞</a:t>
            </a: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+213 672 53 25 99 </a:t>
            </a:r>
            <a:endParaRPr lang="en-US" sz="1750">
              <a:solidFill>
                <a:srgbClr val="000000"/>
              </a:solidFill>
              <a:latin typeface="Inter"/>
              <a:ea typeface="Inter"/>
              <a:cs typeface="Calibri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Inter"/>
                <a:ea typeface="Inter"/>
                <a:cs typeface="Inter" pitchFamily="34" charset="-120"/>
              </a:rPr>
              <a:t>📍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Tiaret, Algérie</a:t>
            </a:r>
            <a:endParaRPr lang="en-US" sz="1750">
              <a:latin typeface="Inter"/>
              <a:ea typeface="Inter"/>
              <a:cs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7985C2-F699-47B6-5D2E-62834D7B07FE}"/>
              </a:ext>
            </a:extLst>
          </p:cNvPr>
          <p:cNvSpPr/>
          <p:nvPr/>
        </p:nvSpPr>
        <p:spPr>
          <a:xfrm>
            <a:off x="12372699" y="7491625"/>
            <a:ext cx="2325365" cy="734903"/>
          </a:xfrm>
          <a:prstGeom prst="rect">
            <a:avLst/>
          </a:prstGeom>
          <a:solidFill>
            <a:schemeClr val="bg1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0197" y="574596"/>
            <a:ext cx="6113621" cy="764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Problématique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20197" y="1546384"/>
            <a:ext cx="7903607" cy="166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conformité fiscale reste trop complexe, trop coûteuse, trop stressante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20197" y="3415308"/>
            <a:ext cx="3882628" cy="1541502"/>
          </a:xfrm>
          <a:prstGeom prst="roundRect">
            <a:avLst>
              <a:gd name="adj" fmla="val 711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7337" y="3415308"/>
            <a:ext cx="91440" cy="1541502"/>
          </a:xfrm>
          <a:prstGeom prst="roundRect">
            <a:avLst>
              <a:gd name="adj" fmla="val 81395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888802" y="3615333"/>
            <a:ext cx="336137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Législation qui change souvent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8802" y="3975140"/>
            <a:ext cx="341399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fiscal modifié fréquemment, contribuables informés tardivement.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41175" y="3415308"/>
            <a:ext cx="3882628" cy="1541502"/>
          </a:xfrm>
          <a:prstGeom prst="roundRect">
            <a:avLst>
              <a:gd name="adj" fmla="val 711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8315" y="3415308"/>
            <a:ext cx="91440" cy="1541502"/>
          </a:xfrm>
          <a:prstGeom prst="roundRect">
            <a:avLst>
              <a:gd name="adj" fmla="val 81395"/>
            </a:avLst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4909780" y="3615333"/>
            <a:ext cx="3413998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Calculs fiscaux difficiles à maîtriser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09780" y="4251960"/>
            <a:ext cx="341399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IRG, IBS, TVA, abattements : calculs interdépendants sans expertise.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0197" y="5095161"/>
            <a:ext cx="3882628" cy="1541502"/>
          </a:xfrm>
          <a:prstGeom prst="roundRect">
            <a:avLst>
              <a:gd name="adj" fmla="val 711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7337" y="5095161"/>
            <a:ext cx="91440" cy="1541502"/>
          </a:xfrm>
          <a:prstGeom prst="roundRect">
            <a:avLst>
              <a:gd name="adj" fmla="val 81395"/>
            </a:avLst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888802" y="5295186"/>
            <a:ext cx="320028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Risque de pénalités et retards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88802" y="5654993"/>
            <a:ext cx="341399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Erreurs ou retards entraînent des redressements et amendes.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41175" y="5095161"/>
            <a:ext cx="3882628" cy="1541502"/>
          </a:xfrm>
          <a:prstGeom prst="roundRect">
            <a:avLst>
              <a:gd name="adj" fmla="val 711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8315" y="5095161"/>
            <a:ext cx="91440" cy="1541502"/>
          </a:xfrm>
          <a:prstGeom prst="roundRect">
            <a:avLst>
              <a:gd name="adj" fmla="val 81395"/>
            </a:avLst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4909780" y="5295186"/>
            <a:ext cx="3413998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Démarches longues entre administrations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09780" y="5931813"/>
            <a:ext cx="341399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Processus administratifs longs (DGI, CASNOS, CNRC).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0197" y="6792397"/>
            <a:ext cx="790360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Conséquence :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majorité des petites structures opèrent à risque ou perdent un temps précieux.</a:t>
            </a:r>
            <a:endParaRPr lang="en-US" sz="135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555546"/>
            <a:ext cx="8520351" cy="871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850"/>
              </a:lnSpc>
              <a:buNone/>
            </a:pPr>
            <a:r>
              <a:rPr lang="en-US" sz="5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À qui s'adresse MATAX ?</a:t>
            </a:r>
            <a:endParaRPr lang="en-US" sz="5450" dirty="0"/>
          </a:p>
        </p:txBody>
      </p:sp>
      <p:sp>
        <p:nvSpPr>
          <p:cNvPr id="3" name="Text 1"/>
          <p:cNvSpPr/>
          <p:nvPr/>
        </p:nvSpPr>
        <p:spPr>
          <a:xfrm>
            <a:off x="706993" y="1696522"/>
            <a:ext cx="12576572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Une plateforme pour tous les acteurs économiques</a:t>
            </a:r>
            <a:endParaRPr lang="en-US" sz="3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993" y="2597587"/>
            <a:ext cx="403979" cy="4039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6993" y="3226356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Sociétés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06993" y="3649861"/>
            <a:ext cx="64958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EURL, SARL, SPA : gestion simplifiée des obligations IBS, TVA, G04, G11.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7595" y="2597587"/>
            <a:ext cx="403979" cy="4039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27595" y="3226356"/>
            <a:ext cx="3404354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Commerçants Immatriculés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7427595" y="3649861"/>
            <a:ext cx="6495812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Artisans, importateurs, détaillants : pour une conformité sans faille.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6993" y="4620697"/>
            <a:ext cx="403979" cy="40397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6993" y="5249466"/>
            <a:ext cx="2708434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Particuliers Assujettis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706993" y="5672971"/>
            <a:ext cx="64958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Professions libérales, revenus locatifs : pour des déclarations fiscales spécifiques claires.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7595" y="4620697"/>
            <a:ext cx="403979" cy="40397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27595" y="5249466"/>
            <a:ext cx="4199573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Experts-Comptables &amp; Fiduciaires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7427595" y="5672971"/>
            <a:ext cx="6495812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Gagnez du temps et suivez efficacement plusieurs dossiers clients.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706993" y="6486406"/>
            <a:ext cx="1321641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Notre plateforme cible principalement le marché algérien francophone, offrant une aide fiscale digitale et accessible à tous les utilisateurs recherchant de la clarté et une aide fiable.</a:t>
            </a:r>
            <a:endParaRPr lang="en-US" sz="15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3BAFDB-0FF8-AEB2-335B-C2856EB34C7C}"/>
              </a:ext>
            </a:extLst>
          </p:cNvPr>
          <p:cNvSpPr/>
          <p:nvPr/>
        </p:nvSpPr>
        <p:spPr>
          <a:xfrm>
            <a:off x="12372699" y="7491625"/>
            <a:ext cx="2325365" cy="734903"/>
          </a:xfrm>
          <a:prstGeom prst="rect">
            <a:avLst/>
          </a:prstGeom>
          <a:solidFill>
            <a:schemeClr val="bg1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584121"/>
            <a:ext cx="7347823" cy="871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850"/>
              </a:lnSpc>
              <a:buNone/>
            </a:pPr>
            <a:r>
              <a:rPr lang="en-US" sz="5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Solution — MATAX</a:t>
            </a:r>
            <a:endParaRPr lang="en-US" sz="5450" dirty="0"/>
          </a:p>
        </p:txBody>
      </p:sp>
      <p:sp>
        <p:nvSpPr>
          <p:cNvPr id="3" name="Text 1"/>
          <p:cNvSpPr/>
          <p:nvPr/>
        </p:nvSpPr>
        <p:spPr>
          <a:xfrm>
            <a:off x="706993" y="1725097"/>
            <a:ext cx="11643598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Cinq piliers pour simplifier la conformité fiscale</a:t>
            </a:r>
            <a:endParaRPr lang="en-US" sz="3950" dirty="0"/>
          </a:p>
        </p:txBody>
      </p:sp>
      <p:sp>
        <p:nvSpPr>
          <p:cNvPr id="4" name="Shape 2"/>
          <p:cNvSpPr/>
          <p:nvPr/>
        </p:nvSpPr>
        <p:spPr>
          <a:xfrm>
            <a:off x="706993" y="2626162"/>
            <a:ext cx="4285536" cy="1789628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4133" y="2626162"/>
            <a:ext cx="91440" cy="1789628"/>
          </a:xfrm>
          <a:prstGeom prst="roundRect">
            <a:avLst>
              <a:gd name="adj" fmla="val 92791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1000363" y="2850952"/>
            <a:ext cx="3285649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Déclarations automatisées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00363" y="3274457"/>
            <a:ext cx="3767376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G50 (TVA), G11 (annuelle), G04 (employeur) — pré‑remplis et prêts à soumettre à la DGI.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172432" y="2626162"/>
            <a:ext cx="4285536" cy="1789628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9572" y="2626162"/>
            <a:ext cx="91440" cy="1789628"/>
          </a:xfrm>
          <a:prstGeom prst="roundRect">
            <a:avLst>
              <a:gd name="adj" fmla="val 92791"/>
            </a:avLst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5465802" y="2850952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Calculs conformes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465802" y="3274457"/>
            <a:ext cx="3767376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IRG, IBS (19%/23%/26%), TVA (19%/9%) — moteur mis à jour selon la LF 2026, réduction des erreurs.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37871" y="2626162"/>
            <a:ext cx="4285536" cy="1789628"/>
          </a:xfrm>
          <a:prstGeom prst="roundRect">
            <a:avLst>
              <a:gd name="adj" fmla="val 613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15011" y="2626162"/>
            <a:ext cx="91440" cy="1789628"/>
          </a:xfrm>
          <a:prstGeom prst="roundRect">
            <a:avLst>
              <a:gd name="adj" fmla="val 92791"/>
            </a:avLst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9905841" y="2850952"/>
            <a:ext cx="3636883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50"/>
              </a:lnSpc>
            </a:pPr>
            <a:r>
              <a:rPr lang="en-US" sz="1950" b="1" dirty="0">
                <a:solidFill>
                  <a:srgbClr val="272525"/>
                </a:solidFill>
                <a:latin typeface="Inter Bold"/>
                <a:ea typeface="Inter Bold"/>
                <a:cs typeface="Inter Bold" pitchFamily="34" charset="-120"/>
              </a:rPr>
              <a:t>Tableau de bord </a:t>
            </a:r>
            <a:r>
              <a:rPr lang="en-US" sz="1950" b="1" dirty="0" err="1">
                <a:solidFill>
                  <a:srgbClr val="272525"/>
                </a:solidFill>
                <a:latin typeface="Inter Bold"/>
                <a:ea typeface="Inter Bold"/>
                <a:cs typeface="Inter Bold" pitchFamily="34" charset="-120"/>
              </a:rPr>
              <a:t>personnalisé</a:t>
            </a:r>
            <a:endParaRPr lang="en-US" sz="195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931241" y="3274457"/>
            <a:ext cx="3767376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par entité (EURL, SARL, auto‑entrepreneur, RC), calendrier fiscal et alertes proactives.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06993" y="4595693"/>
            <a:ext cx="4285536" cy="2095143"/>
          </a:xfrm>
          <a:prstGeom prst="roundRect">
            <a:avLst>
              <a:gd name="adj" fmla="val 523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4133" y="4595693"/>
            <a:ext cx="91440" cy="2095143"/>
          </a:xfrm>
          <a:prstGeom prst="roundRect">
            <a:avLst>
              <a:gd name="adj" fmla="val 92791"/>
            </a:avLst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1000363" y="4820483"/>
            <a:ext cx="3539490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50"/>
              </a:lnSpc>
            </a:pPr>
            <a:r>
              <a:rPr lang="en-US" sz="1950" b="1" dirty="0">
                <a:solidFill>
                  <a:srgbClr val="272525"/>
                </a:solidFill>
                <a:latin typeface="Inter Bold"/>
                <a:ea typeface="Inter Bold"/>
                <a:cs typeface="Inter Bold" pitchFamily="34" charset="-120"/>
              </a:rPr>
              <a:t>Assistant IA </a:t>
            </a:r>
            <a:r>
              <a:rPr lang="en-US" sz="1950" b="1" dirty="0" err="1">
                <a:solidFill>
                  <a:srgbClr val="272525"/>
                </a:solidFill>
                <a:latin typeface="Inter Bold"/>
                <a:ea typeface="Inter Bold"/>
                <a:cs typeface="Inter Bold" pitchFamily="34" charset="-120"/>
              </a:rPr>
              <a:t>conversationnel</a:t>
            </a:r>
            <a:endParaRPr lang="en-US" sz="1950" dirty="0" err="1">
              <a:latin typeface="Inter Bold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00363" y="5243989"/>
            <a:ext cx="3767376" cy="1222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Chatbot IA pour poser vos questions fiscales — réponses instantanées basées sur la LF 2026 avec citations légales.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172432" y="4595693"/>
            <a:ext cx="4285536" cy="2095143"/>
          </a:xfrm>
          <a:prstGeom prst="roundRect">
            <a:avLst>
              <a:gd name="adj" fmla="val 523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49572" y="4595693"/>
            <a:ext cx="91440" cy="2095143"/>
          </a:xfrm>
          <a:prstGeom prst="roundRect">
            <a:avLst>
              <a:gd name="adj" fmla="val 92791"/>
            </a:avLst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5465802" y="482048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Consultation pro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5465802" y="5243989"/>
            <a:ext cx="3767376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en relation avec expert‑comptable agréé depuis la plateforme (option payante).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06993" y="6893243"/>
            <a:ext cx="1321641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solution complète qui combine automatisation, intelligence artificielle et expertise humaine.</a:t>
            </a:r>
            <a:endParaRPr lang="en-US" sz="15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039EB7-C62F-65D7-8AEE-70030A3FBAC2}"/>
              </a:ext>
            </a:extLst>
          </p:cNvPr>
          <p:cNvSpPr/>
          <p:nvPr/>
        </p:nvSpPr>
        <p:spPr>
          <a:xfrm>
            <a:off x="12372699" y="7491625"/>
            <a:ext cx="2325365" cy="734903"/>
          </a:xfrm>
          <a:prstGeom prst="rect">
            <a:avLst/>
          </a:prstGeom>
          <a:solidFill>
            <a:schemeClr val="bg1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26256"/>
            <a:ext cx="6602730" cy="825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450"/>
              </a:lnSpc>
              <a:buNone/>
            </a:pPr>
            <a:r>
              <a:rPr lang="en-US" sz="5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Valeur Ajoutée</a:t>
            </a:r>
            <a:endParaRPr lang="en-US" sz="5150" dirty="0"/>
          </a:p>
        </p:txBody>
      </p:sp>
      <p:sp>
        <p:nvSpPr>
          <p:cNvPr id="3" name="Text 1"/>
          <p:cNvSpPr/>
          <p:nvPr/>
        </p:nvSpPr>
        <p:spPr>
          <a:xfrm>
            <a:off x="712351" y="1593771"/>
            <a:ext cx="13205579" cy="119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700"/>
              </a:lnSpc>
            </a:pPr>
            <a:r>
              <a:rPr lang="en-US" sz="3750" b="1" dirty="0">
                <a:solidFill>
                  <a:srgbClr val="000000"/>
                </a:solidFill>
                <a:latin typeface="Inter Bold"/>
                <a:ea typeface="Inter Bold"/>
                <a:cs typeface="Inter Bold" pitchFamily="34" charset="-120"/>
              </a:rPr>
              <a:t>MATAX </a:t>
            </a:r>
            <a:r>
              <a:rPr lang="en-US" sz="3750" b="1" dirty="0" err="1">
                <a:solidFill>
                  <a:srgbClr val="000000"/>
                </a:solidFill>
                <a:latin typeface="Inter Bold"/>
                <a:ea typeface="Inter Bold"/>
                <a:cs typeface="Inter Bold" pitchFamily="34" charset="-120"/>
              </a:rPr>
              <a:t>transforme</a:t>
            </a:r>
            <a:r>
              <a:rPr lang="en-US" sz="3750" b="1" dirty="0">
                <a:solidFill>
                  <a:srgbClr val="000000"/>
                </a:solidFill>
                <a:latin typeface="Inter Bold"/>
                <a:ea typeface="Inter Bold"/>
                <a:cs typeface="Inter Bold" pitchFamily="34" charset="-120"/>
              </a:rPr>
              <a:t> la </a:t>
            </a:r>
            <a:r>
              <a:rPr lang="en-US" sz="3750" b="1" dirty="0" err="1">
                <a:solidFill>
                  <a:srgbClr val="000000"/>
                </a:solidFill>
                <a:latin typeface="Inter Bold"/>
                <a:ea typeface="Inter Bold"/>
                <a:cs typeface="Inter Bold" pitchFamily="34" charset="-120"/>
              </a:rPr>
              <a:t>conformité</a:t>
            </a:r>
            <a:r>
              <a:rPr lang="en-US" sz="3750" b="1" dirty="0">
                <a:solidFill>
                  <a:srgbClr val="000000"/>
                </a:solidFill>
                <a:latin typeface="Inter Bold"/>
                <a:ea typeface="Inter Bold"/>
                <a:cs typeface="Inter Bold" pitchFamily="34" charset="-120"/>
              </a:rPr>
              <a:t> </a:t>
            </a:r>
            <a:r>
              <a:rPr lang="en-US" sz="3750" b="1" dirty="0" err="1">
                <a:solidFill>
                  <a:srgbClr val="000000"/>
                </a:solidFill>
                <a:latin typeface="Inter Bold"/>
                <a:ea typeface="Inter Bold"/>
                <a:cs typeface="Inter Bold" pitchFamily="34" charset="-120"/>
              </a:rPr>
              <a:t>fiscale</a:t>
            </a:r>
            <a:r>
              <a:rPr lang="en-US" sz="3750" b="1" dirty="0">
                <a:solidFill>
                  <a:srgbClr val="000000"/>
                </a:solidFill>
                <a:latin typeface="Inter Bold"/>
                <a:ea typeface="Inter Bold"/>
                <a:cs typeface="Inter Bold" pitchFamily="34" charset="-120"/>
              </a:rPr>
              <a:t> </a:t>
            </a:r>
            <a:r>
              <a:rPr lang="en-US" sz="3750" b="1" dirty="0" err="1">
                <a:solidFill>
                  <a:srgbClr val="000000"/>
                </a:solidFill>
                <a:latin typeface="Inter Bold"/>
                <a:ea typeface="Inter Bold"/>
                <a:cs typeface="Inter Bold" pitchFamily="34" charset="-120"/>
              </a:rPr>
              <a:t>en</a:t>
            </a:r>
            <a:endParaRPr lang="en-US" sz="3750" dirty="0" err="1">
              <a:solidFill>
                <a:srgbClr val="000000"/>
              </a:solidFill>
              <a:latin typeface="Inter Bold"/>
              <a:ea typeface="Inter Bold"/>
              <a:cs typeface="Calibri" panose="020F0502020204030204"/>
            </a:endParaRPr>
          </a:p>
          <a:p>
            <a:pPr>
              <a:lnSpc>
                <a:spcPts val="4700"/>
              </a:lnSpc>
            </a:pPr>
            <a:r>
              <a:rPr lang="en-US" sz="3750" b="1" dirty="0">
                <a:solidFill>
                  <a:srgbClr val="000000"/>
                </a:solidFill>
                <a:latin typeface="Inter Bold"/>
                <a:ea typeface="Inter Bold"/>
                <a:cs typeface="Inter Bold" pitchFamily="34" charset="-120"/>
              </a:rPr>
              <a:t> </a:t>
            </a: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/>
                <a:cs typeface="Inter Bold" pitchFamily="34" charset="-120"/>
              </a:rPr>
              <a:t>processus simple et </a:t>
            </a:r>
            <a:r>
              <a:rPr lang="en-US" sz="3750" b="1" dirty="0" err="1">
                <a:solidFill>
                  <a:srgbClr val="000000"/>
                </a:solidFill>
                <a:latin typeface="Inter Bold" pitchFamily="34" charset="0"/>
                <a:ea typeface="Inter Bold"/>
                <a:cs typeface="Inter Bold" pitchFamily="34" charset="-120"/>
              </a:rPr>
              <a:t>automatisé</a:t>
            </a:r>
            <a:endParaRPr lang="en-US" sz="3750" err="1">
              <a:ea typeface="Inter Bold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12351" y="3032046"/>
            <a:ext cx="4294227" cy="1952863"/>
          </a:xfrm>
          <a:prstGeom prst="roundRect">
            <a:avLst>
              <a:gd name="adj" fmla="val 5619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9491" y="3032046"/>
            <a:ext cx="91440" cy="1952863"/>
          </a:xfrm>
          <a:prstGeom prst="roundRect">
            <a:avLst>
              <a:gd name="adj" fmla="val 87907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995124" y="3246239"/>
            <a:ext cx="3352562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Assistant IA conversationnel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95124" y="3642003"/>
            <a:ext cx="3797260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Chatbot intelligent pour poser vos questions fiscales, obtenir des réponses instantanées basées sur la LF 2026 avec citations légales.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68027" y="3032046"/>
            <a:ext cx="4294227" cy="1952863"/>
          </a:xfrm>
          <a:prstGeom prst="roundRect">
            <a:avLst>
              <a:gd name="adj" fmla="val 5619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5167" y="3032046"/>
            <a:ext cx="91440" cy="1952863"/>
          </a:xfrm>
          <a:prstGeom prst="roundRect">
            <a:avLst>
              <a:gd name="adj" fmla="val 87907"/>
            </a:avLst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5450800" y="3246239"/>
            <a:ext cx="3451741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Calculs fiscaux automatiques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5450800" y="3642003"/>
            <a:ext cx="3797260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TVA, IRG, IBS, déclarations de salaires et autres obligations calculés automatiquement.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23703" y="3032046"/>
            <a:ext cx="4294227" cy="1952863"/>
          </a:xfrm>
          <a:prstGeom prst="roundRect">
            <a:avLst>
              <a:gd name="adj" fmla="val 5619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0843" y="3032046"/>
            <a:ext cx="91440" cy="1952863"/>
          </a:xfrm>
          <a:prstGeom prst="roundRect">
            <a:avLst>
              <a:gd name="adj" fmla="val 87907"/>
            </a:avLst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476" y="3246239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Rappels et alertes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9906476" y="3642003"/>
            <a:ext cx="3797260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 notifications pour ne jamais oublier une deadline ou un dépôt important.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12351" y="5146357"/>
            <a:ext cx="4294227" cy="1687473"/>
          </a:xfrm>
          <a:prstGeom prst="roundRect">
            <a:avLst>
              <a:gd name="adj" fmla="val 650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9491" y="5146357"/>
            <a:ext cx="91440" cy="1687473"/>
          </a:xfrm>
          <a:prstGeom prst="roundRect">
            <a:avLst>
              <a:gd name="adj" fmla="val 87907"/>
            </a:avLst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995124" y="5360551"/>
            <a:ext cx="2874764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Prévention des pénalités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995124" y="5756315"/>
            <a:ext cx="3797260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suivi clair pour rester à jour, éviter les retards et réduire le risque d’amendes.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168027" y="5146357"/>
            <a:ext cx="4294227" cy="1687473"/>
          </a:xfrm>
          <a:prstGeom prst="roundRect">
            <a:avLst>
              <a:gd name="adj" fmla="val 650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45167" y="5146357"/>
            <a:ext cx="91440" cy="1687473"/>
          </a:xfrm>
          <a:prstGeom prst="roundRect">
            <a:avLst>
              <a:gd name="adj" fmla="val 87907"/>
            </a:avLst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5450800" y="5360551"/>
            <a:ext cx="3299579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Dépôt guidé étape par étape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5450800" y="5756315"/>
            <a:ext cx="3797260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parcours plus clair, plus rapide et moins stressant pour finaliser chaque déclaration.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623703" y="5146357"/>
            <a:ext cx="4294227" cy="1687473"/>
          </a:xfrm>
          <a:prstGeom prst="roundRect">
            <a:avLst>
              <a:gd name="adj" fmla="val 650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0843" y="5146357"/>
            <a:ext cx="91440" cy="1687473"/>
          </a:xfrm>
          <a:prstGeom prst="roundRect">
            <a:avLst>
              <a:gd name="adj" fmla="val 87907"/>
            </a:avLst>
          </a:prstGeom>
          <a:solidFill>
            <a:srgbClr val="4950BC"/>
          </a:solidFill>
          <a:ln/>
        </p:spPr>
      </p:sp>
      <p:sp>
        <p:nvSpPr>
          <p:cNvPr id="26" name="Text 24"/>
          <p:cNvSpPr/>
          <p:nvPr/>
        </p:nvSpPr>
        <p:spPr>
          <a:xfrm>
            <a:off x="9906476" y="5360551"/>
            <a:ext cx="3797260" cy="59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850" b="1" dirty="0">
                <a:solidFill>
                  <a:srgbClr val="272525"/>
                </a:solidFill>
                <a:latin typeface="Inter Bold"/>
                <a:ea typeface="Inter Bold"/>
                <a:cs typeface="Inter Bold" pitchFamily="34" charset="-120"/>
              </a:rPr>
              <a:t>Consultation </a:t>
            </a:r>
            <a:r>
              <a:rPr lang="en-US" sz="1850" b="1" dirty="0" err="1">
                <a:solidFill>
                  <a:srgbClr val="272525"/>
                </a:solidFill>
                <a:latin typeface="Inter Bold"/>
                <a:ea typeface="Inter Bold"/>
                <a:cs typeface="Inter Bold" pitchFamily="34" charset="-120"/>
              </a:rPr>
              <a:t>professionnelle</a:t>
            </a:r>
            <a:endParaRPr lang="en-US" sz="1850" dirty="0" err="1">
              <a:solidFill>
                <a:srgbClr val="000000"/>
              </a:solidFill>
              <a:latin typeface="Inter Bold"/>
              <a:ea typeface="Inter Bold"/>
              <a:cs typeface="Calibri" panose="020F0502020204030204"/>
            </a:endParaRPr>
          </a:p>
          <a:p>
            <a:pPr>
              <a:lnSpc>
                <a:spcPts val="2350"/>
              </a:lnSpc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/>
                <a:cs typeface="Inter Bold" pitchFamily="34" charset="-120"/>
              </a:rPr>
              <a:t> </a:t>
            </a:r>
            <a:r>
              <a:rPr lang="en-US" sz="1850" b="1" dirty="0">
                <a:solidFill>
                  <a:srgbClr val="272525"/>
                </a:solidFill>
                <a:latin typeface="Inter Bold"/>
                <a:ea typeface="Inter Bold" pitchFamily="34" charset="-122"/>
                <a:cs typeface="Inter Bold" pitchFamily="34" charset="-120"/>
              </a:rPr>
              <a:t>à la </a:t>
            </a:r>
            <a:r>
              <a:rPr lang="en-US" sz="1850" b="1" dirty="0" err="1">
                <a:solidFill>
                  <a:srgbClr val="272525"/>
                </a:solidFill>
                <a:latin typeface="Inter Bold"/>
                <a:ea typeface="Inter Bold" pitchFamily="34" charset="-122"/>
                <a:cs typeface="Inter Bold" pitchFamily="34" charset="-120"/>
              </a:rPr>
              <a:t>demande</a:t>
            </a:r>
            <a:endParaRPr lang="en-US" sz="1850" err="1">
              <a:latin typeface="Inter Bold"/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906476" y="6055281"/>
            <a:ext cx="3797260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Accès direct à des experts-comptables agréés directement via la plateforme.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2351" y="7015401"/>
            <a:ext cx="1320557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plateforme complète qui combine automatisation, intelligence artificielle et expertise humaine pour une conformité sans stress.</a:t>
            </a:r>
            <a:endParaRPr lang="en-US" sz="15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8087FF-BFBB-E675-7A99-3BEC2C547CF3}"/>
              </a:ext>
            </a:extLst>
          </p:cNvPr>
          <p:cNvSpPr/>
          <p:nvPr/>
        </p:nvSpPr>
        <p:spPr>
          <a:xfrm>
            <a:off x="12372699" y="7491625"/>
            <a:ext cx="2325365" cy="734903"/>
          </a:xfrm>
          <a:prstGeom prst="rect">
            <a:avLst/>
          </a:prstGeom>
          <a:solidFill>
            <a:schemeClr val="bg1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956786"/>
            <a:ext cx="7580948" cy="947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450"/>
              </a:lnSpc>
              <a:buNone/>
            </a:pPr>
            <a:r>
              <a:rPr lang="en-US" sz="5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Prototype </a:t>
            </a:r>
            <a:endParaRPr lang="en-US" sz="5950" dirty="0"/>
          </a:p>
        </p:txBody>
      </p:sp>
      <p:sp>
        <p:nvSpPr>
          <p:cNvPr id="3" name="Text 1"/>
          <p:cNvSpPr/>
          <p:nvPr/>
        </p:nvSpPr>
        <p:spPr>
          <a:xfrm>
            <a:off x="769025" y="2223492"/>
            <a:ext cx="7605951" cy="109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Accès à la version initiale : compte, profil fiscal, calcul &amp; déclarations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769025" y="3641169"/>
            <a:ext cx="7605951" cy="2460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Accessible en ligne — responsive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en français, vocabulaire clair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Calculs conformes DGI 2026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Comptes utilisateurs sécurisés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Consultation pro en option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9025" y="6341031"/>
            <a:ext cx="7605951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 public : </a:t>
            </a:r>
            <a:r>
              <a:rPr lang="en-US" sz="1700" u="sng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https://matax-frontend.onrender.com/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9340" y="1245870"/>
            <a:ext cx="3855720" cy="57378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44711"/>
            <a:ext cx="6113621" cy="764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Modèle économique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01460" y="1516499"/>
            <a:ext cx="8513802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Projection de revenu mensuel et annuel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1201460" y="2277904"/>
            <a:ext cx="12227362" cy="2213848"/>
          </a:xfrm>
          <a:prstGeom prst="roundRect">
            <a:avLst>
              <a:gd name="adj" fmla="val 336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6483" y="2376130"/>
            <a:ext cx="306121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Année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809649" y="2376130"/>
            <a:ext cx="403431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 mensuel (DA)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205913" y="2376130"/>
            <a:ext cx="403812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 annuel (DA)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86483" y="2817376"/>
            <a:ext cx="306121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Année 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09649" y="2817376"/>
            <a:ext cx="403431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2 500 000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205913" y="2817376"/>
            <a:ext cx="403812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30 000 000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86483" y="3258622"/>
            <a:ext cx="306121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Année 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09649" y="3258622"/>
            <a:ext cx="403431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10 000 000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205913" y="3258622"/>
            <a:ext cx="403812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120 000 000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86483" y="3699867"/>
            <a:ext cx="306121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Année 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09649" y="3699867"/>
            <a:ext cx="403431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40 000 000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205913" y="3699867"/>
            <a:ext cx="403812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480 000 000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86483" y="4141113"/>
            <a:ext cx="306121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Année 4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09649" y="4141113"/>
            <a:ext cx="403431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80 000 000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205913" y="4141113"/>
            <a:ext cx="403812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960 000 000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01460" y="4699397"/>
            <a:ext cx="9548812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 modèle SaaS hybride, flexible et scalable</a:t>
            </a:r>
            <a:endParaRPr lang="en-US" sz="3450" dirty="0"/>
          </a:p>
        </p:txBody>
      </p:sp>
      <p:sp>
        <p:nvSpPr>
          <p:cNvPr id="21" name="Shape 19"/>
          <p:cNvSpPr/>
          <p:nvPr/>
        </p:nvSpPr>
        <p:spPr>
          <a:xfrm>
            <a:off x="1201460" y="5460802"/>
            <a:ext cx="3983474" cy="1866186"/>
          </a:xfrm>
          <a:prstGeom prst="roundRect">
            <a:avLst>
              <a:gd name="adj" fmla="val 588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78600" y="5460802"/>
            <a:ext cx="91440" cy="1866186"/>
          </a:xfrm>
          <a:prstGeom prst="roundRect">
            <a:avLst>
              <a:gd name="adj" fmla="val 81395"/>
            </a:avLst>
          </a:prstGeom>
          <a:solidFill>
            <a:srgbClr val="4950BC"/>
          </a:solidFill>
          <a:ln/>
        </p:spPr>
      </p:sp>
      <p:sp>
        <p:nvSpPr>
          <p:cNvPr id="23" name="Text 21"/>
          <p:cNvSpPr/>
          <p:nvPr/>
        </p:nvSpPr>
        <p:spPr>
          <a:xfrm>
            <a:off x="1470065" y="5660827"/>
            <a:ext cx="236851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Utilisateurs ponctuels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470065" y="6020633"/>
            <a:ext cx="3514844" cy="805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Paiement à l'usage ou pack annuel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Idéal pour déclarations fiscales occasionnelles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323284" y="5460802"/>
            <a:ext cx="3983593" cy="1866186"/>
          </a:xfrm>
          <a:prstGeom prst="roundRect">
            <a:avLst>
              <a:gd name="adj" fmla="val 588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0424" y="5460802"/>
            <a:ext cx="91440" cy="1866186"/>
          </a:xfrm>
          <a:prstGeom prst="roundRect">
            <a:avLst>
              <a:gd name="adj" fmla="val 81395"/>
            </a:avLst>
          </a:prstGeom>
          <a:solidFill>
            <a:srgbClr val="4950BC"/>
          </a:solidFill>
          <a:ln/>
        </p:spPr>
      </p:sp>
      <p:sp>
        <p:nvSpPr>
          <p:cNvPr id="27" name="Text 25"/>
          <p:cNvSpPr/>
          <p:nvPr/>
        </p:nvSpPr>
        <p:spPr>
          <a:xfrm>
            <a:off x="5591889" y="5660827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Experts-comptables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591889" y="6020633"/>
            <a:ext cx="3514963" cy="853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Abonnement mensuel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Multi-dossiers, multi-clients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Gain de temps et automatisation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9445228" y="5460802"/>
            <a:ext cx="3983474" cy="1866186"/>
          </a:xfrm>
          <a:prstGeom prst="roundRect">
            <a:avLst>
              <a:gd name="adj" fmla="val 588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22368" y="5460802"/>
            <a:ext cx="91440" cy="1866186"/>
          </a:xfrm>
          <a:prstGeom prst="roundRect">
            <a:avLst>
              <a:gd name="adj" fmla="val 81395"/>
            </a:avLst>
          </a:prstGeom>
          <a:solidFill>
            <a:srgbClr val="4950BC"/>
          </a:solidFill>
          <a:ln/>
        </p:spPr>
      </p:sp>
      <p:sp>
        <p:nvSpPr>
          <p:cNvPr id="31" name="Text 29"/>
          <p:cNvSpPr/>
          <p:nvPr/>
        </p:nvSpPr>
        <p:spPr>
          <a:xfrm>
            <a:off x="9713833" y="5660827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Entreprises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713833" y="6020633"/>
            <a:ext cx="3514844" cy="1106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Abonnement avancé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 interne, automatisation, API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et accompagnement premium</a:t>
            </a:r>
            <a:endParaRPr lang="en-US" sz="135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A873A75-D2B8-81AC-786A-B4DDAA2B6A7A}"/>
              </a:ext>
            </a:extLst>
          </p:cNvPr>
          <p:cNvSpPr/>
          <p:nvPr/>
        </p:nvSpPr>
        <p:spPr>
          <a:xfrm>
            <a:off x="12461599" y="7682125"/>
            <a:ext cx="2325365" cy="734903"/>
          </a:xfrm>
          <a:prstGeom prst="rect">
            <a:avLst/>
          </a:prstGeom>
          <a:solidFill>
            <a:schemeClr val="bg1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589955"/>
            <a:ext cx="7214116" cy="901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00"/>
              </a:lnSpc>
              <a:buNone/>
            </a:pPr>
            <a:r>
              <a:rPr lang="en-US" sz="5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Roadmap</a:t>
            </a:r>
            <a:endParaRPr lang="en-US" sz="5650" dirty="0"/>
          </a:p>
        </p:txBody>
      </p:sp>
      <p:sp>
        <p:nvSpPr>
          <p:cNvPr id="3" name="Text 1"/>
          <p:cNvSpPr/>
          <p:nvPr/>
        </p:nvSpPr>
        <p:spPr>
          <a:xfrm>
            <a:off x="731758" y="1877139"/>
            <a:ext cx="13166884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58" y="2415302"/>
            <a:ext cx="13166884" cy="36098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18936" y="3719730"/>
            <a:ext cx="1989728" cy="356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1 : MVP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318936" y="4177330"/>
            <a:ext cx="1989728" cy="1368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Déclarations G50/G11/G04, calculateurs fiscaux, tableau de bord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004367" y="1678344"/>
            <a:ext cx="1989728" cy="1425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2 : Montée en échelle (12 mois)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004367" y="3204732"/>
            <a:ext cx="1989728" cy="1642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Intégrations CASNOS, applications mobiles, multi-dossiers, APIs partenaires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740465" y="3719730"/>
            <a:ext cx="1989728" cy="1068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3 : Expansion (3 ans)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40465" y="4889855"/>
            <a:ext cx="1989728" cy="821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propriétaire, partenariats DGI, adoption nationale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451230" y="3212055"/>
            <a:ext cx="1989728" cy="712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Référence nationale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451230" y="4025918"/>
            <a:ext cx="1989728" cy="821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Devenir la norme fiscale numérique en Algérie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31758" y="6241971"/>
            <a:ext cx="13166884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— MVP opérationnel aujourd'hui. 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1758" y="6780133"/>
            <a:ext cx="13166884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 — intégrations et montée en échelle sur 12 mois. 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31758" y="7318296"/>
            <a:ext cx="13166884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Phase 3 — IA propriétaire et </a:t>
            </a:r>
            <a:r>
              <a:rPr lang="en-US" sz="1600" b="1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partenariats</a:t>
            </a:r>
            <a:r>
              <a:rPr lang="en-US" sz="1600" b="1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</a:t>
            </a:r>
            <a:r>
              <a:rPr lang="en-US" sz="1600" b="1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institutionnels</a:t>
            </a:r>
            <a:r>
              <a:rPr lang="en-US" sz="1600" b="1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pour </a:t>
            </a:r>
            <a:r>
              <a:rPr lang="en-US" sz="1600" b="1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devenir</a:t>
            </a:r>
            <a:r>
              <a:rPr lang="en-US" sz="1600" b="1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la </a:t>
            </a:r>
            <a:r>
              <a:rPr lang="en-US" sz="1600" b="1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référence</a:t>
            </a:r>
            <a:r>
              <a:rPr lang="en-US" sz="1600" b="1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</a:t>
            </a:r>
            <a:r>
              <a:rPr lang="en-US" sz="1600" b="1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fiscale</a:t>
            </a:r>
            <a:r>
              <a:rPr lang="en-US" sz="1600" b="1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numérique </a:t>
            </a:r>
            <a:r>
              <a:rPr lang="en-US" sz="1600" b="1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en</a:t>
            </a:r>
            <a:r>
              <a:rPr lang="en-US" sz="1600" b="1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Algérie.</a:t>
            </a:r>
            <a:endParaRPr lang="en-US" sz="1600" dirty="0">
              <a:solidFill>
                <a:srgbClr val="5B6B7A"/>
              </a:solidFill>
              <a:latin typeface="Inter"/>
              <a:ea typeface="Inter"/>
              <a:cs typeface="Inter" pitchFamily="34" charset="-12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9E1441-79A4-ED62-B044-B2C2AE7E497A}"/>
              </a:ext>
            </a:extLst>
          </p:cNvPr>
          <p:cNvSpPr/>
          <p:nvPr/>
        </p:nvSpPr>
        <p:spPr>
          <a:xfrm>
            <a:off x="12372699" y="7491625"/>
            <a:ext cx="2325365" cy="734903"/>
          </a:xfrm>
          <a:prstGeom prst="rect">
            <a:avLst/>
          </a:prstGeom>
          <a:solidFill>
            <a:schemeClr val="bg1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47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Merci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6370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Construisons ensemble la conformité fiscale de demain en Algérie.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785830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Hamoum Ikram — Fondatrice &amp; PDG, MATAX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📧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ikram.hm.hamoum@gmail.com · 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📞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+213 672 53 25 99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🌐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https://matax-frontend.onrender.com/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959096" y="3785830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3376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MATAX — La fiscalité algérienne, enfin accessible à tous.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95181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endParaRPr lang="en-US" sz="1750" dirty="0">
              <a:solidFill>
                <a:srgbClr val="5B6B7A"/>
              </a:solidFill>
              <a:latin typeface="Inter"/>
              <a:ea typeface="Int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52B4D7-EDDA-6AE6-90AB-35E2DF675323}"/>
              </a:ext>
            </a:extLst>
          </p:cNvPr>
          <p:cNvSpPr/>
          <p:nvPr/>
        </p:nvSpPr>
        <p:spPr>
          <a:xfrm>
            <a:off x="12372699" y="7491625"/>
            <a:ext cx="2325365" cy="734903"/>
          </a:xfrm>
          <a:prstGeom prst="rect">
            <a:avLst/>
          </a:prstGeom>
          <a:solidFill>
            <a:schemeClr val="bg1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30</cp:revision>
  <dcterms:created xsi:type="dcterms:W3CDTF">2026-04-21T19:09:32Z</dcterms:created>
  <dcterms:modified xsi:type="dcterms:W3CDTF">2026-04-21T19:45:15Z</dcterms:modified>
</cp:coreProperties>
</file>