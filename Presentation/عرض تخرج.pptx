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 id="2147483668" r:id="rId2"/>
  </p:sldMasterIdLst>
  <p:notesMasterIdLst>
    <p:notesMasterId r:id="rId25"/>
  </p:notesMasterIdLst>
  <p:sldIdLst>
    <p:sldId id="256" r:id="rId3"/>
    <p:sldId id="257" r:id="rId4"/>
    <p:sldId id="258" r:id="rId5"/>
    <p:sldId id="266" r:id="rId6"/>
    <p:sldId id="273" r:id="rId7"/>
    <p:sldId id="274" r:id="rId8"/>
    <p:sldId id="286" r:id="rId9"/>
    <p:sldId id="280" r:id="rId10"/>
    <p:sldId id="279" r:id="rId11"/>
    <p:sldId id="281" r:id="rId12"/>
    <p:sldId id="271" r:id="rId13"/>
    <p:sldId id="287" r:id="rId14"/>
    <p:sldId id="259" r:id="rId15"/>
    <p:sldId id="260" r:id="rId16"/>
    <p:sldId id="261" r:id="rId17"/>
    <p:sldId id="262" r:id="rId18"/>
    <p:sldId id="263" r:id="rId19"/>
    <p:sldId id="264" r:id="rId20"/>
    <p:sldId id="288" r:id="rId21"/>
    <p:sldId id="289" r:id="rId22"/>
    <p:sldId id="290" r:id="rId23"/>
    <p:sldId id="285" r:id="rId24"/>
  </p:sldIdLst>
  <p:sldSz cx="12192000" cy="6858000"/>
  <p:notesSz cx="6858000" cy="9144000"/>
  <p:embeddedFontLst>
    <p:embeddedFont>
      <p:font typeface="Air Strip Arabic" panose="020B0604020202020204" charset="-78"/>
      <p:regular r:id="rId26"/>
    </p:embeddedFont>
    <p:embeddedFont>
      <p:font typeface="Lato Light" panose="020F0502020204030203" pitchFamily="34" charset="0"/>
      <p:regular r:id="rId2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guide id="3" pos="393" userDrawn="1">
          <p15:clr>
            <a:srgbClr val="A4A3A4"/>
          </p15:clr>
        </p15:guide>
        <p15:guide id="4" pos="7287"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ادركها بوربوينت" initials="ادركها" lastIdx="1" clrIdx="0">
    <p:extLst>
      <p:ext uri="{19B8F6BF-5375-455C-9EA6-DF929625EA0E}">
        <p15:presenceInfo xmlns:p15="http://schemas.microsoft.com/office/powerpoint/2012/main" userId="4a1857ebb623e30d"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35" autoAdjust="0"/>
    <p:restoredTop sz="94660"/>
  </p:normalViewPr>
  <p:slideViewPr>
    <p:cSldViewPr snapToGrid="0" showGuides="1">
      <p:cViewPr varScale="1">
        <p:scale>
          <a:sx n="86" d="100"/>
          <a:sy n="86" d="100"/>
        </p:scale>
        <p:origin x="518" y="67"/>
      </p:cViewPr>
      <p:guideLst>
        <p:guide orient="horz" pos="2160"/>
        <p:guide pos="3840"/>
        <p:guide pos="393"/>
        <p:guide pos="728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font" Target="fonts/font1.fntdata"/><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tableStyles" Target="tableStyle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commentAuthors" Target="commentAuthors.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theme" Target="theme/theme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font" Target="fonts/font2.fntdata"/><Relationship Id="rId30"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c:style val="2"/>
  <c:chart>
    <c:autoTitleDeleted val="1"/>
    <c:plotArea>
      <c:layout/>
      <c:barChart>
        <c:barDir val="col"/>
        <c:grouping val="stacked"/>
        <c:varyColors val="0"/>
        <c:ser>
          <c:idx val="0"/>
          <c:order val="0"/>
          <c:tx>
            <c:strRef>
              <c:f>Sheet1!$B$1</c:f>
              <c:strCache>
                <c:ptCount val="1"/>
                <c:pt idx="0">
                  <c:v>SaaS اشتراكات</c:v>
                </c:pt>
              </c:strCache>
            </c:strRef>
          </c:tx>
          <c:spPr>
            <a:solidFill>
              <a:srgbClr val="F4A832"/>
            </a:solidFill>
            <a:effectLst/>
          </c:spPr>
          <c:invertIfNegative val="0"/>
          <c:cat>
            <c:strRef>
              <c:f>Sheet1!$A$2:$A$4</c:f>
              <c:strCache>
                <c:ptCount val="3"/>
                <c:pt idx="0">
                  <c:v>السنة 1</c:v>
                </c:pt>
                <c:pt idx="1">
                  <c:v>السنة 2</c:v>
                </c:pt>
                <c:pt idx="2">
                  <c:v>السنة 3</c:v>
                </c:pt>
              </c:strCache>
            </c:strRef>
          </c:cat>
          <c:val>
            <c:numRef>
              <c:f>Sheet1!$B$2:$B$4</c:f>
              <c:numCache>
                <c:formatCode>General</c:formatCode>
                <c:ptCount val="3"/>
                <c:pt idx="0">
                  <c:v>3840000</c:v>
                </c:pt>
                <c:pt idx="1">
                  <c:v>6912000</c:v>
                </c:pt>
                <c:pt idx="2">
                  <c:v>11059200</c:v>
                </c:pt>
              </c:numCache>
            </c:numRef>
          </c:val>
          <c:extLst>
            <c:ext xmlns:c16="http://schemas.microsoft.com/office/drawing/2014/chart" uri="{C3380CC4-5D6E-409C-BE32-E72D297353CC}">
              <c16:uniqueId val="{00000000-482F-47F1-A43C-F8A9CD470367}"/>
            </c:ext>
          </c:extLst>
        </c:ser>
        <c:ser>
          <c:idx val="1"/>
          <c:order val="1"/>
          <c:tx>
            <c:strRef>
              <c:f>Sheet1!$C$1</c:f>
              <c:strCache>
                <c:ptCount val="1"/>
                <c:pt idx="0">
                  <c:v>خدمات بالوحدة</c:v>
                </c:pt>
              </c:strCache>
            </c:strRef>
          </c:tx>
          <c:spPr>
            <a:solidFill>
              <a:srgbClr val="2AB4C0"/>
            </a:solidFill>
            <a:effectLst/>
          </c:spPr>
          <c:invertIfNegative val="0"/>
          <c:cat>
            <c:strRef>
              <c:f>Sheet1!$A$2:$A$4</c:f>
              <c:strCache>
                <c:ptCount val="3"/>
                <c:pt idx="0">
                  <c:v>السنة 1</c:v>
                </c:pt>
                <c:pt idx="1">
                  <c:v>السنة 2</c:v>
                </c:pt>
                <c:pt idx="2">
                  <c:v>السنة 3</c:v>
                </c:pt>
              </c:strCache>
            </c:strRef>
          </c:cat>
          <c:val>
            <c:numRef>
              <c:f>Sheet1!$C$2:$C$4</c:f>
              <c:numCache>
                <c:formatCode>General</c:formatCode>
                <c:ptCount val="3"/>
                <c:pt idx="0">
                  <c:v>2388000</c:v>
                </c:pt>
                <c:pt idx="1">
                  <c:v>3582000</c:v>
                </c:pt>
                <c:pt idx="2">
                  <c:v>5014800</c:v>
                </c:pt>
              </c:numCache>
            </c:numRef>
          </c:val>
          <c:extLst>
            <c:ext xmlns:c16="http://schemas.microsoft.com/office/drawing/2014/chart" uri="{C3380CC4-5D6E-409C-BE32-E72D297353CC}">
              <c16:uniqueId val="{00000001-482F-47F1-A43C-F8A9CD470367}"/>
            </c:ext>
          </c:extLst>
        </c:ser>
        <c:ser>
          <c:idx val="2"/>
          <c:order val="2"/>
          <c:tx>
            <c:strRef>
              <c:f>Sheet1!$D$1</c:f>
              <c:strCache>
                <c:ptCount val="1"/>
                <c:pt idx="0">
                  <c:v>تكوين وتدريب</c:v>
                </c:pt>
              </c:strCache>
            </c:strRef>
          </c:tx>
          <c:spPr>
            <a:solidFill>
              <a:srgbClr val="22C55E"/>
            </a:solidFill>
            <a:effectLst/>
          </c:spPr>
          <c:invertIfNegative val="0"/>
          <c:cat>
            <c:strRef>
              <c:f>Sheet1!$A$2:$A$4</c:f>
              <c:strCache>
                <c:ptCount val="3"/>
                <c:pt idx="0">
                  <c:v>السنة 1</c:v>
                </c:pt>
                <c:pt idx="1">
                  <c:v>السنة 2</c:v>
                </c:pt>
                <c:pt idx="2">
                  <c:v>السنة 3</c:v>
                </c:pt>
              </c:strCache>
            </c:strRef>
          </c:cat>
          <c:val>
            <c:numRef>
              <c:f>Sheet1!$D$2:$D$4</c:f>
              <c:numCache>
                <c:formatCode>General</c:formatCode>
                <c:ptCount val="3"/>
                <c:pt idx="0">
                  <c:v>1680000</c:v>
                </c:pt>
                <c:pt idx="1">
                  <c:v>2688000</c:v>
                </c:pt>
                <c:pt idx="2">
                  <c:v>3763200</c:v>
                </c:pt>
              </c:numCache>
            </c:numRef>
          </c:val>
          <c:extLst>
            <c:ext xmlns:c16="http://schemas.microsoft.com/office/drawing/2014/chart" uri="{C3380CC4-5D6E-409C-BE32-E72D297353CC}">
              <c16:uniqueId val="{00000002-482F-47F1-A43C-F8A9CD470367}"/>
            </c:ext>
          </c:extLst>
        </c:ser>
        <c:ser>
          <c:idx val="3"/>
          <c:order val="3"/>
          <c:tx>
            <c:strRef>
              <c:f>Sheet1!$E$1</c:f>
              <c:strCache>
                <c:ptCount val="1"/>
                <c:pt idx="0">
                  <c:v>شراكات وعمولات</c:v>
                </c:pt>
              </c:strCache>
            </c:strRef>
          </c:tx>
          <c:spPr>
            <a:solidFill>
              <a:srgbClr val="A78BFA"/>
            </a:solidFill>
            <a:effectLst/>
          </c:spPr>
          <c:invertIfNegative val="0"/>
          <c:cat>
            <c:strRef>
              <c:f>Sheet1!$A$2:$A$4</c:f>
              <c:strCache>
                <c:ptCount val="3"/>
                <c:pt idx="0">
                  <c:v>السنة 1</c:v>
                </c:pt>
                <c:pt idx="1">
                  <c:v>السنة 2</c:v>
                </c:pt>
                <c:pt idx="2">
                  <c:v>السنة 3</c:v>
                </c:pt>
              </c:strCache>
            </c:strRef>
          </c:cat>
          <c:val>
            <c:numRef>
              <c:f>Sheet1!$E$2:$E$4</c:f>
              <c:numCache>
                <c:formatCode>General</c:formatCode>
                <c:ptCount val="3"/>
                <c:pt idx="0">
                  <c:v>962000</c:v>
                </c:pt>
                <c:pt idx="1">
                  <c:v>1540000</c:v>
                </c:pt>
                <c:pt idx="2">
                  <c:v>2310000</c:v>
                </c:pt>
              </c:numCache>
            </c:numRef>
          </c:val>
          <c:extLst>
            <c:ext xmlns:c16="http://schemas.microsoft.com/office/drawing/2014/chart" uri="{C3380CC4-5D6E-409C-BE32-E72D297353CC}">
              <c16:uniqueId val="{00000003-482F-47F1-A43C-F8A9CD470367}"/>
            </c:ext>
          </c:extLst>
        </c:ser>
        <c:ser>
          <c:idx val="4"/>
          <c:order val="4"/>
          <c:tx>
            <c:strRef>
              <c:f>Sheet1!$F$1</c:f>
              <c:strCache>
                <c:ptCount val="1"/>
                <c:pt idx="0">
                  <c:v>إعلانات وبيانات</c:v>
                </c:pt>
              </c:strCache>
            </c:strRef>
          </c:tx>
          <c:spPr>
            <a:solidFill>
              <a:srgbClr val="F87171"/>
            </a:solidFill>
            <a:effectLst/>
          </c:spPr>
          <c:invertIfNegative val="0"/>
          <c:cat>
            <c:strRef>
              <c:f>Sheet1!$A$2:$A$4</c:f>
              <c:strCache>
                <c:ptCount val="3"/>
                <c:pt idx="0">
                  <c:v>السنة 1</c:v>
                </c:pt>
                <c:pt idx="1">
                  <c:v>السنة 2</c:v>
                </c:pt>
                <c:pt idx="2">
                  <c:v>السنة 3</c:v>
                </c:pt>
              </c:strCache>
            </c:strRef>
          </c:cat>
          <c:val>
            <c:numRef>
              <c:f>Sheet1!$F$2:$F$4</c:f>
              <c:numCache>
                <c:formatCode>General</c:formatCode>
                <c:ptCount val="3"/>
                <c:pt idx="0">
                  <c:v>740000</c:v>
                </c:pt>
                <c:pt idx="1">
                  <c:v>1480000</c:v>
                </c:pt>
                <c:pt idx="2">
                  <c:v>2590000</c:v>
                </c:pt>
              </c:numCache>
            </c:numRef>
          </c:val>
          <c:extLst>
            <c:ext xmlns:c16="http://schemas.microsoft.com/office/drawing/2014/chart" uri="{C3380CC4-5D6E-409C-BE32-E72D297353CC}">
              <c16:uniqueId val="{00000004-482F-47F1-A43C-F8A9CD470367}"/>
            </c:ext>
          </c:extLst>
        </c:ser>
        <c:dLbls>
          <c:showLegendKey val="0"/>
          <c:showVal val="0"/>
          <c:showCatName val="0"/>
          <c:showSerName val="0"/>
          <c:showPercent val="0"/>
          <c:showBubbleSize val="0"/>
        </c:dLbls>
        <c:gapWidth val="50"/>
        <c:overlap val="10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A0B0C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2A3A4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A0B0C0"/>
                </a:solidFill>
                <a:latin typeface="Arial"/>
              </a:defRPr>
            </a:pPr>
            <a:endParaRPr lang="en-US"/>
          </a:p>
        </c:txPr>
        <c:crossAx val="2094734554"/>
        <c:crosses val="autoZero"/>
        <c:crossBetween val="between"/>
      </c:valAx>
      <c:spPr>
        <a:solidFill>
          <a:srgbClr val="162032"/>
        </a:solidFill>
        <a:ln>
          <a:noFill/>
        </a:ln>
        <a:effectLst/>
      </c:spPr>
    </c:plotArea>
    <c:legend>
      <c:legendPos val="b"/>
      <c:overlay val="0"/>
      <c:txPr>
        <a:bodyPr/>
        <a:lstStyle/>
        <a:p>
          <a:pPr>
            <a:defRPr sz="900"/>
          </a:pPr>
          <a:endParaRPr lang="en-US"/>
        </a:p>
      </c:txPr>
    </c:legend>
    <c:plotVisOnly val="1"/>
    <c:dispBlanksAs val="span"/>
    <c:showDLblsOverMax val="1"/>
  </c:chart>
  <c:spPr>
    <a:solidFill>
      <a:srgbClr val="162032"/>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DE8CB4C-FC62-49E8-B0AD-9C324240E375}" type="datetimeFigureOut">
              <a:rPr lang="fr-FR" smtClean="0"/>
              <a:t>04/06/2026</a:t>
            </a:fld>
            <a:endParaRPr lang="fr-F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EDC6A34-0504-4C50-AC87-0F2055AA48FD}" type="slidenum">
              <a:rPr lang="fr-FR" smtClean="0"/>
              <a:t>‹#›</a:t>
            </a:fld>
            <a:endParaRPr lang="fr-FR"/>
          </a:p>
        </p:txBody>
      </p:sp>
    </p:spTree>
    <p:extLst>
      <p:ext uri="{BB962C8B-B14F-4D97-AF65-F5344CB8AC3E}">
        <p14:creationId xmlns:p14="http://schemas.microsoft.com/office/powerpoint/2010/main" val="10368734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12</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13</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14</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15</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16</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17</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F7021451-1387-4CA6-816F-3879F97B5CBC}" type="slidenum">
              <a:rPr kumimoji="0" lang="en-US" sz="18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18</a:t>
            </a:fld>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Picture Placeholder 2"/>
          <p:cNvSpPr>
            <a:spLocks noGrp="1"/>
          </p:cNvSpPr>
          <p:nvPr>
            <p:ph type="pic" sz="quarter" idx="10" hasCustomPrompt="1"/>
          </p:nvPr>
        </p:nvSpPr>
        <p:spPr>
          <a:xfrm>
            <a:off x="0" y="0"/>
            <a:ext cx="12192000" cy="6858000"/>
          </a:xfrm>
          <a:prstGeom prst="rect">
            <a:avLst/>
          </a:prstGeom>
        </p:spPr>
        <p:txBody>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27062331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10" name="Picture Placeholder 9"/>
          <p:cNvSpPr>
            <a:spLocks noGrp="1"/>
          </p:cNvSpPr>
          <p:nvPr>
            <p:ph type="pic" sz="quarter" idx="11" hasCustomPrompt="1"/>
          </p:nvPr>
        </p:nvSpPr>
        <p:spPr>
          <a:xfrm>
            <a:off x="8770839" y="2307772"/>
            <a:ext cx="2322285" cy="2278743"/>
          </a:xfrm>
          <a:custGeom>
            <a:avLst/>
            <a:gdLst>
              <a:gd name="connsiteX0" fmla="*/ 379798 w 2322285"/>
              <a:gd name="connsiteY0" fmla="*/ 0 h 2278743"/>
              <a:gd name="connsiteX1" fmla="*/ 1942487 w 2322285"/>
              <a:gd name="connsiteY1" fmla="*/ 0 h 2278743"/>
              <a:gd name="connsiteX2" fmla="*/ 2322285 w 2322285"/>
              <a:gd name="connsiteY2" fmla="*/ 379798 h 2278743"/>
              <a:gd name="connsiteX3" fmla="*/ 2322285 w 2322285"/>
              <a:gd name="connsiteY3" fmla="*/ 1898945 h 2278743"/>
              <a:gd name="connsiteX4" fmla="*/ 1942487 w 2322285"/>
              <a:gd name="connsiteY4" fmla="*/ 2278743 h 2278743"/>
              <a:gd name="connsiteX5" fmla="*/ 379798 w 2322285"/>
              <a:gd name="connsiteY5" fmla="*/ 2278743 h 2278743"/>
              <a:gd name="connsiteX6" fmla="*/ 0 w 2322285"/>
              <a:gd name="connsiteY6" fmla="*/ 1898945 h 2278743"/>
              <a:gd name="connsiteX7" fmla="*/ 0 w 2322285"/>
              <a:gd name="connsiteY7" fmla="*/ 379798 h 2278743"/>
              <a:gd name="connsiteX8" fmla="*/ 379798 w 2322285"/>
              <a:gd name="connsiteY8" fmla="*/ 0 h 22787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322285" h="2278743">
                <a:moveTo>
                  <a:pt x="379798" y="0"/>
                </a:moveTo>
                <a:lnTo>
                  <a:pt x="1942487" y="0"/>
                </a:lnTo>
                <a:cubicBezTo>
                  <a:pt x="2152244" y="0"/>
                  <a:pt x="2322285" y="170041"/>
                  <a:pt x="2322285" y="379798"/>
                </a:cubicBezTo>
                <a:lnTo>
                  <a:pt x="2322285" y="1898945"/>
                </a:lnTo>
                <a:cubicBezTo>
                  <a:pt x="2322285" y="2108702"/>
                  <a:pt x="2152244" y="2278743"/>
                  <a:pt x="1942487" y="2278743"/>
                </a:cubicBezTo>
                <a:lnTo>
                  <a:pt x="379798" y="2278743"/>
                </a:lnTo>
                <a:cubicBezTo>
                  <a:pt x="170041" y="2278743"/>
                  <a:pt x="0" y="2108702"/>
                  <a:pt x="0" y="1898945"/>
                </a:cubicBezTo>
                <a:lnTo>
                  <a:pt x="0" y="379798"/>
                </a:lnTo>
                <a:cubicBezTo>
                  <a:pt x="0" y="170041"/>
                  <a:pt x="170041" y="0"/>
                  <a:pt x="379798" y="0"/>
                </a:cubicBezTo>
                <a:close/>
              </a:path>
            </a:pathLst>
          </a:custGeom>
          <a:ln w="57150">
            <a:solidFill>
              <a:schemeClr val="bg1"/>
            </a:solidFill>
          </a:ln>
        </p:spPr>
        <p:txBody>
          <a:bodyPr wrap="square">
            <a:noAutofit/>
          </a:bodyPr>
          <a:lstStyle>
            <a:lvl1pPr marL="0" indent="0" algn="ctr" rtl="1">
              <a:buNone/>
              <a:defRPr sz="20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7" name="Picture Placeholder 6"/>
          <p:cNvSpPr>
            <a:spLocks noGrp="1"/>
          </p:cNvSpPr>
          <p:nvPr>
            <p:ph type="pic" sz="quarter" idx="10" hasCustomPrompt="1"/>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623753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965913" y="893296"/>
            <a:ext cx="4615737" cy="5097530"/>
          </a:xfrm>
          <a:custGeom>
            <a:avLst/>
            <a:gdLst>
              <a:gd name="connsiteX0" fmla="*/ 2307869 w 4615737"/>
              <a:gd name="connsiteY0" fmla="*/ 0 h 5097530"/>
              <a:gd name="connsiteX1" fmla="*/ 4256926 w 4615737"/>
              <a:gd name="connsiteY1" fmla="*/ 5097530 h 5097530"/>
              <a:gd name="connsiteX2" fmla="*/ 358812 w 4615737"/>
              <a:gd name="connsiteY2" fmla="*/ 5097530 h 5097530"/>
              <a:gd name="connsiteX3" fmla="*/ 2307869 w 4615737"/>
              <a:gd name="connsiteY3" fmla="*/ 0 h 5097530"/>
            </a:gdLst>
            <a:ahLst/>
            <a:cxnLst>
              <a:cxn ang="0">
                <a:pos x="connsiteX0" y="connsiteY0"/>
              </a:cxn>
              <a:cxn ang="0">
                <a:pos x="connsiteX1" y="connsiteY1"/>
              </a:cxn>
              <a:cxn ang="0">
                <a:pos x="connsiteX2" y="connsiteY2"/>
              </a:cxn>
              <a:cxn ang="0">
                <a:pos x="connsiteX3" y="connsiteY3"/>
              </a:cxn>
            </a:cxnLst>
            <a:rect l="l" t="t" r="r" b="b"/>
            <a:pathLst>
              <a:path w="4615737" h="5097530">
                <a:moveTo>
                  <a:pt x="2307869" y="0"/>
                </a:moveTo>
                <a:cubicBezTo>
                  <a:pt x="2957555" y="0"/>
                  <a:pt x="5556298" y="5097530"/>
                  <a:pt x="4256926" y="5097530"/>
                </a:cubicBezTo>
                <a:lnTo>
                  <a:pt x="358812" y="5097530"/>
                </a:lnTo>
                <a:cubicBezTo>
                  <a:pt x="-940559" y="5097530"/>
                  <a:pt x="1658184" y="0"/>
                  <a:pt x="2307869" y="0"/>
                </a:cubicBezTo>
                <a:close/>
              </a:path>
            </a:pathLst>
          </a:custGeom>
        </p:spPr>
        <p:txBody>
          <a:bodyPr wrap="square" anchor="b">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279396801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7" name="Picture Placeholder 6"/>
          <p:cNvSpPr>
            <a:spLocks noGrp="1"/>
          </p:cNvSpPr>
          <p:nvPr>
            <p:ph type="pic" sz="quarter" idx="10" hasCustomPrompt="1"/>
          </p:nvPr>
        </p:nvSpPr>
        <p:spPr>
          <a:xfrm>
            <a:off x="0" y="0"/>
            <a:ext cx="12192000" cy="342900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Lst>
            <a:ahLst/>
            <a:cxnLst>
              <a:cxn ang="0">
                <a:pos x="connsiteX0" y="connsiteY0"/>
              </a:cxn>
              <a:cxn ang="0">
                <a:pos x="connsiteX1" y="connsiteY1"/>
              </a:cxn>
              <a:cxn ang="0">
                <a:pos x="connsiteX2" y="connsiteY2"/>
              </a:cxn>
              <a:cxn ang="0">
                <a:pos x="connsiteX3" y="connsiteY3"/>
              </a:cxn>
            </a:cxnLst>
            <a:rect l="l" t="t" r="r" b="b"/>
            <a:pathLst>
              <a:path w="12192000" h="3429000">
                <a:moveTo>
                  <a:pt x="0" y="0"/>
                </a:moveTo>
                <a:lnTo>
                  <a:pt x="12192000" y="0"/>
                </a:lnTo>
                <a:lnTo>
                  <a:pt x="12192000" y="3429000"/>
                </a:lnTo>
                <a:lnTo>
                  <a:pt x="0" y="342900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10" name="Picture Placeholder 9"/>
          <p:cNvSpPr>
            <a:spLocks noGrp="1"/>
          </p:cNvSpPr>
          <p:nvPr>
            <p:ph type="pic" sz="quarter" idx="11" hasCustomPrompt="1"/>
          </p:nvPr>
        </p:nvSpPr>
        <p:spPr>
          <a:xfrm>
            <a:off x="5156615" y="2041214"/>
            <a:ext cx="1878772" cy="1843546"/>
          </a:xfrm>
          <a:custGeom>
            <a:avLst/>
            <a:gdLst>
              <a:gd name="connsiteX0" fmla="*/ 307264 w 1878772"/>
              <a:gd name="connsiteY0" fmla="*/ 0 h 1843546"/>
              <a:gd name="connsiteX1" fmla="*/ 1571508 w 1878772"/>
              <a:gd name="connsiteY1" fmla="*/ 0 h 1843546"/>
              <a:gd name="connsiteX2" fmla="*/ 1878772 w 1878772"/>
              <a:gd name="connsiteY2" fmla="*/ 307264 h 1843546"/>
              <a:gd name="connsiteX3" fmla="*/ 1878772 w 1878772"/>
              <a:gd name="connsiteY3" fmla="*/ 1536282 h 1843546"/>
              <a:gd name="connsiteX4" fmla="*/ 1571508 w 1878772"/>
              <a:gd name="connsiteY4" fmla="*/ 1843546 h 1843546"/>
              <a:gd name="connsiteX5" fmla="*/ 307264 w 1878772"/>
              <a:gd name="connsiteY5" fmla="*/ 1843546 h 1843546"/>
              <a:gd name="connsiteX6" fmla="*/ 0 w 1878772"/>
              <a:gd name="connsiteY6" fmla="*/ 1536282 h 1843546"/>
              <a:gd name="connsiteX7" fmla="*/ 0 w 1878772"/>
              <a:gd name="connsiteY7" fmla="*/ 307264 h 1843546"/>
              <a:gd name="connsiteX8" fmla="*/ 307264 w 1878772"/>
              <a:gd name="connsiteY8" fmla="*/ 0 h 18435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8772" h="1843546">
                <a:moveTo>
                  <a:pt x="307264" y="0"/>
                </a:moveTo>
                <a:lnTo>
                  <a:pt x="1571508" y="0"/>
                </a:lnTo>
                <a:cubicBezTo>
                  <a:pt x="1741205" y="0"/>
                  <a:pt x="1878772" y="137567"/>
                  <a:pt x="1878772" y="307264"/>
                </a:cubicBezTo>
                <a:lnTo>
                  <a:pt x="1878772" y="1536282"/>
                </a:lnTo>
                <a:cubicBezTo>
                  <a:pt x="1878772" y="1705979"/>
                  <a:pt x="1741205" y="1843546"/>
                  <a:pt x="1571508" y="1843546"/>
                </a:cubicBezTo>
                <a:lnTo>
                  <a:pt x="307264" y="1843546"/>
                </a:lnTo>
                <a:cubicBezTo>
                  <a:pt x="137567" y="1843546"/>
                  <a:pt x="0" y="1705979"/>
                  <a:pt x="0" y="1536282"/>
                </a:cubicBezTo>
                <a:lnTo>
                  <a:pt x="0" y="307264"/>
                </a:lnTo>
                <a:cubicBezTo>
                  <a:pt x="0" y="137567"/>
                  <a:pt x="137567" y="0"/>
                  <a:pt x="307264" y="0"/>
                </a:cubicBezTo>
                <a:close/>
              </a:path>
            </a:pathLst>
          </a:custGeom>
          <a:ln w="38100">
            <a:solidFill>
              <a:schemeClr val="bg1"/>
            </a:solidFill>
          </a:ln>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293455303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Custom Layout">
    <p:spTree>
      <p:nvGrpSpPr>
        <p:cNvPr id="1" name=""/>
        <p:cNvGrpSpPr/>
        <p:nvPr/>
      </p:nvGrpSpPr>
      <p:grpSpPr>
        <a:xfrm>
          <a:off x="0" y="0"/>
          <a:ext cx="0" cy="0"/>
          <a:chOff x="0" y="0"/>
          <a:chExt cx="0" cy="0"/>
        </a:xfrm>
      </p:grpSpPr>
      <p:sp>
        <p:nvSpPr>
          <p:cNvPr id="13" name="Picture Placeholder 12"/>
          <p:cNvSpPr>
            <a:spLocks noGrp="1"/>
          </p:cNvSpPr>
          <p:nvPr>
            <p:ph type="pic" sz="quarter" idx="12" hasCustomPrompt="1"/>
          </p:nvPr>
        </p:nvSpPr>
        <p:spPr>
          <a:xfrm>
            <a:off x="6494801" y="2662072"/>
            <a:ext cx="1878772" cy="1563836"/>
          </a:xfrm>
          <a:custGeom>
            <a:avLst/>
            <a:gdLst>
              <a:gd name="connsiteX0" fmla="*/ 260645 w 1878772"/>
              <a:gd name="connsiteY0" fmla="*/ 0 h 1563836"/>
              <a:gd name="connsiteX1" fmla="*/ 1618127 w 1878772"/>
              <a:gd name="connsiteY1" fmla="*/ 0 h 1563836"/>
              <a:gd name="connsiteX2" fmla="*/ 1878772 w 1878772"/>
              <a:gd name="connsiteY2" fmla="*/ 260645 h 1563836"/>
              <a:gd name="connsiteX3" fmla="*/ 1878772 w 1878772"/>
              <a:gd name="connsiteY3" fmla="*/ 1303191 h 1563836"/>
              <a:gd name="connsiteX4" fmla="*/ 1618127 w 1878772"/>
              <a:gd name="connsiteY4" fmla="*/ 1563836 h 1563836"/>
              <a:gd name="connsiteX5" fmla="*/ 260645 w 1878772"/>
              <a:gd name="connsiteY5" fmla="*/ 1563836 h 1563836"/>
              <a:gd name="connsiteX6" fmla="*/ 0 w 1878772"/>
              <a:gd name="connsiteY6" fmla="*/ 1303191 h 1563836"/>
              <a:gd name="connsiteX7" fmla="*/ 0 w 1878772"/>
              <a:gd name="connsiteY7" fmla="*/ 260645 h 1563836"/>
              <a:gd name="connsiteX8" fmla="*/ 260645 w 1878772"/>
              <a:gd name="connsiteY8" fmla="*/ 0 h 156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8772" h="1563836">
                <a:moveTo>
                  <a:pt x="260645" y="0"/>
                </a:moveTo>
                <a:lnTo>
                  <a:pt x="1618127" y="0"/>
                </a:lnTo>
                <a:cubicBezTo>
                  <a:pt x="1762077" y="0"/>
                  <a:pt x="1878772" y="116695"/>
                  <a:pt x="1878772" y="260645"/>
                </a:cubicBezTo>
                <a:lnTo>
                  <a:pt x="1878772" y="1303191"/>
                </a:lnTo>
                <a:cubicBezTo>
                  <a:pt x="1878772" y="1447141"/>
                  <a:pt x="1762077" y="1563836"/>
                  <a:pt x="1618127" y="1563836"/>
                </a:cubicBezTo>
                <a:lnTo>
                  <a:pt x="260645" y="1563836"/>
                </a:lnTo>
                <a:cubicBezTo>
                  <a:pt x="116695" y="1563836"/>
                  <a:pt x="0" y="1447141"/>
                  <a:pt x="0" y="1303191"/>
                </a:cubicBezTo>
                <a:lnTo>
                  <a:pt x="0" y="260645"/>
                </a:lnTo>
                <a:cubicBezTo>
                  <a:pt x="0" y="116695"/>
                  <a:pt x="116695" y="0"/>
                  <a:pt x="260645" y="0"/>
                </a:cubicBezTo>
                <a:close/>
              </a:path>
            </a:pathLst>
          </a:custGeom>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14" name="Picture Placeholder 13"/>
          <p:cNvSpPr>
            <a:spLocks noGrp="1"/>
          </p:cNvSpPr>
          <p:nvPr>
            <p:ph type="pic" sz="quarter" idx="13" hasCustomPrompt="1"/>
          </p:nvPr>
        </p:nvSpPr>
        <p:spPr>
          <a:xfrm>
            <a:off x="6494801" y="4642092"/>
            <a:ext cx="1878772" cy="1563836"/>
          </a:xfrm>
          <a:custGeom>
            <a:avLst/>
            <a:gdLst>
              <a:gd name="connsiteX0" fmla="*/ 260645 w 1878772"/>
              <a:gd name="connsiteY0" fmla="*/ 0 h 1563836"/>
              <a:gd name="connsiteX1" fmla="*/ 1618127 w 1878772"/>
              <a:gd name="connsiteY1" fmla="*/ 0 h 1563836"/>
              <a:gd name="connsiteX2" fmla="*/ 1878772 w 1878772"/>
              <a:gd name="connsiteY2" fmla="*/ 260645 h 1563836"/>
              <a:gd name="connsiteX3" fmla="*/ 1878772 w 1878772"/>
              <a:gd name="connsiteY3" fmla="*/ 1303191 h 1563836"/>
              <a:gd name="connsiteX4" fmla="*/ 1618127 w 1878772"/>
              <a:gd name="connsiteY4" fmla="*/ 1563836 h 1563836"/>
              <a:gd name="connsiteX5" fmla="*/ 260645 w 1878772"/>
              <a:gd name="connsiteY5" fmla="*/ 1563836 h 1563836"/>
              <a:gd name="connsiteX6" fmla="*/ 0 w 1878772"/>
              <a:gd name="connsiteY6" fmla="*/ 1303191 h 1563836"/>
              <a:gd name="connsiteX7" fmla="*/ 0 w 1878772"/>
              <a:gd name="connsiteY7" fmla="*/ 260645 h 1563836"/>
              <a:gd name="connsiteX8" fmla="*/ 260645 w 1878772"/>
              <a:gd name="connsiteY8" fmla="*/ 0 h 156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8772" h="1563836">
                <a:moveTo>
                  <a:pt x="260645" y="0"/>
                </a:moveTo>
                <a:lnTo>
                  <a:pt x="1618127" y="0"/>
                </a:lnTo>
                <a:cubicBezTo>
                  <a:pt x="1762077" y="0"/>
                  <a:pt x="1878772" y="116695"/>
                  <a:pt x="1878772" y="260645"/>
                </a:cubicBezTo>
                <a:lnTo>
                  <a:pt x="1878772" y="1303191"/>
                </a:lnTo>
                <a:cubicBezTo>
                  <a:pt x="1878772" y="1447141"/>
                  <a:pt x="1762077" y="1563836"/>
                  <a:pt x="1618127" y="1563836"/>
                </a:cubicBezTo>
                <a:lnTo>
                  <a:pt x="260645" y="1563836"/>
                </a:lnTo>
                <a:cubicBezTo>
                  <a:pt x="116695" y="1563836"/>
                  <a:pt x="0" y="1447141"/>
                  <a:pt x="0" y="1303191"/>
                </a:cubicBezTo>
                <a:lnTo>
                  <a:pt x="0" y="260645"/>
                </a:lnTo>
                <a:cubicBezTo>
                  <a:pt x="0" y="116695"/>
                  <a:pt x="116695" y="0"/>
                  <a:pt x="260645" y="0"/>
                </a:cubicBezTo>
                <a:close/>
              </a:path>
            </a:pathLst>
          </a:custGeom>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12" name="Picture Placeholder 11"/>
          <p:cNvSpPr>
            <a:spLocks noGrp="1"/>
          </p:cNvSpPr>
          <p:nvPr>
            <p:ph type="pic" sz="quarter" idx="11" hasCustomPrompt="1"/>
          </p:nvPr>
        </p:nvSpPr>
        <p:spPr>
          <a:xfrm>
            <a:off x="6494801" y="682052"/>
            <a:ext cx="1878772" cy="1563836"/>
          </a:xfrm>
          <a:custGeom>
            <a:avLst/>
            <a:gdLst>
              <a:gd name="connsiteX0" fmla="*/ 260645 w 1878772"/>
              <a:gd name="connsiteY0" fmla="*/ 0 h 1563836"/>
              <a:gd name="connsiteX1" fmla="*/ 1618127 w 1878772"/>
              <a:gd name="connsiteY1" fmla="*/ 0 h 1563836"/>
              <a:gd name="connsiteX2" fmla="*/ 1878772 w 1878772"/>
              <a:gd name="connsiteY2" fmla="*/ 260645 h 1563836"/>
              <a:gd name="connsiteX3" fmla="*/ 1878772 w 1878772"/>
              <a:gd name="connsiteY3" fmla="*/ 1303191 h 1563836"/>
              <a:gd name="connsiteX4" fmla="*/ 1618127 w 1878772"/>
              <a:gd name="connsiteY4" fmla="*/ 1563836 h 1563836"/>
              <a:gd name="connsiteX5" fmla="*/ 260645 w 1878772"/>
              <a:gd name="connsiteY5" fmla="*/ 1563836 h 1563836"/>
              <a:gd name="connsiteX6" fmla="*/ 0 w 1878772"/>
              <a:gd name="connsiteY6" fmla="*/ 1303191 h 1563836"/>
              <a:gd name="connsiteX7" fmla="*/ 0 w 1878772"/>
              <a:gd name="connsiteY7" fmla="*/ 260645 h 1563836"/>
              <a:gd name="connsiteX8" fmla="*/ 260645 w 1878772"/>
              <a:gd name="connsiteY8" fmla="*/ 0 h 1563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78772" h="1563836">
                <a:moveTo>
                  <a:pt x="260645" y="0"/>
                </a:moveTo>
                <a:lnTo>
                  <a:pt x="1618127" y="0"/>
                </a:lnTo>
                <a:cubicBezTo>
                  <a:pt x="1762077" y="0"/>
                  <a:pt x="1878772" y="116695"/>
                  <a:pt x="1878772" y="260645"/>
                </a:cubicBezTo>
                <a:lnTo>
                  <a:pt x="1878772" y="1303191"/>
                </a:lnTo>
                <a:cubicBezTo>
                  <a:pt x="1878772" y="1447141"/>
                  <a:pt x="1762077" y="1563836"/>
                  <a:pt x="1618127" y="1563836"/>
                </a:cubicBezTo>
                <a:lnTo>
                  <a:pt x="260645" y="1563836"/>
                </a:lnTo>
                <a:cubicBezTo>
                  <a:pt x="116695" y="1563836"/>
                  <a:pt x="0" y="1447141"/>
                  <a:pt x="0" y="1303191"/>
                </a:cubicBezTo>
                <a:lnTo>
                  <a:pt x="0" y="260645"/>
                </a:lnTo>
                <a:cubicBezTo>
                  <a:pt x="0" y="116695"/>
                  <a:pt x="116695" y="0"/>
                  <a:pt x="260645" y="0"/>
                </a:cubicBezTo>
                <a:close/>
              </a:path>
            </a:pathLst>
          </a:custGeom>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9" name="Picture Placeholder 8"/>
          <p:cNvSpPr>
            <a:spLocks noGrp="1"/>
          </p:cNvSpPr>
          <p:nvPr>
            <p:ph type="pic" sz="quarter" idx="10" hasCustomPrompt="1"/>
          </p:nvPr>
        </p:nvSpPr>
        <p:spPr>
          <a:xfrm>
            <a:off x="623888" y="0"/>
            <a:ext cx="5472112" cy="6858000"/>
          </a:xfrm>
          <a:custGeom>
            <a:avLst/>
            <a:gdLst>
              <a:gd name="connsiteX0" fmla="*/ 0 w 5472112"/>
              <a:gd name="connsiteY0" fmla="*/ 0 h 6858000"/>
              <a:gd name="connsiteX1" fmla="*/ 5472112 w 5472112"/>
              <a:gd name="connsiteY1" fmla="*/ 0 h 6858000"/>
              <a:gd name="connsiteX2" fmla="*/ 5472112 w 5472112"/>
              <a:gd name="connsiteY2" fmla="*/ 6858000 h 6858000"/>
              <a:gd name="connsiteX3" fmla="*/ 0 w 54721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72112" h="6858000">
                <a:moveTo>
                  <a:pt x="0" y="0"/>
                </a:moveTo>
                <a:lnTo>
                  <a:pt x="5472112" y="0"/>
                </a:lnTo>
                <a:lnTo>
                  <a:pt x="5472112" y="6858000"/>
                </a:lnTo>
                <a:lnTo>
                  <a:pt x="0" y="685800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19521316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8229600" y="0"/>
            <a:ext cx="3338512" cy="6858000"/>
          </a:xfrm>
          <a:custGeom>
            <a:avLst/>
            <a:gdLst>
              <a:gd name="connsiteX0" fmla="*/ 0 w 3338512"/>
              <a:gd name="connsiteY0" fmla="*/ 0 h 6858000"/>
              <a:gd name="connsiteX1" fmla="*/ 3338512 w 3338512"/>
              <a:gd name="connsiteY1" fmla="*/ 0 h 6858000"/>
              <a:gd name="connsiteX2" fmla="*/ 3338512 w 3338512"/>
              <a:gd name="connsiteY2" fmla="*/ 6858000 h 6858000"/>
              <a:gd name="connsiteX3" fmla="*/ 0 w 33385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338512" h="6858000">
                <a:moveTo>
                  <a:pt x="0" y="0"/>
                </a:moveTo>
                <a:lnTo>
                  <a:pt x="3338512" y="0"/>
                </a:lnTo>
                <a:lnTo>
                  <a:pt x="3338512" y="6858000"/>
                </a:lnTo>
                <a:lnTo>
                  <a:pt x="0" y="685800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31986196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flipH="1">
            <a:off x="0" y="2683469"/>
            <a:ext cx="12192000" cy="4174530"/>
          </a:xfrm>
          <a:custGeom>
            <a:avLst/>
            <a:gdLst>
              <a:gd name="connsiteX0" fmla="*/ 10305143 w 12192000"/>
              <a:gd name="connsiteY0" fmla="*/ 1673 h 4174530"/>
              <a:gd name="connsiteX1" fmla="*/ 12192000 w 12192000"/>
              <a:gd name="connsiteY1" fmla="*/ 745530 h 4174530"/>
              <a:gd name="connsiteX2" fmla="*/ 12192000 w 12192000"/>
              <a:gd name="connsiteY2" fmla="*/ 4174530 h 4174530"/>
              <a:gd name="connsiteX3" fmla="*/ 0 w 12192000"/>
              <a:gd name="connsiteY3" fmla="*/ 4174530 h 4174530"/>
              <a:gd name="connsiteX4" fmla="*/ 0 w 12192000"/>
              <a:gd name="connsiteY4" fmla="*/ 745530 h 4174530"/>
              <a:gd name="connsiteX5" fmla="*/ 1524000 w 12192000"/>
              <a:gd name="connsiteY5" fmla="*/ 945102 h 4174530"/>
              <a:gd name="connsiteX6" fmla="*/ 3135086 w 12192000"/>
              <a:gd name="connsiteY6" fmla="*/ 1554702 h 4174530"/>
              <a:gd name="connsiteX7" fmla="*/ 5065486 w 12192000"/>
              <a:gd name="connsiteY7" fmla="*/ 1177331 h 4174530"/>
              <a:gd name="connsiteX8" fmla="*/ 6574972 w 12192000"/>
              <a:gd name="connsiteY8" fmla="*/ 2019158 h 4174530"/>
              <a:gd name="connsiteX9" fmla="*/ 7750628 w 12192000"/>
              <a:gd name="connsiteY9" fmla="*/ 1177331 h 4174530"/>
              <a:gd name="connsiteX10" fmla="*/ 9231085 w 12192000"/>
              <a:gd name="connsiteY10" fmla="*/ 872531 h 4174530"/>
              <a:gd name="connsiteX11" fmla="*/ 10305143 w 12192000"/>
              <a:gd name="connsiteY11" fmla="*/ 1673 h 4174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4174530">
                <a:moveTo>
                  <a:pt x="10305143" y="1673"/>
                </a:moveTo>
                <a:cubicBezTo>
                  <a:pt x="10798629" y="-19494"/>
                  <a:pt x="11877524" y="156492"/>
                  <a:pt x="12192000" y="745530"/>
                </a:cubicBezTo>
                <a:lnTo>
                  <a:pt x="12192000" y="4174530"/>
                </a:lnTo>
                <a:lnTo>
                  <a:pt x="0" y="4174530"/>
                </a:lnTo>
                <a:lnTo>
                  <a:pt x="0" y="745530"/>
                </a:lnTo>
                <a:cubicBezTo>
                  <a:pt x="254000" y="207292"/>
                  <a:pt x="1001486" y="810240"/>
                  <a:pt x="1524000" y="945102"/>
                </a:cubicBezTo>
                <a:cubicBezTo>
                  <a:pt x="3207657" y="717107"/>
                  <a:pt x="2544838" y="1515997"/>
                  <a:pt x="3135086" y="1554702"/>
                </a:cubicBezTo>
                <a:cubicBezTo>
                  <a:pt x="3725334" y="1593407"/>
                  <a:pt x="4492172" y="1099922"/>
                  <a:pt x="5065486" y="1177331"/>
                </a:cubicBezTo>
                <a:cubicBezTo>
                  <a:pt x="5638801" y="1254740"/>
                  <a:pt x="6127448" y="2019158"/>
                  <a:pt x="6574972" y="2019158"/>
                </a:cubicBezTo>
                <a:cubicBezTo>
                  <a:pt x="7022496" y="2019158"/>
                  <a:pt x="7307942" y="1368436"/>
                  <a:pt x="7750628" y="1177331"/>
                </a:cubicBezTo>
                <a:cubicBezTo>
                  <a:pt x="8193314" y="986226"/>
                  <a:pt x="8805333" y="1068474"/>
                  <a:pt x="9231085" y="872531"/>
                </a:cubicBezTo>
                <a:cubicBezTo>
                  <a:pt x="9656838" y="676588"/>
                  <a:pt x="9811657" y="22840"/>
                  <a:pt x="10305143" y="1673"/>
                </a:cubicBezTo>
                <a:close/>
              </a:path>
            </a:pathLst>
          </a:custGeom>
        </p:spPr>
        <p:txBody>
          <a:bodyPr wrap="square" anchor="b">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176938620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0" y="1"/>
            <a:ext cx="5472112" cy="6857999"/>
          </a:xfrm>
          <a:custGeom>
            <a:avLst/>
            <a:gdLst>
              <a:gd name="connsiteX0" fmla="*/ 0 w 5472112"/>
              <a:gd name="connsiteY0" fmla="*/ 0 h 6857999"/>
              <a:gd name="connsiteX1" fmla="*/ 4494847 w 5472112"/>
              <a:gd name="connsiteY1" fmla="*/ 0 h 6857999"/>
              <a:gd name="connsiteX2" fmla="*/ 4233242 w 5472112"/>
              <a:gd name="connsiteY2" fmla="*/ 857250 h 6857999"/>
              <a:gd name="connsiteX3" fmla="*/ 3434158 w 5472112"/>
              <a:gd name="connsiteY3" fmla="*/ 1763485 h 6857999"/>
              <a:gd name="connsiteX4" fmla="*/ 3928828 w 5472112"/>
              <a:gd name="connsiteY4" fmla="*/ 2849335 h 6857999"/>
              <a:gd name="connsiteX5" fmla="*/ 2825333 w 5472112"/>
              <a:gd name="connsiteY5" fmla="*/ 3698421 h 6857999"/>
              <a:gd name="connsiteX6" fmla="*/ 3928828 w 5472112"/>
              <a:gd name="connsiteY6" fmla="*/ 4359727 h 6857999"/>
              <a:gd name="connsiteX7" fmla="*/ 4328370 w 5472112"/>
              <a:gd name="connsiteY7" fmla="*/ 5192484 h 6857999"/>
              <a:gd name="connsiteX8" fmla="*/ 5469920 w 5472112"/>
              <a:gd name="connsiteY8" fmla="*/ 5796642 h 6857999"/>
              <a:gd name="connsiteX9" fmla="*/ 4494847 w 5472112"/>
              <a:gd name="connsiteY9" fmla="*/ 6857999 h 6857999"/>
              <a:gd name="connsiteX10" fmla="*/ 0 w 5472112"/>
              <a:gd name="connsiteY1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472112" h="6857999">
                <a:moveTo>
                  <a:pt x="0" y="0"/>
                </a:moveTo>
                <a:lnTo>
                  <a:pt x="4494847" y="0"/>
                </a:lnTo>
                <a:cubicBezTo>
                  <a:pt x="5200388" y="142875"/>
                  <a:pt x="4410023" y="563335"/>
                  <a:pt x="4233242" y="857250"/>
                </a:cubicBezTo>
                <a:cubicBezTo>
                  <a:pt x="4532105" y="1804306"/>
                  <a:pt x="3484894" y="1431471"/>
                  <a:pt x="3434158" y="1763485"/>
                </a:cubicBezTo>
                <a:cubicBezTo>
                  <a:pt x="3383422" y="2095500"/>
                  <a:pt x="4030299" y="2526846"/>
                  <a:pt x="3928828" y="2849335"/>
                </a:cubicBezTo>
                <a:cubicBezTo>
                  <a:pt x="3827358" y="3171824"/>
                  <a:pt x="2825333" y="3446689"/>
                  <a:pt x="2825333" y="3698421"/>
                </a:cubicBezTo>
                <a:cubicBezTo>
                  <a:pt x="2825333" y="3950153"/>
                  <a:pt x="3678321" y="4110716"/>
                  <a:pt x="3928828" y="4359727"/>
                </a:cubicBezTo>
                <a:cubicBezTo>
                  <a:pt x="4179335" y="4608738"/>
                  <a:pt x="4071522" y="4952999"/>
                  <a:pt x="4328370" y="5192484"/>
                </a:cubicBezTo>
                <a:cubicBezTo>
                  <a:pt x="4585219" y="5431970"/>
                  <a:pt x="5442174" y="5519056"/>
                  <a:pt x="5469920" y="5796642"/>
                </a:cubicBezTo>
                <a:cubicBezTo>
                  <a:pt x="5497666" y="6074228"/>
                  <a:pt x="5266978" y="6681106"/>
                  <a:pt x="4494847" y="6857999"/>
                </a:cubicBezTo>
                <a:lnTo>
                  <a:pt x="0" y="6857999"/>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8581028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7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6719888" y="-1"/>
            <a:ext cx="5472113" cy="6857999"/>
          </a:xfrm>
          <a:custGeom>
            <a:avLst/>
            <a:gdLst>
              <a:gd name="connsiteX0" fmla="*/ 977266 w 5472113"/>
              <a:gd name="connsiteY0" fmla="*/ 0 h 6857999"/>
              <a:gd name="connsiteX1" fmla="*/ 5472113 w 5472113"/>
              <a:gd name="connsiteY1" fmla="*/ 0 h 6857999"/>
              <a:gd name="connsiteX2" fmla="*/ 5472113 w 5472113"/>
              <a:gd name="connsiteY2" fmla="*/ 6857999 h 6857999"/>
              <a:gd name="connsiteX3" fmla="*/ 977266 w 5472113"/>
              <a:gd name="connsiteY3" fmla="*/ 6857999 h 6857999"/>
              <a:gd name="connsiteX4" fmla="*/ 1238872 w 5472113"/>
              <a:gd name="connsiteY4" fmla="*/ 6000749 h 6857999"/>
              <a:gd name="connsiteX5" fmla="*/ 2037955 w 5472113"/>
              <a:gd name="connsiteY5" fmla="*/ 5094513 h 6857999"/>
              <a:gd name="connsiteX6" fmla="*/ 1543285 w 5472113"/>
              <a:gd name="connsiteY6" fmla="*/ 4008663 h 6857999"/>
              <a:gd name="connsiteX7" fmla="*/ 2646780 w 5472113"/>
              <a:gd name="connsiteY7" fmla="*/ 3159578 h 6857999"/>
              <a:gd name="connsiteX8" fmla="*/ 1543285 w 5472113"/>
              <a:gd name="connsiteY8" fmla="*/ 2498271 h 6857999"/>
              <a:gd name="connsiteX9" fmla="*/ 1143743 w 5472113"/>
              <a:gd name="connsiteY9" fmla="*/ 1665514 h 6857999"/>
              <a:gd name="connsiteX10" fmla="*/ 2193 w 5472113"/>
              <a:gd name="connsiteY10" fmla="*/ 1061357 h 6857999"/>
              <a:gd name="connsiteX11" fmla="*/ 977266 w 5472113"/>
              <a:gd name="connsiteY11" fmla="*/ 0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472113" h="6857999">
                <a:moveTo>
                  <a:pt x="977266" y="0"/>
                </a:moveTo>
                <a:lnTo>
                  <a:pt x="5472113" y="0"/>
                </a:lnTo>
                <a:lnTo>
                  <a:pt x="5472113" y="6857999"/>
                </a:lnTo>
                <a:lnTo>
                  <a:pt x="977266" y="6857999"/>
                </a:lnTo>
                <a:cubicBezTo>
                  <a:pt x="271726" y="6715124"/>
                  <a:pt x="1062090" y="6294663"/>
                  <a:pt x="1238872" y="6000749"/>
                </a:cubicBezTo>
                <a:cubicBezTo>
                  <a:pt x="940008" y="5053692"/>
                  <a:pt x="1987220" y="5426528"/>
                  <a:pt x="2037955" y="5094513"/>
                </a:cubicBezTo>
                <a:cubicBezTo>
                  <a:pt x="2088691" y="4762499"/>
                  <a:pt x="1441815" y="4331152"/>
                  <a:pt x="1543285" y="4008663"/>
                </a:cubicBezTo>
                <a:cubicBezTo>
                  <a:pt x="1644755" y="3686174"/>
                  <a:pt x="2646780" y="3411310"/>
                  <a:pt x="2646780" y="3159578"/>
                </a:cubicBezTo>
                <a:cubicBezTo>
                  <a:pt x="2646780" y="2907845"/>
                  <a:pt x="1793792" y="2747282"/>
                  <a:pt x="1543285" y="2498271"/>
                </a:cubicBezTo>
                <a:cubicBezTo>
                  <a:pt x="1292778" y="2249260"/>
                  <a:pt x="1400592" y="1905000"/>
                  <a:pt x="1143743" y="1665514"/>
                </a:cubicBezTo>
                <a:cubicBezTo>
                  <a:pt x="886895" y="1426028"/>
                  <a:pt x="29940" y="1338942"/>
                  <a:pt x="2193" y="1061357"/>
                </a:cubicBezTo>
                <a:cubicBezTo>
                  <a:pt x="-25553" y="783771"/>
                  <a:pt x="205135" y="176892"/>
                  <a:pt x="977266" y="0"/>
                </a:cubicBez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5380003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8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2" y="0"/>
            <a:ext cx="6936953" cy="6858000"/>
          </a:xfrm>
          <a:custGeom>
            <a:avLst/>
            <a:gdLst>
              <a:gd name="connsiteX0" fmla="*/ 553382 w 6936953"/>
              <a:gd name="connsiteY0" fmla="*/ 0 h 6858000"/>
              <a:gd name="connsiteX1" fmla="*/ 5329607 w 6936953"/>
              <a:gd name="connsiteY1" fmla="*/ 0 h 6858000"/>
              <a:gd name="connsiteX2" fmla="*/ 5418699 w 6936953"/>
              <a:gd name="connsiteY2" fmla="*/ 32170 h 6858000"/>
              <a:gd name="connsiteX3" fmla="*/ 6726240 w 6936953"/>
              <a:gd name="connsiteY3" fmla="*/ 3103936 h 6858000"/>
              <a:gd name="connsiteX4" fmla="*/ 3443144 w 6936953"/>
              <a:gd name="connsiteY4" fmla="*/ 6528751 h 6858000"/>
              <a:gd name="connsiteX5" fmla="*/ 3284938 w 6936953"/>
              <a:gd name="connsiteY5" fmla="*/ 6710191 h 6858000"/>
              <a:gd name="connsiteX6" fmla="*/ 3137763 w 6936953"/>
              <a:gd name="connsiteY6" fmla="*/ 6858000 h 6858000"/>
              <a:gd name="connsiteX7" fmla="*/ 1738310 w 6936953"/>
              <a:gd name="connsiteY7" fmla="*/ 6858000 h 6858000"/>
              <a:gd name="connsiteX8" fmla="*/ 1701956 w 6936953"/>
              <a:gd name="connsiteY8" fmla="*/ 6815585 h 6858000"/>
              <a:gd name="connsiteX9" fmla="*/ 160048 w 6936953"/>
              <a:gd name="connsiteY9" fmla="*/ 3103936 h 6858000"/>
              <a:gd name="connsiteX10" fmla="*/ 1161 w 6936953"/>
              <a:gd name="connsiteY10" fmla="*/ 2648207 h 6858000"/>
              <a:gd name="connsiteX11" fmla="*/ 0 w 6936953"/>
              <a:gd name="connsiteY11" fmla="*/ 2644258 h 6858000"/>
              <a:gd name="connsiteX12" fmla="*/ 0 w 6936953"/>
              <a:gd name="connsiteY12" fmla="*/ 532063 h 6858000"/>
              <a:gd name="connsiteX13" fmla="*/ 58043 w 6936953"/>
              <a:gd name="connsiteY13" fmla="*/ 439147 h 6858000"/>
              <a:gd name="connsiteX14" fmla="*/ 492010 w 6936953"/>
              <a:gd name="connsiteY14" fmla="*/ 3466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36953" h="6858000">
                <a:moveTo>
                  <a:pt x="553382" y="0"/>
                </a:moveTo>
                <a:lnTo>
                  <a:pt x="5329607" y="0"/>
                </a:lnTo>
                <a:lnTo>
                  <a:pt x="5418699" y="32170"/>
                </a:lnTo>
                <a:cubicBezTo>
                  <a:pt x="6427776" y="434269"/>
                  <a:pt x="6037987" y="1197421"/>
                  <a:pt x="6726240" y="3103936"/>
                </a:cubicBezTo>
                <a:cubicBezTo>
                  <a:pt x="7683810" y="5756479"/>
                  <a:pt x="5165152" y="4435809"/>
                  <a:pt x="3443144" y="6528751"/>
                </a:cubicBezTo>
                <a:cubicBezTo>
                  <a:pt x="3389331" y="6594155"/>
                  <a:pt x="3336611" y="6654578"/>
                  <a:pt x="3284938" y="6710191"/>
                </a:cubicBezTo>
                <a:lnTo>
                  <a:pt x="3137763" y="6858000"/>
                </a:lnTo>
                <a:lnTo>
                  <a:pt x="1738310" y="6858000"/>
                </a:lnTo>
                <a:lnTo>
                  <a:pt x="1701956" y="6815585"/>
                </a:lnTo>
                <a:cubicBezTo>
                  <a:pt x="1125290" y="6085102"/>
                  <a:pt x="698681" y="4515723"/>
                  <a:pt x="160048" y="3103936"/>
                </a:cubicBezTo>
                <a:cubicBezTo>
                  <a:pt x="100200" y="2947071"/>
                  <a:pt x="47162" y="2795135"/>
                  <a:pt x="1161" y="2648207"/>
                </a:cubicBezTo>
                <a:lnTo>
                  <a:pt x="0" y="2644258"/>
                </a:lnTo>
                <a:lnTo>
                  <a:pt x="0" y="532063"/>
                </a:lnTo>
                <a:lnTo>
                  <a:pt x="58043" y="439147"/>
                </a:lnTo>
                <a:cubicBezTo>
                  <a:pt x="168077" y="282058"/>
                  <a:pt x="312130" y="147022"/>
                  <a:pt x="492010" y="34663"/>
                </a:cubicBez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22851138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9_Custom Layout">
    <p:spTree>
      <p:nvGrpSpPr>
        <p:cNvPr id="1" name=""/>
        <p:cNvGrpSpPr/>
        <p:nvPr/>
      </p:nvGrpSpPr>
      <p:grpSpPr>
        <a:xfrm>
          <a:off x="0" y="0"/>
          <a:ext cx="0" cy="0"/>
          <a:chOff x="0" y="0"/>
          <a:chExt cx="0" cy="0"/>
        </a:xfrm>
      </p:grpSpPr>
      <p:sp>
        <p:nvSpPr>
          <p:cNvPr id="13" name="Picture Placeholder 12"/>
          <p:cNvSpPr>
            <a:spLocks noGrp="1"/>
          </p:cNvSpPr>
          <p:nvPr>
            <p:ph type="pic" sz="quarter" idx="12" hasCustomPrompt="1"/>
          </p:nvPr>
        </p:nvSpPr>
        <p:spPr>
          <a:xfrm>
            <a:off x="5143500" y="2859551"/>
            <a:ext cx="1905000" cy="1905000"/>
          </a:xfrm>
          <a:custGeom>
            <a:avLst/>
            <a:gdLst>
              <a:gd name="connsiteX0" fmla="*/ 952500 w 1905000"/>
              <a:gd name="connsiteY0" fmla="*/ 0 h 1905000"/>
              <a:gd name="connsiteX1" fmla="*/ 1905000 w 1905000"/>
              <a:gd name="connsiteY1" fmla="*/ 952500 h 1905000"/>
              <a:gd name="connsiteX2" fmla="*/ 952500 w 1905000"/>
              <a:gd name="connsiteY2" fmla="*/ 1905000 h 1905000"/>
              <a:gd name="connsiteX3" fmla="*/ 0 w 1905000"/>
              <a:gd name="connsiteY3" fmla="*/ 952500 h 1905000"/>
              <a:gd name="connsiteX4" fmla="*/ 952500 w 1905000"/>
              <a:gd name="connsiteY4" fmla="*/ 0 h 190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905000">
                <a:moveTo>
                  <a:pt x="952500" y="0"/>
                </a:moveTo>
                <a:cubicBezTo>
                  <a:pt x="1478551" y="0"/>
                  <a:pt x="1905000" y="426449"/>
                  <a:pt x="1905000" y="952500"/>
                </a:cubicBezTo>
                <a:cubicBezTo>
                  <a:pt x="1905000" y="1478551"/>
                  <a:pt x="1478551" y="1905000"/>
                  <a:pt x="952500" y="1905000"/>
                </a:cubicBezTo>
                <a:cubicBezTo>
                  <a:pt x="426449" y="1905000"/>
                  <a:pt x="0" y="1478551"/>
                  <a:pt x="0" y="952500"/>
                </a:cubicBezTo>
                <a:cubicBezTo>
                  <a:pt x="0" y="426449"/>
                  <a:pt x="426449" y="0"/>
                  <a:pt x="952500" y="0"/>
                </a:cubicBezTo>
                <a:close/>
              </a:path>
            </a:pathLst>
          </a:custGeom>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14" name="Picture Placeholder 13"/>
          <p:cNvSpPr>
            <a:spLocks noGrp="1"/>
          </p:cNvSpPr>
          <p:nvPr>
            <p:ph type="pic" sz="quarter" idx="13" hasCustomPrompt="1"/>
          </p:nvPr>
        </p:nvSpPr>
        <p:spPr>
          <a:xfrm>
            <a:off x="8988633" y="3456532"/>
            <a:ext cx="1905000" cy="1905000"/>
          </a:xfrm>
          <a:custGeom>
            <a:avLst/>
            <a:gdLst>
              <a:gd name="connsiteX0" fmla="*/ 952500 w 1905000"/>
              <a:gd name="connsiteY0" fmla="*/ 0 h 1905000"/>
              <a:gd name="connsiteX1" fmla="*/ 1905000 w 1905000"/>
              <a:gd name="connsiteY1" fmla="*/ 952500 h 1905000"/>
              <a:gd name="connsiteX2" fmla="*/ 952500 w 1905000"/>
              <a:gd name="connsiteY2" fmla="*/ 1905000 h 1905000"/>
              <a:gd name="connsiteX3" fmla="*/ 0 w 1905000"/>
              <a:gd name="connsiteY3" fmla="*/ 952500 h 1905000"/>
              <a:gd name="connsiteX4" fmla="*/ 952500 w 1905000"/>
              <a:gd name="connsiteY4" fmla="*/ 0 h 190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905000">
                <a:moveTo>
                  <a:pt x="952500" y="0"/>
                </a:moveTo>
                <a:cubicBezTo>
                  <a:pt x="1478551" y="0"/>
                  <a:pt x="1905000" y="426449"/>
                  <a:pt x="1905000" y="952500"/>
                </a:cubicBezTo>
                <a:cubicBezTo>
                  <a:pt x="1905000" y="1478551"/>
                  <a:pt x="1478551" y="1905000"/>
                  <a:pt x="952500" y="1905000"/>
                </a:cubicBezTo>
                <a:cubicBezTo>
                  <a:pt x="426449" y="1905000"/>
                  <a:pt x="0" y="1478551"/>
                  <a:pt x="0" y="952500"/>
                </a:cubicBezTo>
                <a:cubicBezTo>
                  <a:pt x="0" y="426449"/>
                  <a:pt x="426449" y="0"/>
                  <a:pt x="952500" y="0"/>
                </a:cubicBezTo>
                <a:close/>
              </a:path>
            </a:pathLst>
          </a:custGeom>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12" name="Picture Placeholder 11"/>
          <p:cNvSpPr>
            <a:spLocks noGrp="1"/>
          </p:cNvSpPr>
          <p:nvPr>
            <p:ph type="pic" sz="quarter" idx="11" hasCustomPrompt="1"/>
          </p:nvPr>
        </p:nvSpPr>
        <p:spPr>
          <a:xfrm>
            <a:off x="1298367" y="4041145"/>
            <a:ext cx="1905000" cy="1905000"/>
          </a:xfrm>
          <a:custGeom>
            <a:avLst/>
            <a:gdLst>
              <a:gd name="connsiteX0" fmla="*/ 952500 w 1905000"/>
              <a:gd name="connsiteY0" fmla="*/ 0 h 1905000"/>
              <a:gd name="connsiteX1" fmla="*/ 1905000 w 1905000"/>
              <a:gd name="connsiteY1" fmla="*/ 952500 h 1905000"/>
              <a:gd name="connsiteX2" fmla="*/ 952500 w 1905000"/>
              <a:gd name="connsiteY2" fmla="*/ 1905000 h 1905000"/>
              <a:gd name="connsiteX3" fmla="*/ 0 w 1905000"/>
              <a:gd name="connsiteY3" fmla="*/ 952500 h 1905000"/>
              <a:gd name="connsiteX4" fmla="*/ 952500 w 1905000"/>
              <a:gd name="connsiteY4" fmla="*/ 0 h 1905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1905000">
                <a:moveTo>
                  <a:pt x="952500" y="0"/>
                </a:moveTo>
                <a:cubicBezTo>
                  <a:pt x="1478551" y="0"/>
                  <a:pt x="1905000" y="426449"/>
                  <a:pt x="1905000" y="952500"/>
                </a:cubicBezTo>
                <a:cubicBezTo>
                  <a:pt x="1905000" y="1478551"/>
                  <a:pt x="1478551" y="1905000"/>
                  <a:pt x="952500" y="1905000"/>
                </a:cubicBezTo>
                <a:cubicBezTo>
                  <a:pt x="426449" y="1905000"/>
                  <a:pt x="0" y="1478551"/>
                  <a:pt x="0" y="952500"/>
                </a:cubicBezTo>
                <a:cubicBezTo>
                  <a:pt x="0" y="426449"/>
                  <a:pt x="426449" y="0"/>
                  <a:pt x="952500" y="0"/>
                </a:cubicBezTo>
                <a:close/>
              </a:path>
            </a:pathLst>
          </a:custGeom>
        </p:spPr>
        <p:txBody>
          <a:bodyPr wrap="square">
            <a:noAutofit/>
          </a:bodyPr>
          <a:lstStyle>
            <a:lvl1pPr marL="0" indent="0" algn="ctr" rtl="1">
              <a:buNone/>
              <a:defRPr sz="1600">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
        <p:nvSpPr>
          <p:cNvPr id="6" name="Picture Placeholder 5"/>
          <p:cNvSpPr>
            <a:spLocks noGrp="1"/>
          </p:cNvSpPr>
          <p:nvPr>
            <p:ph type="pic" sz="quarter" idx="10" hasCustomPrompt="1"/>
          </p:nvPr>
        </p:nvSpPr>
        <p:spPr>
          <a:xfrm>
            <a:off x="0" y="1"/>
            <a:ext cx="12192000" cy="3677139"/>
          </a:xfrm>
          <a:custGeom>
            <a:avLst/>
            <a:gdLst>
              <a:gd name="connsiteX0" fmla="*/ 0 w 12192000"/>
              <a:gd name="connsiteY0" fmla="*/ 0 h 3677139"/>
              <a:gd name="connsiteX1" fmla="*/ 12192000 w 12192000"/>
              <a:gd name="connsiteY1" fmla="*/ 0 h 3677139"/>
              <a:gd name="connsiteX2" fmla="*/ 12192000 w 12192000"/>
              <a:gd name="connsiteY2" fmla="*/ 3020439 h 3677139"/>
              <a:gd name="connsiteX3" fmla="*/ 10668000 w 12192000"/>
              <a:gd name="connsiteY3" fmla="*/ 2844646 h 3677139"/>
              <a:gd name="connsiteX4" fmla="*/ 9056914 w 12192000"/>
              <a:gd name="connsiteY4" fmla="*/ 2307679 h 3677139"/>
              <a:gd name="connsiteX5" fmla="*/ 7126514 w 12192000"/>
              <a:gd name="connsiteY5" fmla="*/ 2640087 h 3677139"/>
              <a:gd name="connsiteX6" fmla="*/ 5617028 w 12192000"/>
              <a:gd name="connsiteY6" fmla="*/ 1898562 h 3677139"/>
              <a:gd name="connsiteX7" fmla="*/ 4441372 w 12192000"/>
              <a:gd name="connsiteY7" fmla="*/ 2640087 h 3677139"/>
              <a:gd name="connsiteX8" fmla="*/ 2960915 w 12192000"/>
              <a:gd name="connsiteY8" fmla="*/ 2908570 h 3677139"/>
              <a:gd name="connsiteX9" fmla="*/ 1886857 w 12192000"/>
              <a:gd name="connsiteY9" fmla="*/ 3675666 h 3677139"/>
              <a:gd name="connsiteX10" fmla="*/ 0 w 12192000"/>
              <a:gd name="connsiteY10" fmla="*/ 3020439 h 36771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192000" h="3677139">
                <a:moveTo>
                  <a:pt x="0" y="0"/>
                </a:moveTo>
                <a:lnTo>
                  <a:pt x="12192000" y="0"/>
                </a:lnTo>
                <a:lnTo>
                  <a:pt x="12192000" y="3020439"/>
                </a:lnTo>
                <a:cubicBezTo>
                  <a:pt x="11938000" y="3494547"/>
                  <a:pt x="11190514" y="2963439"/>
                  <a:pt x="10668000" y="2844646"/>
                </a:cubicBezTo>
                <a:cubicBezTo>
                  <a:pt x="8984343" y="3045475"/>
                  <a:pt x="9647162" y="2341772"/>
                  <a:pt x="9056914" y="2307679"/>
                </a:cubicBezTo>
                <a:cubicBezTo>
                  <a:pt x="8466666" y="2273585"/>
                  <a:pt x="7699828" y="2708272"/>
                  <a:pt x="7126514" y="2640087"/>
                </a:cubicBezTo>
                <a:cubicBezTo>
                  <a:pt x="6553200" y="2571901"/>
                  <a:pt x="6064552" y="1898562"/>
                  <a:pt x="5617028" y="1898562"/>
                </a:cubicBezTo>
                <a:cubicBezTo>
                  <a:pt x="5169505" y="1898562"/>
                  <a:pt x="4884059" y="2471752"/>
                  <a:pt x="4441372" y="2640087"/>
                </a:cubicBezTo>
                <a:cubicBezTo>
                  <a:pt x="3998686" y="2808422"/>
                  <a:pt x="3386667" y="2735973"/>
                  <a:pt x="2960915" y="2908570"/>
                </a:cubicBezTo>
                <a:cubicBezTo>
                  <a:pt x="2535162" y="3081167"/>
                  <a:pt x="2380343" y="3657021"/>
                  <a:pt x="1886857" y="3675666"/>
                </a:cubicBezTo>
                <a:cubicBezTo>
                  <a:pt x="1393371" y="3694311"/>
                  <a:pt x="314476" y="3539294"/>
                  <a:pt x="0" y="3020439"/>
                </a:cubicBez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252242571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0" y="0"/>
            <a:ext cx="4631961" cy="6858000"/>
          </a:xfrm>
          <a:custGeom>
            <a:avLst/>
            <a:gdLst>
              <a:gd name="connsiteX0" fmla="*/ 0 w 4631961"/>
              <a:gd name="connsiteY0" fmla="*/ 0 h 6858000"/>
              <a:gd name="connsiteX1" fmla="*/ 4631961 w 4631961"/>
              <a:gd name="connsiteY1" fmla="*/ 0 h 6858000"/>
              <a:gd name="connsiteX2" fmla="*/ 4631961 w 4631961"/>
              <a:gd name="connsiteY2" fmla="*/ 6858000 h 6858000"/>
              <a:gd name="connsiteX3" fmla="*/ 0 w 4631961"/>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631961" h="6858000">
                <a:moveTo>
                  <a:pt x="0" y="0"/>
                </a:moveTo>
                <a:lnTo>
                  <a:pt x="4631961" y="0"/>
                </a:lnTo>
                <a:lnTo>
                  <a:pt x="4631961" y="6858000"/>
                </a:lnTo>
                <a:lnTo>
                  <a:pt x="0" y="685800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77584807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2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0" y="1918741"/>
            <a:ext cx="12192000" cy="4939259"/>
          </a:xfrm>
          <a:custGeom>
            <a:avLst/>
            <a:gdLst>
              <a:gd name="connsiteX0" fmla="*/ 0 w 12192000"/>
              <a:gd name="connsiteY0" fmla="*/ 0 h 4939259"/>
              <a:gd name="connsiteX1" fmla="*/ 12192000 w 12192000"/>
              <a:gd name="connsiteY1" fmla="*/ 0 h 4939259"/>
              <a:gd name="connsiteX2" fmla="*/ 12192000 w 12192000"/>
              <a:gd name="connsiteY2" fmla="*/ 4939259 h 4939259"/>
              <a:gd name="connsiteX3" fmla="*/ 0 w 12192000"/>
              <a:gd name="connsiteY3" fmla="*/ 4939259 h 4939259"/>
            </a:gdLst>
            <a:ahLst/>
            <a:cxnLst>
              <a:cxn ang="0">
                <a:pos x="connsiteX0" y="connsiteY0"/>
              </a:cxn>
              <a:cxn ang="0">
                <a:pos x="connsiteX1" y="connsiteY1"/>
              </a:cxn>
              <a:cxn ang="0">
                <a:pos x="connsiteX2" y="connsiteY2"/>
              </a:cxn>
              <a:cxn ang="0">
                <a:pos x="connsiteX3" y="connsiteY3"/>
              </a:cxn>
            </a:cxnLst>
            <a:rect l="l" t="t" r="r" b="b"/>
            <a:pathLst>
              <a:path w="12192000" h="4939259">
                <a:moveTo>
                  <a:pt x="0" y="0"/>
                </a:moveTo>
                <a:lnTo>
                  <a:pt x="12192000" y="0"/>
                </a:lnTo>
                <a:lnTo>
                  <a:pt x="12192000" y="4939259"/>
                </a:lnTo>
                <a:lnTo>
                  <a:pt x="0" y="4939259"/>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363231406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3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623888" y="0"/>
            <a:ext cx="5472112" cy="6858000"/>
          </a:xfrm>
          <a:custGeom>
            <a:avLst/>
            <a:gdLst>
              <a:gd name="connsiteX0" fmla="*/ 0 w 5472112"/>
              <a:gd name="connsiteY0" fmla="*/ 0 h 6858000"/>
              <a:gd name="connsiteX1" fmla="*/ 5472112 w 5472112"/>
              <a:gd name="connsiteY1" fmla="*/ 0 h 6858000"/>
              <a:gd name="connsiteX2" fmla="*/ 5472112 w 5472112"/>
              <a:gd name="connsiteY2" fmla="*/ 6858000 h 6858000"/>
              <a:gd name="connsiteX3" fmla="*/ 0 w 5472112"/>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5472112" h="6858000">
                <a:moveTo>
                  <a:pt x="0" y="0"/>
                </a:moveTo>
                <a:lnTo>
                  <a:pt x="5472112" y="0"/>
                </a:lnTo>
                <a:lnTo>
                  <a:pt x="5472112" y="6858000"/>
                </a:lnTo>
                <a:lnTo>
                  <a:pt x="0" y="685800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اضف صورة</a:t>
            </a:r>
            <a:endParaRPr lang="en-ID" dirty="0"/>
          </a:p>
        </p:txBody>
      </p:sp>
    </p:spTree>
    <p:extLst>
      <p:ext uri="{BB962C8B-B14F-4D97-AF65-F5344CB8AC3E}">
        <p14:creationId xmlns:p14="http://schemas.microsoft.com/office/powerpoint/2010/main" val="316796542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4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5252279" y="9791"/>
            <a:ext cx="6936954" cy="6858000"/>
          </a:xfrm>
          <a:custGeom>
            <a:avLst/>
            <a:gdLst>
              <a:gd name="connsiteX0" fmla="*/ 1607347 w 6936954"/>
              <a:gd name="connsiteY0" fmla="*/ 0 h 6858000"/>
              <a:gd name="connsiteX1" fmla="*/ 6383572 w 6936954"/>
              <a:gd name="connsiteY1" fmla="*/ 0 h 6858000"/>
              <a:gd name="connsiteX2" fmla="*/ 6444944 w 6936954"/>
              <a:gd name="connsiteY2" fmla="*/ 34663 h 6858000"/>
              <a:gd name="connsiteX3" fmla="*/ 6878911 w 6936954"/>
              <a:gd name="connsiteY3" fmla="*/ 439147 h 6858000"/>
              <a:gd name="connsiteX4" fmla="*/ 6936954 w 6936954"/>
              <a:gd name="connsiteY4" fmla="*/ 532063 h 6858000"/>
              <a:gd name="connsiteX5" fmla="*/ 6936954 w 6936954"/>
              <a:gd name="connsiteY5" fmla="*/ 2644258 h 6858000"/>
              <a:gd name="connsiteX6" fmla="*/ 6935793 w 6936954"/>
              <a:gd name="connsiteY6" fmla="*/ 2648207 h 6858000"/>
              <a:gd name="connsiteX7" fmla="*/ 6776906 w 6936954"/>
              <a:gd name="connsiteY7" fmla="*/ 3103936 h 6858000"/>
              <a:gd name="connsiteX8" fmla="*/ 5234998 w 6936954"/>
              <a:gd name="connsiteY8" fmla="*/ 6815585 h 6858000"/>
              <a:gd name="connsiteX9" fmla="*/ 5198644 w 6936954"/>
              <a:gd name="connsiteY9" fmla="*/ 6858000 h 6858000"/>
              <a:gd name="connsiteX10" fmla="*/ 3799191 w 6936954"/>
              <a:gd name="connsiteY10" fmla="*/ 6858000 h 6858000"/>
              <a:gd name="connsiteX11" fmla="*/ 3652016 w 6936954"/>
              <a:gd name="connsiteY11" fmla="*/ 6710191 h 6858000"/>
              <a:gd name="connsiteX12" fmla="*/ 3493810 w 6936954"/>
              <a:gd name="connsiteY12" fmla="*/ 6528751 h 6858000"/>
              <a:gd name="connsiteX13" fmla="*/ 210714 w 6936954"/>
              <a:gd name="connsiteY13" fmla="*/ 3103936 h 6858000"/>
              <a:gd name="connsiteX14" fmla="*/ 1518255 w 6936954"/>
              <a:gd name="connsiteY14" fmla="*/ 3217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36954" h="6858000">
                <a:moveTo>
                  <a:pt x="1607347" y="0"/>
                </a:moveTo>
                <a:lnTo>
                  <a:pt x="6383572" y="0"/>
                </a:lnTo>
                <a:lnTo>
                  <a:pt x="6444944" y="34663"/>
                </a:lnTo>
                <a:cubicBezTo>
                  <a:pt x="6624824" y="147022"/>
                  <a:pt x="6768877" y="282058"/>
                  <a:pt x="6878911" y="439147"/>
                </a:cubicBezTo>
                <a:lnTo>
                  <a:pt x="6936954" y="532063"/>
                </a:lnTo>
                <a:lnTo>
                  <a:pt x="6936954" y="2644258"/>
                </a:lnTo>
                <a:lnTo>
                  <a:pt x="6935793" y="2648207"/>
                </a:lnTo>
                <a:cubicBezTo>
                  <a:pt x="6889792" y="2795135"/>
                  <a:pt x="6836754" y="2947071"/>
                  <a:pt x="6776906" y="3103936"/>
                </a:cubicBezTo>
                <a:cubicBezTo>
                  <a:pt x="6238273" y="4515723"/>
                  <a:pt x="5811664" y="6085102"/>
                  <a:pt x="5234998" y="6815585"/>
                </a:cubicBezTo>
                <a:lnTo>
                  <a:pt x="5198644" y="6858000"/>
                </a:lnTo>
                <a:lnTo>
                  <a:pt x="3799191" y="6858000"/>
                </a:lnTo>
                <a:lnTo>
                  <a:pt x="3652016" y="6710191"/>
                </a:lnTo>
                <a:cubicBezTo>
                  <a:pt x="3600343" y="6654578"/>
                  <a:pt x="3547623" y="6594155"/>
                  <a:pt x="3493810" y="6528751"/>
                </a:cubicBezTo>
                <a:cubicBezTo>
                  <a:pt x="1771802" y="4435809"/>
                  <a:pt x="-746856" y="5756479"/>
                  <a:pt x="210714" y="3103936"/>
                </a:cubicBezTo>
                <a:cubicBezTo>
                  <a:pt x="898967" y="1197421"/>
                  <a:pt x="509178" y="434269"/>
                  <a:pt x="1518255" y="32170"/>
                </a:cubicBez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27915053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16_Custom Layout">
    <p:spTree>
      <p:nvGrpSpPr>
        <p:cNvPr id="1" name=""/>
        <p:cNvGrpSpPr/>
        <p:nvPr/>
      </p:nvGrpSpPr>
      <p:grpSpPr>
        <a:xfrm>
          <a:off x="0" y="0"/>
          <a:ext cx="0" cy="0"/>
          <a:chOff x="0" y="0"/>
          <a:chExt cx="0" cy="0"/>
        </a:xfrm>
      </p:grpSpPr>
      <p:sp>
        <p:nvSpPr>
          <p:cNvPr id="6" name="Picture Placeholder 5"/>
          <p:cNvSpPr>
            <a:spLocks noGrp="1"/>
          </p:cNvSpPr>
          <p:nvPr>
            <p:ph type="pic" sz="quarter" idx="10" hasCustomPrompt="1"/>
          </p:nvPr>
        </p:nvSpPr>
        <p:spPr>
          <a:xfrm>
            <a:off x="6354344" y="2216258"/>
            <a:ext cx="4594601" cy="2774196"/>
          </a:xfrm>
          <a:custGeom>
            <a:avLst/>
            <a:gdLst>
              <a:gd name="connsiteX0" fmla="*/ 0 w 4594601"/>
              <a:gd name="connsiteY0" fmla="*/ 0 h 2774196"/>
              <a:gd name="connsiteX1" fmla="*/ 4594601 w 4594601"/>
              <a:gd name="connsiteY1" fmla="*/ 0 h 2774196"/>
              <a:gd name="connsiteX2" fmla="*/ 4594601 w 4594601"/>
              <a:gd name="connsiteY2" fmla="*/ 2774196 h 2774196"/>
              <a:gd name="connsiteX3" fmla="*/ 0 w 4594601"/>
              <a:gd name="connsiteY3" fmla="*/ 2774196 h 2774196"/>
            </a:gdLst>
            <a:ahLst/>
            <a:cxnLst>
              <a:cxn ang="0">
                <a:pos x="connsiteX0" y="connsiteY0"/>
              </a:cxn>
              <a:cxn ang="0">
                <a:pos x="connsiteX1" y="connsiteY1"/>
              </a:cxn>
              <a:cxn ang="0">
                <a:pos x="connsiteX2" y="connsiteY2"/>
              </a:cxn>
              <a:cxn ang="0">
                <a:pos x="connsiteX3" y="connsiteY3"/>
              </a:cxn>
            </a:cxnLst>
            <a:rect l="l" t="t" r="r" b="b"/>
            <a:pathLst>
              <a:path w="4594601" h="2774196">
                <a:moveTo>
                  <a:pt x="0" y="0"/>
                </a:moveTo>
                <a:lnTo>
                  <a:pt x="4594601" y="0"/>
                </a:lnTo>
                <a:lnTo>
                  <a:pt x="4594601" y="2774196"/>
                </a:lnTo>
                <a:lnTo>
                  <a:pt x="0" y="2774196"/>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33358097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7_Custom Layout">
    <p:spTree>
      <p:nvGrpSpPr>
        <p:cNvPr id="1" name=""/>
        <p:cNvGrpSpPr/>
        <p:nvPr/>
      </p:nvGrpSpPr>
      <p:grpSpPr>
        <a:xfrm>
          <a:off x="0" y="0"/>
          <a:ext cx="0" cy="0"/>
          <a:chOff x="0" y="0"/>
          <a:chExt cx="0" cy="0"/>
        </a:xfrm>
      </p:grpSpPr>
      <p:sp>
        <p:nvSpPr>
          <p:cNvPr id="6" name="Freeform 5"/>
          <p:cNvSpPr>
            <a:spLocks noGrp="1"/>
          </p:cNvSpPr>
          <p:nvPr>
            <p:ph type="pic" sz="quarter" idx="10" hasCustomPrompt="1"/>
          </p:nvPr>
        </p:nvSpPr>
        <p:spPr>
          <a:xfrm>
            <a:off x="1506565" y="2868528"/>
            <a:ext cx="3720007" cy="2292350"/>
          </a:xfrm>
          <a:custGeom>
            <a:avLst/>
            <a:gdLst>
              <a:gd name="connsiteX0" fmla="*/ 0 w 3720007"/>
              <a:gd name="connsiteY0" fmla="*/ 0 h 2292350"/>
              <a:gd name="connsiteX1" fmla="*/ 3720007 w 3720007"/>
              <a:gd name="connsiteY1" fmla="*/ 0 h 2292350"/>
              <a:gd name="connsiteX2" fmla="*/ 3720007 w 3720007"/>
              <a:gd name="connsiteY2" fmla="*/ 2292350 h 2292350"/>
              <a:gd name="connsiteX3" fmla="*/ 0 w 3720007"/>
              <a:gd name="connsiteY3" fmla="*/ 2292350 h 2292350"/>
            </a:gdLst>
            <a:ahLst/>
            <a:cxnLst>
              <a:cxn ang="0">
                <a:pos x="connsiteX0" y="connsiteY0"/>
              </a:cxn>
              <a:cxn ang="0">
                <a:pos x="connsiteX1" y="connsiteY1"/>
              </a:cxn>
              <a:cxn ang="0">
                <a:pos x="connsiteX2" y="connsiteY2"/>
              </a:cxn>
              <a:cxn ang="0">
                <a:pos x="connsiteX3" y="connsiteY3"/>
              </a:cxn>
            </a:cxnLst>
            <a:rect l="l" t="t" r="r" b="b"/>
            <a:pathLst>
              <a:path w="3720007" h="2292350">
                <a:moveTo>
                  <a:pt x="0" y="0"/>
                </a:moveTo>
                <a:lnTo>
                  <a:pt x="3720007" y="0"/>
                </a:lnTo>
                <a:lnTo>
                  <a:pt x="3720007" y="2292350"/>
                </a:lnTo>
                <a:lnTo>
                  <a:pt x="0" y="2292350"/>
                </a:lnTo>
                <a:close/>
              </a:path>
            </a:pathLst>
          </a:custGeom>
        </p:spPr>
        <p:txBody>
          <a:bodyPr wrap="square">
            <a:noAutofit/>
          </a:bodyPr>
          <a:lstStyle>
            <a:lvl1pPr marL="0" indent="0" algn="ctr" rtl="1">
              <a:buNone/>
              <a:defRPr>
                <a:latin typeface="DIN Next LT Arabic Light" panose="020B0303020203050203" pitchFamily="34" charset="-78"/>
                <a:cs typeface="DIN Next LT Arabic Light" panose="020B0303020203050203" pitchFamily="34" charset="-78"/>
              </a:defRPr>
            </a:lvl1pPr>
          </a:lstStyle>
          <a:p>
            <a:r>
              <a:rPr lang="ar-EG" dirty="0"/>
              <a:t>أضف صورة</a:t>
            </a:r>
            <a:endParaRPr lang="en-ID" dirty="0"/>
          </a:p>
        </p:txBody>
      </p:sp>
    </p:spTree>
    <p:extLst>
      <p:ext uri="{BB962C8B-B14F-4D97-AF65-F5344CB8AC3E}">
        <p14:creationId xmlns:p14="http://schemas.microsoft.com/office/powerpoint/2010/main" val="16752431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82992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039087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1" r:id="rId12"/>
    <p:sldLayoutId id="2147483662" r:id="rId13"/>
    <p:sldLayoutId id="2147483663" r:id="rId14"/>
    <p:sldLayoutId id="2147483664" r:id="rId15"/>
    <p:sldLayoutId id="2147483666" r:id="rId16"/>
    <p:sldLayoutId id="2147483667"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4821354"/>
      </p:ext>
    </p:extLst>
  </p:cSld>
  <p:clrMap bg1="lt1" tx1="dk1" bg2="lt2" tx2="dk2" accent1="accent1" accent2="accent2" accent3="accent3" accent4="accent4" accent5="accent5" accent6="accent6" hlink="hlink" folHlink="folHlink"/>
  <p:sldLayoutIdLst>
    <p:sldLayoutId id="2147483669" r:id="rId1"/>
  </p:sldLayoutIdLst>
  <p:hf sldNum="0" hdr="0" ftr="0" dt="0"/>
  <p:txStyles>
    <p:titleStyle>
      <a:lvl1pPr algn="ctr" defTabSz="1219170" rtl="0" eaLnBrk="1" latinLnBrk="0" hangingPunct="1">
        <a:spcBef>
          <a:spcPct val="0"/>
        </a:spcBef>
        <a:buNone/>
        <a:defRPr sz="5867" kern="1200">
          <a:solidFill>
            <a:schemeClr val="tx1"/>
          </a:solidFill>
          <a:latin typeface="+mj-lt"/>
          <a:ea typeface="+mj-ea"/>
          <a:cs typeface="+mj-cs"/>
        </a:defRPr>
      </a:lvl1pPr>
    </p:titleStyle>
    <p:bodyStyle>
      <a:lvl1pPr marL="457189" indent="-457189" algn="l" defTabSz="1219170" rtl="0" eaLnBrk="1" latinLnBrk="0" hangingPunct="1">
        <a:spcBef>
          <a:spcPct val="20000"/>
        </a:spcBef>
        <a:buFont typeface="Arial" pitchFamily="34" charset="0"/>
        <a:buChar char="•"/>
        <a:defRPr sz="4267" kern="1200">
          <a:solidFill>
            <a:schemeClr val="tx1"/>
          </a:solidFill>
          <a:latin typeface="+mn-lt"/>
          <a:ea typeface="+mn-ea"/>
          <a:cs typeface="+mn-cs"/>
        </a:defRPr>
      </a:lvl1pPr>
      <a:lvl2pPr marL="990575" indent="-380990" algn="l" defTabSz="1219170" rtl="0" eaLnBrk="1" latinLnBrk="0" hangingPunct="1">
        <a:spcBef>
          <a:spcPct val="20000"/>
        </a:spcBef>
        <a:buFont typeface="Arial" pitchFamily="34" charset="0"/>
        <a:buChar char="–"/>
        <a:defRPr sz="3733" kern="1200">
          <a:solidFill>
            <a:schemeClr val="tx1"/>
          </a:solidFill>
          <a:latin typeface="+mn-lt"/>
          <a:ea typeface="+mn-ea"/>
          <a:cs typeface="+mn-cs"/>
        </a:defRPr>
      </a:lvl2pPr>
      <a:lvl3pPr marL="1523962" indent="-304792" algn="l" defTabSz="1219170" rtl="0" eaLnBrk="1" latinLnBrk="0" hangingPunct="1">
        <a:spcBef>
          <a:spcPct val="20000"/>
        </a:spcBef>
        <a:buFont typeface="Arial" pitchFamily="34" charset="0"/>
        <a:buChar char="•"/>
        <a:defRPr sz="3200" kern="1200">
          <a:solidFill>
            <a:schemeClr val="tx1"/>
          </a:solidFill>
          <a:latin typeface="+mn-lt"/>
          <a:ea typeface="+mn-ea"/>
          <a:cs typeface="+mn-cs"/>
        </a:defRPr>
      </a:lvl3pPr>
      <a:lvl4pPr marL="2133547"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4pPr>
      <a:lvl5pPr marL="274313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5pPr>
      <a:lvl6pPr marL="335271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6pPr>
      <a:lvl7pPr marL="3962301"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7pPr>
      <a:lvl8pPr marL="4571886"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8pPr>
      <a:lvl9pPr marL="5181470" indent="-304792" algn="l" defTabSz="1219170" rtl="0" eaLnBrk="1" latinLnBrk="0" hangingPunct="1">
        <a:spcBef>
          <a:spcPct val="20000"/>
        </a:spcBef>
        <a:buFont typeface="Arial" pitchFamily="34" charset="0"/>
        <a:buChar char="•"/>
        <a:defRPr sz="2667" kern="1200">
          <a:solidFill>
            <a:schemeClr val="tx1"/>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5.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1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5.xml"/></Relationships>
</file>

<file path=ppt/slides/_rels/slide2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عنصر نائب للصورة 2" descr="صورة تحتوي على داخلي, منضدة, شخص&#10;&#10;تم إنشاء الوصف تلقائياً">
            <a:extLst>
              <a:ext uri="{FF2B5EF4-FFF2-40B4-BE49-F238E27FC236}">
                <a16:creationId xmlns:a16="http://schemas.microsoft.com/office/drawing/2014/main" id="{7138E25A-04DB-4B5A-98FD-E10033BA9F2E}"/>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t="7897" b="7897"/>
          <a:stretch>
            <a:fillRect/>
          </a:stretch>
        </p:blipFill>
        <p:spPr/>
      </p:pic>
      <p:sp>
        <p:nvSpPr>
          <p:cNvPr id="11" name="Rectangle 10"/>
          <p:cNvSpPr/>
          <p:nvPr/>
        </p:nvSpPr>
        <p:spPr>
          <a:xfrm>
            <a:off x="0" y="0"/>
            <a:ext cx="12192000" cy="6858000"/>
          </a:xfrm>
          <a:prstGeom prst="rect">
            <a:avLst/>
          </a:prstGeom>
          <a:solidFill>
            <a:schemeClr val="bg1">
              <a:alpha val="4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
        <p:nvSpPr>
          <p:cNvPr id="4" name="TextBox 3"/>
          <p:cNvSpPr txBox="1"/>
          <p:nvPr/>
        </p:nvSpPr>
        <p:spPr>
          <a:xfrm>
            <a:off x="2653792" y="3632688"/>
            <a:ext cx="6896608" cy="1015663"/>
          </a:xfrm>
          <a:prstGeom prst="rect">
            <a:avLst/>
          </a:prstGeom>
          <a:noFill/>
        </p:spPr>
        <p:txBody>
          <a:bodyPr wrap="square" rtlCol="0">
            <a:spAutoFit/>
          </a:bodyPr>
          <a:lstStyle/>
          <a:p>
            <a:pPr algn="ctr" rtl="1"/>
            <a:r>
              <a:rPr lang="ar-DZ" sz="6000" b="1" spc="300" dirty="0">
                <a:latin typeface="Air Strip Arabic" panose="02000500000000000000" pitchFamily="2" charset="-78"/>
                <a:cs typeface="Air Strip Arabic" panose="02000500000000000000" pitchFamily="2" charset="-78"/>
              </a:rPr>
              <a:t>السلام عليكم</a:t>
            </a:r>
            <a:endParaRPr lang="en-ID" sz="6000" b="1" spc="300" dirty="0">
              <a:latin typeface="Air Strip Arabic" panose="02000500000000000000" pitchFamily="2" charset="-78"/>
              <a:cs typeface="Air Strip Arabic" panose="02000500000000000000" pitchFamily="2" charset="-78"/>
            </a:endParaRPr>
          </a:p>
        </p:txBody>
      </p:sp>
      <p:sp>
        <p:nvSpPr>
          <p:cNvPr id="8" name="Isosceles Triangle 5"/>
          <p:cNvSpPr/>
          <p:nvPr/>
        </p:nvSpPr>
        <p:spPr>
          <a:xfrm rot="1800000">
            <a:off x="5404137" y="1998593"/>
            <a:ext cx="1383726" cy="1528162"/>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solidFill>
            <a:schemeClr val="accent3">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
        <p:nvSpPr>
          <p:cNvPr id="7" name="Isosceles Triangle 5"/>
          <p:cNvSpPr/>
          <p:nvPr/>
        </p:nvSpPr>
        <p:spPr>
          <a:xfrm rot="19800000">
            <a:off x="5404137" y="1998593"/>
            <a:ext cx="1383726" cy="1528162"/>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
        <p:nvSpPr>
          <p:cNvPr id="6" name="Isosceles Triangle 5"/>
          <p:cNvSpPr/>
          <p:nvPr/>
        </p:nvSpPr>
        <p:spPr>
          <a:xfrm>
            <a:off x="5404137" y="1998593"/>
            <a:ext cx="1383726" cy="1528162"/>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Tree>
    <p:extLst>
      <p:ext uri="{BB962C8B-B14F-4D97-AF65-F5344CB8AC3E}">
        <p14:creationId xmlns:p14="http://schemas.microsoft.com/office/powerpoint/2010/main" val="289821842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عنصر نائب للصورة 17" descr="صورة تحتوي على شخص, رجل, ثياب&#10;&#10;تم إنشاء الوصف تلقائياً">
            <a:extLst>
              <a:ext uri="{FF2B5EF4-FFF2-40B4-BE49-F238E27FC236}">
                <a16:creationId xmlns:a16="http://schemas.microsoft.com/office/drawing/2014/main" id="{BC7A968D-B4B4-4B1E-957B-315BB9C2F9AD}"/>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val="0"/>
              </a:ext>
            </a:extLst>
          </a:blip>
          <a:srcRect t="59106" b="-1284"/>
          <a:stretch/>
        </p:blipFill>
        <p:spPr>
          <a:xfrm>
            <a:off x="0" y="0"/>
            <a:ext cx="12192000" cy="3429000"/>
          </a:xfrm>
        </p:spPr>
      </p:pic>
      <p:sp>
        <p:nvSpPr>
          <p:cNvPr id="8" name="TextBox 7"/>
          <p:cNvSpPr txBox="1"/>
          <p:nvPr/>
        </p:nvSpPr>
        <p:spPr>
          <a:xfrm>
            <a:off x="8770838" y="4586514"/>
            <a:ext cx="2322283" cy="400110"/>
          </a:xfrm>
          <a:prstGeom prst="rect">
            <a:avLst/>
          </a:prstGeom>
          <a:noFill/>
        </p:spPr>
        <p:txBody>
          <a:bodyPr wrap="square" rtlCol="0">
            <a:spAutoFit/>
          </a:bodyPr>
          <a:lstStyle/>
          <a:p>
            <a:pPr algn="ctr" rtl="1"/>
            <a:endParaRPr lang="en-ID" sz="2000" dirty="0">
              <a:latin typeface="DIN Next LT Arabic Light" panose="020B0303020203050203" pitchFamily="34" charset="-78"/>
              <a:cs typeface="DIN Next LT Arabic Light" panose="020B0303020203050203" pitchFamily="34" charset="-78"/>
            </a:endParaRPr>
          </a:p>
        </p:txBody>
      </p:sp>
      <p:sp>
        <p:nvSpPr>
          <p:cNvPr id="9" name="TextBox 8"/>
          <p:cNvSpPr txBox="1"/>
          <p:nvPr/>
        </p:nvSpPr>
        <p:spPr>
          <a:xfrm>
            <a:off x="8770838" y="4951306"/>
            <a:ext cx="2322283" cy="369332"/>
          </a:xfrm>
          <a:prstGeom prst="rect">
            <a:avLst/>
          </a:prstGeom>
          <a:noFill/>
        </p:spPr>
        <p:txBody>
          <a:bodyPr wrap="square" rtlCol="0">
            <a:spAutoFit/>
          </a:bodyPr>
          <a:lstStyle/>
          <a:p>
            <a:pPr algn="ctr" rtl="1"/>
            <a:endParaRPr lang="en-ID" dirty="0">
              <a:latin typeface="DIN Next LT Arabic Light" panose="020B0303020203050203" pitchFamily="34" charset="-78"/>
              <a:cs typeface="DIN Next LT Arabic Light" panose="020B0303020203050203" pitchFamily="34" charset="-78"/>
            </a:endParaRPr>
          </a:p>
        </p:txBody>
      </p:sp>
      <p:sp>
        <p:nvSpPr>
          <p:cNvPr id="10" name="TextBox 9"/>
          <p:cNvSpPr txBox="1"/>
          <p:nvPr/>
        </p:nvSpPr>
        <p:spPr>
          <a:xfrm>
            <a:off x="623888" y="2440356"/>
            <a:ext cx="7048074" cy="923330"/>
          </a:xfrm>
          <a:prstGeom prst="rect">
            <a:avLst/>
          </a:prstGeom>
          <a:noFill/>
        </p:spPr>
        <p:txBody>
          <a:bodyPr wrap="square" rtlCol="0">
            <a:spAutoFit/>
          </a:bodyPr>
          <a:lstStyle/>
          <a:p>
            <a:pPr algn="r" rtl="1"/>
            <a:r>
              <a:rPr lang="ar-EG" sz="5400" b="1" dirty="0">
                <a:solidFill>
                  <a:schemeClr val="bg1"/>
                </a:solidFill>
                <a:latin typeface="DIN Next LT Arabic Light" panose="020B0303020203050203" pitchFamily="34" charset="-78"/>
                <a:cs typeface="DIN Next LT Arabic Light" panose="020B0303020203050203" pitchFamily="34" charset="-78"/>
              </a:rPr>
              <a:t>المقــــدمة</a:t>
            </a:r>
            <a:endParaRPr lang="en-ID" sz="5400" b="1" dirty="0">
              <a:solidFill>
                <a:schemeClr val="bg1"/>
              </a:solidFill>
              <a:latin typeface="DIN Next LT Arabic Light" panose="020B0303020203050203" pitchFamily="34" charset="-78"/>
              <a:cs typeface="DIN Next LT Arabic Light" panose="020B0303020203050203" pitchFamily="34" charset="-78"/>
            </a:endParaRPr>
          </a:p>
        </p:txBody>
      </p:sp>
      <p:sp>
        <p:nvSpPr>
          <p:cNvPr id="11" name="Rectangle 10"/>
          <p:cNvSpPr/>
          <p:nvPr/>
        </p:nvSpPr>
        <p:spPr>
          <a:xfrm>
            <a:off x="399495" y="3429000"/>
            <a:ext cx="7272467" cy="3370666"/>
          </a:xfrm>
          <a:prstGeom prst="rect">
            <a:avLst/>
          </a:prstGeom>
        </p:spPr>
        <p:txBody>
          <a:bodyPr wrap="square">
            <a:spAutoFit/>
          </a:bodyPr>
          <a:lstStyle/>
          <a:p>
            <a:pPr algn="just" rtl="1">
              <a:lnSpc>
                <a:spcPct val="150000"/>
              </a:lnSpc>
            </a:pPr>
            <a:r>
              <a:rPr lang="ar-EG" sz="1600" dirty="0">
                <a:latin typeface="DIN Next LT Arabic Light" panose="020B0303020203050203" pitchFamily="34" charset="-78"/>
                <a:cs typeface="DIN Next LT Arabic Light" panose="020B0303020203050203" pitchFamily="34" charset="-78"/>
              </a:rPr>
              <a:t>يشهد الاقتصاد العالمي المعاصر تحولاً جذرياً نحو الرقمنة الشاملة، حيث أصبحت الحلول التكنولوجية الركيزة الأساسية لعصرنة المنظومات المالية والجبائية وتسهيل بيئة الأعمال. وضمن هذا التوجه، تسعى الجزائر جاهدة لتطوير مناخها الاستثماري من خلال تحفيز الفكر المقاولاتي ودعم نسيج المؤسسات المصغرة والمقاولين الذاتيين، والذين يواجهون غالباً تحديات معقدة في التعامل مع الالتزامات الضريبية والإدارية التقليدية. وفي هذا الصدد، تبرز منصة "</a:t>
            </a:r>
            <a:r>
              <a:rPr lang="fr-FR" sz="1600" dirty="0">
                <a:latin typeface="DIN Next LT Arabic Light" panose="020B0303020203050203" pitchFamily="34" charset="-78"/>
                <a:cs typeface="DIN Next LT Arabic Light" panose="020B0303020203050203" pitchFamily="34" charset="-78"/>
              </a:rPr>
              <a:t>MATAX" </a:t>
            </a:r>
            <a:r>
              <a:rPr lang="ar-EG" sz="1600" dirty="0">
                <a:latin typeface="DIN Next LT Arabic Light" panose="020B0303020203050203" pitchFamily="34" charset="-78"/>
                <a:cs typeface="DIN Next LT Arabic Light" panose="020B0303020203050203" pitchFamily="34" charset="-78"/>
              </a:rPr>
              <a:t>كابتكار تقني رائد في مجال التكنولوجيا الجبائية (</a:t>
            </a:r>
            <a:r>
              <a:rPr lang="fr-FR" sz="1600" dirty="0" err="1">
                <a:latin typeface="DIN Next LT Arabic Light" panose="020B0303020203050203" pitchFamily="34" charset="-78"/>
                <a:cs typeface="DIN Next LT Arabic Light" panose="020B0303020203050203" pitchFamily="34" charset="-78"/>
              </a:rPr>
              <a:t>TaxTech</a:t>
            </a:r>
            <a:r>
              <a:rPr lang="fr-FR" sz="1600" dirty="0">
                <a:latin typeface="DIN Next LT Arabic Light" panose="020B0303020203050203" pitchFamily="34" charset="-78"/>
                <a:cs typeface="DIN Next LT Arabic Light" panose="020B0303020203050203" pitchFamily="34" charset="-78"/>
              </a:rPr>
              <a:t>)، </a:t>
            </a:r>
            <a:r>
              <a:rPr lang="ar-EG" sz="1600" dirty="0">
                <a:latin typeface="DIN Next LT Arabic Light" panose="020B0303020203050203" pitchFamily="34" charset="-78"/>
                <a:cs typeface="DIN Next LT Arabic Light" panose="020B0303020203050203" pitchFamily="34" charset="-78"/>
              </a:rPr>
              <a:t>مصمم خصيصاً لتذليل تلك العقبات عبر أتمتة العمليات الحسابية وتوليد التصاريح الدورية مثل </a:t>
            </a:r>
            <a:r>
              <a:rPr lang="fr-FR" sz="1600" dirty="0">
                <a:latin typeface="DIN Next LT Arabic Light" panose="020B0303020203050203" pitchFamily="34" charset="-78"/>
                <a:cs typeface="DIN Next LT Arabic Light" panose="020B0303020203050203" pitchFamily="34" charset="-78"/>
              </a:rPr>
              <a:t>G50 </a:t>
            </a:r>
            <a:r>
              <a:rPr lang="ar-EG" sz="1600" dirty="0">
                <a:latin typeface="DIN Next LT Arabic Light" panose="020B0303020203050203" pitchFamily="34" charset="-78"/>
                <a:cs typeface="DIN Next LT Arabic Light" panose="020B0303020203050203" pitchFamily="34" charset="-78"/>
              </a:rPr>
              <a:t>بمرونة ودقة متناهية. ومن خلال تقديم واجهات سلسة ولوحات قيادية لحظية، تضمن المنصة حماية رواد الأعمال من مخاطر الأخطاء البشرية وغرامات التأخير، لتكون بذلك شريكاً استراتيجياً آمناً يعزز كفاءة التسيير ويدفع بعجلة التحول الرقمي للاقتصاد الوطني.</a:t>
            </a:r>
          </a:p>
        </p:txBody>
      </p:sp>
      <p:sp>
        <p:nvSpPr>
          <p:cNvPr id="14" name="Rectangle 13"/>
          <p:cNvSpPr/>
          <p:nvPr/>
        </p:nvSpPr>
        <p:spPr>
          <a:xfrm>
            <a:off x="8969115" y="6310858"/>
            <a:ext cx="3222885" cy="547142"/>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r-FR" dirty="0">
                <a:latin typeface="DIN Next LT Arabic Light" panose="020B0303020203050203" pitchFamily="34" charset="-78"/>
                <a:cs typeface="DIN Next LT Arabic Light" panose="020B0303020203050203" pitchFamily="34" charset="-78"/>
              </a:rPr>
              <a:t>MATAX</a:t>
            </a:r>
            <a:endParaRPr lang="en-ID" dirty="0">
              <a:latin typeface="DIN Next LT Arabic Light" panose="020B0303020203050203" pitchFamily="34" charset="-78"/>
              <a:cs typeface="DIN Next LT Arabic Light" panose="020B0303020203050203" pitchFamily="34" charset="-78"/>
            </a:endParaRPr>
          </a:p>
        </p:txBody>
      </p:sp>
      <p:pic>
        <p:nvPicPr>
          <p:cNvPr id="13" name="عنصر نائب للصورة 12" descr="صورة تحتوي على شخص, كتاب, مكتبة, رف&#10;&#10;تم إنشاء الوصف تلقائياً">
            <a:extLst>
              <a:ext uri="{FF2B5EF4-FFF2-40B4-BE49-F238E27FC236}">
                <a16:creationId xmlns:a16="http://schemas.microsoft.com/office/drawing/2014/main" id="{6A1B4B5A-FBDF-4266-8097-4B6184A776B7}"/>
              </a:ext>
            </a:extLst>
          </p:cNvPr>
          <p:cNvPicPr>
            <a:picLocks noGrp="1" noChangeAspect="1"/>
          </p:cNvPicPr>
          <p:nvPr>
            <p:ph type="pic" sz="quarter" idx="11"/>
          </p:nvPr>
        </p:nvPicPr>
        <p:blipFill rotWithShape="1">
          <a:blip r:embed="rId3">
            <a:extLst>
              <a:ext uri="{28A0092B-C50C-407E-A947-70E740481C1C}">
                <a14:useLocalDpi xmlns:a14="http://schemas.microsoft.com/office/drawing/2010/main" val="0"/>
              </a:ext>
            </a:extLst>
          </a:blip>
          <a:srcRect l="12379"/>
          <a:stretch/>
        </p:blipFill>
        <p:spPr>
          <a:xfrm>
            <a:off x="8770839" y="2307772"/>
            <a:ext cx="2322285" cy="2278743"/>
          </a:xfrm>
        </p:spPr>
      </p:pic>
    </p:spTree>
    <p:extLst>
      <p:ext uri="{BB962C8B-B14F-4D97-AF65-F5344CB8AC3E}">
        <p14:creationId xmlns:p14="http://schemas.microsoft.com/office/powerpoint/2010/main" val="72994762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511308" y="150627"/>
            <a:ext cx="4209369" cy="923330"/>
          </a:xfrm>
          <a:prstGeom prst="rect">
            <a:avLst/>
          </a:prstGeom>
          <a:noFill/>
        </p:spPr>
        <p:txBody>
          <a:bodyPr wrap="square" rtlCol="0" anchor="ctr">
            <a:spAutoFit/>
          </a:bodyPr>
          <a:lstStyle/>
          <a:p>
            <a:pPr algn="r" rtl="1"/>
            <a:r>
              <a:rPr lang="ar-DZ" sz="5400" b="1" dirty="0">
                <a:latin typeface="DIN Next LT Arabic Light" panose="020B0303020203050203" pitchFamily="34" charset="-78"/>
                <a:cs typeface="DIN Next LT Arabic Light" panose="020B0303020203050203" pitchFamily="34" charset="-78"/>
              </a:rPr>
              <a:t>تقديم المشروع</a:t>
            </a:r>
            <a:endParaRPr lang="ar-EG" sz="5400" b="1" dirty="0">
              <a:latin typeface="DIN Next LT Arabic Light" panose="020B0303020203050203" pitchFamily="34" charset="-78"/>
              <a:cs typeface="DIN Next LT Arabic Light" panose="020B0303020203050203" pitchFamily="34" charset="-78"/>
            </a:endParaRPr>
          </a:p>
        </p:txBody>
      </p:sp>
      <p:sp>
        <p:nvSpPr>
          <p:cNvPr id="3" name="Isosceles Triangle 5"/>
          <p:cNvSpPr/>
          <p:nvPr/>
        </p:nvSpPr>
        <p:spPr>
          <a:xfrm rot="1800000">
            <a:off x="965186" y="548525"/>
            <a:ext cx="4615734" cy="509753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57150">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pic>
        <p:nvPicPr>
          <p:cNvPr id="10" name="عنصر نائب للصورة 9">
            <a:extLst>
              <a:ext uri="{FF2B5EF4-FFF2-40B4-BE49-F238E27FC236}">
                <a16:creationId xmlns:a16="http://schemas.microsoft.com/office/drawing/2014/main" id="{145015BB-C35A-4F6E-877B-2DFE4515792E}"/>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val="0"/>
              </a:ext>
            </a:extLst>
          </a:blip>
          <a:srcRect l="106" t="218" r="50160" b="17427"/>
          <a:stretch/>
        </p:blipFill>
        <p:spPr>
          <a:xfrm>
            <a:off x="965200" y="893763"/>
            <a:ext cx="4616450" cy="5097462"/>
          </a:xfrm>
        </p:spPr>
      </p:pic>
      <p:sp>
        <p:nvSpPr>
          <p:cNvPr id="4" name="Isosceles Triangle 5"/>
          <p:cNvSpPr/>
          <p:nvPr/>
        </p:nvSpPr>
        <p:spPr>
          <a:xfrm rot="19800000">
            <a:off x="965186" y="548525"/>
            <a:ext cx="4615734" cy="509753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57150">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8" name="Rectangle 7"/>
          <p:cNvSpPr/>
          <p:nvPr/>
        </p:nvSpPr>
        <p:spPr>
          <a:xfrm>
            <a:off x="6720362" y="1073957"/>
            <a:ext cx="5000315" cy="4847994"/>
          </a:xfrm>
          <a:prstGeom prst="rect">
            <a:avLst/>
          </a:prstGeom>
        </p:spPr>
        <p:txBody>
          <a:bodyPr wrap="square">
            <a:spAutoFit/>
          </a:bodyPr>
          <a:lstStyle/>
          <a:p>
            <a:pPr algn="just" rtl="1">
              <a:lnSpc>
                <a:spcPct val="150000"/>
              </a:lnSpc>
            </a:pPr>
            <a:r>
              <a:rPr lang="ar-EG" sz="1600" dirty="0">
                <a:latin typeface="DIN Next LT Arabic Light" panose="020B0303020203050203" pitchFamily="34" charset="-78"/>
                <a:cs typeface="DIN Next LT Arabic Light" panose="020B0303020203050203" pitchFamily="34" charset="-78"/>
              </a:rPr>
              <a:t>يُعد مشروع </a:t>
            </a:r>
            <a:r>
              <a:rPr lang="fr-FR" sz="1600" dirty="0">
                <a:latin typeface="DIN Next LT Arabic Light" panose="020B0303020203050203" pitchFamily="34" charset="-78"/>
                <a:cs typeface="DIN Next LT Arabic Light" panose="020B0303020203050203" pitchFamily="34" charset="-78"/>
              </a:rPr>
              <a:t>MATAX </a:t>
            </a:r>
            <a:r>
              <a:rPr lang="ar-EG" sz="1600" dirty="0">
                <a:latin typeface="DIN Next LT Arabic Light" panose="020B0303020203050203" pitchFamily="34" charset="-78"/>
                <a:cs typeface="DIN Next LT Arabic Light" panose="020B0303020203050203" pitchFamily="34" charset="-78"/>
              </a:rPr>
              <a:t>منصة رقمية مبتكرة في مجال التكنولوجيا الجبائية</a:t>
            </a:r>
            <a:r>
              <a:rPr lang="fr-FR" sz="1600" dirty="0">
                <a:latin typeface="DIN Next LT Arabic Light" panose="020B0303020203050203" pitchFamily="34" charset="-78"/>
                <a:cs typeface="DIN Next LT Arabic Light" panose="020B0303020203050203" pitchFamily="34" charset="-78"/>
              </a:rPr>
              <a:t>، </a:t>
            </a:r>
            <a:r>
              <a:rPr lang="ar-EG" sz="1600" dirty="0">
                <a:latin typeface="DIN Next LT Arabic Light" panose="020B0303020203050203" pitchFamily="34" charset="-78"/>
                <a:cs typeface="DIN Next LT Arabic Light" panose="020B0303020203050203" pitchFamily="34" charset="-78"/>
              </a:rPr>
              <a:t>صُممت خصيصاً لتواكب ديناميكية التحول الرقمي وتلبي احتياجات بيئة المقاولاتية الحديثة في الجزائر. تنطلق المنصة من رؤية هندسية واضحة تهدف إلى فك تعقيدات الإجراءات الضريبية، وتذليل العقبات الإدارية التي تواجه المؤسسات الناشئة، المصغرة، والمقاولين الذاتيين في تسيير التزاماتهم المالية. وتعمل كمنظومة سحابية آمنة تقوم بأتمتة العمليات الحسابية وإعداد وتوليد التصاريح الدورية كـ </a:t>
            </a:r>
            <a:r>
              <a:rPr lang="fr-FR" sz="1600" dirty="0">
                <a:latin typeface="DIN Next LT Arabic Light" panose="020B0303020203050203" pitchFamily="34" charset="-78"/>
                <a:cs typeface="DIN Next LT Arabic Light" panose="020B0303020203050203" pitchFamily="34" charset="-78"/>
              </a:rPr>
              <a:t>G50 </a:t>
            </a:r>
            <a:r>
              <a:rPr lang="ar-EG" sz="1600" dirty="0">
                <a:latin typeface="DIN Next LT Arabic Light" panose="020B0303020203050203" pitchFamily="34" charset="-78"/>
                <a:cs typeface="DIN Next LT Arabic Light" panose="020B0303020203050203" pitchFamily="34" charset="-78"/>
              </a:rPr>
              <a:t>بدقة متناهية تقضي تماماً على مخاطر الأخطاء البشرية، مع توفير نظام تنبيهات استباقي للمواعيد القانونية وأرشفة إلكترونية مشفرة للملفات. وبفضل واجهاتها السلسة التي تتيح إدارة الجباية "بضغطة زر" دون الحاجة لخبرة محاسبية مسبقة، تقدم المنصة لوحات قيادية لحظية تضمن الامتثال الضريبي الكامل وتحمي رواد الأعمال من غرامات التأخير، لتكون بذلك شريكاً استراتيجياً يدعم استدامة المشاريع ويدفع بعجلة الاقتصاد الوطني نحو الرقمنة والحداثة.</a:t>
            </a:r>
          </a:p>
        </p:txBody>
      </p:sp>
      <p:sp>
        <p:nvSpPr>
          <p:cNvPr id="12" name="Rectangle 11"/>
          <p:cNvSpPr/>
          <p:nvPr/>
        </p:nvSpPr>
        <p:spPr>
          <a:xfrm>
            <a:off x="8969115" y="6310858"/>
            <a:ext cx="3222885" cy="547142"/>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r-FR" dirty="0">
                <a:latin typeface="DIN Next LT Arabic Light" panose="020B0303020203050203" pitchFamily="34" charset="-78"/>
                <a:cs typeface="DIN Next LT Arabic Light" panose="020B0303020203050203" pitchFamily="34" charset="-78"/>
              </a:rPr>
              <a:t>MATAX</a:t>
            </a:r>
            <a:endParaRPr lang="en-ID" dirty="0">
              <a:latin typeface="DIN Next LT Arabic Light" panose="020B0303020203050203" pitchFamily="34" charset="-78"/>
              <a:cs typeface="DIN Next LT Arabic Light" panose="020B0303020203050203" pitchFamily="34" charset="-78"/>
            </a:endParaRPr>
          </a:p>
        </p:txBody>
      </p:sp>
    </p:spTree>
    <p:extLst>
      <p:ext uri="{BB962C8B-B14F-4D97-AF65-F5344CB8AC3E}">
        <p14:creationId xmlns:p14="http://schemas.microsoft.com/office/powerpoint/2010/main" val="31998955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5"/>
          <p:cNvSpPr/>
          <p:nvPr/>
        </p:nvSpPr>
        <p:spPr>
          <a:xfrm rot="10800000">
            <a:off x="0" y="0"/>
            <a:ext cx="12192000" cy="3943350"/>
          </a:xfrm>
          <a:custGeom>
            <a:avLst/>
            <a:gdLst>
              <a:gd name="connsiteX0" fmla="*/ 0 w 12192000"/>
              <a:gd name="connsiteY0" fmla="*/ 0 h 3429000"/>
              <a:gd name="connsiteX1" fmla="*/ 12192000 w 12192000"/>
              <a:gd name="connsiteY1" fmla="*/ 0 h 3429000"/>
              <a:gd name="connsiteX2" fmla="*/ 12192000 w 12192000"/>
              <a:gd name="connsiteY2" fmla="*/ 3429000 h 3429000"/>
              <a:gd name="connsiteX3" fmla="*/ 0 w 12192000"/>
              <a:gd name="connsiteY3" fmla="*/ 3429000 h 3429000"/>
              <a:gd name="connsiteX4" fmla="*/ 0 w 12192000"/>
              <a:gd name="connsiteY4" fmla="*/ 0 h 3429000"/>
              <a:gd name="connsiteX0" fmla="*/ 0 w 12192000"/>
              <a:gd name="connsiteY0" fmla="*/ 18143 h 3447143"/>
              <a:gd name="connsiteX1" fmla="*/ 6487886 w 12192000"/>
              <a:gd name="connsiteY1" fmla="*/ 0 h 3447143"/>
              <a:gd name="connsiteX2" fmla="*/ 12192000 w 12192000"/>
              <a:gd name="connsiteY2" fmla="*/ 18143 h 3447143"/>
              <a:gd name="connsiteX3" fmla="*/ 12192000 w 12192000"/>
              <a:gd name="connsiteY3" fmla="*/ 3447143 h 3447143"/>
              <a:gd name="connsiteX4" fmla="*/ 0 w 12192000"/>
              <a:gd name="connsiteY4" fmla="*/ 3447143 h 3447143"/>
              <a:gd name="connsiteX5" fmla="*/ 0 w 12192000"/>
              <a:gd name="connsiteY5" fmla="*/ 18143 h 3447143"/>
              <a:gd name="connsiteX0" fmla="*/ 0 w 12192000"/>
              <a:gd name="connsiteY0" fmla="*/ 18143 h 3447143"/>
              <a:gd name="connsiteX1" fmla="*/ 3439886 w 12192000"/>
              <a:gd name="connsiteY1" fmla="*/ 1 h 3447143"/>
              <a:gd name="connsiteX2" fmla="*/ 6487886 w 12192000"/>
              <a:gd name="connsiteY2" fmla="*/ 0 h 3447143"/>
              <a:gd name="connsiteX3" fmla="*/ 12192000 w 12192000"/>
              <a:gd name="connsiteY3" fmla="*/ 18143 h 3447143"/>
              <a:gd name="connsiteX4" fmla="*/ 12192000 w 12192000"/>
              <a:gd name="connsiteY4" fmla="*/ 3447143 h 3447143"/>
              <a:gd name="connsiteX5" fmla="*/ 0 w 12192000"/>
              <a:gd name="connsiteY5" fmla="*/ 3447143 h 3447143"/>
              <a:gd name="connsiteX6" fmla="*/ 0 w 12192000"/>
              <a:gd name="connsiteY6" fmla="*/ 18143 h 3447143"/>
              <a:gd name="connsiteX0" fmla="*/ 0 w 12192000"/>
              <a:gd name="connsiteY0" fmla="*/ 18143 h 3447143"/>
              <a:gd name="connsiteX1" fmla="*/ 3439886 w 12192000"/>
              <a:gd name="connsiteY1" fmla="*/ 1 h 3447143"/>
              <a:gd name="connsiteX2" fmla="*/ 6487886 w 12192000"/>
              <a:gd name="connsiteY2" fmla="*/ 0 h 3447143"/>
              <a:gd name="connsiteX3" fmla="*/ 9347200 w 12192000"/>
              <a:gd name="connsiteY3" fmla="*/ 14515 h 3447143"/>
              <a:gd name="connsiteX4" fmla="*/ 12192000 w 12192000"/>
              <a:gd name="connsiteY4" fmla="*/ 18143 h 3447143"/>
              <a:gd name="connsiteX5" fmla="*/ 12192000 w 12192000"/>
              <a:gd name="connsiteY5" fmla="*/ 3447143 h 3447143"/>
              <a:gd name="connsiteX6" fmla="*/ 0 w 12192000"/>
              <a:gd name="connsiteY6" fmla="*/ 3447143 h 3447143"/>
              <a:gd name="connsiteX7" fmla="*/ 0 w 12192000"/>
              <a:gd name="connsiteY7" fmla="*/ 18143 h 3447143"/>
              <a:gd name="connsiteX0" fmla="*/ 0 w 12192000"/>
              <a:gd name="connsiteY0" fmla="*/ 254537 h 3683537"/>
              <a:gd name="connsiteX1" fmla="*/ 3439886 w 12192000"/>
              <a:gd name="connsiteY1" fmla="*/ 236395 h 3683537"/>
              <a:gd name="connsiteX2" fmla="*/ 6487886 w 12192000"/>
              <a:gd name="connsiteY2" fmla="*/ 236394 h 3683537"/>
              <a:gd name="connsiteX3" fmla="*/ 9347200 w 12192000"/>
              <a:gd name="connsiteY3" fmla="*/ 250909 h 3683537"/>
              <a:gd name="connsiteX4" fmla="*/ 12192000 w 12192000"/>
              <a:gd name="connsiteY4" fmla="*/ 254537 h 3683537"/>
              <a:gd name="connsiteX5" fmla="*/ 12192000 w 12192000"/>
              <a:gd name="connsiteY5" fmla="*/ 3683537 h 3683537"/>
              <a:gd name="connsiteX6" fmla="*/ 0 w 12192000"/>
              <a:gd name="connsiteY6" fmla="*/ 3683537 h 3683537"/>
              <a:gd name="connsiteX7" fmla="*/ 0 w 12192000"/>
              <a:gd name="connsiteY7" fmla="*/ 254537 h 3683537"/>
              <a:gd name="connsiteX0" fmla="*/ 0 w 12192000"/>
              <a:gd name="connsiteY0" fmla="*/ 254537 h 3683537"/>
              <a:gd name="connsiteX1" fmla="*/ 3439886 w 12192000"/>
              <a:gd name="connsiteY1" fmla="*/ 236395 h 3683537"/>
              <a:gd name="connsiteX2" fmla="*/ 6487886 w 12192000"/>
              <a:gd name="connsiteY2" fmla="*/ 236394 h 3683537"/>
              <a:gd name="connsiteX3" fmla="*/ 9347200 w 12192000"/>
              <a:gd name="connsiteY3" fmla="*/ 250909 h 3683537"/>
              <a:gd name="connsiteX4" fmla="*/ 12192000 w 12192000"/>
              <a:gd name="connsiteY4" fmla="*/ 254537 h 3683537"/>
              <a:gd name="connsiteX5" fmla="*/ 12192000 w 12192000"/>
              <a:gd name="connsiteY5" fmla="*/ 3683537 h 3683537"/>
              <a:gd name="connsiteX6" fmla="*/ 0 w 12192000"/>
              <a:gd name="connsiteY6" fmla="*/ 3683537 h 3683537"/>
              <a:gd name="connsiteX7" fmla="*/ 0 w 12192000"/>
              <a:gd name="connsiteY7" fmla="*/ 254537 h 3683537"/>
              <a:gd name="connsiteX0" fmla="*/ 0 w 12192000"/>
              <a:gd name="connsiteY0" fmla="*/ 285574 h 3714574"/>
              <a:gd name="connsiteX1" fmla="*/ 3439886 w 12192000"/>
              <a:gd name="connsiteY1" fmla="*/ 267432 h 3714574"/>
              <a:gd name="connsiteX2" fmla="*/ 6560458 w 12192000"/>
              <a:gd name="connsiteY2" fmla="*/ 1036688 h 3714574"/>
              <a:gd name="connsiteX3" fmla="*/ 9347200 w 12192000"/>
              <a:gd name="connsiteY3" fmla="*/ 281946 h 3714574"/>
              <a:gd name="connsiteX4" fmla="*/ 12192000 w 12192000"/>
              <a:gd name="connsiteY4" fmla="*/ 285574 h 3714574"/>
              <a:gd name="connsiteX5" fmla="*/ 12192000 w 12192000"/>
              <a:gd name="connsiteY5" fmla="*/ 3714574 h 3714574"/>
              <a:gd name="connsiteX6" fmla="*/ 0 w 12192000"/>
              <a:gd name="connsiteY6" fmla="*/ 3714574 h 3714574"/>
              <a:gd name="connsiteX7" fmla="*/ 0 w 12192000"/>
              <a:gd name="connsiteY7" fmla="*/ 285574 h 3714574"/>
              <a:gd name="connsiteX0" fmla="*/ 0 w 12192000"/>
              <a:gd name="connsiteY0" fmla="*/ 285574 h 3714574"/>
              <a:gd name="connsiteX1" fmla="*/ 3439886 w 12192000"/>
              <a:gd name="connsiteY1" fmla="*/ 267432 h 3714574"/>
              <a:gd name="connsiteX2" fmla="*/ 6560458 w 12192000"/>
              <a:gd name="connsiteY2" fmla="*/ 1036688 h 3714574"/>
              <a:gd name="connsiteX3" fmla="*/ 9347200 w 12192000"/>
              <a:gd name="connsiteY3" fmla="*/ 281946 h 3714574"/>
              <a:gd name="connsiteX4" fmla="*/ 12192000 w 12192000"/>
              <a:gd name="connsiteY4" fmla="*/ 285574 h 3714574"/>
              <a:gd name="connsiteX5" fmla="*/ 12192000 w 12192000"/>
              <a:gd name="connsiteY5" fmla="*/ 3714574 h 3714574"/>
              <a:gd name="connsiteX6" fmla="*/ 0 w 12192000"/>
              <a:gd name="connsiteY6" fmla="*/ 3714574 h 3714574"/>
              <a:gd name="connsiteX7" fmla="*/ 0 w 12192000"/>
              <a:gd name="connsiteY7" fmla="*/ 285574 h 3714574"/>
              <a:gd name="connsiteX0" fmla="*/ 0 w 12192000"/>
              <a:gd name="connsiteY0" fmla="*/ 285574 h 3714574"/>
              <a:gd name="connsiteX1" fmla="*/ 3439886 w 12192000"/>
              <a:gd name="connsiteY1" fmla="*/ 267432 h 3714574"/>
              <a:gd name="connsiteX2" fmla="*/ 6560458 w 12192000"/>
              <a:gd name="connsiteY2" fmla="*/ 1036688 h 3714574"/>
              <a:gd name="connsiteX3" fmla="*/ 9347200 w 12192000"/>
              <a:gd name="connsiteY3" fmla="*/ 281946 h 3714574"/>
              <a:gd name="connsiteX4" fmla="*/ 12192000 w 12192000"/>
              <a:gd name="connsiteY4" fmla="*/ 285574 h 3714574"/>
              <a:gd name="connsiteX5" fmla="*/ 12192000 w 12192000"/>
              <a:gd name="connsiteY5" fmla="*/ 3714574 h 3714574"/>
              <a:gd name="connsiteX6" fmla="*/ 0 w 12192000"/>
              <a:gd name="connsiteY6" fmla="*/ 3714574 h 3714574"/>
              <a:gd name="connsiteX7" fmla="*/ 0 w 12192000"/>
              <a:gd name="connsiteY7" fmla="*/ 285574 h 3714574"/>
              <a:gd name="connsiteX0" fmla="*/ 0 w 12192000"/>
              <a:gd name="connsiteY0" fmla="*/ 177836 h 3606836"/>
              <a:gd name="connsiteX1" fmla="*/ 3439886 w 12192000"/>
              <a:gd name="connsiteY1" fmla="*/ 159694 h 3606836"/>
              <a:gd name="connsiteX2" fmla="*/ 6560458 w 12192000"/>
              <a:gd name="connsiteY2" fmla="*/ 928950 h 3606836"/>
              <a:gd name="connsiteX3" fmla="*/ 9477828 w 12192000"/>
              <a:gd name="connsiteY3" fmla="*/ 711237 h 3606836"/>
              <a:gd name="connsiteX4" fmla="*/ 12192000 w 12192000"/>
              <a:gd name="connsiteY4" fmla="*/ 177836 h 3606836"/>
              <a:gd name="connsiteX5" fmla="*/ 12192000 w 12192000"/>
              <a:gd name="connsiteY5" fmla="*/ 3606836 h 3606836"/>
              <a:gd name="connsiteX6" fmla="*/ 0 w 12192000"/>
              <a:gd name="connsiteY6" fmla="*/ 3606836 h 3606836"/>
              <a:gd name="connsiteX7" fmla="*/ 0 w 12192000"/>
              <a:gd name="connsiteY7" fmla="*/ 177836 h 3606836"/>
              <a:gd name="connsiteX0" fmla="*/ 0 w 12192000"/>
              <a:gd name="connsiteY0" fmla="*/ 314690 h 3743690"/>
              <a:gd name="connsiteX1" fmla="*/ 3439886 w 12192000"/>
              <a:gd name="connsiteY1" fmla="*/ 296548 h 3743690"/>
              <a:gd name="connsiteX2" fmla="*/ 6560458 w 12192000"/>
              <a:gd name="connsiteY2" fmla="*/ 1065804 h 3743690"/>
              <a:gd name="connsiteX3" fmla="*/ 9477828 w 12192000"/>
              <a:gd name="connsiteY3" fmla="*/ 848091 h 3743690"/>
              <a:gd name="connsiteX4" fmla="*/ 12192000 w 12192000"/>
              <a:gd name="connsiteY4" fmla="*/ 314690 h 3743690"/>
              <a:gd name="connsiteX5" fmla="*/ 12192000 w 12192000"/>
              <a:gd name="connsiteY5" fmla="*/ 3743690 h 3743690"/>
              <a:gd name="connsiteX6" fmla="*/ 0 w 12192000"/>
              <a:gd name="connsiteY6" fmla="*/ 3743690 h 3743690"/>
              <a:gd name="connsiteX7" fmla="*/ 0 w 12192000"/>
              <a:gd name="connsiteY7" fmla="*/ 314690 h 3743690"/>
              <a:gd name="connsiteX0" fmla="*/ 0 w 12192000"/>
              <a:gd name="connsiteY0" fmla="*/ 245816 h 3674816"/>
              <a:gd name="connsiteX1" fmla="*/ 3439886 w 12192000"/>
              <a:gd name="connsiteY1" fmla="*/ 227674 h 3674816"/>
              <a:gd name="connsiteX2" fmla="*/ 6560458 w 12192000"/>
              <a:gd name="connsiteY2" fmla="*/ 996930 h 3674816"/>
              <a:gd name="connsiteX3" fmla="*/ 9477828 w 12192000"/>
              <a:gd name="connsiteY3" fmla="*/ 779217 h 3674816"/>
              <a:gd name="connsiteX4" fmla="*/ 12192000 w 12192000"/>
              <a:gd name="connsiteY4" fmla="*/ 245816 h 3674816"/>
              <a:gd name="connsiteX5" fmla="*/ 12192000 w 12192000"/>
              <a:gd name="connsiteY5" fmla="*/ 3674816 h 3674816"/>
              <a:gd name="connsiteX6" fmla="*/ 0 w 12192000"/>
              <a:gd name="connsiteY6" fmla="*/ 3674816 h 3674816"/>
              <a:gd name="connsiteX7" fmla="*/ 0 w 12192000"/>
              <a:gd name="connsiteY7" fmla="*/ 245816 h 3674816"/>
              <a:gd name="connsiteX0" fmla="*/ 0 w 12192000"/>
              <a:gd name="connsiteY0" fmla="*/ 371820 h 3800820"/>
              <a:gd name="connsiteX1" fmla="*/ 3439886 w 12192000"/>
              <a:gd name="connsiteY1" fmla="*/ 353678 h 3800820"/>
              <a:gd name="connsiteX2" fmla="*/ 6560458 w 12192000"/>
              <a:gd name="connsiteY2" fmla="*/ 1122934 h 3800820"/>
              <a:gd name="connsiteX3" fmla="*/ 9231085 w 12192000"/>
              <a:gd name="connsiteY3" fmla="*/ 498821 h 3800820"/>
              <a:gd name="connsiteX4" fmla="*/ 12192000 w 12192000"/>
              <a:gd name="connsiteY4" fmla="*/ 371820 h 3800820"/>
              <a:gd name="connsiteX5" fmla="*/ 12192000 w 12192000"/>
              <a:gd name="connsiteY5" fmla="*/ 3800820 h 3800820"/>
              <a:gd name="connsiteX6" fmla="*/ 0 w 12192000"/>
              <a:gd name="connsiteY6" fmla="*/ 3800820 h 3800820"/>
              <a:gd name="connsiteX7" fmla="*/ 0 w 12192000"/>
              <a:gd name="connsiteY7" fmla="*/ 371820 h 3800820"/>
              <a:gd name="connsiteX0" fmla="*/ 0 w 12192000"/>
              <a:gd name="connsiteY0" fmla="*/ 543494 h 3972494"/>
              <a:gd name="connsiteX1" fmla="*/ 3439886 w 12192000"/>
              <a:gd name="connsiteY1" fmla="*/ 525352 h 3972494"/>
              <a:gd name="connsiteX2" fmla="*/ 6560458 w 12192000"/>
              <a:gd name="connsiteY2" fmla="*/ 1294608 h 3972494"/>
              <a:gd name="connsiteX3" fmla="*/ 9231085 w 12192000"/>
              <a:gd name="connsiteY3" fmla="*/ 670495 h 3972494"/>
              <a:gd name="connsiteX4" fmla="*/ 12192000 w 12192000"/>
              <a:gd name="connsiteY4" fmla="*/ 543494 h 3972494"/>
              <a:gd name="connsiteX5" fmla="*/ 12192000 w 12192000"/>
              <a:gd name="connsiteY5" fmla="*/ 3972494 h 3972494"/>
              <a:gd name="connsiteX6" fmla="*/ 0 w 12192000"/>
              <a:gd name="connsiteY6" fmla="*/ 3972494 h 3972494"/>
              <a:gd name="connsiteX7" fmla="*/ 0 w 12192000"/>
              <a:gd name="connsiteY7" fmla="*/ 543494 h 3972494"/>
              <a:gd name="connsiteX0" fmla="*/ 0 w 12192000"/>
              <a:gd name="connsiteY0" fmla="*/ 543494 h 3972494"/>
              <a:gd name="connsiteX1" fmla="*/ 3439886 w 12192000"/>
              <a:gd name="connsiteY1" fmla="*/ 525352 h 3972494"/>
              <a:gd name="connsiteX2" fmla="*/ 6560458 w 12192000"/>
              <a:gd name="connsiteY2" fmla="*/ 1294608 h 3972494"/>
              <a:gd name="connsiteX3" fmla="*/ 9231085 w 12192000"/>
              <a:gd name="connsiteY3" fmla="*/ 670495 h 3972494"/>
              <a:gd name="connsiteX4" fmla="*/ 12192000 w 12192000"/>
              <a:gd name="connsiteY4" fmla="*/ 543494 h 3972494"/>
              <a:gd name="connsiteX5" fmla="*/ 12192000 w 12192000"/>
              <a:gd name="connsiteY5" fmla="*/ 3972494 h 3972494"/>
              <a:gd name="connsiteX6" fmla="*/ 0 w 12192000"/>
              <a:gd name="connsiteY6" fmla="*/ 3972494 h 3972494"/>
              <a:gd name="connsiteX7" fmla="*/ 0 w 12192000"/>
              <a:gd name="connsiteY7" fmla="*/ 543494 h 3972494"/>
              <a:gd name="connsiteX0" fmla="*/ 0 w 12192000"/>
              <a:gd name="connsiteY0" fmla="*/ 268767 h 3697767"/>
              <a:gd name="connsiteX1" fmla="*/ 3439886 w 12192000"/>
              <a:gd name="connsiteY1" fmla="*/ 250625 h 3697767"/>
              <a:gd name="connsiteX2" fmla="*/ 6574972 w 12192000"/>
              <a:gd name="connsiteY2" fmla="*/ 1542395 h 3697767"/>
              <a:gd name="connsiteX3" fmla="*/ 9231085 w 12192000"/>
              <a:gd name="connsiteY3" fmla="*/ 395768 h 3697767"/>
              <a:gd name="connsiteX4" fmla="*/ 12192000 w 12192000"/>
              <a:gd name="connsiteY4" fmla="*/ 268767 h 3697767"/>
              <a:gd name="connsiteX5" fmla="*/ 12192000 w 12192000"/>
              <a:gd name="connsiteY5" fmla="*/ 3697767 h 3697767"/>
              <a:gd name="connsiteX6" fmla="*/ 0 w 12192000"/>
              <a:gd name="connsiteY6" fmla="*/ 3697767 h 3697767"/>
              <a:gd name="connsiteX7" fmla="*/ 0 w 12192000"/>
              <a:gd name="connsiteY7" fmla="*/ 268767 h 3697767"/>
              <a:gd name="connsiteX0" fmla="*/ 0 w 12192000"/>
              <a:gd name="connsiteY0" fmla="*/ 619785 h 4048785"/>
              <a:gd name="connsiteX1" fmla="*/ 3439886 w 12192000"/>
              <a:gd name="connsiteY1" fmla="*/ 601643 h 4048785"/>
              <a:gd name="connsiteX2" fmla="*/ 6574972 w 12192000"/>
              <a:gd name="connsiteY2" fmla="*/ 1893413 h 4048785"/>
              <a:gd name="connsiteX3" fmla="*/ 9231085 w 12192000"/>
              <a:gd name="connsiteY3" fmla="*/ 746786 h 4048785"/>
              <a:gd name="connsiteX4" fmla="*/ 12192000 w 12192000"/>
              <a:gd name="connsiteY4" fmla="*/ 619785 h 4048785"/>
              <a:gd name="connsiteX5" fmla="*/ 12192000 w 12192000"/>
              <a:gd name="connsiteY5" fmla="*/ 4048785 h 4048785"/>
              <a:gd name="connsiteX6" fmla="*/ 0 w 12192000"/>
              <a:gd name="connsiteY6" fmla="*/ 4048785 h 4048785"/>
              <a:gd name="connsiteX7" fmla="*/ 0 w 12192000"/>
              <a:gd name="connsiteY7" fmla="*/ 619785 h 4048785"/>
              <a:gd name="connsiteX0" fmla="*/ 0 w 12192000"/>
              <a:gd name="connsiteY0" fmla="*/ 619785 h 4048785"/>
              <a:gd name="connsiteX1" fmla="*/ 3439886 w 12192000"/>
              <a:gd name="connsiteY1" fmla="*/ 601643 h 4048785"/>
              <a:gd name="connsiteX2" fmla="*/ 6574972 w 12192000"/>
              <a:gd name="connsiteY2" fmla="*/ 1893413 h 4048785"/>
              <a:gd name="connsiteX3" fmla="*/ 9231085 w 12192000"/>
              <a:gd name="connsiteY3" fmla="*/ 746786 h 4048785"/>
              <a:gd name="connsiteX4" fmla="*/ 12192000 w 12192000"/>
              <a:gd name="connsiteY4" fmla="*/ 619785 h 4048785"/>
              <a:gd name="connsiteX5" fmla="*/ 12192000 w 12192000"/>
              <a:gd name="connsiteY5" fmla="*/ 4048785 h 4048785"/>
              <a:gd name="connsiteX6" fmla="*/ 0 w 12192000"/>
              <a:gd name="connsiteY6" fmla="*/ 4048785 h 4048785"/>
              <a:gd name="connsiteX7" fmla="*/ 0 w 12192000"/>
              <a:gd name="connsiteY7" fmla="*/ 619785 h 4048785"/>
              <a:gd name="connsiteX0" fmla="*/ 0 w 12192000"/>
              <a:gd name="connsiteY0" fmla="*/ 619785 h 4048785"/>
              <a:gd name="connsiteX1" fmla="*/ 3135086 w 12192000"/>
              <a:gd name="connsiteY1" fmla="*/ 1428957 h 4048785"/>
              <a:gd name="connsiteX2" fmla="*/ 6574972 w 12192000"/>
              <a:gd name="connsiteY2" fmla="*/ 1893413 h 4048785"/>
              <a:gd name="connsiteX3" fmla="*/ 9231085 w 12192000"/>
              <a:gd name="connsiteY3" fmla="*/ 746786 h 4048785"/>
              <a:gd name="connsiteX4" fmla="*/ 12192000 w 12192000"/>
              <a:gd name="connsiteY4" fmla="*/ 619785 h 4048785"/>
              <a:gd name="connsiteX5" fmla="*/ 12192000 w 12192000"/>
              <a:gd name="connsiteY5" fmla="*/ 4048785 h 4048785"/>
              <a:gd name="connsiteX6" fmla="*/ 0 w 12192000"/>
              <a:gd name="connsiteY6" fmla="*/ 4048785 h 4048785"/>
              <a:gd name="connsiteX7" fmla="*/ 0 w 12192000"/>
              <a:gd name="connsiteY7" fmla="*/ 619785 h 4048785"/>
              <a:gd name="connsiteX0" fmla="*/ 0 w 12192000"/>
              <a:gd name="connsiteY0" fmla="*/ 619785 h 4048785"/>
              <a:gd name="connsiteX1" fmla="*/ 1524000 w 12192000"/>
              <a:gd name="connsiteY1" fmla="*/ 819357 h 4048785"/>
              <a:gd name="connsiteX2" fmla="*/ 3135086 w 12192000"/>
              <a:gd name="connsiteY2" fmla="*/ 1428957 h 4048785"/>
              <a:gd name="connsiteX3" fmla="*/ 6574972 w 12192000"/>
              <a:gd name="connsiteY3" fmla="*/ 1893413 h 4048785"/>
              <a:gd name="connsiteX4" fmla="*/ 9231085 w 12192000"/>
              <a:gd name="connsiteY4" fmla="*/ 746786 h 4048785"/>
              <a:gd name="connsiteX5" fmla="*/ 12192000 w 12192000"/>
              <a:gd name="connsiteY5" fmla="*/ 619785 h 4048785"/>
              <a:gd name="connsiteX6" fmla="*/ 12192000 w 12192000"/>
              <a:gd name="connsiteY6" fmla="*/ 4048785 h 4048785"/>
              <a:gd name="connsiteX7" fmla="*/ 0 w 12192000"/>
              <a:gd name="connsiteY7" fmla="*/ 4048785 h 4048785"/>
              <a:gd name="connsiteX8" fmla="*/ 0 w 12192000"/>
              <a:gd name="connsiteY8" fmla="*/ 619785 h 4048785"/>
              <a:gd name="connsiteX0" fmla="*/ 0 w 12192000"/>
              <a:gd name="connsiteY0" fmla="*/ 619785 h 4048785"/>
              <a:gd name="connsiteX1" fmla="*/ 1524000 w 12192000"/>
              <a:gd name="connsiteY1" fmla="*/ 819357 h 4048785"/>
              <a:gd name="connsiteX2" fmla="*/ 3135086 w 12192000"/>
              <a:gd name="connsiteY2" fmla="*/ 1428957 h 4048785"/>
              <a:gd name="connsiteX3" fmla="*/ 6574972 w 12192000"/>
              <a:gd name="connsiteY3" fmla="*/ 1893413 h 4048785"/>
              <a:gd name="connsiteX4" fmla="*/ 9231085 w 12192000"/>
              <a:gd name="connsiteY4" fmla="*/ 746786 h 4048785"/>
              <a:gd name="connsiteX5" fmla="*/ 12192000 w 12192000"/>
              <a:gd name="connsiteY5" fmla="*/ 619785 h 4048785"/>
              <a:gd name="connsiteX6" fmla="*/ 12192000 w 12192000"/>
              <a:gd name="connsiteY6" fmla="*/ 4048785 h 4048785"/>
              <a:gd name="connsiteX7" fmla="*/ 0 w 12192000"/>
              <a:gd name="connsiteY7" fmla="*/ 4048785 h 4048785"/>
              <a:gd name="connsiteX8" fmla="*/ 0 w 12192000"/>
              <a:gd name="connsiteY8" fmla="*/ 619785 h 4048785"/>
              <a:gd name="connsiteX0" fmla="*/ 0 w 12192000"/>
              <a:gd name="connsiteY0" fmla="*/ 619785 h 4048785"/>
              <a:gd name="connsiteX1" fmla="*/ 1524000 w 12192000"/>
              <a:gd name="connsiteY1" fmla="*/ 819357 h 4048785"/>
              <a:gd name="connsiteX2" fmla="*/ 3135086 w 12192000"/>
              <a:gd name="connsiteY2" fmla="*/ 1428957 h 4048785"/>
              <a:gd name="connsiteX3" fmla="*/ 4818743 w 12192000"/>
              <a:gd name="connsiteY3" fmla="*/ 1733757 h 4048785"/>
              <a:gd name="connsiteX4" fmla="*/ 6574972 w 12192000"/>
              <a:gd name="connsiteY4" fmla="*/ 1893413 h 4048785"/>
              <a:gd name="connsiteX5" fmla="*/ 9231085 w 12192000"/>
              <a:gd name="connsiteY5" fmla="*/ 746786 h 4048785"/>
              <a:gd name="connsiteX6" fmla="*/ 12192000 w 12192000"/>
              <a:gd name="connsiteY6" fmla="*/ 619785 h 4048785"/>
              <a:gd name="connsiteX7" fmla="*/ 12192000 w 12192000"/>
              <a:gd name="connsiteY7" fmla="*/ 4048785 h 4048785"/>
              <a:gd name="connsiteX8" fmla="*/ 0 w 12192000"/>
              <a:gd name="connsiteY8" fmla="*/ 4048785 h 4048785"/>
              <a:gd name="connsiteX9" fmla="*/ 0 w 12192000"/>
              <a:gd name="connsiteY9" fmla="*/ 619785 h 4048785"/>
              <a:gd name="connsiteX0" fmla="*/ 0 w 12192000"/>
              <a:gd name="connsiteY0" fmla="*/ 619785 h 4048785"/>
              <a:gd name="connsiteX1" fmla="*/ 1524000 w 12192000"/>
              <a:gd name="connsiteY1" fmla="*/ 819357 h 4048785"/>
              <a:gd name="connsiteX2" fmla="*/ 3135086 w 12192000"/>
              <a:gd name="connsiteY2" fmla="*/ 1428957 h 4048785"/>
              <a:gd name="connsiteX3" fmla="*/ 5065486 w 12192000"/>
              <a:gd name="connsiteY3" fmla="*/ 1051586 h 4048785"/>
              <a:gd name="connsiteX4" fmla="*/ 6574972 w 12192000"/>
              <a:gd name="connsiteY4" fmla="*/ 1893413 h 4048785"/>
              <a:gd name="connsiteX5" fmla="*/ 9231085 w 12192000"/>
              <a:gd name="connsiteY5" fmla="*/ 746786 h 4048785"/>
              <a:gd name="connsiteX6" fmla="*/ 12192000 w 12192000"/>
              <a:gd name="connsiteY6" fmla="*/ 619785 h 4048785"/>
              <a:gd name="connsiteX7" fmla="*/ 12192000 w 12192000"/>
              <a:gd name="connsiteY7" fmla="*/ 4048785 h 4048785"/>
              <a:gd name="connsiteX8" fmla="*/ 0 w 12192000"/>
              <a:gd name="connsiteY8" fmla="*/ 4048785 h 4048785"/>
              <a:gd name="connsiteX9" fmla="*/ 0 w 12192000"/>
              <a:gd name="connsiteY9" fmla="*/ 619785 h 4048785"/>
              <a:gd name="connsiteX0" fmla="*/ 0 w 12192000"/>
              <a:gd name="connsiteY0" fmla="*/ 242446 h 3671446"/>
              <a:gd name="connsiteX1" fmla="*/ 1524000 w 12192000"/>
              <a:gd name="connsiteY1" fmla="*/ 442018 h 3671446"/>
              <a:gd name="connsiteX2" fmla="*/ 3135086 w 12192000"/>
              <a:gd name="connsiteY2" fmla="*/ 1051618 h 3671446"/>
              <a:gd name="connsiteX3" fmla="*/ 5065486 w 12192000"/>
              <a:gd name="connsiteY3" fmla="*/ 674247 h 3671446"/>
              <a:gd name="connsiteX4" fmla="*/ 6574972 w 12192000"/>
              <a:gd name="connsiteY4" fmla="*/ 1516074 h 3671446"/>
              <a:gd name="connsiteX5" fmla="*/ 8548914 w 12192000"/>
              <a:gd name="connsiteY5" fmla="*/ 790361 h 3671446"/>
              <a:gd name="connsiteX6" fmla="*/ 9231085 w 12192000"/>
              <a:gd name="connsiteY6" fmla="*/ 369447 h 3671446"/>
              <a:gd name="connsiteX7" fmla="*/ 12192000 w 12192000"/>
              <a:gd name="connsiteY7" fmla="*/ 242446 h 3671446"/>
              <a:gd name="connsiteX8" fmla="*/ 12192000 w 12192000"/>
              <a:gd name="connsiteY8" fmla="*/ 3671446 h 3671446"/>
              <a:gd name="connsiteX9" fmla="*/ 0 w 12192000"/>
              <a:gd name="connsiteY9" fmla="*/ 3671446 h 3671446"/>
              <a:gd name="connsiteX10" fmla="*/ 0 w 12192000"/>
              <a:gd name="connsiteY10" fmla="*/ 242446 h 3671446"/>
              <a:gd name="connsiteX0" fmla="*/ 0 w 12192000"/>
              <a:gd name="connsiteY0" fmla="*/ 238591 h 3667591"/>
              <a:gd name="connsiteX1" fmla="*/ 1524000 w 12192000"/>
              <a:gd name="connsiteY1" fmla="*/ 438163 h 3667591"/>
              <a:gd name="connsiteX2" fmla="*/ 3135086 w 12192000"/>
              <a:gd name="connsiteY2" fmla="*/ 1047763 h 3667591"/>
              <a:gd name="connsiteX3" fmla="*/ 5065486 w 12192000"/>
              <a:gd name="connsiteY3" fmla="*/ 670392 h 3667591"/>
              <a:gd name="connsiteX4" fmla="*/ 6574972 w 12192000"/>
              <a:gd name="connsiteY4" fmla="*/ 1512219 h 3667591"/>
              <a:gd name="connsiteX5" fmla="*/ 7750628 w 12192000"/>
              <a:gd name="connsiteY5" fmla="*/ 670392 h 3667591"/>
              <a:gd name="connsiteX6" fmla="*/ 9231085 w 12192000"/>
              <a:gd name="connsiteY6" fmla="*/ 365592 h 3667591"/>
              <a:gd name="connsiteX7" fmla="*/ 12192000 w 12192000"/>
              <a:gd name="connsiteY7" fmla="*/ 238591 h 3667591"/>
              <a:gd name="connsiteX8" fmla="*/ 12192000 w 12192000"/>
              <a:gd name="connsiteY8" fmla="*/ 3667591 h 3667591"/>
              <a:gd name="connsiteX9" fmla="*/ 0 w 12192000"/>
              <a:gd name="connsiteY9" fmla="*/ 3667591 h 3667591"/>
              <a:gd name="connsiteX10" fmla="*/ 0 w 12192000"/>
              <a:gd name="connsiteY10" fmla="*/ 238591 h 3667591"/>
              <a:gd name="connsiteX0" fmla="*/ 0 w 12192000"/>
              <a:gd name="connsiteY0" fmla="*/ 297892 h 3726892"/>
              <a:gd name="connsiteX1" fmla="*/ 1524000 w 12192000"/>
              <a:gd name="connsiteY1" fmla="*/ 497464 h 3726892"/>
              <a:gd name="connsiteX2" fmla="*/ 3135086 w 12192000"/>
              <a:gd name="connsiteY2" fmla="*/ 1107064 h 3726892"/>
              <a:gd name="connsiteX3" fmla="*/ 5065486 w 12192000"/>
              <a:gd name="connsiteY3" fmla="*/ 729693 h 3726892"/>
              <a:gd name="connsiteX4" fmla="*/ 6574972 w 12192000"/>
              <a:gd name="connsiteY4" fmla="*/ 1571520 h 3726892"/>
              <a:gd name="connsiteX5" fmla="*/ 7750628 w 12192000"/>
              <a:gd name="connsiteY5" fmla="*/ 729693 h 3726892"/>
              <a:gd name="connsiteX6" fmla="*/ 9231085 w 12192000"/>
              <a:gd name="connsiteY6" fmla="*/ 424893 h 3726892"/>
              <a:gd name="connsiteX7" fmla="*/ 10305143 w 12192000"/>
              <a:gd name="connsiteY7" fmla="*/ 192663 h 3726892"/>
              <a:gd name="connsiteX8" fmla="*/ 12192000 w 12192000"/>
              <a:gd name="connsiteY8" fmla="*/ 297892 h 3726892"/>
              <a:gd name="connsiteX9" fmla="*/ 12192000 w 12192000"/>
              <a:gd name="connsiteY9" fmla="*/ 3726892 h 3726892"/>
              <a:gd name="connsiteX10" fmla="*/ 0 w 12192000"/>
              <a:gd name="connsiteY10" fmla="*/ 3726892 h 3726892"/>
              <a:gd name="connsiteX11" fmla="*/ 0 w 12192000"/>
              <a:gd name="connsiteY11" fmla="*/ 297892 h 3726892"/>
              <a:gd name="connsiteX0" fmla="*/ 0 w 12192000"/>
              <a:gd name="connsiteY0" fmla="*/ 745529 h 4174529"/>
              <a:gd name="connsiteX1" fmla="*/ 1524000 w 12192000"/>
              <a:gd name="connsiteY1" fmla="*/ 945101 h 4174529"/>
              <a:gd name="connsiteX2" fmla="*/ 3135086 w 12192000"/>
              <a:gd name="connsiteY2" fmla="*/ 1554701 h 4174529"/>
              <a:gd name="connsiteX3" fmla="*/ 5065486 w 12192000"/>
              <a:gd name="connsiteY3" fmla="*/ 1177330 h 4174529"/>
              <a:gd name="connsiteX4" fmla="*/ 6574972 w 12192000"/>
              <a:gd name="connsiteY4" fmla="*/ 2019157 h 4174529"/>
              <a:gd name="connsiteX5" fmla="*/ 7750628 w 12192000"/>
              <a:gd name="connsiteY5" fmla="*/ 1177330 h 4174529"/>
              <a:gd name="connsiteX6" fmla="*/ 9231085 w 12192000"/>
              <a:gd name="connsiteY6" fmla="*/ 872530 h 4174529"/>
              <a:gd name="connsiteX7" fmla="*/ 10305143 w 12192000"/>
              <a:gd name="connsiteY7" fmla="*/ 1672 h 4174529"/>
              <a:gd name="connsiteX8" fmla="*/ 12192000 w 12192000"/>
              <a:gd name="connsiteY8" fmla="*/ 745529 h 4174529"/>
              <a:gd name="connsiteX9" fmla="*/ 12192000 w 12192000"/>
              <a:gd name="connsiteY9" fmla="*/ 4174529 h 4174529"/>
              <a:gd name="connsiteX10" fmla="*/ 0 w 12192000"/>
              <a:gd name="connsiteY10" fmla="*/ 4174529 h 4174529"/>
              <a:gd name="connsiteX11" fmla="*/ 0 w 12192000"/>
              <a:gd name="connsiteY11" fmla="*/ 745529 h 41745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4174529">
                <a:moveTo>
                  <a:pt x="0" y="745529"/>
                </a:moveTo>
                <a:cubicBezTo>
                  <a:pt x="254000" y="207291"/>
                  <a:pt x="1001486" y="810239"/>
                  <a:pt x="1524000" y="945101"/>
                </a:cubicBezTo>
                <a:cubicBezTo>
                  <a:pt x="3207657" y="717106"/>
                  <a:pt x="2544838" y="1515996"/>
                  <a:pt x="3135086" y="1554701"/>
                </a:cubicBezTo>
                <a:cubicBezTo>
                  <a:pt x="3725334" y="1593406"/>
                  <a:pt x="4492172" y="1099921"/>
                  <a:pt x="5065486" y="1177330"/>
                </a:cubicBezTo>
                <a:cubicBezTo>
                  <a:pt x="5638800" y="1254739"/>
                  <a:pt x="6127448" y="2019157"/>
                  <a:pt x="6574972" y="2019157"/>
                </a:cubicBezTo>
                <a:cubicBezTo>
                  <a:pt x="7022496" y="2019157"/>
                  <a:pt x="7307942" y="1368435"/>
                  <a:pt x="7750628" y="1177330"/>
                </a:cubicBezTo>
                <a:cubicBezTo>
                  <a:pt x="8193314" y="986225"/>
                  <a:pt x="8805333" y="1068473"/>
                  <a:pt x="9231085" y="872530"/>
                </a:cubicBezTo>
                <a:cubicBezTo>
                  <a:pt x="9656838" y="676587"/>
                  <a:pt x="9811657" y="22839"/>
                  <a:pt x="10305143" y="1672"/>
                </a:cubicBezTo>
                <a:cubicBezTo>
                  <a:pt x="10798629" y="-19495"/>
                  <a:pt x="11877524" y="156491"/>
                  <a:pt x="12192000" y="745529"/>
                </a:cubicBezTo>
                <a:lnTo>
                  <a:pt x="12192000" y="4174529"/>
                </a:lnTo>
                <a:lnTo>
                  <a:pt x="0" y="4174529"/>
                </a:lnTo>
                <a:lnTo>
                  <a:pt x="0" y="745529"/>
                </a:lnTo>
                <a:close/>
              </a:path>
            </a:pathLst>
          </a:custGeom>
          <a:gradFill>
            <a:gsLst>
              <a:gs pos="70000">
                <a:schemeClr val="accent3"/>
              </a:gs>
              <a:gs pos="35000">
                <a:schemeClr val="accent2"/>
              </a:gs>
              <a:gs pos="0">
                <a:schemeClr val="accent1"/>
              </a:gs>
              <a:gs pos="100000">
                <a:schemeClr val="accent4"/>
              </a:gs>
            </a:gsLst>
            <a:lin ang="10800000" scaled="0"/>
          </a:gradFill>
          <a:ln w="381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pic>
        <p:nvPicPr>
          <p:cNvPr id="9" name="عنصر نائب للصورة 8" descr="صورة تحتوي على شخص, داخلي, كمبيوتر محمول, سيدة&#10;&#10;تم إنشاء الوصف تلقائياً">
            <a:extLst>
              <a:ext uri="{FF2B5EF4-FFF2-40B4-BE49-F238E27FC236}">
                <a16:creationId xmlns:a16="http://schemas.microsoft.com/office/drawing/2014/main" id="{B79DE213-1A86-4512-8D7B-2944AE76DC1C}"/>
              </a:ext>
            </a:extLst>
          </p:cNvPr>
          <p:cNvPicPr>
            <a:picLocks noGrp="1" noChangeAspect="1"/>
          </p:cNvPicPr>
          <p:nvPr>
            <p:ph type="pic" sz="quarter" idx="10"/>
          </p:nvPr>
        </p:nvPicPr>
        <p:blipFill rotWithShape="1">
          <a:blip r:embed="rId2" cstate="print">
            <a:extLst>
              <a:ext uri="{28A0092B-C50C-407E-A947-70E740481C1C}">
                <a14:useLocalDpi xmlns:a14="http://schemas.microsoft.com/office/drawing/2010/main" val="0"/>
              </a:ext>
            </a:extLst>
          </a:blip>
          <a:srcRect t="5103" b="49657"/>
          <a:stretch/>
        </p:blipFill>
        <p:spPr>
          <a:xfrm>
            <a:off x="0" y="1"/>
            <a:ext cx="12192000" cy="3677139"/>
          </a:xfrm>
        </p:spPr>
      </p:pic>
      <p:sp>
        <p:nvSpPr>
          <p:cNvPr id="5" name="TextBox 4"/>
          <p:cNvSpPr txBox="1"/>
          <p:nvPr/>
        </p:nvSpPr>
        <p:spPr>
          <a:xfrm>
            <a:off x="799475" y="580177"/>
            <a:ext cx="10593050" cy="923330"/>
          </a:xfrm>
          <a:prstGeom prst="rect">
            <a:avLst/>
          </a:prstGeom>
          <a:noFill/>
        </p:spPr>
        <p:txBody>
          <a:bodyPr wrap="square" rtlCol="0" anchor="ctr">
            <a:spAutoFit/>
          </a:bodyPr>
          <a:lstStyle/>
          <a:p>
            <a:pPr algn="ctr" rtl="1"/>
            <a:r>
              <a:rPr lang="ar-EG" sz="5400" b="1" dirty="0">
                <a:solidFill>
                  <a:schemeClr val="bg1"/>
                </a:solidFill>
                <a:latin typeface="DIN Next LT Arabic Light" panose="020B0303020203050203" pitchFamily="34" charset="-78"/>
                <a:cs typeface="DIN Next LT Arabic Light" panose="020B0303020203050203" pitchFamily="34" charset="-78"/>
              </a:rPr>
              <a:t>أعضاء فريق العمل على المشروع</a:t>
            </a:r>
            <a:endParaRPr lang="en-ID" sz="5400" b="1" dirty="0">
              <a:solidFill>
                <a:schemeClr val="bg1"/>
              </a:solidFill>
              <a:latin typeface="DIN Next LT Arabic Light" panose="020B0303020203050203" pitchFamily="34" charset="-78"/>
              <a:cs typeface="DIN Next LT Arabic Light" panose="020B0303020203050203" pitchFamily="34" charset="-78"/>
            </a:endParaRPr>
          </a:p>
        </p:txBody>
      </p:sp>
      <p:sp>
        <p:nvSpPr>
          <p:cNvPr id="10" name="Oval 9"/>
          <p:cNvSpPr/>
          <p:nvPr/>
        </p:nvSpPr>
        <p:spPr>
          <a:xfrm>
            <a:off x="5007183" y="2653259"/>
            <a:ext cx="2177634" cy="2317584"/>
          </a:xfrm>
          <a:custGeom>
            <a:avLst/>
            <a:gdLst>
              <a:gd name="connsiteX0" fmla="*/ 0 w 1905000"/>
              <a:gd name="connsiteY0" fmla="*/ 952500 h 1905000"/>
              <a:gd name="connsiteX1" fmla="*/ 952500 w 1905000"/>
              <a:gd name="connsiteY1" fmla="*/ 0 h 1905000"/>
              <a:gd name="connsiteX2" fmla="*/ 1905000 w 1905000"/>
              <a:gd name="connsiteY2" fmla="*/ 952500 h 1905000"/>
              <a:gd name="connsiteX3" fmla="*/ 952500 w 1905000"/>
              <a:gd name="connsiteY3" fmla="*/ 1905000 h 1905000"/>
              <a:gd name="connsiteX4" fmla="*/ 0 w 1905000"/>
              <a:gd name="connsiteY4" fmla="*/ 952500 h 1905000"/>
              <a:gd name="connsiteX0" fmla="*/ 0 w 1905000"/>
              <a:gd name="connsiteY0" fmla="*/ 1079599 h 2032099"/>
              <a:gd name="connsiteX1" fmla="*/ 952500 w 1905000"/>
              <a:gd name="connsiteY1" fmla="*/ 127099 h 2032099"/>
              <a:gd name="connsiteX2" fmla="*/ 1905000 w 1905000"/>
              <a:gd name="connsiteY2" fmla="*/ 1079599 h 2032099"/>
              <a:gd name="connsiteX3" fmla="*/ 952500 w 1905000"/>
              <a:gd name="connsiteY3" fmla="*/ 2032099 h 2032099"/>
              <a:gd name="connsiteX4" fmla="*/ 0 w 1905000"/>
              <a:gd name="connsiteY4" fmla="*/ 1079599 h 2032099"/>
              <a:gd name="connsiteX0" fmla="*/ 0 w 1905000"/>
              <a:gd name="connsiteY0" fmla="*/ 1079599 h 2032099"/>
              <a:gd name="connsiteX1" fmla="*/ 952500 w 1905000"/>
              <a:gd name="connsiteY1" fmla="*/ 127099 h 2032099"/>
              <a:gd name="connsiteX2" fmla="*/ 1905000 w 1905000"/>
              <a:gd name="connsiteY2" fmla="*/ 1079599 h 2032099"/>
              <a:gd name="connsiteX3" fmla="*/ 952500 w 1905000"/>
              <a:gd name="connsiteY3" fmla="*/ 2032099 h 2032099"/>
              <a:gd name="connsiteX4" fmla="*/ 0 w 1905000"/>
              <a:gd name="connsiteY4" fmla="*/ 1079599 h 2032099"/>
              <a:gd name="connsiteX0" fmla="*/ 0 w 1905000"/>
              <a:gd name="connsiteY0" fmla="*/ 1079599 h 2148221"/>
              <a:gd name="connsiteX1" fmla="*/ 952500 w 1905000"/>
              <a:gd name="connsiteY1" fmla="*/ 127099 h 2148221"/>
              <a:gd name="connsiteX2" fmla="*/ 1905000 w 1905000"/>
              <a:gd name="connsiteY2" fmla="*/ 1079599 h 2148221"/>
              <a:gd name="connsiteX3" fmla="*/ 952500 w 1905000"/>
              <a:gd name="connsiteY3" fmla="*/ 2032099 h 2148221"/>
              <a:gd name="connsiteX4" fmla="*/ 0 w 1905000"/>
              <a:gd name="connsiteY4" fmla="*/ 1079599 h 2148221"/>
              <a:gd name="connsiteX0" fmla="*/ 0 w 1905000"/>
              <a:gd name="connsiteY0" fmla="*/ 1079599 h 2137598"/>
              <a:gd name="connsiteX1" fmla="*/ 952500 w 1905000"/>
              <a:gd name="connsiteY1" fmla="*/ 127099 h 2137598"/>
              <a:gd name="connsiteX2" fmla="*/ 1905000 w 1905000"/>
              <a:gd name="connsiteY2" fmla="*/ 1079599 h 2137598"/>
              <a:gd name="connsiteX3" fmla="*/ 952500 w 1905000"/>
              <a:gd name="connsiteY3" fmla="*/ 2032099 h 2137598"/>
              <a:gd name="connsiteX4" fmla="*/ 0 w 1905000"/>
              <a:gd name="connsiteY4" fmla="*/ 1079599 h 2137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2137598">
                <a:moveTo>
                  <a:pt x="0" y="1079599"/>
                </a:moveTo>
                <a:cubicBezTo>
                  <a:pt x="0" y="553548"/>
                  <a:pt x="674099" y="584299"/>
                  <a:pt x="952500" y="127099"/>
                </a:cubicBezTo>
                <a:cubicBezTo>
                  <a:pt x="1230901" y="-330101"/>
                  <a:pt x="1905000" y="553548"/>
                  <a:pt x="1905000" y="1079599"/>
                </a:cubicBezTo>
                <a:cubicBezTo>
                  <a:pt x="1305394" y="1440758"/>
                  <a:pt x="1253699" y="2466814"/>
                  <a:pt x="952500" y="2032099"/>
                </a:cubicBezTo>
                <a:cubicBezTo>
                  <a:pt x="651301" y="1597384"/>
                  <a:pt x="0" y="1605650"/>
                  <a:pt x="0" y="1079599"/>
                </a:cubicBezTo>
                <a:close/>
              </a:path>
            </a:pathLst>
          </a:cu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3" name="Oval 9"/>
          <p:cNvSpPr/>
          <p:nvPr/>
        </p:nvSpPr>
        <p:spPr>
          <a:xfrm>
            <a:off x="8852316" y="3100340"/>
            <a:ext cx="2177634" cy="2317584"/>
          </a:xfrm>
          <a:custGeom>
            <a:avLst/>
            <a:gdLst>
              <a:gd name="connsiteX0" fmla="*/ 0 w 1905000"/>
              <a:gd name="connsiteY0" fmla="*/ 952500 h 1905000"/>
              <a:gd name="connsiteX1" fmla="*/ 952500 w 1905000"/>
              <a:gd name="connsiteY1" fmla="*/ 0 h 1905000"/>
              <a:gd name="connsiteX2" fmla="*/ 1905000 w 1905000"/>
              <a:gd name="connsiteY2" fmla="*/ 952500 h 1905000"/>
              <a:gd name="connsiteX3" fmla="*/ 952500 w 1905000"/>
              <a:gd name="connsiteY3" fmla="*/ 1905000 h 1905000"/>
              <a:gd name="connsiteX4" fmla="*/ 0 w 1905000"/>
              <a:gd name="connsiteY4" fmla="*/ 952500 h 1905000"/>
              <a:gd name="connsiteX0" fmla="*/ 0 w 1905000"/>
              <a:gd name="connsiteY0" fmla="*/ 1079599 h 2032099"/>
              <a:gd name="connsiteX1" fmla="*/ 952500 w 1905000"/>
              <a:gd name="connsiteY1" fmla="*/ 127099 h 2032099"/>
              <a:gd name="connsiteX2" fmla="*/ 1905000 w 1905000"/>
              <a:gd name="connsiteY2" fmla="*/ 1079599 h 2032099"/>
              <a:gd name="connsiteX3" fmla="*/ 952500 w 1905000"/>
              <a:gd name="connsiteY3" fmla="*/ 2032099 h 2032099"/>
              <a:gd name="connsiteX4" fmla="*/ 0 w 1905000"/>
              <a:gd name="connsiteY4" fmla="*/ 1079599 h 2032099"/>
              <a:gd name="connsiteX0" fmla="*/ 0 w 1905000"/>
              <a:gd name="connsiteY0" fmla="*/ 1079599 h 2032099"/>
              <a:gd name="connsiteX1" fmla="*/ 952500 w 1905000"/>
              <a:gd name="connsiteY1" fmla="*/ 127099 h 2032099"/>
              <a:gd name="connsiteX2" fmla="*/ 1905000 w 1905000"/>
              <a:gd name="connsiteY2" fmla="*/ 1079599 h 2032099"/>
              <a:gd name="connsiteX3" fmla="*/ 952500 w 1905000"/>
              <a:gd name="connsiteY3" fmla="*/ 2032099 h 2032099"/>
              <a:gd name="connsiteX4" fmla="*/ 0 w 1905000"/>
              <a:gd name="connsiteY4" fmla="*/ 1079599 h 2032099"/>
              <a:gd name="connsiteX0" fmla="*/ 0 w 1905000"/>
              <a:gd name="connsiteY0" fmla="*/ 1079599 h 2148221"/>
              <a:gd name="connsiteX1" fmla="*/ 952500 w 1905000"/>
              <a:gd name="connsiteY1" fmla="*/ 127099 h 2148221"/>
              <a:gd name="connsiteX2" fmla="*/ 1905000 w 1905000"/>
              <a:gd name="connsiteY2" fmla="*/ 1079599 h 2148221"/>
              <a:gd name="connsiteX3" fmla="*/ 952500 w 1905000"/>
              <a:gd name="connsiteY3" fmla="*/ 2032099 h 2148221"/>
              <a:gd name="connsiteX4" fmla="*/ 0 w 1905000"/>
              <a:gd name="connsiteY4" fmla="*/ 1079599 h 2148221"/>
              <a:gd name="connsiteX0" fmla="*/ 0 w 1905000"/>
              <a:gd name="connsiteY0" fmla="*/ 1079599 h 2137598"/>
              <a:gd name="connsiteX1" fmla="*/ 952500 w 1905000"/>
              <a:gd name="connsiteY1" fmla="*/ 127099 h 2137598"/>
              <a:gd name="connsiteX2" fmla="*/ 1905000 w 1905000"/>
              <a:gd name="connsiteY2" fmla="*/ 1079599 h 2137598"/>
              <a:gd name="connsiteX3" fmla="*/ 952500 w 1905000"/>
              <a:gd name="connsiteY3" fmla="*/ 2032099 h 2137598"/>
              <a:gd name="connsiteX4" fmla="*/ 0 w 1905000"/>
              <a:gd name="connsiteY4" fmla="*/ 1079599 h 2137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2137598">
                <a:moveTo>
                  <a:pt x="0" y="1079599"/>
                </a:moveTo>
                <a:cubicBezTo>
                  <a:pt x="0" y="553548"/>
                  <a:pt x="674099" y="584299"/>
                  <a:pt x="952500" y="127099"/>
                </a:cubicBezTo>
                <a:cubicBezTo>
                  <a:pt x="1230901" y="-330101"/>
                  <a:pt x="1905000" y="553548"/>
                  <a:pt x="1905000" y="1079599"/>
                </a:cubicBezTo>
                <a:cubicBezTo>
                  <a:pt x="1305394" y="1440758"/>
                  <a:pt x="1253699" y="2466814"/>
                  <a:pt x="952500" y="2032099"/>
                </a:cubicBezTo>
                <a:cubicBezTo>
                  <a:pt x="651301" y="1597384"/>
                  <a:pt x="0" y="1605650"/>
                  <a:pt x="0" y="1079599"/>
                </a:cubicBezTo>
                <a:close/>
              </a:path>
            </a:pathLst>
          </a:cu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6" name="Oval 9"/>
          <p:cNvSpPr/>
          <p:nvPr/>
        </p:nvSpPr>
        <p:spPr>
          <a:xfrm>
            <a:off x="1162050" y="3834853"/>
            <a:ext cx="2177634" cy="2317584"/>
          </a:xfrm>
          <a:custGeom>
            <a:avLst/>
            <a:gdLst>
              <a:gd name="connsiteX0" fmla="*/ 0 w 1905000"/>
              <a:gd name="connsiteY0" fmla="*/ 952500 h 1905000"/>
              <a:gd name="connsiteX1" fmla="*/ 952500 w 1905000"/>
              <a:gd name="connsiteY1" fmla="*/ 0 h 1905000"/>
              <a:gd name="connsiteX2" fmla="*/ 1905000 w 1905000"/>
              <a:gd name="connsiteY2" fmla="*/ 952500 h 1905000"/>
              <a:gd name="connsiteX3" fmla="*/ 952500 w 1905000"/>
              <a:gd name="connsiteY3" fmla="*/ 1905000 h 1905000"/>
              <a:gd name="connsiteX4" fmla="*/ 0 w 1905000"/>
              <a:gd name="connsiteY4" fmla="*/ 952500 h 1905000"/>
              <a:gd name="connsiteX0" fmla="*/ 0 w 1905000"/>
              <a:gd name="connsiteY0" fmla="*/ 1079599 h 2032099"/>
              <a:gd name="connsiteX1" fmla="*/ 952500 w 1905000"/>
              <a:gd name="connsiteY1" fmla="*/ 127099 h 2032099"/>
              <a:gd name="connsiteX2" fmla="*/ 1905000 w 1905000"/>
              <a:gd name="connsiteY2" fmla="*/ 1079599 h 2032099"/>
              <a:gd name="connsiteX3" fmla="*/ 952500 w 1905000"/>
              <a:gd name="connsiteY3" fmla="*/ 2032099 h 2032099"/>
              <a:gd name="connsiteX4" fmla="*/ 0 w 1905000"/>
              <a:gd name="connsiteY4" fmla="*/ 1079599 h 2032099"/>
              <a:gd name="connsiteX0" fmla="*/ 0 w 1905000"/>
              <a:gd name="connsiteY0" fmla="*/ 1079599 h 2032099"/>
              <a:gd name="connsiteX1" fmla="*/ 952500 w 1905000"/>
              <a:gd name="connsiteY1" fmla="*/ 127099 h 2032099"/>
              <a:gd name="connsiteX2" fmla="*/ 1905000 w 1905000"/>
              <a:gd name="connsiteY2" fmla="*/ 1079599 h 2032099"/>
              <a:gd name="connsiteX3" fmla="*/ 952500 w 1905000"/>
              <a:gd name="connsiteY3" fmla="*/ 2032099 h 2032099"/>
              <a:gd name="connsiteX4" fmla="*/ 0 w 1905000"/>
              <a:gd name="connsiteY4" fmla="*/ 1079599 h 2032099"/>
              <a:gd name="connsiteX0" fmla="*/ 0 w 1905000"/>
              <a:gd name="connsiteY0" fmla="*/ 1079599 h 2148221"/>
              <a:gd name="connsiteX1" fmla="*/ 952500 w 1905000"/>
              <a:gd name="connsiteY1" fmla="*/ 127099 h 2148221"/>
              <a:gd name="connsiteX2" fmla="*/ 1905000 w 1905000"/>
              <a:gd name="connsiteY2" fmla="*/ 1079599 h 2148221"/>
              <a:gd name="connsiteX3" fmla="*/ 952500 w 1905000"/>
              <a:gd name="connsiteY3" fmla="*/ 2032099 h 2148221"/>
              <a:gd name="connsiteX4" fmla="*/ 0 w 1905000"/>
              <a:gd name="connsiteY4" fmla="*/ 1079599 h 2148221"/>
              <a:gd name="connsiteX0" fmla="*/ 0 w 1905000"/>
              <a:gd name="connsiteY0" fmla="*/ 1079599 h 2137598"/>
              <a:gd name="connsiteX1" fmla="*/ 952500 w 1905000"/>
              <a:gd name="connsiteY1" fmla="*/ 127099 h 2137598"/>
              <a:gd name="connsiteX2" fmla="*/ 1905000 w 1905000"/>
              <a:gd name="connsiteY2" fmla="*/ 1079599 h 2137598"/>
              <a:gd name="connsiteX3" fmla="*/ 952500 w 1905000"/>
              <a:gd name="connsiteY3" fmla="*/ 2032099 h 2137598"/>
              <a:gd name="connsiteX4" fmla="*/ 0 w 1905000"/>
              <a:gd name="connsiteY4" fmla="*/ 1079599 h 213759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905000" h="2137598">
                <a:moveTo>
                  <a:pt x="0" y="1079599"/>
                </a:moveTo>
                <a:cubicBezTo>
                  <a:pt x="0" y="553548"/>
                  <a:pt x="674099" y="584299"/>
                  <a:pt x="952500" y="127099"/>
                </a:cubicBezTo>
                <a:cubicBezTo>
                  <a:pt x="1230901" y="-330101"/>
                  <a:pt x="1905000" y="553548"/>
                  <a:pt x="1905000" y="1079599"/>
                </a:cubicBezTo>
                <a:cubicBezTo>
                  <a:pt x="1305394" y="1440758"/>
                  <a:pt x="1253699" y="2466814"/>
                  <a:pt x="952500" y="2032099"/>
                </a:cubicBezTo>
                <a:cubicBezTo>
                  <a:pt x="651301" y="1597384"/>
                  <a:pt x="0" y="1605650"/>
                  <a:pt x="0" y="1079599"/>
                </a:cubicBezTo>
                <a:close/>
              </a:path>
            </a:pathLst>
          </a:cu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9" name="TextBox 18"/>
          <p:cNvSpPr txBox="1"/>
          <p:nvPr/>
        </p:nvSpPr>
        <p:spPr>
          <a:xfrm>
            <a:off x="8927306" y="5340129"/>
            <a:ext cx="2027654" cy="400110"/>
          </a:xfrm>
          <a:prstGeom prst="rect">
            <a:avLst/>
          </a:prstGeom>
          <a:noFill/>
        </p:spPr>
        <p:txBody>
          <a:bodyPr wrap="square" rtlCol="0" anchor="ctr">
            <a:spAutoFit/>
          </a:bodyPr>
          <a:lstStyle/>
          <a:p>
            <a:pPr algn="ctr" rtl="1"/>
            <a:r>
              <a:rPr lang="ar-DZ" sz="2000" dirty="0">
                <a:latin typeface="DIN Next LT Arabic Light" panose="020B0303020203050203" pitchFamily="34" charset="-78"/>
                <a:cs typeface="DIN Next LT Arabic Light" panose="020B0303020203050203" pitchFamily="34" charset="-78"/>
              </a:rPr>
              <a:t>بلعباس مختار</a:t>
            </a:r>
            <a:endParaRPr lang="en-ID" sz="2000" dirty="0">
              <a:latin typeface="DIN Next LT Arabic Light" panose="020B0303020203050203" pitchFamily="34" charset="-78"/>
              <a:cs typeface="DIN Next LT Arabic Light" panose="020B0303020203050203" pitchFamily="34" charset="-78"/>
            </a:endParaRPr>
          </a:p>
        </p:txBody>
      </p:sp>
      <p:sp>
        <p:nvSpPr>
          <p:cNvPr id="20" name="TextBox 19"/>
          <p:cNvSpPr txBox="1"/>
          <p:nvPr/>
        </p:nvSpPr>
        <p:spPr>
          <a:xfrm>
            <a:off x="8927306" y="5716959"/>
            <a:ext cx="2027654" cy="338554"/>
          </a:xfrm>
          <a:prstGeom prst="rect">
            <a:avLst/>
          </a:prstGeom>
          <a:noFill/>
        </p:spPr>
        <p:txBody>
          <a:bodyPr wrap="square" rtlCol="0" anchor="ctr">
            <a:spAutoFit/>
          </a:bodyPr>
          <a:lstStyle/>
          <a:p>
            <a:pPr algn="ctr" rtl="1"/>
            <a:r>
              <a:rPr lang="ar-DZ" sz="1600" dirty="0">
                <a:latin typeface="DIN Next LT Arabic Light" panose="020B0303020203050203" pitchFamily="34" charset="-78"/>
                <a:cs typeface="DIN Next LT Arabic Light" panose="020B0303020203050203" pitchFamily="34" charset="-78"/>
              </a:rPr>
              <a:t>مشرف على مشروع</a:t>
            </a:r>
            <a:endParaRPr lang="en-ID" sz="1600" dirty="0">
              <a:latin typeface="DIN Next LT Arabic Light" panose="020B0303020203050203" pitchFamily="34" charset="-78"/>
              <a:cs typeface="DIN Next LT Arabic Light" panose="020B0303020203050203" pitchFamily="34" charset="-78"/>
            </a:endParaRPr>
          </a:p>
        </p:txBody>
      </p:sp>
      <p:sp>
        <p:nvSpPr>
          <p:cNvPr id="21" name="TextBox 20"/>
          <p:cNvSpPr txBox="1"/>
          <p:nvPr/>
        </p:nvSpPr>
        <p:spPr>
          <a:xfrm>
            <a:off x="2740428" y="5682498"/>
            <a:ext cx="2027654" cy="369332"/>
          </a:xfrm>
          <a:prstGeom prst="rect">
            <a:avLst/>
          </a:prstGeom>
          <a:noFill/>
        </p:spPr>
        <p:txBody>
          <a:bodyPr wrap="square" rtlCol="0" anchor="ctr">
            <a:spAutoFit/>
          </a:bodyPr>
          <a:lstStyle/>
          <a:p>
            <a:pPr algn="r" rtl="1"/>
            <a:r>
              <a:rPr lang="ar-SA" b="1" dirty="0"/>
              <a:t>حموم اكرام</a:t>
            </a:r>
            <a:endParaRPr lang="en-ID" sz="2000" dirty="0">
              <a:latin typeface="DIN Next LT Arabic Light" panose="020B0303020203050203" pitchFamily="34" charset="-78"/>
              <a:cs typeface="DIN Next LT Arabic Light" panose="020B0303020203050203" pitchFamily="34" charset="-78"/>
            </a:endParaRPr>
          </a:p>
        </p:txBody>
      </p:sp>
      <p:sp>
        <p:nvSpPr>
          <p:cNvPr id="22" name="TextBox 21"/>
          <p:cNvSpPr txBox="1"/>
          <p:nvPr/>
        </p:nvSpPr>
        <p:spPr>
          <a:xfrm>
            <a:off x="2740428" y="6043939"/>
            <a:ext cx="2027654" cy="338554"/>
          </a:xfrm>
          <a:prstGeom prst="rect">
            <a:avLst/>
          </a:prstGeom>
          <a:noFill/>
        </p:spPr>
        <p:txBody>
          <a:bodyPr wrap="square" rtlCol="0" anchor="ctr">
            <a:spAutoFit/>
          </a:bodyPr>
          <a:lstStyle/>
          <a:p>
            <a:pPr algn="r" rtl="1"/>
            <a:r>
              <a:rPr lang="ar-DZ" sz="1600" dirty="0">
                <a:latin typeface="DIN Next LT Arabic Light" panose="020B0303020203050203" pitchFamily="34" charset="-78"/>
                <a:cs typeface="DIN Next LT Arabic Light" panose="020B0303020203050203" pitchFamily="34" charset="-78"/>
              </a:rPr>
              <a:t>صاحبة مشروع</a:t>
            </a:r>
            <a:endParaRPr lang="en-ID" sz="1600" dirty="0">
              <a:latin typeface="DIN Next LT Arabic Light" panose="020B0303020203050203" pitchFamily="34" charset="-78"/>
              <a:cs typeface="DIN Next LT Arabic Light" panose="020B0303020203050203" pitchFamily="34" charset="-78"/>
            </a:endParaRPr>
          </a:p>
        </p:txBody>
      </p:sp>
      <p:sp>
        <p:nvSpPr>
          <p:cNvPr id="23" name="TextBox 22"/>
          <p:cNvSpPr txBox="1"/>
          <p:nvPr/>
        </p:nvSpPr>
        <p:spPr>
          <a:xfrm>
            <a:off x="5082173" y="4890245"/>
            <a:ext cx="2027654" cy="400110"/>
          </a:xfrm>
          <a:prstGeom prst="rect">
            <a:avLst/>
          </a:prstGeom>
          <a:noFill/>
        </p:spPr>
        <p:txBody>
          <a:bodyPr wrap="square" rtlCol="0" anchor="ctr">
            <a:spAutoFit/>
          </a:bodyPr>
          <a:lstStyle/>
          <a:p>
            <a:pPr algn="ctr" rtl="1"/>
            <a:r>
              <a:rPr lang="ar-EG" sz="2000" dirty="0">
                <a:latin typeface="DIN Next LT Arabic Light" panose="020B0303020203050203" pitchFamily="34" charset="-78"/>
                <a:cs typeface="DIN Next LT Arabic Light" panose="020B0303020203050203" pitchFamily="34" charset="-78"/>
              </a:rPr>
              <a:t>مفتاح فاطمة </a:t>
            </a:r>
            <a:endParaRPr lang="en-ID" sz="2000" dirty="0">
              <a:latin typeface="DIN Next LT Arabic Light" panose="020B0303020203050203" pitchFamily="34" charset="-78"/>
              <a:cs typeface="DIN Next LT Arabic Light" panose="020B0303020203050203" pitchFamily="34" charset="-78"/>
            </a:endParaRPr>
          </a:p>
        </p:txBody>
      </p:sp>
      <p:sp>
        <p:nvSpPr>
          <p:cNvPr id="24" name="TextBox 23"/>
          <p:cNvSpPr txBox="1"/>
          <p:nvPr/>
        </p:nvSpPr>
        <p:spPr>
          <a:xfrm>
            <a:off x="5082173" y="5267075"/>
            <a:ext cx="2027654" cy="338554"/>
          </a:xfrm>
          <a:prstGeom prst="rect">
            <a:avLst/>
          </a:prstGeom>
          <a:noFill/>
        </p:spPr>
        <p:txBody>
          <a:bodyPr wrap="square" rtlCol="0" anchor="ctr">
            <a:spAutoFit/>
          </a:bodyPr>
          <a:lstStyle/>
          <a:p>
            <a:pPr algn="ctr" rtl="1"/>
            <a:r>
              <a:rPr lang="ar-DZ" sz="1600" dirty="0">
                <a:latin typeface="DIN Next LT Arabic Light" panose="020B0303020203050203" pitchFamily="34" charset="-78"/>
                <a:cs typeface="DIN Next LT Arabic Light" panose="020B0303020203050203" pitchFamily="34" charset="-78"/>
              </a:rPr>
              <a:t>مشرفة على مشروع</a:t>
            </a:r>
            <a:endParaRPr lang="en-ID" sz="1600" dirty="0">
              <a:latin typeface="DIN Next LT Arabic Light" panose="020B0303020203050203" pitchFamily="34" charset="-78"/>
              <a:cs typeface="DIN Next LT Arabic Light" panose="020B0303020203050203" pitchFamily="34" charset="-78"/>
            </a:endParaRPr>
          </a:p>
        </p:txBody>
      </p:sp>
      <p:sp>
        <p:nvSpPr>
          <p:cNvPr id="27" name="Rectangle 26"/>
          <p:cNvSpPr/>
          <p:nvPr/>
        </p:nvSpPr>
        <p:spPr>
          <a:xfrm>
            <a:off x="8969115" y="6310858"/>
            <a:ext cx="3222885" cy="547142"/>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dirty="0">
                <a:latin typeface="DIN Next LT Arabic Light" panose="020B0303020203050203" pitchFamily="34" charset="-78"/>
                <a:cs typeface="DIN Next LT Arabic Light" panose="020B0303020203050203" pitchFamily="34" charset="-78"/>
              </a:rPr>
              <a:t>فريق العمل</a:t>
            </a:r>
            <a:endParaRPr lang="en-ID" dirty="0">
              <a:latin typeface="DIN Next LT Arabic Light" panose="020B0303020203050203" pitchFamily="34" charset="-78"/>
              <a:cs typeface="DIN Next LT Arabic Light" panose="020B0303020203050203" pitchFamily="34" charset="-78"/>
            </a:endParaRPr>
          </a:p>
        </p:txBody>
      </p:sp>
      <p:sp>
        <p:nvSpPr>
          <p:cNvPr id="4" name="Picture Placeholder 3">
            <a:extLst>
              <a:ext uri="{FF2B5EF4-FFF2-40B4-BE49-F238E27FC236}">
                <a16:creationId xmlns:a16="http://schemas.microsoft.com/office/drawing/2014/main" id="{4C198D97-2975-F758-EE6A-0B331127D440}"/>
              </a:ext>
            </a:extLst>
          </p:cNvPr>
          <p:cNvSpPr>
            <a:spLocks noGrp="1"/>
          </p:cNvSpPr>
          <p:nvPr>
            <p:ph type="pic" sz="quarter" idx="13"/>
          </p:nvPr>
        </p:nvSpPr>
        <p:spPr/>
      </p:sp>
      <p:sp>
        <p:nvSpPr>
          <p:cNvPr id="7" name="Picture Placeholder 6">
            <a:extLst>
              <a:ext uri="{FF2B5EF4-FFF2-40B4-BE49-F238E27FC236}">
                <a16:creationId xmlns:a16="http://schemas.microsoft.com/office/drawing/2014/main" id="{0A925C8F-DF88-9224-8AC6-F7D7BB9650CD}"/>
              </a:ext>
            </a:extLst>
          </p:cNvPr>
          <p:cNvSpPr>
            <a:spLocks noGrp="1"/>
          </p:cNvSpPr>
          <p:nvPr>
            <p:ph type="pic" sz="quarter" idx="12"/>
          </p:nvPr>
        </p:nvSpPr>
        <p:spPr/>
      </p:sp>
      <p:sp>
        <p:nvSpPr>
          <p:cNvPr id="11" name="Picture Placeholder 10">
            <a:extLst>
              <a:ext uri="{FF2B5EF4-FFF2-40B4-BE49-F238E27FC236}">
                <a16:creationId xmlns:a16="http://schemas.microsoft.com/office/drawing/2014/main" id="{39816109-078C-7AFC-A1B5-5824C9C4A9D0}"/>
              </a:ext>
            </a:extLst>
          </p:cNvPr>
          <p:cNvSpPr>
            <a:spLocks noGrp="1"/>
          </p:cNvSpPr>
          <p:nvPr>
            <p:ph type="pic" sz="quarter" idx="11"/>
          </p:nvPr>
        </p:nvSpPr>
        <p:spPr/>
      </p:sp>
    </p:spTree>
    <p:extLst>
      <p:ext uri="{BB962C8B-B14F-4D97-AF65-F5344CB8AC3E}">
        <p14:creationId xmlns:p14="http://schemas.microsoft.com/office/powerpoint/2010/main" val="338341760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9140" y="742046"/>
            <a:ext cx="9573720" cy="707886"/>
          </a:xfrm>
          <a:prstGeom prst="rect">
            <a:avLst/>
          </a:prstGeom>
          <a:noFill/>
        </p:spPr>
        <p:txBody>
          <a:bodyPr wrap="square" rtlCol="0" anchor="ctr">
            <a:spAutoFit/>
          </a:bodyPr>
          <a:lstStyle/>
          <a:p>
            <a:pPr algn="ctr" rtl="1"/>
            <a:r>
              <a:rPr lang="ar-DZ" sz="4000" b="1" dirty="0">
                <a:latin typeface="DIN Next LT Arabic Light" panose="020B0303020203050203" pitchFamily="34" charset="-78"/>
                <a:cs typeface="DIN Next LT Arabic Light" panose="020B0303020203050203" pitchFamily="34" charset="-78"/>
              </a:rPr>
              <a:t>المشاكل التي يعلجها المشروع</a:t>
            </a:r>
            <a:endParaRPr lang="en-ID" sz="4000" b="1" dirty="0">
              <a:latin typeface="DIN Next LT Arabic Light" panose="020B0303020203050203" pitchFamily="34" charset="-78"/>
              <a:cs typeface="DIN Next LT Arabic Light" panose="020B0303020203050203" pitchFamily="34" charset="-78"/>
            </a:endParaRPr>
          </a:p>
        </p:txBody>
      </p:sp>
      <p:sp>
        <p:nvSpPr>
          <p:cNvPr id="33" name="Oval 32"/>
          <p:cNvSpPr/>
          <p:nvPr/>
        </p:nvSpPr>
        <p:spPr>
          <a:xfrm>
            <a:off x="8904217" y="3741576"/>
            <a:ext cx="2293257" cy="2293257"/>
          </a:xfrm>
          <a:prstGeom prst="ellipse">
            <a:avLst/>
          </a:prstGeom>
          <a:solidFill>
            <a:schemeClr val="accent4"/>
          </a:solidFill>
          <a:ln>
            <a:noFill/>
          </a:ln>
          <a:scene3d>
            <a:camera prst="isometricOffAxis1Top"/>
            <a:lightRig rig="threePt" dir="t"/>
          </a:scene3d>
          <a:sp3d extrusionH="6223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4" name="Oval 33"/>
          <p:cNvSpPr/>
          <p:nvPr/>
        </p:nvSpPr>
        <p:spPr>
          <a:xfrm>
            <a:off x="8904183" y="2834433"/>
            <a:ext cx="2293257" cy="2293257"/>
          </a:xfrm>
          <a:prstGeom prst="ellipse">
            <a:avLst/>
          </a:prstGeom>
          <a:solidFill>
            <a:schemeClr val="accent3"/>
          </a:solidFill>
          <a:ln>
            <a:noFill/>
          </a:ln>
          <a:scene3d>
            <a:camera prst="isometricOffAxis1Top"/>
            <a:lightRig rig="threePt" dir="t"/>
          </a:scene3d>
          <a:sp3d extrusionH="6223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5" name="Oval 34"/>
          <p:cNvSpPr/>
          <p:nvPr/>
        </p:nvSpPr>
        <p:spPr>
          <a:xfrm>
            <a:off x="8904149" y="1927290"/>
            <a:ext cx="2293257" cy="2293257"/>
          </a:xfrm>
          <a:prstGeom prst="ellipse">
            <a:avLst/>
          </a:prstGeom>
          <a:solidFill>
            <a:schemeClr val="accent2"/>
          </a:solidFill>
          <a:ln>
            <a:noFill/>
          </a:ln>
          <a:scene3d>
            <a:camera prst="isometricOffAxis1Top"/>
            <a:lightRig rig="threePt" dir="t"/>
          </a:scene3d>
          <a:sp3d extrusionH="6223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6" name="Oval 35"/>
          <p:cNvSpPr/>
          <p:nvPr/>
        </p:nvSpPr>
        <p:spPr>
          <a:xfrm>
            <a:off x="8904115" y="1020147"/>
            <a:ext cx="2293257" cy="2293257"/>
          </a:xfrm>
          <a:prstGeom prst="ellipse">
            <a:avLst/>
          </a:prstGeom>
          <a:ln>
            <a:noFill/>
          </a:ln>
          <a:scene3d>
            <a:camera prst="isometricOffAxis1Top"/>
            <a:lightRig rig="threePt" dir="t"/>
          </a:scene3d>
          <a:sp3d extrusionH="62230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7" name="TextBox 36"/>
          <p:cNvSpPr txBox="1"/>
          <p:nvPr/>
        </p:nvSpPr>
        <p:spPr>
          <a:xfrm>
            <a:off x="9540577" y="2528025"/>
            <a:ext cx="1020332" cy="523220"/>
          </a:xfrm>
          <a:prstGeom prst="rect">
            <a:avLst/>
          </a:prstGeom>
          <a:noFill/>
        </p:spPr>
        <p:txBody>
          <a:bodyPr wrap="square" rtlCol="0">
            <a:spAutoFit/>
          </a:bodyPr>
          <a:lstStyle/>
          <a:p>
            <a:pPr algn="ctr" rtl="1"/>
            <a:r>
              <a:rPr lang="en-ID" sz="2800" b="1" dirty="0">
                <a:solidFill>
                  <a:schemeClr val="bg1"/>
                </a:solidFill>
                <a:latin typeface="DIN Next LT Arabic Light" panose="020B0303020203050203" pitchFamily="34" charset="-78"/>
                <a:cs typeface="DIN Next LT Arabic Light" panose="020B0303020203050203" pitchFamily="34" charset="-78"/>
              </a:rPr>
              <a:t>01</a:t>
            </a:r>
          </a:p>
        </p:txBody>
      </p:sp>
      <p:sp>
        <p:nvSpPr>
          <p:cNvPr id="38" name="TextBox 37"/>
          <p:cNvSpPr txBox="1"/>
          <p:nvPr/>
        </p:nvSpPr>
        <p:spPr>
          <a:xfrm>
            <a:off x="9540577" y="3457309"/>
            <a:ext cx="1020332" cy="523220"/>
          </a:xfrm>
          <a:prstGeom prst="rect">
            <a:avLst/>
          </a:prstGeom>
          <a:noFill/>
        </p:spPr>
        <p:txBody>
          <a:bodyPr wrap="square" rtlCol="0">
            <a:spAutoFit/>
          </a:bodyPr>
          <a:lstStyle/>
          <a:p>
            <a:pPr algn="ctr" rtl="1"/>
            <a:r>
              <a:rPr lang="en-ID" sz="2800" b="1" dirty="0">
                <a:solidFill>
                  <a:schemeClr val="bg1"/>
                </a:solidFill>
                <a:latin typeface="DIN Next LT Arabic Light" panose="020B0303020203050203" pitchFamily="34" charset="-78"/>
                <a:cs typeface="DIN Next LT Arabic Light" panose="020B0303020203050203" pitchFamily="34" charset="-78"/>
              </a:rPr>
              <a:t>02</a:t>
            </a:r>
          </a:p>
        </p:txBody>
      </p:sp>
      <p:sp>
        <p:nvSpPr>
          <p:cNvPr id="39" name="TextBox 38"/>
          <p:cNvSpPr txBox="1"/>
          <p:nvPr/>
        </p:nvSpPr>
        <p:spPr>
          <a:xfrm>
            <a:off x="9540577" y="4342311"/>
            <a:ext cx="1020332" cy="523220"/>
          </a:xfrm>
          <a:prstGeom prst="rect">
            <a:avLst/>
          </a:prstGeom>
          <a:noFill/>
        </p:spPr>
        <p:txBody>
          <a:bodyPr wrap="square" rtlCol="0">
            <a:spAutoFit/>
          </a:bodyPr>
          <a:lstStyle/>
          <a:p>
            <a:pPr algn="ctr" rtl="1"/>
            <a:r>
              <a:rPr lang="en-ID" sz="2800" b="1" dirty="0">
                <a:solidFill>
                  <a:schemeClr val="bg1"/>
                </a:solidFill>
                <a:latin typeface="DIN Next LT Arabic Light" panose="020B0303020203050203" pitchFamily="34" charset="-78"/>
                <a:cs typeface="DIN Next LT Arabic Light" panose="020B0303020203050203" pitchFamily="34" charset="-78"/>
              </a:rPr>
              <a:t>03</a:t>
            </a:r>
          </a:p>
        </p:txBody>
      </p:sp>
      <p:sp>
        <p:nvSpPr>
          <p:cNvPr id="40" name="TextBox 39"/>
          <p:cNvSpPr txBox="1"/>
          <p:nvPr/>
        </p:nvSpPr>
        <p:spPr>
          <a:xfrm>
            <a:off x="9540577" y="5319651"/>
            <a:ext cx="1020332" cy="523220"/>
          </a:xfrm>
          <a:prstGeom prst="rect">
            <a:avLst/>
          </a:prstGeom>
          <a:noFill/>
        </p:spPr>
        <p:txBody>
          <a:bodyPr wrap="square" rtlCol="0">
            <a:spAutoFit/>
          </a:bodyPr>
          <a:lstStyle/>
          <a:p>
            <a:pPr algn="ctr" rtl="1"/>
            <a:r>
              <a:rPr lang="en-ID" sz="2800" b="1" dirty="0">
                <a:solidFill>
                  <a:schemeClr val="bg1"/>
                </a:solidFill>
                <a:latin typeface="DIN Next LT Arabic Light" panose="020B0303020203050203" pitchFamily="34" charset="-78"/>
                <a:cs typeface="DIN Next LT Arabic Light" panose="020B0303020203050203" pitchFamily="34" charset="-78"/>
              </a:rPr>
              <a:t>04</a:t>
            </a:r>
          </a:p>
        </p:txBody>
      </p:sp>
      <p:sp>
        <p:nvSpPr>
          <p:cNvPr id="41" name="TextBox 40"/>
          <p:cNvSpPr txBox="1"/>
          <p:nvPr/>
        </p:nvSpPr>
        <p:spPr>
          <a:xfrm>
            <a:off x="6096000" y="1717158"/>
            <a:ext cx="2216216" cy="400110"/>
          </a:xfrm>
          <a:prstGeom prst="rect">
            <a:avLst/>
          </a:prstGeom>
          <a:noFill/>
        </p:spPr>
        <p:txBody>
          <a:bodyPr wrap="square" rtlCol="0">
            <a:spAutoFit/>
          </a:bodyPr>
          <a:lstStyle/>
          <a:p>
            <a:pPr algn="r" rtl="1"/>
            <a:r>
              <a:rPr lang="ar-EG" sz="2000" b="1" dirty="0">
                <a:solidFill>
                  <a:schemeClr val="accent1"/>
                </a:solidFill>
                <a:latin typeface="DIN Next LT Arabic Light" panose="020B0303020203050203" pitchFamily="34" charset="-78"/>
                <a:cs typeface="DIN Next LT Arabic Light" panose="020B0303020203050203" pitchFamily="34" charset="-78"/>
              </a:rPr>
              <a:t>تعقيد التشريعات الجبائية</a:t>
            </a:r>
            <a:endParaRPr lang="en-ID" sz="2000" b="1" dirty="0">
              <a:solidFill>
                <a:schemeClr val="accent1"/>
              </a:solidFill>
              <a:latin typeface="DIN Next LT Arabic Light" panose="020B0303020203050203" pitchFamily="34" charset="-78"/>
              <a:cs typeface="DIN Next LT Arabic Light" panose="020B0303020203050203" pitchFamily="34" charset="-78"/>
            </a:endParaRPr>
          </a:p>
        </p:txBody>
      </p:sp>
      <p:sp>
        <p:nvSpPr>
          <p:cNvPr id="42" name="TextBox 41"/>
          <p:cNvSpPr txBox="1"/>
          <p:nvPr/>
        </p:nvSpPr>
        <p:spPr>
          <a:xfrm>
            <a:off x="1487452" y="1986611"/>
            <a:ext cx="6824866" cy="697435"/>
          </a:xfrm>
          <a:prstGeom prst="rect">
            <a:avLst/>
          </a:prstGeom>
          <a:noFill/>
        </p:spPr>
        <p:txBody>
          <a:bodyPr wrap="square" rtlCol="0">
            <a:spAutoFit/>
          </a:bodyPr>
          <a:lstStyle/>
          <a:p>
            <a:pPr algn="just" rtl="1">
              <a:lnSpc>
                <a:spcPct val="150000"/>
              </a:lnSpc>
            </a:pPr>
            <a:r>
              <a:rPr lang="ar-EG" sz="1400" dirty="0">
                <a:latin typeface="DIN Next LT Arabic Light" panose="020B0303020203050203" pitchFamily="34" charset="-78"/>
                <a:cs typeface="DIN Next LT Arabic Light" panose="020B0303020203050203" pitchFamily="34" charset="-78"/>
              </a:rPr>
              <a:t>صعوبة استيعاب القوانين المالية السنوية وتداخل الإجراءات الإدارية، ممّا يخلق حاجزاً وهجساً كبيراً لرواد الأعمال في فهم التزاماتهم الحقيقية تجاه مصلحة الضرائب.</a:t>
            </a:r>
            <a:endParaRPr lang="en-ID" sz="1400" dirty="0">
              <a:latin typeface="DIN Next LT Arabic Light" panose="020B0303020203050203" pitchFamily="34" charset="-78"/>
              <a:cs typeface="DIN Next LT Arabic Light" panose="020B0303020203050203" pitchFamily="34" charset="-78"/>
            </a:endParaRPr>
          </a:p>
        </p:txBody>
      </p:sp>
      <p:sp>
        <p:nvSpPr>
          <p:cNvPr id="43" name="TextBox 42"/>
          <p:cNvSpPr txBox="1"/>
          <p:nvPr/>
        </p:nvSpPr>
        <p:spPr>
          <a:xfrm>
            <a:off x="4998129" y="2851190"/>
            <a:ext cx="3314088" cy="400110"/>
          </a:xfrm>
          <a:prstGeom prst="rect">
            <a:avLst/>
          </a:prstGeom>
          <a:noFill/>
        </p:spPr>
        <p:txBody>
          <a:bodyPr wrap="square" rtlCol="0">
            <a:spAutoFit/>
          </a:bodyPr>
          <a:lstStyle/>
          <a:p>
            <a:pPr algn="r" rtl="1"/>
            <a:r>
              <a:rPr lang="ar-EG" sz="2000" b="1" dirty="0">
                <a:solidFill>
                  <a:schemeClr val="accent2"/>
                </a:solidFill>
                <a:latin typeface="DIN Next LT Arabic Light" panose="020B0303020203050203" pitchFamily="34" charset="-78"/>
                <a:cs typeface="DIN Next LT Arabic Light" panose="020B0303020203050203" pitchFamily="34" charset="-78"/>
              </a:rPr>
              <a:t>مخاطر الأخطاء البشرية في الحسابات</a:t>
            </a:r>
          </a:p>
        </p:txBody>
      </p:sp>
      <p:sp>
        <p:nvSpPr>
          <p:cNvPr id="44" name="TextBox 43"/>
          <p:cNvSpPr txBox="1"/>
          <p:nvPr/>
        </p:nvSpPr>
        <p:spPr>
          <a:xfrm>
            <a:off x="1487452" y="3120643"/>
            <a:ext cx="6824866" cy="696088"/>
          </a:xfrm>
          <a:prstGeom prst="rect">
            <a:avLst/>
          </a:prstGeom>
          <a:noFill/>
        </p:spPr>
        <p:txBody>
          <a:bodyPr wrap="square" rtlCol="0">
            <a:spAutoFit/>
          </a:bodyPr>
          <a:lstStyle/>
          <a:p>
            <a:pPr algn="just" rtl="1">
              <a:lnSpc>
                <a:spcPct val="150000"/>
              </a:lnSpc>
            </a:pPr>
            <a:r>
              <a:rPr lang="ar-EG" sz="1400" dirty="0">
                <a:latin typeface="DIN Next LT Arabic Light" panose="020B0303020203050203" pitchFamily="34" charset="-78"/>
                <a:cs typeface="DIN Next LT Arabic Light" panose="020B0303020203050203" pitchFamily="34" charset="-78"/>
              </a:rPr>
              <a:t>الاعتماد على الطرق التقليدية أو التعبئة اليدوية للتصاريح الدورية (مثل تصريح </a:t>
            </a:r>
            <a:r>
              <a:rPr lang="fr-FR" sz="1400" dirty="0">
                <a:latin typeface="DIN Next LT Arabic Light" panose="020B0303020203050203" pitchFamily="34" charset="-78"/>
                <a:cs typeface="DIN Next LT Arabic Light" panose="020B0303020203050203" pitchFamily="34" charset="-78"/>
              </a:rPr>
              <a:t>G50)، </a:t>
            </a:r>
            <a:r>
              <a:rPr lang="ar-EG" sz="1400" dirty="0">
                <a:latin typeface="DIN Next LT Arabic Light" panose="020B0303020203050203" pitchFamily="34" charset="-78"/>
                <a:cs typeface="DIN Next LT Arabic Light" panose="020B0303020203050203" pitchFamily="34" charset="-78"/>
              </a:rPr>
              <a:t>مما يرفع نسبة الخطأ المحاسبي الذي يترتب عنه نزاعات جبائية معقدة مع الإدارة.</a:t>
            </a:r>
            <a:endParaRPr lang="en-ID" sz="1400" dirty="0">
              <a:latin typeface="DIN Next LT Arabic Light" panose="020B0303020203050203" pitchFamily="34" charset="-78"/>
              <a:cs typeface="DIN Next LT Arabic Light" panose="020B0303020203050203" pitchFamily="34" charset="-78"/>
            </a:endParaRPr>
          </a:p>
        </p:txBody>
      </p:sp>
      <p:sp>
        <p:nvSpPr>
          <p:cNvPr id="45" name="TextBox 44"/>
          <p:cNvSpPr txBox="1"/>
          <p:nvPr/>
        </p:nvSpPr>
        <p:spPr>
          <a:xfrm>
            <a:off x="5131293" y="3985222"/>
            <a:ext cx="3180923" cy="400110"/>
          </a:xfrm>
          <a:prstGeom prst="rect">
            <a:avLst/>
          </a:prstGeom>
          <a:noFill/>
        </p:spPr>
        <p:txBody>
          <a:bodyPr wrap="square" rtlCol="0">
            <a:spAutoFit/>
          </a:bodyPr>
          <a:lstStyle/>
          <a:p>
            <a:pPr algn="r" rtl="1"/>
            <a:r>
              <a:rPr lang="ar-EG" sz="2000" b="1" dirty="0">
                <a:solidFill>
                  <a:schemeClr val="accent3"/>
                </a:solidFill>
                <a:latin typeface="DIN Next LT Arabic Light" panose="020B0303020203050203" pitchFamily="34" charset="-78"/>
                <a:cs typeface="DIN Next LT Arabic Light" panose="020B0303020203050203" pitchFamily="34" charset="-78"/>
              </a:rPr>
              <a:t>الوقوع في غرامات التأخير المالي</a:t>
            </a:r>
          </a:p>
        </p:txBody>
      </p:sp>
      <p:sp>
        <p:nvSpPr>
          <p:cNvPr id="46" name="TextBox 45"/>
          <p:cNvSpPr txBox="1"/>
          <p:nvPr/>
        </p:nvSpPr>
        <p:spPr>
          <a:xfrm>
            <a:off x="1487452" y="4254675"/>
            <a:ext cx="6824866" cy="696088"/>
          </a:xfrm>
          <a:prstGeom prst="rect">
            <a:avLst/>
          </a:prstGeom>
          <a:noFill/>
        </p:spPr>
        <p:txBody>
          <a:bodyPr wrap="square" rtlCol="0">
            <a:spAutoFit/>
          </a:bodyPr>
          <a:lstStyle/>
          <a:p>
            <a:pPr algn="just" rtl="1">
              <a:lnSpc>
                <a:spcPct val="150000"/>
              </a:lnSpc>
            </a:pPr>
            <a:r>
              <a:rPr lang="ar-EG" sz="1400" dirty="0">
                <a:latin typeface="DIN Next LT Arabic Light" panose="020B0303020203050203" pitchFamily="34" charset="-78"/>
                <a:cs typeface="DIN Next LT Arabic Light" panose="020B0303020203050203" pitchFamily="34" charset="-78"/>
              </a:rPr>
              <a:t>غياب نظام متابعة وتنبيه ذكي واستباقي يذكّر أصحاب المشاريع بالمواعيد القانونية المحددة لدفع المستحقات، ممّا يؤدي لتراكم العقوبات المالية المرهقة لميزانياتهم.</a:t>
            </a:r>
            <a:endParaRPr lang="en-ID" sz="1400" dirty="0">
              <a:latin typeface="DIN Next LT Arabic Light" panose="020B0303020203050203" pitchFamily="34" charset="-78"/>
              <a:cs typeface="DIN Next LT Arabic Light" panose="020B0303020203050203" pitchFamily="34" charset="-78"/>
            </a:endParaRPr>
          </a:p>
        </p:txBody>
      </p:sp>
      <p:sp>
        <p:nvSpPr>
          <p:cNvPr id="47" name="TextBox 46"/>
          <p:cNvSpPr txBox="1"/>
          <p:nvPr/>
        </p:nvSpPr>
        <p:spPr>
          <a:xfrm>
            <a:off x="3622089" y="5119254"/>
            <a:ext cx="4690127" cy="400110"/>
          </a:xfrm>
          <a:prstGeom prst="rect">
            <a:avLst/>
          </a:prstGeom>
          <a:noFill/>
        </p:spPr>
        <p:txBody>
          <a:bodyPr wrap="square" rtlCol="0">
            <a:spAutoFit/>
          </a:bodyPr>
          <a:lstStyle/>
          <a:p>
            <a:pPr algn="r" rtl="1"/>
            <a:r>
              <a:rPr lang="ar-EG" sz="2000" b="1" dirty="0">
                <a:solidFill>
                  <a:schemeClr val="accent4"/>
                </a:solidFill>
                <a:latin typeface="DIN Next LT Arabic Light" panose="020B0303020203050203" pitchFamily="34" charset="-78"/>
                <a:cs typeface="DIN Next LT Arabic Light" panose="020B0303020203050203" pitchFamily="34" charset="-78"/>
              </a:rPr>
              <a:t>التكاليف الباهظة للحلول التقليدية وهشاشة الأرشفة</a:t>
            </a:r>
          </a:p>
        </p:txBody>
      </p:sp>
      <p:sp>
        <p:nvSpPr>
          <p:cNvPr id="48" name="TextBox 47"/>
          <p:cNvSpPr txBox="1"/>
          <p:nvPr/>
        </p:nvSpPr>
        <p:spPr>
          <a:xfrm>
            <a:off x="1487452" y="5388707"/>
            <a:ext cx="6824866" cy="696088"/>
          </a:xfrm>
          <a:prstGeom prst="rect">
            <a:avLst/>
          </a:prstGeom>
          <a:noFill/>
        </p:spPr>
        <p:txBody>
          <a:bodyPr wrap="square" rtlCol="0">
            <a:spAutoFit/>
          </a:bodyPr>
          <a:lstStyle/>
          <a:p>
            <a:pPr algn="just" rtl="1">
              <a:lnSpc>
                <a:spcPct val="150000"/>
              </a:lnSpc>
            </a:pPr>
            <a:r>
              <a:rPr lang="ar-EG" sz="1400" dirty="0">
                <a:latin typeface="DIN Next LT Arabic Light" panose="020B0303020203050203" pitchFamily="34" charset="-78"/>
                <a:cs typeface="DIN Next LT Arabic Light" panose="020B0303020203050203" pitchFamily="34" charset="-78"/>
              </a:rPr>
              <a:t>الارتفاع المستمر لأعباء التعاقد مع مكاتب المحاسبة الكلاسيكية مقارنة بميزانية الشركات الناشئة، بالتوازي مع مخاطر ضياع وتلف المستندات الورقية بسبب غياب التخزين السحابي الآمن.</a:t>
            </a:r>
            <a:endParaRPr lang="en-ID" sz="1400" dirty="0">
              <a:latin typeface="DIN Next LT Arabic Light" panose="020B0303020203050203" pitchFamily="34" charset="-78"/>
              <a:cs typeface="DIN Next LT Arabic Light" panose="020B0303020203050203" pitchFamily="34" charset="-78"/>
            </a:endParaRPr>
          </a:p>
        </p:txBody>
      </p:sp>
      <p:sp>
        <p:nvSpPr>
          <p:cNvPr id="19" name="Rectangle 18"/>
          <p:cNvSpPr/>
          <p:nvPr/>
        </p:nvSpPr>
        <p:spPr>
          <a:xfrm>
            <a:off x="0" y="0"/>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r-FR" dirty="0">
                <a:latin typeface="DIN Next LT Arabic Light" panose="020B0303020203050203" pitchFamily="34" charset="-78"/>
                <a:cs typeface="DIN Next LT Arabic Light" panose="020B0303020203050203" pitchFamily="34" charset="-78"/>
              </a:rPr>
              <a:t>MATAX</a:t>
            </a:r>
            <a:endParaRPr lang="en-ID" dirty="0">
              <a:latin typeface="DIN Next LT Arabic Light" panose="020B0303020203050203" pitchFamily="34" charset="-78"/>
              <a:cs typeface="DIN Next LT Arabic Light" panose="020B0303020203050203" pitchFamily="34" charset="-78"/>
            </a:endParaRPr>
          </a:p>
        </p:txBody>
      </p:sp>
    </p:spTree>
    <p:extLst>
      <p:ext uri="{BB962C8B-B14F-4D97-AF65-F5344CB8AC3E}">
        <p14:creationId xmlns:p14="http://schemas.microsoft.com/office/powerpoint/2010/main" val="143530890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282596" y="1930024"/>
            <a:ext cx="2216216" cy="400110"/>
          </a:xfrm>
          <a:prstGeom prst="rect">
            <a:avLst/>
          </a:prstGeom>
          <a:noFill/>
        </p:spPr>
        <p:txBody>
          <a:bodyPr wrap="square" rtlCol="0">
            <a:spAutoFit/>
          </a:bodyPr>
          <a:lstStyle/>
          <a:p>
            <a:pPr algn="r" rtl="1"/>
            <a:r>
              <a:rPr lang="ar-EG" sz="2000" b="1" dirty="0">
                <a:solidFill>
                  <a:schemeClr val="accent1"/>
                </a:solidFill>
                <a:latin typeface="DIN Next LT Arabic Light" panose="020B0303020203050203" pitchFamily="34" charset="-78"/>
                <a:cs typeface="DIN Next LT Arabic Light" panose="020B0303020203050203" pitchFamily="34" charset="-78"/>
              </a:rPr>
              <a:t>تبسيط الجباية</a:t>
            </a:r>
          </a:p>
        </p:txBody>
      </p:sp>
      <p:sp>
        <p:nvSpPr>
          <p:cNvPr id="3" name="TextBox 2"/>
          <p:cNvSpPr txBox="1"/>
          <p:nvPr/>
        </p:nvSpPr>
        <p:spPr>
          <a:xfrm>
            <a:off x="221472" y="2242563"/>
            <a:ext cx="3213671" cy="1345048"/>
          </a:xfrm>
          <a:prstGeom prst="rect">
            <a:avLst/>
          </a:prstGeom>
          <a:noFill/>
        </p:spPr>
        <p:txBody>
          <a:bodyPr wrap="square" rtlCol="0">
            <a:spAutoFit/>
          </a:bodyPr>
          <a:lstStyle/>
          <a:p>
            <a:pPr algn="justLow" rtl="1">
              <a:lnSpc>
                <a:spcPct val="150000"/>
              </a:lnSpc>
            </a:pPr>
            <a:r>
              <a:rPr lang="ar-EG" sz="1400" dirty="0">
                <a:latin typeface="DIN Next LT Arabic Light" panose="020B0303020203050203" pitchFamily="34" charset="-78"/>
                <a:cs typeface="DIN Next LT Arabic Light" panose="020B0303020203050203" pitchFamily="34" charset="-78"/>
              </a:rPr>
              <a:t>تحويل النصوص القانونية المعقدة إلى واجهات رقمية سلسة وتفاعلية، تمكّن رواد الأعمال من فهم وتسيير وضعيتهم الجبائية بوضوح ودون الحاجة إلى خبرة محاسبية أو قانونية مسبقة.</a:t>
            </a:r>
            <a:endParaRPr lang="en-ID" sz="1400" dirty="0">
              <a:latin typeface="DIN Next LT Arabic Light" panose="020B0303020203050203" pitchFamily="34" charset="-78"/>
              <a:cs typeface="DIN Next LT Arabic Light" panose="020B0303020203050203" pitchFamily="34" charset="-78"/>
            </a:endParaRPr>
          </a:p>
        </p:txBody>
      </p:sp>
      <p:sp>
        <p:nvSpPr>
          <p:cNvPr id="4" name="TextBox 3"/>
          <p:cNvSpPr txBox="1"/>
          <p:nvPr/>
        </p:nvSpPr>
        <p:spPr>
          <a:xfrm>
            <a:off x="1162567" y="4327124"/>
            <a:ext cx="2216216" cy="400110"/>
          </a:xfrm>
          <a:prstGeom prst="rect">
            <a:avLst/>
          </a:prstGeom>
          <a:noFill/>
        </p:spPr>
        <p:txBody>
          <a:bodyPr wrap="square" rtlCol="0">
            <a:spAutoFit/>
          </a:bodyPr>
          <a:lstStyle/>
          <a:p>
            <a:pPr algn="r" rtl="1"/>
            <a:r>
              <a:rPr lang="ar-EG" sz="2000" b="1" dirty="0">
                <a:solidFill>
                  <a:schemeClr val="accent2"/>
                </a:solidFill>
                <a:latin typeface="DIN Next LT Arabic Light" panose="020B0303020203050203" pitchFamily="34" charset="-78"/>
                <a:cs typeface="DIN Next LT Arabic Light" panose="020B0303020203050203" pitchFamily="34" charset="-78"/>
              </a:rPr>
              <a:t>نظام تنبيه ذكي واستباقي</a:t>
            </a:r>
          </a:p>
        </p:txBody>
      </p:sp>
      <p:sp>
        <p:nvSpPr>
          <p:cNvPr id="5" name="TextBox 4"/>
          <p:cNvSpPr txBox="1"/>
          <p:nvPr/>
        </p:nvSpPr>
        <p:spPr>
          <a:xfrm>
            <a:off x="175774" y="4639663"/>
            <a:ext cx="3213671" cy="1345048"/>
          </a:xfrm>
          <a:prstGeom prst="rect">
            <a:avLst/>
          </a:prstGeom>
          <a:noFill/>
        </p:spPr>
        <p:txBody>
          <a:bodyPr wrap="square" rtlCol="0">
            <a:spAutoFit/>
          </a:bodyPr>
          <a:lstStyle/>
          <a:p>
            <a:pPr algn="justLow" rtl="1">
              <a:lnSpc>
                <a:spcPct val="150000"/>
              </a:lnSpc>
            </a:pPr>
            <a:r>
              <a:rPr lang="ar-EG" sz="1400" dirty="0">
                <a:latin typeface="DIN Next LT Arabic Light" panose="020B0303020203050203" pitchFamily="34" charset="-78"/>
                <a:cs typeface="DIN Next LT Arabic Light" panose="020B0303020203050203" pitchFamily="34" charset="-78"/>
              </a:rPr>
              <a:t>إدراج خاصية التنبيهات الذكية عبر الرسائل النصية القصيرة </a:t>
            </a:r>
            <a:r>
              <a:rPr lang="fr-FR" sz="1400" dirty="0">
                <a:latin typeface="DIN Next LT Arabic Light" panose="020B0303020203050203" pitchFamily="34" charset="-78"/>
                <a:cs typeface="DIN Next LT Arabic Light" panose="020B0303020203050203" pitchFamily="34" charset="-78"/>
              </a:rPr>
              <a:t>SMS </a:t>
            </a:r>
            <a:r>
              <a:rPr lang="ar-EG" sz="1400" dirty="0">
                <a:latin typeface="DIN Next LT Arabic Light" panose="020B0303020203050203" pitchFamily="34" charset="-78"/>
                <a:cs typeface="DIN Next LT Arabic Light" panose="020B0303020203050203" pitchFamily="34" charset="-78"/>
              </a:rPr>
              <a:t>والبريد الإلكتروني لتذكير صاحب المشروع بالمواعيد القانونية قبل حلولها بوقت كافٍ، مما يضمن الامتثال التام ويقيه من غرامات التأخير.</a:t>
            </a:r>
            <a:endParaRPr lang="en-ID" sz="1400" dirty="0">
              <a:latin typeface="DIN Next LT Arabic Light" panose="020B0303020203050203" pitchFamily="34" charset="-78"/>
              <a:cs typeface="DIN Next LT Arabic Light" panose="020B0303020203050203" pitchFamily="34" charset="-78"/>
            </a:endParaRPr>
          </a:p>
        </p:txBody>
      </p:sp>
      <p:sp>
        <p:nvSpPr>
          <p:cNvPr id="6" name="TextBox 5"/>
          <p:cNvSpPr txBox="1"/>
          <p:nvPr/>
        </p:nvSpPr>
        <p:spPr>
          <a:xfrm>
            <a:off x="8699461" y="1930024"/>
            <a:ext cx="2726100" cy="400110"/>
          </a:xfrm>
          <a:prstGeom prst="rect">
            <a:avLst/>
          </a:prstGeom>
          <a:noFill/>
        </p:spPr>
        <p:txBody>
          <a:bodyPr wrap="square" rtlCol="0">
            <a:spAutoFit/>
          </a:bodyPr>
          <a:lstStyle/>
          <a:p>
            <a:pPr algn="l" rtl="1"/>
            <a:r>
              <a:rPr lang="ar-EG" sz="2000" b="1" dirty="0">
                <a:solidFill>
                  <a:schemeClr val="accent3"/>
                </a:solidFill>
                <a:latin typeface="DIN Next LT Arabic Light" panose="020B0303020203050203" pitchFamily="34" charset="-78"/>
                <a:cs typeface="DIN Next LT Arabic Light" panose="020B0303020203050203" pitchFamily="34" charset="-78"/>
              </a:rPr>
              <a:t>الأتمتة الكاملة والتصريح الآلي</a:t>
            </a:r>
          </a:p>
        </p:txBody>
      </p:sp>
      <p:sp>
        <p:nvSpPr>
          <p:cNvPr id="7" name="TextBox 6"/>
          <p:cNvSpPr txBox="1"/>
          <p:nvPr/>
        </p:nvSpPr>
        <p:spPr>
          <a:xfrm>
            <a:off x="8628440" y="2264503"/>
            <a:ext cx="2726100" cy="1345048"/>
          </a:xfrm>
          <a:prstGeom prst="rect">
            <a:avLst/>
          </a:prstGeom>
          <a:noFill/>
        </p:spPr>
        <p:txBody>
          <a:bodyPr wrap="square" rtlCol="0">
            <a:spAutoFit/>
          </a:bodyPr>
          <a:lstStyle/>
          <a:p>
            <a:pPr algn="justLow" rtl="1">
              <a:lnSpc>
                <a:spcPct val="150000"/>
              </a:lnSpc>
            </a:pPr>
            <a:r>
              <a:rPr lang="ar-EG" sz="1400" dirty="0">
                <a:latin typeface="DIN Next LT Arabic Light" panose="020B0303020203050203" pitchFamily="34" charset="-78"/>
                <a:cs typeface="DIN Next LT Arabic Light" panose="020B0303020203050203" pitchFamily="34" charset="-78"/>
              </a:rPr>
              <a:t>توليد وحساب تصاريح </a:t>
            </a:r>
            <a:r>
              <a:rPr lang="fr-FR" sz="1400" dirty="0">
                <a:latin typeface="DIN Next LT Arabic Light" panose="020B0303020203050203" pitchFamily="34" charset="-78"/>
                <a:cs typeface="DIN Next LT Arabic Light" panose="020B0303020203050203" pitchFamily="34" charset="-78"/>
              </a:rPr>
              <a:t>G50 </a:t>
            </a:r>
            <a:r>
              <a:rPr lang="ar-EG" sz="1400" dirty="0">
                <a:latin typeface="DIN Next LT Arabic Light" panose="020B0303020203050203" pitchFamily="34" charset="-78"/>
                <a:cs typeface="DIN Next LT Arabic Light" panose="020B0303020203050203" pitchFamily="34" charset="-78"/>
              </a:rPr>
              <a:t>والكشوفات الدورية بشكل آلي ودقيق بنسبة خطأ 0%، ممّا يقضي تماماً على الهفوات الحسابية الناتجة عن التعبئة اليدوية والتقليدية.</a:t>
            </a:r>
            <a:endParaRPr lang="en-ID" sz="1400" dirty="0">
              <a:latin typeface="DIN Next LT Arabic Light" panose="020B0303020203050203" pitchFamily="34" charset="-78"/>
              <a:cs typeface="DIN Next LT Arabic Light" panose="020B0303020203050203" pitchFamily="34" charset="-78"/>
            </a:endParaRPr>
          </a:p>
        </p:txBody>
      </p:sp>
      <p:sp>
        <p:nvSpPr>
          <p:cNvPr id="8" name="TextBox 7"/>
          <p:cNvSpPr txBox="1"/>
          <p:nvPr/>
        </p:nvSpPr>
        <p:spPr>
          <a:xfrm>
            <a:off x="8432902" y="4746301"/>
            <a:ext cx="3759746" cy="338554"/>
          </a:xfrm>
          <a:prstGeom prst="rect">
            <a:avLst/>
          </a:prstGeom>
          <a:noFill/>
        </p:spPr>
        <p:txBody>
          <a:bodyPr wrap="square" rtlCol="0">
            <a:spAutoFit/>
          </a:bodyPr>
          <a:lstStyle/>
          <a:p>
            <a:pPr algn="l" rtl="1"/>
            <a:r>
              <a:rPr lang="ar-EG" sz="1600" b="1" dirty="0">
                <a:solidFill>
                  <a:schemeClr val="accent4"/>
                </a:solidFill>
                <a:latin typeface="DIN Next LT Arabic Light" panose="020B0303020203050203" pitchFamily="34" charset="-78"/>
                <a:cs typeface="DIN Next LT Arabic Light" panose="020B0303020203050203" pitchFamily="34" charset="-78"/>
              </a:rPr>
              <a:t>أرشفة سحابية مشفرة واشتراكات اقتصادية</a:t>
            </a:r>
          </a:p>
        </p:txBody>
      </p:sp>
      <p:sp>
        <p:nvSpPr>
          <p:cNvPr id="9" name="TextBox 8"/>
          <p:cNvSpPr txBox="1"/>
          <p:nvPr/>
        </p:nvSpPr>
        <p:spPr>
          <a:xfrm>
            <a:off x="8351175" y="5026384"/>
            <a:ext cx="3074386" cy="1668214"/>
          </a:xfrm>
          <a:prstGeom prst="rect">
            <a:avLst/>
          </a:prstGeom>
          <a:noFill/>
        </p:spPr>
        <p:txBody>
          <a:bodyPr wrap="square" rtlCol="0">
            <a:spAutoFit/>
          </a:bodyPr>
          <a:lstStyle/>
          <a:p>
            <a:pPr algn="justLow" rtl="1">
              <a:lnSpc>
                <a:spcPct val="150000"/>
              </a:lnSpc>
            </a:pPr>
            <a:r>
              <a:rPr lang="ar-EG" sz="1400" dirty="0">
                <a:latin typeface="DIN Next LT Arabic Light" panose="020B0303020203050203" pitchFamily="34" charset="-78"/>
                <a:cs typeface="DIN Next LT Arabic Light" panose="020B0303020203050203" pitchFamily="34" charset="-78"/>
              </a:rPr>
              <a:t>توفير مساحات تخزين سحابية آمنة لحفظ المستندات الجبائية والمحاسبية رقمياً وحمايتها من الضياع، مع تقديم باقات اشتراك مرنة واقتصادية تناسب الميزانيات المحدودة للمؤسسات الناشئة مقارنة بتكاليف المكاتب التقليدية.</a:t>
            </a:r>
            <a:endParaRPr lang="en-ID" sz="1400" dirty="0">
              <a:latin typeface="DIN Next LT Arabic Light" panose="020B0303020203050203" pitchFamily="34" charset="-78"/>
              <a:cs typeface="DIN Next LT Arabic Light" panose="020B0303020203050203" pitchFamily="34" charset="-78"/>
            </a:endParaRPr>
          </a:p>
        </p:txBody>
      </p:sp>
      <p:grpSp>
        <p:nvGrpSpPr>
          <p:cNvPr id="10" name="Group 9"/>
          <p:cNvGrpSpPr/>
          <p:nvPr/>
        </p:nvGrpSpPr>
        <p:grpSpPr>
          <a:xfrm flipH="1">
            <a:off x="4502540" y="1750572"/>
            <a:ext cx="3252334" cy="4275474"/>
            <a:chOff x="4392195" y="1832887"/>
            <a:chExt cx="3263937" cy="4290725"/>
          </a:xfrm>
        </p:grpSpPr>
        <p:sp>
          <p:nvSpPr>
            <p:cNvPr id="11" name="Freeform 9">
              <a:extLst>
                <a:ext uri="{FF2B5EF4-FFF2-40B4-BE49-F238E27FC236}">
                  <a16:creationId xmlns:a16="http://schemas.microsoft.com/office/drawing/2014/main" id="{05F05017-1A72-4EC8-8330-7D37BF4FB3EB}"/>
                </a:ext>
              </a:extLst>
            </p:cNvPr>
            <p:cNvSpPr>
              <a:spLocks/>
            </p:cNvSpPr>
            <p:nvPr/>
          </p:nvSpPr>
          <p:spPr bwMode="auto">
            <a:xfrm>
              <a:off x="5261110" y="4054127"/>
              <a:ext cx="1199347" cy="1387816"/>
            </a:xfrm>
            <a:custGeom>
              <a:avLst/>
              <a:gdLst>
                <a:gd name="T0" fmla="*/ 2398 w 2398"/>
                <a:gd name="T1" fmla="*/ 0 h 2774"/>
                <a:gd name="T2" fmla="*/ 1249 w 2398"/>
                <a:gd name="T3" fmla="*/ 2774 h 2774"/>
                <a:gd name="T4" fmla="*/ 0 w 2398"/>
                <a:gd name="T5" fmla="*/ 1526 h 2774"/>
                <a:gd name="T6" fmla="*/ 632 w 2398"/>
                <a:gd name="T7" fmla="*/ 0 h 2774"/>
                <a:gd name="T8" fmla="*/ 2398 w 2398"/>
                <a:gd name="T9" fmla="*/ 0 h 2774"/>
              </a:gdLst>
              <a:ahLst/>
              <a:cxnLst>
                <a:cxn ang="0">
                  <a:pos x="T0" y="T1"/>
                </a:cxn>
                <a:cxn ang="0">
                  <a:pos x="T2" y="T3"/>
                </a:cxn>
                <a:cxn ang="0">
                  <a:pos x="T4" y="T5"/>
                </a:cxn>
                <a:cxn ang="0">
                  <a:pos x="T6" y="T7"/>
                </a:cxn>
                <a:cxn ang="0">
                  <a:pos x="T8" y="T9"/>
                </a:cxn>
              </a:cxnLst>
              <a:rect l="0" t="0" r="r" b="b"/>
              <a:pathLst>
                <a:path w="2398" h="2774">
                  <a:moveTo>
                    <a:pt x="2398" y="0"/>
                  </a:moveTo>
                  <a:cubicBezTo>
                    <a:pt x="2398" y="1040"/>
                    <a:pt x="1985" y="2038"/>
                    <a:pt x="1249" y="2774"/>
                  </a:cubicBezTo>
                  <a:lnTo>
                    <a:pt x="0" y="1526"/>
                  </a:lnTo>
                  <a:cubicBezTo>
                    <a:pt x="405" y="1121"/>
                    <a:pt x="632" y="572"/>
                    <a:pt x="632" y="0"/>
                  </a:cubicBezTo>
                  <a:lnTo>
                    <a:pt x="2398" y="0"/>
                  </a:lnTo>
                  <a:close/>
                </a:path>
              </a:pathLst>
            </a:custGeom>
            <a:solidFill>
              <a:schemeClr val="accent2"/>
            </a:solidFill>
            <a:ln w="0">
              <a:noFill/>
              <a:prstDash val="solid"/>
              <a:round/>
              <a:headEnd/>
              <a:tailEnd/>
            </a:ln>
          </p:spPr>
          <p:txBody>
            <a:bodyPr vert="horz" wrap="square" lIns="91440" tIns="45720" rIns="91440" bIns="274320" numCol="1" anchor="ctr" anchorCtr="0" compatLnSpc="1">
              <a:prstTxWarp prst="textNoShape">
                <a:avLst/>
              </a:prstTxWarp>
            </a:bodyPr>
            <a:lstStyle/>
            <a:p>
              <a:pPr algn="ctr" rtl="1"/>
              <a:r>
                <a:rPr lang="en-US" sz="3600" b="1" dirty="0">
                  <a:solidFill>
                    <a:schemeClr val="bg1"/>
                  </a:solidFill>
                  <a:latin typeface="DIN Next LT Arabic Light" panose="020B0303020203050203" pitchFamily="34" charset="-78"/>
                  <a:cs typeface="DIN Next LT Arabic Light" panose="020B0303020203050203" pitchFamily="34" charset="-78"/>
                </a:rPr>
                <a:t>02</a:t>
              </a:r>
            </a:p>
          </p:txBody>
        </p:sp>
        <p:sp>
          <p:nvSpPr>
            <p:cNvPr id="12" name="Freeform 11">
              <a:extLst>
                <a:ext uri="{FF2B5EF4-FFF2-40B4-BE49-F238E27FC236}">
                  <a16:creationId xmlns:a16="http://schemas.microsoft.com/office/drawing/2014/main" id="{884089BF-6B6E-4016-A3F4-377C00F58667}"/>
                </a:ext>
              </a:extLst>
            </p:cNvPr>
            <p:cNvSpPr>
              <a:spLocks/>
            </p:cNvSpPr>
            <p:nvPr/>
          </p:nvSpPr>
          <p:spPr bwMode="auto">
            <a:xfrm>
              <a:off x="4392195" y="4923041"/>
              <a:ext cx="1387816" cy="1200571"/>
            </a:xfrm>
            <a:custGeom>
              <a:avLst/>
              <a:gdLst>
                <a:gd name="T0" fmla="*/ 2774 w 2774"/>
                <a:gd name="T1" fmla="*/ 1249 h 2398"/>
                <a:gd name="T2" fmla="*/ 0 w 2774"/>
                <a:gd name="T3" fmla="*/ 2398 h 2398"/>
                <a:gd name="T4" fmla="*/ 0 w 2774"/>
                <a:gd name="T5" fmla="*/ 632 h 2398"/>
                <a:gd name="T6" fmla="*/ 1526 w 2774"/>
                <a:gd name="T7" fmla="*/ 0 h 2398"/>
                <a:gd name="T8" fmla="*/ 2774 w 2774"/>
                <a:gd name="T9" fmla="*/ 1249 h 2398"/>
              </a:gdLst>
              <a:ahLst/>
              <a:cxnLst>
                <a:cxn ang="0">
                  <a:pos x="T0" y="T1"/>
                </a:cxn>
                <a:cxn ang="0">
                  <a:pos x="T2" y="T3"/>
                </a:cxn>
                <a:cxn ang="0">
                  <a:pos x="T4" y="T5"/>
                </a:cxn>
                <a:cxn ang="0">
                  <a:pos x="T6" y="T7"/>
                </a:cxn>
                <a:cxn ang="0">
                  <a:pos x="T8" y="T9"/>
                </a:cxn>
              </a:cxnLst>
              <a:rect l="0" t="0" r="r" b="b"/>
              <a:pathLst>
                <a:path w="2774" h="2398">
                  <a:moveTo>
                    <a:pt x="2774" y="1249"/>
                  </a:moveTo>
                  <a:cubicBezTo>
                    <a:pt x="2038" y="1985"/>
                    <a:pt x="1040" y="2398"/>
                    <a:pt x="0" y="2398"/>
                  </a:cubicBezTo>
                  <a:lnTo>
                    <a:pt x="0" y="632"/>
                  </a:lnTo>
                  <a:cubicBezTo>
                    <a:pt x="572" y="632"/>
                    <a:pt x="1121" y="405"/>
                    <a:pt x="1526" y="0"/>
                  </a:cubicBezTo>
                  <a:lnTo>
                    <a:pt x="2774" y="1249"/>
                  </a:lnTo>
                  <a:close/>
                </a:path>
              </a:pathLst>
            </a:custGeom>
            <a:solidFill>
              <a:schemeClr val="accent1"/>
            </a:solidFill>
            <a:ln w="0">
              <a:noFill/>
              <a:prstDash val="solid"/>
              <a:round/>
              <a:headEnd/>
              <a:tailEnd/>
            </a:ln>
          </p:spPr>
          <p:txBody>
            <a:bodyPr vert="horz" wrap="square" lIns="91440" tIns="45720" rIns="365760" bIns="45720" numCol="1" anchor="ctr" anchorCtr="0" compatLnSpc="1">
              <a:prstTxWarp prst="textNoShape">
                <a:avLst/>
              </a:prstTxWarp>
            </a:bodyPr>
            <a:lstStyle/>
            <a:p>
              <a:pPr algn="ctr" rtl="1"/>
              <a:r>
                <a:rPr lang="en-US" sz="3600" b="1" dirty="0">
                  <a:solidFill>
                    <a:schemeClr val="bg1"/>
                  </a:solidFill>
                  <a:latin typeface="DIN Next LT Arabic Light" panose="020B0303020203050203" pitchFamily="34" charset="-78"/>
                  <a:cs typeface="DIN Next LT Arabic Light" panose="020B0303020203050203" pitchFamily="34" charset="-78"/>
                </a:rPr>
                <a:t>01</a:t>
              </a:r>
            </a:p>
          </p:txBody>
        </p:sp>
        <p:sp>
          <p:nvSpPr>
            <p:cNvPr id="13" name="Freeform 17">
              <a:extLst>
                <a:ext uri="{FF2B5EF4-FFF2-40B4-BE49-F238E27FC236}">
                  <a16:creationId xmlns:a16="http://schemas.microsoft.com/office/drawing/2014/main" id="{4DE37E95-4E07-452C-90B0-9F39E8DD9D01}"/>
                </a:ext>
              </a:extLst>
            </p:cNvPr>
            <p:cNvSpPr>
              <a:spLocks/>
            </p:cNvSpPr>
            <p:nvPr/>
          </p:nvSpPr>
          <p:spPr bwMode="auto">
            <a:xfrm>
              <a:off x="5586647" y="2514557"/>
              <a:ext cx="1199347" cy="1389040"/>
            </a:xfrm>
            <a:custGeom>
              <a:avLst/>
              <a:gdLst>
                <a:gd name="T0" fmla="*/ 0 w 2398"/>
                <a:gd name="T1" fmla="*/ 2774 h 2774"/>
                <a:gd name="T2" fmla="*/ 1149 w 2398"/>
                <a:gd name="T3" fmla="*/ 0 h 2774"/>
                <a:gd name="T4" fmla="*/ 2398 w 2398"/>
                <a:gd name="T5" fmla="*/ 1248 h 2774"/>
                <a:gd name="T6" fmla="*/ 1766 w 2398"/>
                <a:gd name="T7" fmla="*/ 2774 h 2774"/>
                <a:gd name="T8" fmla="*/ 0 w 2398"/>
                <a:gd name="T9" fmla="*/ 2774 h 2774"/>
              </a:gdLst>
              <a:ahLst/>
              <a:cxnLst>
                <a:cxn ang="0">
                  <a:pos x="T0" y="T1"/>
                </a:cxn>
                <a:cxn ang="0">
                  <a:pos x="T2" y="T3"/>
                </a:cxn>
                <a:cxn ang="0">
                  <a:pos x="T4" y="T5"/>
                </a:cxn>
                <a:cxn ang="0">
                  <a:pos x="T6" y="T7"/>
                </a:cxn>
                <a:cxn ang="0">
                  <a:pos x="T8" y="T9"/>
                </a:cxn>
              </a:cxnLst>
              <a:rect l="0" t="0" r="r" b="b"/>
              <a:pathLst>
                <a:path w="2398" h="2774">
                  <a:moveTo>
                    <a:pt x="0" y="2774"/>
                  </a:moveTo>
                  <a:cubicBezTo>
                    <a:pt x="0" y="1734"/>
                    <a:pt x="413" y="735"/>
                    <a:pt x="1149" y="0"/>
                  </a:cubicBezTo>
                  <a:lnTo>
                    <a:pt x="2398" y="1248"/>
                  </a:lnTo>
                  <a:cubicBezTo>
                    <a:pt x="1993" y="1653"/>
                    <a:pt x="1766" y="2202"/>
                    <a:pt x="1766" y="2774"/>
                  </a:cubicBezTo>
                  <a:lnTo>
                    <a:pt x="0" y="2774"/>
                  </a:lnTo>
                  <a:close/>
                </a:path>
              </a:pathLst>
            </a:custGeom>
            <a:solidFill>
              <a:schemeClr val="accent3"/>
            </a:solidFill>
            <a:ln w="0">
              <a:noFill/>
              <a:prstDash val="solid"/>
              <a:round/>
              <a:headEnd/>
              <a:tailEnd/>
            </a:ln>
          </p:spPr>
          <p:txBody>
            <a:bodyPr vert="horz" wrap="square" lIns="91440" tIns="274320" rIns="91440" bIns="45720" numCol="1" anchor="ctr" anchorCtr="0" compatLnSpc="1">
              <a:prstTxWarp prst="textNoShape">
                <a:avLst/>
              </a:prstTxWarp>
            </a:bodyPr>
            <a:lstStyle/>
            <a:p>
              <a:pPr algn="ctr" rtl="1"/>
              <a:r>
                <a:rPr lang="en-US" sz="3600" b="1" dirty="0">
                  <a:solidFill>
                    <a:schemeClr val="bg1"/>
                  </a:solidFill>
                  <a:latin typeface="DIN Next LT Arabic Light" panose="020B0303020203050203" pitchFamily="34" charset="-78"/>
                  <a:cs typeface="DIN Next LT Arabic Light" panose="020B0303020203050203" pitchFamily="34" charset="-78"/>
                </a:rPr>
                <a:t>03</a:t>
              </a:r>
            </a:p>
          </p:txBody>
        </p:sp>
        <p:sp>
          <p:nvSpPr>
            <p:cNvPr id="14" name="Freeform 19">
              <a:extLst>
                <a:ext uri="{FF2B5EF4-FFF2-40B4-BE49-F238E27FC236}">
                  <a16:creationId xmlns:a16="http://schemas.microsoft.com/office/drawing/2014/main" id="{CC602BC0-26C0-4616-B275-DAFD25EABABE}"/>
                </a:ext>
              </a:extLst>
            </p:cNvPr>
            <p:cNvSpPr>
              <a:spLocks/>
            </p:cNvSpPr>
            <p:nvPr/>
          </p:nvSpPr>
          <p:spPr bwMode="auto">
            <a:xfrm>
              <a:off x="6268316" y="1832887"/>
              <a:ext cx="1387816" cy="1200571"/>
            </a:xfrm>
            <a:custGeom>
              <a:avLst/>
              <a:gdLst>
                <a:gd name="T0" fmla="*/ 0 w 2774"/>
                <a:gd name="T1" fmla="*/ 1149 h 2398"/>
                <a:gd name="T2" fmla="*/ 2774 w 2774"/>
                <a:gd name="T3" fmla="*/ 0 h 2398"/>
                <a:gd name="T4" fmla="*/ 2774 w 2774"/>
                <a:gd name="T5" fmla="*/ 1766 h 2398"/>
                <a:gd name="T6" fmla="*/ 1248 w 2774"/>
                <a:gd name="T7" fmla="*/ 2398 h 2398"/>
                <a:gd name="T8" fmla="*/ 0 w 2774"/>
                <a:gd name="T9" fmla="*/ 1149 h 2398"/>
              </a:gdLst>
              <a:ahLst/>
              <a:cxnLst>
                <a:cxn ang="0">
                  <a:pos x="T0" y="T1"/>
                </a:cxn>
                <a:cxn ang="0">
                  <a:pos x="T2" y="T3"/>
                </a:cxn>
                <a:cxn ang="0">
                  <a:pos x="T4" y="T5"/>
                </a:cxn>
                <a:cxn ang="0">
                  <a:pos x="T6" y="T7"/>
                </a:cxn>
                <a:cxn ang="0">
                  <a:pos x="T8" y="T9"/>
                </a:cxn>
              </a:cxnLst>
              <a:rect l="0" t="0" r="r" b="b"/>
              <a:pathLst>
                <a:path w="2774" h="2398">
                  <a:moveTo>
                    <a:pt x="0" y="1149"/>
                  </a:moveTo>
                  <a:cubicBezTo>
                    <a:pt x="735" y="413"/>
                    <a:pt x="1734" y="0"/>
                    <a:pt x="2774" y="0"/>
                  </a:cubicBezTo>
                  <a:lnTo>
                    <a:pt x="2774" y="1766"/>
                  </a:lnTo>
                  <a:cubicBezTo>
                    <a:pt x="2202" y="1766"/>
                    <a:pt x="1653" y="1993"/>
                    <a:pt x="1248" y="2398"/>
                  </a:cubicBezTo>
                  <a:lnTo>
                    <a:pt x="0" y="1149"/>
                  </a:lnTo>
                  <a:close/>
                </a:path>
              </a:pathLst>
            </a:custGeom>
            <a:solidFill>
              <a:schemeClr val="accent4"/>
            </a:solidFill>
            <a:ln w="0">
              <a:noFill/>
              <a:prstDash val="solid"/>
              <a:round/>
              <a:headEnd/>
              <a:tailEnd/>
            </a:ln>
          </p:spPr>
          <p:txBody>
            <a:bodyPr vert="horz" wrap="square" lIns="274320" tIns="45720" rIns="91440" bIns="45720" numCol="1" anchor="ctr" anchorCtr="0" compatLnSpc="1">
              <a:prstTxWarp prst="textNoShape">
                <a:avLst/>
              </a:prstTxWarp>
            </a:bodyPr>
            <a:lstStyle/>
            <a:p>
              <a:pPr algn="ctr" rtl="1"/>
              <a:r>
                <a:rPr lang="en-US" sz="3600" b="1" dirty="0">
                  <a:solidFill>
                    <a:schemeClr val="bg1"/>
                  </a:solidFill>
                  <a:latin typeface="DIN Next LT Arabic Light" panose="020B0303020203050203" pitchFamily="34" charset="-78"/>
                  <a:cs typeface="DIN Next LT Arabic Light" panose="020B0303020203050203" pitchFamily="34" charset="-78"/>
                </a:rPr>
                <a:t>04</a:t>
              </a:r>
            </a:p>
          </p:txBody>
        </p:sp>
      </p:grpSp>
      <p:sp>
        <p:nvSpPr>
          <p:cNvPr id="15" name="Freeform 14"/>
          <p:cNvSpPr>
            <a:spLocks noEditPoints="1"/>
          </p:cNvSpPr>
          <p:nvPr/>
        </p:nvSpPr>
        <p:spPr bwMode="auto">
          <a:xfrm>
            <a:off x="7055540" y="2946875"/>
            <a:ext cx="1879436" cy="1882868"/>
          </a:xfrm>
          <a:custGeom>
            <a:avLst/>
            <a:gdLst>
              <a:gd name="T0" fmla="*/ 104 w 232"/>
              <a:gd name="T1" fmla="*/ 54 h 232"/>
              <a:gd name="T2" fmla="*/ 109 w 232"/>
              <a:gd name="T3" fmla="*/ 50 h 232"/>
              <a:gd name="T4" fmla="*/ 128 w 232"/>
              <a:gd name="T5" fmla="*/ 50 h 232"/>
              <a:gd name="T6" fmla="*/ 116 w 232"/>
              <a:gd name="T7" fmla="*/ 53 h 232"/>
              <a:gd name="T8" fmla="*/ 177 w 232"/>
              <a:gd name="T9" fmla="*/ 77 h 232"/>
              <a:gd name="T10" fmla="*/ 169 w 232"/>
              <a:gd name="T11" fmla="*/ 69 h 232"/>
              <a:gd name="T12" fmla="*/ 168 w 232"/>
              <a:gd name="T13" fmla="*/ 68 h 232"/>
              <a:gd name="T14" fmla="*/ 173 w 232"/>
              <a:gd name="T15" fmla="*/ 80 h 232"/>
              <a:gd name="T16" fmla="*/ 107 w 232"/>
              <a:gd name="T17" fmla="*/ 32 h 232"/>
              <a:gd name="T18" fmla="*/ 124 w 232"/>
              <a:gd name="T19" fmla="*/ 37 h 232"/>
              <a:gd name="T20" fmla="*/ 184 w 232"/>
              <a:gd name="T21" fmla="*/ 67 h 232"/>
              <a:gd name="T22" fmla="*/ 176 w 232"/>
              <a:gd name="T23" fmla="*/ 63 h 232"/>
              <a:gd name="T24" fmla="*/ 184 w 232"/>
              <a:gd name="T25" fmla="*/ 67 h 232"/>
              <a:gd name="T26" fmla="*/ 116 w 232"/>
              <a:gd name="T27" fmla="*/ 232 h 232"/>
              <a:gd name="T28" fmla="*/ 116 w 232"/>
              <a:gd name="T29" fmla="*/ 0 h 232"/>
              <a:gd name="T30" fmla="*/ 191 w 232"/>
              <a:gd name="T31" fmla="*/ 128 h 232"/>
              <a:gd name="T32" fmla="*/ 181 w 232"/>
              <a:gd name="T33" fmla="*/ 78 h 232"/>
              <a:gd name="T34" fmla="*/ 181 w 232"/>
              <a:gd name="T35" fmla="*/ 75 h 232"/>
              <a:gd name="T36" fmla="*/ 182 w 232"/>
              <a:gd name="T37" fmla="*/ 74 h 232"/>
              <a:gd name="T38" fmla="*/ 189 w 232"/>
              <a:gd name="T39" fmla="*/ 69 h 232"/>
              <a:gd name="T40" fmla="*/ 179 w 232"/>
              <a:gd name="T41" fmla="*/ 56 h 232"/>
              <a:gd name="T42" fmla="*/ 171 w 232"/>
              <a:gd name="T43" fmla="*/ 61 h 232"/>
              <a:gd name="T44" fmla="*/ 170 w 232"/>
              <a:gd name="T45" fmla="*/ 64 h 232"/>
              <a:gd name="T46" fmla="*/ 167 w 232"/>
              <a:gd name="T47" fmla="*/ 64 h 232"/>
              <a:gd name="T48" fmla="*/ 132 w 232"/>
              <a:gd name="T49" fmla="*/ 55 h 232"/>
              <a:gd name="T50" fmla="*/ 130 w 232"/>
              <a:gd name="T51" fmla="*/ 46 h 232"/>
              <a:gd name="T52" fmla="*/ 124 w 232"/>
              <a:gd name="T53" fmla="*/ 41 h 232"/>
              <a:gd name="T54" fmla="*/ 129 w 232"/>
              <a:gd name="T55" fmla="*/ 39 h 232"/>
              <a:gd name="T56" fmla="*/ 127 w 232"/>
              <a:gd name="T57" fmla="*/ 28 h 232"/>
              <a:gd name="T58" fmla="*/ 103 w 232"/>
              <a:gd name="T59" fmla="*/ 30 h 232"/>
              <a:gd name="T60" fmla="*/ 105 w 232"/>
              <a:gd name="T61" fmla="*/ 41 h 232"/>
              <a:gd name="T62" fmla="*/ 107 w 232"/>
              <a:gd name="T63" fmla="*/ 46 h 232"/>
              <a:gd name="T64" fmla="*/ 99 w 232"/>
              <a:gd name="T65" fmla="*/ 48 h 232"/>
              <a:gd name="T66" fmla="*/ 41 w 232"/>
              <a:gd name="T67" fmla="*/ 128 h 232"/>
              <a:gd name="T68" fmla="*/ 191 w 232"/>
              <a:gd name="T69" fmla="*/ 128 h 232"/>
              <a:gd name="T70" fmla="*/ 116 w 232"/>
              <a:gd name="T71" fmla="*/ 195 h 232"/>
              <a:gd name="T72" fmla="*/ 116 w 232"/>
              <a:gd name="T73" fmla="*/ 62 h 232"/>
              <a:gd name="T74" fmla="*/ 170 w 232"/>
              <a:gd name="T75" fmla="*/ 128 h 232"/>
              <a:gd name="T76" fmla="*/ 116 w 232"/>
              <a:gd name="T77" fmla="*/ 88 h 232"/>
              <a:gd name="T78" fmla="*/ 116 w 232"/>
              <a:gd name="T79" fmla="*/ 169 h 232"/>
              <a:gd name="T80" fmla="*/ 90 w 232"/>
              <a:gd name="T81" fmla="*/ 167 h 232"/>
              <a:gd name="T82" fmla="*/ 103 w 232"/>
              <a:gd name="T83" fmla="*/ 154 h 232"/>
              <a:gd name="T84" fmla="*/ 116 w 232"/>
              <a:gd name="T85" fmla="*/ 163 h 232"/>
              <a:gd name="T86" fmla="*/ 116 w 232"/>
              <a:gd name="T87" fmla="*/ 94 h 232"/>
              <a:gd name="T88" fmla="*/ 72 w 232"/>
              <a:gd name="T89" fmla="*/ 159 h 232"/>
              <a:gd name="T90" fmla="*/ 170 w 232"/>
              <a:gd name="T91" fmla="*/ 128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32" h="232">
                <a:moveTo>
                  <a:pt x="116" y="53"/>
                </a:moveTo>
                <a:cubicBezTo>
                  <a:pt x="112" y="53"/>
                  <a:pt x="108" y="54"/>
                  <a:pt x="104" y="54"/>
                </a:cubicBezTo>
                <a:cubicBezTo>
                  <a:pt x="104" y="50"/>
                  <a:pt x="104" y="50"/>
                  <a:pt x="104" y="50"/>
                </a:cubicBezTo>
                <a:cubicBezTo>
                  <a:pt x="109" y="50"/>
                  <a:pt x="109" y="50"/>
                  <a:pt x="109" y="50"/>
                </a:cubicBezTo>
                <a:cubicBezTo>
                  <a:pt x="122" y="50"/>
                  <a:pt x="122" y="50"/>
                  <a:pt x="122" y="50"/>
                </a:cubicBezTo>
                <a:cubicBezTo>
                  <a:pt x="128" y="50"/>
                  <a:pt x="128" y="50"/>
                  <a:pt x="128" y="50"/>
                </a:cubicBezTo>
                <a:cubicBezTo>
                  <a:pt x="128" y="54"/>
                  <a:pt x="128" y="54"/>
                  <a:pt x="128" y="54"/>
                </a:cubicBezTo>
                <a:cubicBezTo>
                  <a:pt x="124" y="54"/>
                  <a:pt x="120" y="53"/>
                  <a:pt x="116" y="53"/>
                </a:cubicBezTo>
                <a:close/>
                <a:moveTo>
                  <a:pt x="173" y="80"/>
                </a:moveTo>
                <a:cubicBezTo>
                  <a:pt x="177" y="77"/>
                  <a:pt x="177" y="77"/>
                  <a:pt x="177" y="77"/>
                </a:cubicBezTo>
                <a:cubicBezTo>
                  <a:pt x="176" y="76"/>
                  <a:pt x="176" y="76"/>
                  <a:pt x="176" y="76"/>
                </a:cubicBezTo>
                <a:cubicBezTo>
                  <a:pt x="169" y="69"/>
                  <a:pt x="169" y="69"/>
                  <a:pt x="169" y="69"/>
                </a:cubicBezTo>
                <a:cubicBezTo>
                  <a:pt x="169" y="69"/>
                  <a:pt x="169" y="69"/>
                  <a:pt x="169" y="69"/>
                </a:cubicBezTo>
                <a:cubicBezTo>
                  <a:pt x="168" y="68"/>
                  <a:pt x="168" y="68"/>
                  <a:pt x="168" y="68"/>
                </a:cubicBezTo>
                <a:cubicBezTo>
                  <a:pt x="165" y="72"/>
                  <a:pt x="165" y="72"/>
                  <a:pt x="165" y="72"/>
                </a:cubicBezTo>
                <a:cubicBezTo>
                  <a:pt x="168" y="74"/>
                  <a:pt x="171" y="77"/>
                  <a:pt x="173" y="80"/>
                </a:cubicBezTo>
                <a:close/>
                <a:moveTo>
                  <a:pt x="124" y="32"/>
                </a:moveTo>
                <a:cubicBezTo>
                  <a:pt x="107" y="32"/>
                  <a:pt x="107" y="32"/>
                  <a:pt x="107" y="32"/>
                </a:cubicBezTo>
                <a:cubicBezTo>
                  <a:pt x="107" y="37"/>
                  <a:pt x="107" y="37"/>
                  <a:pt x="107" y="37"/>
                </a:cubicBezTo>
                <a:cubicBezTo>
                  <a:pt x="124" y="37"/>
                  <a:pt x="124" y="37"/>
                  <a:pt x="124" y="37"/>
                </a:cubicBezTo>
                <a:lnTo>
                  <a:pt x="124" y="32"/>
                </a:lnTo>
                <a:close/>
                <a:moveTo>
                  <a:pt x="184" y="67"/>
                </a:moveTo>
                <a:cubicBezTo>
                  <a:pt x="178" y="61"/>
                  <a:pt x="178" y="61"/>
                  <a:pt x="178" y="61"/>
                </a:cubicBezTo>
                <a:cubicBezTo>
                  <a:pt x="176" y="63"/>
                  <a:pt x="176" y="63"/>
                  <a:pt x="176" y="63"/>
                </a:cubicBezTo>
                <a:cubicBezTo>
                  <a:pt x="182" y="69"/>
                  <a:pt x="182" y="69"/>
                  <a:pt x="182" y="69"/>
                </a:cubicBezTo>
                <a:lnTo>
                  <a:pt x="184" y="67"/>
                </a:lnTo>
                <a:close/>
                <a:moveTo>
                  <a:pt x="232" y="116"/>
                </a:moveTo>
                <a:cubicBezTo>
                  <a:pt x="232" y="180"/>
                  <a:pt x="180" y="232"/>
                  <a:pt x="116" y="232"/>
                </a:cubicBezTo>
                <a:cubicBezTo>
                  <a:pt x="52" y="232"/>
                  <a:pt x="0" y="180"/>
                  <a:pt x="0" y="116"/>
                </a:cubicBezTo>
                <a:cubicBezTo>
                  <a:pt x="0" y="52"/>
                  <a:pt x="52" y="0"/>
                  <a:pt x="116" y="0"/>
                </a:cubicBezTo>
                <a:cubicBezTo>
                  <a:pt x="180" y="0"/>
                  <a:pt x="232" y="52"/>
                  <a:pt x="232" y="116"/>
                </a:cubicBezTo>
                <a:close/>
                <a:moveTo>
                  <a:pt x="191" y="128"/>
                </a:moveTo>
                <a:cubicBezTo>
                  <a:pt x="191" y="112"/>
                  <a:pt x="185" y="96"/>
                  <a:pt x="176" y="83"/>
                </a:cubicBezTo>
                <a:cubicBezTo>
                  <a:pt x="181" y="78"/>
                  <a:pt x="181" y="78"/>
                  <a:pt x="181" y="78"/>
                </a:cubicBezTo>
                <a:cubicBezTo>
                  <a:pt x="182" y="77"/>
                  <a:pt x="182" y="76"/>
                  <a:pt x="181" y="75"/>
                </a:cubicBezTo>
                <a:cubicBezTo>
                  <a:pt x="181" y="75"/>
                  <a:pt x="181" y="75"/>
                  <a:pt x="181" y="75"/>
                </a:cubicBezTo>
                <a:cubicBezTo>
                  <a:pt x="182" y="74"/>
                  <a:pt x="182" y="74"/>
                  <a:pt x="182" y="74"/>
                </a:cubicBezTo>
                <a:cubicBezTo>
                  <a:pt x="182" y="74"/>
                  <a:pt x="182" y="74"/>
                  <a:pt x="182" y="74"/>
                </a:cubicBezTo>
                <a:cubicBezTo>
                  <a:pt x="183" y="74"/>
                  <a:pt x="183" y="74"/>
                  <a:pt x="184" y="74"/>
                </a:cubicBezTo>
                <a:cubicBezTo>
                  <a:pt x="189" y="69"/>
                  <a:pt x="189" y="69"/>
                  <a:pt x="189" y="69"/>
                </a:cubicBezTo>
                <a:cubicBezTo>
                  <a:pt x="190" y="68"/>
                  <a:pt x="190" y="66"/>
                  <a:pt x="189" y="66"/>
                </a:cubicBezTo>
                <a:cubicBezTo>
                  <a:pt x="179" y="56"/>
                  <a:pt x="179" y="56"/>
                  <a:pt x="179" y="56"/>
                </a:cubicBezTo>
                <a:cubicBezTo>
                  <a:pt x="179" y="55"/>
                  <a:pt x="177" y="55"/>
                  <a:pt x="176" y="56"/>
                </a:cubicBezTo>
                <a:cubicBezTo>
                  <a:pt x="171" y="61"/>
                  <a:pt x="171" y="61"/>
                  <a:pt x="171" y="61"/>
                </a:cubicBezTo>
                <a:cubicBezTo>
                  <a:pt x="171" y="62"/>
                  <a:pt x="171" y="63"/>
                  <a:pt x="171" y="63"/>
                </a:cubicBezTo>
                <a:cubicBezTo>
                  <a:pt x="170" y="64"/>
                  <a:pt x="170" y="64"/>
                  <a:pt x="170" y="64"/>
                </a:cubicBezTo>
                <a:cubicBezTo>
                  <a:pt x="170" y="64"/>
                  <a:pt x="170" y="64"/>
                  <a:pt x="170" y="64"/>
                </a:cubicBezTo>
                <a:cubicBezTo>
                  <a:pt x="169" y="63"/>
                  <a:pt x="168" y="63"/>
                  <a:pt x="167" y="64"/>
                </a:cubicBezTo>
                <a:cubicBezTo>
                  <a:pt x="162" y="69"/>
                  <a:pt x="162" y="69"/>
                  <a:pt x="162" y="69"/>
                </a:cubicBezTo>
                <a:cubicBezTo>
                  <a:pt x="153" y="62"/>
                  <a:pt x="143" y="57"/>
                  <a:pt x="132" y="55"/>
                </a:cubicBezTo>
                <a:cubicBezTo>
                  <a:pt x="132" y="48"/>
                  <a:pt x="132" y="48"/>
                  <a:pt x="132" y="48"/>
                </a:cubicBezTo>
                <a:cubicBezTo>
                  <a:pt x="132" y="47"/>
                  <a:pt x="131" y="46"/>
                  <a:pt x="130" y="46"/>
                </a:cubicBezTo>
                <a:cubicBezTo>
                  <a:pt x="124" y="46"/>
                  <a:pt x="124" y="46"/>
                  <a:pt x="124" y="46"/>
                </a:cubicBezTo>
                <a:cubicBezTo>
                  <a:pt x="124" y="41"/>
                  <a:pt x="124" y="41"/>
                  <a:pt x="124" y="41"/>
                </a:cubicBezTo>
                <a:cubicBezTo>
                  <a:pt x="127" y="41"/>
                  <a:pt x="127" y="41"/>
                  <a:pt x="127" y="41"/>
                </a:cubicBezTo>
                <a:cubicBezTo>
                  <a:pt x="128" y="41"/>
                  <a:pt x="129" y="40"/>
                  <a:pt x="129" y="39"/>
                </a:cubicBezTo>
                <a:cubicBezTo>
                  <a:pt x="129" y="30"/>
                  <a:pt x="129" y="30"/>
                  <a:pt x="129" y="30"/>
                </a:cubicBezTo>
                <a:cubicBezTo>
                  <a:pt x="129" y="29"/>
                  <a:pt x="128" y="28"/>
                  <a:pt x="127" y="28"/>
                </a:cubicBezTo>
                <a:cubicBezTo>
                  <a:pt x="105" y="28"/>
                  <a:pt x="105" y="28"/>
                  <a:pt x="105" y="28"/>
                </a:cubicBezTo>
                <a:cubicBezTo>
                  <a:pt x="104" y="28"/>
                  <a:pt x="103" y="29"/>
                  <a:pt x="103" y="30"/>
                </a:cubicBezTo>
                <a:cubicBezTo>
                  <a:pt x="103" y="39"/>
                  <a:pt x="103" y="39"/>
                  <a:pt x="103" y="39"/>
                </a:cubicBezTo>
                <a:cubicBezTo>
                  <a:pt x="103" y="40"/>
                  <a:pt x="104" y="41"/>
                  <a:pt x="105" y="41"/>
                </a:cubicBezTo>
                <a:cubicBezTo>
                  <a:pt x="107" y="41"/>
                  <a:pt x="107" y="41"/>
                  <a:pt x="107" y="41"/>
                </a:cubicBezTo>
                <a:cubicBezTo>
                  <a:pt x="107" y="46"/>
                  <a:pt x="107" y="46"/>
                  <a:pt x="107" y="46"/>
                </a:cubicBezTo>
                <a:cubicBezTo>
                  <a:pt x="102" y="46"/>
                  <a:pt x="102" y="46"/>
                  <a:pt x="102" y="46"/>
                </a:cubicBezTo>
                <a:cubicBezTo>
                  <a:pt x="100" y="46"/>
                  <a:pt x="99" y="47"/>
                  <a:pt x="99" y="48"/>
                </a:cubicBezTo>
                <a:cubicBezTo>
                  <a:pt x="99" y="55"/>
                  <a:pt x="99" y="55"/>
                  <a:pt x="99" y="55"/>
                </a:cubicBezTo>
                <a:cubicBezTo>
                  <a:pt x="66" y="62"/>
                  <a:pt x="41" y="93"/>
                  <a:pt x="41" y="128"/>
                </a:cubicBezTo>
                <a:cubicBezTo>
                  <a:pt x="41" y="170"/>
                  <a:pt x="74" y="204"/>
                  <a:pt x="116" y="204"/>
                </a:cubicBezTo>
                <a:cubicBezTo>
                  <a:pt x="157" y="204"/>
                  <a:pt x="191" y="170"/>
                  <a:pt x="191" y="128"/>
                </a:cubicBezTo>
                <a:close/>
                <a:moveTo>
                  <a:pt x="183" y="128"/>
                </a:moveTo>
                <a:cubicBezTo>
                  <a:pt x="183" y="165"/>
                  <a:pt x="153" y="195"/>
                  <a:pt x="116" y="195"/>
                </a:cubicBezTo>
                <a:cubicBezTo>
                  <a:pt x="79" y="195"/>
                  <a:pt x="49" y="165"/>
                  <a:pt x="49" y="128"/>
                </a:cubicBezTo>
                <a:cubicBezTo>
                  <a:pt x="49" y="92"/>
                  <a:pt x="79" y="62"/>
                  <a:pt x="116" y="62"/>
                </a:cubicBezTo>
                <a:cubicBezTo>
                  <a:pt x="153" y="62"/>
                  <a:pt x="183" y="92"/>
                  <a:pt x="183" y="128"/>
                </a:cubicBezTo>
                <a:close/>
                <a:moveTo>
                  <a:pt x="170" y="128"/>
                </a:moveTo>
                <a:cubicBezTo>
                  <a:pt x="170" y="99"/>
                  <a:pt x="146" y="74"/>
                  <a:pt x="116" y="74"/>
                </a:cubicBezTo>
                <a:cubicBezTo>
                  <a:pt x="116" y="88"/>
                  <a:pt x="116" y="88"/>
                  <a:pt x="116" y="88"/>
                </a:cubicBezTo>
                <a:cubicBezTo>
                  <a:pt x="139" y="88"/>
                  <a:pt x="157" y="106"/>
                  <a:pt x="157" y="128"/>
                </a:cubicBezTo>
                <a:cubicBezTo>
                  <a:pt x="157" y="151"/>
                  <a:pt x="139" y="169"/>
                  <a:pt x="116" y="169"/>
                </a:cubicBezTo>
                <a:cubicBezTo>
                  <a:pt x="108" y="169"/>
                  <a:pt x="101" y="167"/>
                  <a:pt x="94" y="162"/>
                </a:cubicBezTo>
                <a:cubicBezTo>
                  <a:pt x="90" y="167"/>
                  <a:pt x="90" y="167"/>
                  <a:pt x="90" y="167"/>
                </a:cubicBezTo>
                <a:cubicBezTo>
                  <a:pt x="85" y="150"/>
                  <a:pt x="85" y="150"/>
                  <a:pt x="85" y="150"/>
                </a:cubicBezTo>
                <a:cubicBezTo>
                  <a:pt x="103" y="154"/>
                  <a:pt x="103" y="154"/>
                  <a:pt x="103" y="154"/>
                </a:cubicBezTo>
                <a:cubicBezTo>
                  <a:pt x="99" y="158"/>
                  <a:pt x="99" y="158"/>
                  <a:pt x="99" y="158"/>
                </a:cubicBezTo>
                <a:cubicBezTo>
                  <a:pt x="104" y="161"/>
                  <a:pt x="110" y="163"/>
                  <a:pt x="116" y="163"/>
                </a:cubicBezTo>
                <a:cubicBezTo>
                  <a:pt x="135" y="163"/>
                  <a:pt x="151" y="147"/>
                  <a:pt x="151" y="128"/>
                </a:cubicBezTo>
                <a:cubicBezTo>
                  <a:pt x="151" y="109"/>
                  <a:pt x="135" y="94"/>
                  <a:pt x="116" y="94"/>
                </a:cubicBezTo>
                <a:cubicBezTo>
                  <a:pt x="116" y="127"/>
                  <a:pt x="116" y="127"/>
                  <a:pt x="116" y="127"/>
                </a:cubicBezTo>
                <a:cubicBezTo>
                  <a:pt x="72" y="159"/>
                  <a:pt x="72" y="159"/>
                  <a:pt x="72" y="159"/>
                </a:cubicBezTo>
                <a:cubicBezTo>
                  <a:pt x="82" y="173"/>
                  <a:pt x="98" y="183"/>
                  <a:pt x="116" y="183"/>
                </a:cubicBezTo>
                <a:cubicBezTo>
                  <a:pt x="146" y="183"/>
                  <a:pt x="170" y="158"/>
                  <a:pt x="170" y="128"/>
                </a:cubicBez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16" name="Freeform 15"/>
          <p:cNvSpPr>
            <a:spLocks noEditPoints="1"/>
          </p:cNvSpPr>
          <p:nvPr/>
        </p:nvSpPr>
        <p:spPr bwMode="auto">
          <a:xfrm>
            <a:off x="3322439" y="2946875"/>
            <a:ext cx="1879436" cy="1882868"/>
          </a:xfrm>
          <a:custGeom>
            <a:avLst/>
            <a:gdLst>
              <a:gd name="T0" fmla="*/ 120 w 232"/>
              <a:gd name="T1" fmla="*/ 140 h 232"/>
              <a:gd name="T2" fmla="*/ 144 w 232"/>
              <a:gd name="T3" fmla="*/ 116 h 232"/>
              <a:gd name="T4" fmla="*/ 120 w 232"/>
              <a:gd name="T5" fmla="*/ 92 h 232"/>
              <a:gd name="T6" fmla="*/ 96 w 232"/>
              <a:gd name="T7" fmla="*/ 116 h 232"/>
              <a:gd name="T8" fmla="*/ 120 w 232"/>
              <a:gd name="T9" fmla="*/ 140 h 232"/>
              <a:gd name="T10" fmla="*/ 120 w 232"/>
              <a:gd name="T11" fmla="*/ 94 h 232"/>
              <a:gd name="T12" fmla="*/ 141 w 232"/>
              <a:gd name="T13" fmla="*/ 116 h 232"/>
              <a:gd name="T14" fmla="*/ 120 w 232"/>
              <a:gd name="T15" fmla="*/ 137 h 232"/>
              <a:gd name="T16" fmla="*/ 98 w 232"/>
              <a:gd name="T17" fmla="*/ 116 h 232"/>
              <a:gd name="T18" fmla="*/ 120 w 232"/>
              <a:gd name="T19" fmla="*/ 94 h 232"/>
              <a:gd name="T20" fmla="*/ 105 w 232"/>
              <a:gd name="T21" fmla="*/ 116 h 232"/>
              <a:gd name="T22" fmla="*/ 120 w 232"/>
              <a:gd name="T23" fmla="*/ 101 h 232"/>
              <a:gd name="T24" fmla="*/ 134 w 232"/>
              <a:gd name="T25" fmla="*/ 116 h 232"/>
              <a:gd name="T26" fmla="*/ 120 w 232"/>
              <a:gd name="T27" fmla="*/ 130 h 232"/>
              <a:gd name="T28" fmla="*/ 105 w 232"/>
              <a:gd name="T29" fmla="*/ 116 h 232"/>
              <a:gd name="T30" fmla="*/ 116 w 232"/>
              <a:gd name="T31" fmla="*/ 0 h 232"/>
              <a:gd name="T32" fmla="*/ 0 w 232"/>
              <a:gd name="T33" fmla="*/ 116 h 232"/>
              <a:gd name="T34" fmla="*/ 116 w 232"/>
              <a:gd name="T35" fmla="*/ 232 h 232"/>
              <a:gd name="T36" fmla="*/ 232 w 232"/>
              <a:gd name="T37" fmla="*/ 116 h 232"/>
              <a:gd name="T38" fmla="*/ 116 w 232"/>
              <a:gd name="T39" fmla="*/ 0 h 232"/>
              <a:gd name="T40" fmla="*/ 179 w 232"/>
              <a:gd name="T41" fmla="*/ 175 h 232"/>
              <a:gd name="T42" fmla="*/ 60 w 232"/>
              <a:gd name="T43" fmla="*/ 175 h 232"/>
              <a:gd name="T44" fmla="*/ 40 w 232"/>
              <a:gd name="T45" fmla="*/ 141 h 232"/>
              <a:gd name="T46" fmla="*/ 29 w 232"/>
              <a:gd name="T47" fmla="*/ 142 h 232"/>
              <a:gd name="T48" fmla="*/ 41 w 232"/>
              <a:gd name="T49" fmla="*/ 113 h 232"/>
              <a:gd name="T50" fmla="*/ 60 w 232"/>
              <a:gd name="T51" fmla="*/ 138 h 232"/>
              <a:gd name="T52" fmla="*/ 50 w 232"/>
              <a:gd name="T53" fmla="*/ 139 h 232"/>
              <a:gd name="T54" fmla="*/ 68 w 232"/>
              <a:gd name="T55" fmla="*/ 168 h 232"/>
              <a:gd name="T56" fmla="*/ 172 w 232"/>
              <a:gd name="T57" fmla="*/ 168 h 232"/>
              <a:gd name="T58" fmla="*/ 172 w 232"/>
              <a:gd name="T59" fmla="*/ 64 h 232"/>
              <a:gd name="T60" fmla="*/ 68 w 232"/>
              <a:gd name="T61" fmla="*/ 64 h 232"/>
              <a:gd name="T62" fmla="*/ 60 w 232"/>
              <a:gd name="T63" fmla="*/ 56 h 232"/>
              <a:gd name="T64" fmla="*/ 179 w 232"/>
              <a:gd name="T65" fmla="*/ 56 h 232"/>
              <a:gd name="T66" fmla="*/ 179 w 232"/>
              <a:gd name="T67" fmla="*/ 175 h 232"/>
              <a:gd name="T68" fmla="*/ 72 w 232"/>
              <a:gd name="T69" fmla="*/ 103 h 232"/>
              <a:gd name="T70" fmla="*/ 77 w 232"/>
              <a:gd name="T71" fmla="*/ 91 h 232"/>
              <a:gd name="T72" fmla="*/ 92 w 232"/>
              <a:gd name="T73" fmla="*/ 88 h 232"/>
              <a:gd name="T74" fmla="*/ 95 w 232"/>
              <a:gd name="T75" fmla="*/ 73 h 232"/>
              <a:gd name="T76" fmla="*/ 107 w 232"/>
              <a:gd name="T77" fmla="*/ 68 h 232"/>
              <a:gd name="T78" fmla="*/ 120 w 232"/>
              <a:gd name="T79" fmla="*/ 77 h 232"/>
              <a:gd name="T80" fmla="*/ 133 w 232"/>
              <a:gd name="T81" fmla="*/ 68 h 232"/>
              <a:gd name="T82" fmla="*/ 145 w 232"/>
              <a:gd name="T83" fmla="*/ 73 h 232"/>
              <a:gd name="T84" fmla="*/ 147 w 232"/>
              <a:gd name="T85" fmla="*/ 88 h 232"/>
              <a:gd name="T86" fmla="*/ 163 w 232"/>
              <a:gd name="T87" fmla="*/ 91 h 232"/>
              <a:gd name="T88" fmla="*/ 168 w 232"/>
              <a:gd name="T89" fmla="*/ 103 h 232"/>
              <a:gd name="T90" fmla="*/ 159 w 232"/>
              <a:gd name="T91" fmla="*/ 116 h 232"/>
              <a:gd name="T92" fmla="*/ 168 w 232"/>
              <a:gd name="T93" fmla="*/ 128 h 232"/>
              <a:gd name="T94" fmla="*/ 163 w 232"/>
              <a:gd name="T95" fmla="*/ 141 h 232"/>
              <a:gd name="T96" fmla="*/ 147 w 232"/>
              <a:gd name="T97" fmla="*/ 143 h 232"/>
              <a:gd name="T98" fmla="*/ 145 w 232"/>
              <a:gd name="T99" fmla="*/ 159 h 232"/>
              <a:gd name="T100" fmla="*/ 133 w 232"/>
              <a:gd name="T101" fmla="*/ 164 h 232"/>
              <a:gd name="T102" fmla="*/ 120 w 232"/>
              <a:gd name="T103" fmla="*/ 155 h 232"/>
              <a:gd name="T104" fmla="*/ 107 w 232"/>
              <a:gd name="T105" fmla="*/ 164 h 232"/>
              <a:gd name="T106" fmla="*/ 95 w 232"/>
              <a:gd name="T107" fmla="*/ 159 h 232"/>
              <a:gd name="T108" fmla="*/ 92 w 232"/>
              <a:gd name="T109" fmla="*/ 143 h 232"/>
              <a:gd name="T110" fmla="*/ 77 w 232"/>
              <a:gd name="T111" fmla="*/ 141 h 232"/>
              <a:gd name="T112" fmla="*/ 72 w 232"/>
              <a:gd name="T113" fmla="*/ 128 h 232"/>
              <a:gd name="T114" fmla="*/ 81 w 232"/>
              <a:gd name="T115" fmla="*/ 116 h 232"/>
              <a:gd name="T116" fmla="*/ 72 w 232"/>
              <a:gd name="T117" fmla="*/ 103 h 2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32" h="232">
                <a:moveTo>
                  <a:pt x="120" y="140"/>
                </a:moveTo>
                <a:cubicBezTo>
                  <a:pt x="133" y="140"/>
                  <a:pt x="144" y="129"/>
                  <a:pt x="144" y="116"/>
                </a:cubicBezTo>
                <a:cubicBezTo>
                  <a:pt x="144" y="103"/>
                  <a:pt x="133" y="92"/>
                  <a:pt x="120" y="92"/>
                </a:cubicBezTo>
                <a:cubicBezTo>
                  <a:pt x="107" y="92"/>
                  <a:pt x="96" y="103"/>
                  <a:pt x="96" y="116"/>
                </a:cubicBezTo>
                <a:cubicBezTo>
                  <a:pt x="96" y="129"/>
                  <a:pt x="107" y="140"/>
                  <a:pt x="120" y="140"/>
                </a:cubicBezTo>
                <a:close/>
                <a:moveTo>
                  <a:pt x="120" y="94"/>
                </a:moveTo>
                <a:cubicBezTo>
                  <a:pt x="132" y="94"/>
                  <a:pt x="141" y="104"/>
                  <a:pt x="141" y="116"/>
                </a:cubicBezTo>
                <a:cubicBezTo>
                  <a:pt x="141" y="128"/>
                  <a:pt x="132" y="137"/>
                  <a:pt x="120" y="137"/>
                </a:cubicBezTo>
                <a:cubicBezTo>
                  <a:pt x="108" y="137"/>
                  <a:pt x="98" y="128"/>
                  <a:pt x="98" y="116"/>
                </a:cubicBezTo>
                <a:cubicBezTo>
                  <a:pt x="98" y="104"/>
                  <a:pt x="108" y="94"/>
                  <a:pt x="120" y="94"/>
                </a:cubicBezTo>
                <a:close/>
                <a:moveTo>
                  <a:pt x="105" y="116"/>
                </a:moveTo>
                <a:cubicBezTo>
                  <a:pt x="105" y="108"/>
                  <a:pt x="112" y="101"/>
                  <a:pt x="120" y="101"/>
                </a:cubicBezTo>
                <a:cubicBezTo>
                  <a:pt x="128" y="101"/>
                  <a:pt x="134" y="108"/>
                  <a:pt x="134" y="116"/>
                </a:cubicBezTo>
                <a:cubicBezTo>
                  <a:pt x="134" y="124"/>
                  <a:pt x="128" y="130"/>
                  <a:pt x="120" y="130"/>
                </a:cubicBezTo>
                <a:cubicBezTo>
                  <a:pt x="112" y="130"/>
                  <a:pt x="105" y="124"/>
                  <a:pt x="105" y="116"/>
                </a:cubicBezTo>
                <a:close/>
                <a:moveTo>
                  <a:pt x="116" y="0"/>
                </a:moveTo>
                <a:cubicBezTo>
                  <a:pt x="53" y="0"/>
                  <a:pt x="0" y="52"/>
                  <a:pt x="0" y="116"/>
                </a:cubicBezTo>
                <a:cubicBezTo>
                  <a:pt x="0" y="180"/>
                  <a:pt x="53" y="232"/>
                  <a:pt x="116" y="232"/>
                </a:cubicBezTo>
                <a:cubicBezTo>
                  <a:pt x="180" y="232"/>
                  <a:pt x="232" y="180"/>
                  <a:pt x="232" y="116"/>
                </a:cubicBezTo>
                <a:cubicBezTo>
                  <a:pt x="232" y="52"/>
                  <a:pt x="180" y="0"/>
                  <a:pt x="116" y="0"/>
                </a:cubicBezTo>
                <a:close/>
                <a:moveTo>
                  <a:pt x="179" y="175"/>
                </a:moveTo>
                <a:cubicBezTo>
                  <a:pt x="146" y="208"/>
                  <a:pt x="93" y="208"/>
                  <a:pt x="60" y="175"/>
                </a:cubicBezTo>
                <a:cubicBezTo>
                  <a:pt x="51" y="165"/>
                  <a:pt x="44" y="154"/>
                  <a:pt x="40" y="141"/>
                </a:cubicBezTo>
                <a:cubicBezTo>
                  <a:pt x="29" y="142"/>
                  <a:pt x="29" y="142"/>
                  <a:pt x="29" y="142"/>
                </a:cubicBezTo>
                <a:cubicBezTo>
                  <a:pt x="41" y="113"/>
                  <a:pt x="41" y="113"/>
                  <a:pt x="41" y="113"/>
                </a:cubicBezTo>
                <a:cubicBezTo>
                  <a:pt x="60" y="138"/>
                  <a:pt x="60" y="138"/>
                  <a:pt x="60" y="138"/>
                </a:cubicBezTo>
                <a:cubicBezTo>
                  <a:pt x="50" y="139"/>
                  <a:pt x="50" y="139"/>
                  <a:pt x="50" y="139"/>
                </a:cubicBezTo>
                <a:cubicBezTo>
                  <a:pt x="54" y="150"/>
                  <a:pt x="60" y="160"/>
                  <a:pt x="68" y="168"/>
                </a:cubicBezTo>
                <a:cubicBezTo>
                  <a:pt x="96" y="196"/>
                  <a:pt x="143" y="196"/>
                  <a:pt x="172" y="168"/>
                </a:cubicBezTo>
                <a:cubicBezTo>
                  <a:pt x="200" y="139"/>
                  <a:pt x="200" y="92"/>
                  <a:pt x="172" y="64"/>
                </a:cubicBezTo>
                <a:cubicBezTo>
                  <a:pt x="143" y="35"/>
                  <a:pt x="96" y="35"/>
                  <a:pt x="68" y="64"/>
                </a:cubicBezTo>
                <a:cubicBezTo>
                  <a:pt x="60" y="56"/>
                  <a:pt x="60" y="56"/>
                  <a:pt x="60" y="56"/>
                </a:cubicBezTo>
                <a:cubicBezTo>
                  <a:pt x="93" y="24"/>
                  <a:pt x="146" y="24"/>
                  <a:pt x="179" y="56"/>
                </a:cubicBezTo>
                <a:cubicBezTo>
                  <a:pt x="212" y="89"/>
                  <a:pt x="212" y="142"/>
                  <a:pt x="179" y="175"/>
                </a:cubicBezTo>
                <a:close/>
                <a:moveTo>
                  <a:pt x="72" y="103"/>
                </a:moveTo>
                <a:cubicBezTo>
                  <a:pt x="73" y="99"/>
                  <a:pt x="75" y="95"/>
                  <a:pt x="77" y="91"/>
                </a:cubicBezTo>
                <a:cubicBezTo>
                  <a:pt x="82" y="93"/>
                  <a:pt x="88" y="92"/>
                  <a:pt x="92" y="88"/>
                </a:cubicBezTo>
                <a:cubicBezTo>
                  <a:pt x="96" y="84"/>
                  <a:pt x="97" y="78"/>
                  <a:pt x="95" y="73"/>
                </a:cubicBezTo>
                <a:cubicBezTo>
                  <a:pt x="99" y="71"/>
                  <a:pt x="103" y="69"/>
                  <a:pt x="107" y="68"/>
                </a:cubicBezTo>
                <a:cubicBezTo>
                  <a:pt x="109" y="73"/>
                  <a:pt x="114" y="77"/>
                  <a:pt x="120" y="77"/>
                </a:cubicBezTo>
                <a:cubicBezTo>
                  <a:pt x="126" y="77"/>
                  <a:pt x="131" y="73"/>
                  <a:pt x="133" y="68"/>
                </a:cubicBezTo>
                <a:cubicBezTo>
                  <a:pt x="137" y="69"/>
                  <a:pt x="141" y="71"/>
                  <a:pt x="145" y="73"/>
                </a:cubicBezTo>
                <a:cubicBezTo>
                  <a:pt x="142" y="78"/>
                  <a:pt x="143" y="84"/>
                  <a:pt x="147" y="88"/>
                </a:cubicBezTo>
                <a:cubicBezTo>
                  <a:pt x="151" y="92"/>
                  <a:pt x="158" y="93"/>
                  <a:pt x="163" y="91"/>
                </a:cubicBezTo>
                <a:cubicBezTo>
                  <a:pt x="165" y="95"/>
                  <a:pt x="167" y="99"/>
                  <a:pt x="168" y="103"/>
                </a:cubicBezTo>
                <a:cubicBezTo>
                  <a:pt x="162" y="105"/>
                  <a:pt x="159" y="110"/>
                  <a:pt x="159" y="116"/>
                </a:cubicBezTo>
                <a:cubicBezTo>
                  <a:pt x="159" y="122"/>
                  <a:pt x="162" y="127"/>
                  <a:pt x="168" y="128"/>
                </a:cubicBezTo>
                <a:cubicBezTo>
                  <a:pt x="167" y="133"/>
                  <a:pt x="165" y="137"/>
                  <a:pt x="163" y="141"/>
                </a:cubicBezTo>
                <a:cubicBezTo>
                  <a:pt x="158" y="138"/>
                  <a:pt x="151" y="139"/>
                  <a:pt x="147" y="143"/>
                </a:cubicBezTo>
                <a:cubicBezTo>
                  <a:pt x="143" y="147"/>
                  <a:pt x="142" y="154"/>
                  <a:pt x="145" y="159"/>
                </a:cubicBezTo>
                <a:cubicBezTo>
                  <a:pt x="141" y="161"/>
                  <a:pt x="137" y="162"/>
                  <a:pt x="133" y="164"/>
                </a:cubicBezTo>
                <a:cubicBezTo>
                  <a:pt x="131" y="158"/>
                  <a:pt x="126" y="155"/>
                  <a:pt x="120" y="155"/>
                </a:cubicBezTo>
                <a:cubicBezTo>
                  <a:pt x="114" y="155"/>
                  <a:pt x="109" y="158"/>
                  <a:pt x="107" y="164"/>
                </a:cubicBezTo>
                <a:cubicBezTo>
                  <a:pt x="103" y="162"/>
                  <a:pt x="99" y="161"/>
                  <a:pt x="95" y="159"/>
                </a:cubicBezTo>
                <a:cubicBezTo>
                  <a:pt x="97" y="154"/>
                  <a:pt x="96" y="147"/>
                  <a:pt x="92" y="143"/>
                </a:cubicBezTo>
                <a:cubicBezTo>
                  <a:pt x="88" y="139"/>
                  <a:pt x="82" y="138"/>
                  <a:pt x="77" y="141"/>
                </a:cubicBezTo>
                <a:cubicBezTo>
                  <a:pt x="75" y="137"/>
                  <a:pt x="73" y="133"/>
                  <a:pt x="72" y="128"/>
                </a:cubicBezTo>
                <a:cubicBezTo>
                  <a:pt x="77" y="127"/>
                  <a:pt x="81" y="122"/>
                  <a:pt x="81" y="116"/>
                </a:cubicBezTo>
                <a:cubicBezTo>
                  <a:pt x="81" y="110"/>
                  <a:pt x="77" y="105"/>
                  <a:pt x="72" y="103"/>
                </a:cubicBezTo>
                <a:close/>
              </a:path>
            </a:pathLst>
          </a:custGeom>
          <a:solidFill>
            <a:schemeClr val="tx2">
              <a:lumMod val="75000"/>
            </a:schemeClr>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17" name="TextBox 16"/>
          <p:cNvSpPr txBox="1"/>
          <p:nvPr/>
        </p:nvSpPr>
        <p:spPr>
          <a:xfrm>
            <a:off x="1309140" y="571516"/>
            <a:ext cx="9573720" cy="923330"/>
          </a:xfrm>
          <a:prstGeom prst="rect">
            <a:avLst/>
          </a:prstGeom>
          <a:noFill/>
        </p:spPr>
        <p:txBody>
          <a:bodyPr wrap="square" rtlCol="0" anchor="ctr">
            <a:spAutoFit/>
          </a:bodyPr>
          <a:lstStyle/>
          <a:p>
            <a:pPr algn="ctr" rtl="1"/>
            <a:r>
              <a:rPr lang="ar-DZ" sz="5400" b="1" dirty="0">
                <a:latin typeface="DIN Next LT Arabic Light" panose="020B0303020203050203" pitchFamily="34" charset="-78"/>
                <a:cs typeface="DIN Next LT Arabic Light" panose="020B0303020203050203" pitchFamily="34" charset="-78"/>
              </a:rPr>
              <a:t>الحلول المقترحة</a:t>
            </a:r>
            <a:endParaRPr lang="en-ID" sz="5400" b="1" dirty="0">
              <a:latin typeface="DIN Next LT Arabic Light" panose="020B0303020203050203" pitchFamily="34" charset="-78"/>
              <a:cs typeface="DIN Next LT Arabic Light" panose="020B0303020203050203" pitchFamily="34" charset="-78"/>
            </a:endParaRPr>
          </a:p>
        </p:txBody>
      </p:sp>
      <p:sp>
        <p:nvSpPr>
          <p:cNvPr id="18" name="Rectangle 17"/>
          <p:cNvSpPr/>
          <p:nvPr/>
        </p:nvSpPr>
        <p:spPr>
          <a:xfrm>
            <a:off x="0" y="0"/>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r-FR" dirty="0">
                <a:latin typeface="DIN Next LT Arabic Light" panose="020B0303020203050203" pitchFamily="34" charset="-78"/>
                <a:cs typeface="DIN Next LT Arabic Light" panose="020B0303020203050203" pitchFamily="34" charset="-78"/>
              </a:rPr>
              <a:t>MATAX</a:t>
            </a:r>
            <a:endParaRPr lang="en-ID" dirty="0">
              <a:latin typeface="DIN Next LT Arabic Light" panose="020B0303020203050203" pitchFamily="34" charset="-78"/>
              <a:cs typeface="DIN Next LT Arabic Light" panose="020B0303020203050203" pitchFamily="34" charset="-78"/>
            </a:endParaRPr>
          </a:p>
        </p:txBody>
      </p:sp>
    </p:spTree>
    <p:extLst>
      <p:ext uri="{BB962C8B-B14F-4D97-AF65-F5344CB8AC3E}">
        <p14:creationId xmlns:p14="http://schemas.microsoft.com/office/powerpoint/2010/main" val="198946729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40D1-72B8-3FC1-6221-A4A73C717D92}"/>
            </a:ext>
          </a:extLst>
        </p:cNvPr>
        <p:cNvGrpSpPr/>
        <p:nvPr/>
      </p:nvGrpSpPr>
      <p:grpSpPr>
        <a:xfrm>
          <a:off x="0" y="0"/>
          <a:ext cx="0" cy="0"/>
          <a:chOff x="0" y="0"/>
          <a:chExt cx="0" cy="0"/>
        </a:xfrm>
      </p:grpSpPr>
      <p:sp>
        <p:nvSpPr>
          <p:cNvPr id="2" name="Rounded Rectangle 1">
            <a:extLst>
              <a:ext uri="{FF2B5EF4-FFF2-40B4-BE49-F238E27FC236}">
                <a16:creationId xmlns:a16="http://schemas.microsoft.com/office/drawing/2014/main" id="{4E8561D4-B67B-F346-EA32-C716E4633DE4}"/>
              </a:ext>
            </a:extLst>
          </p:cNvPr>
          <p:cNvSpPr/>
          <p:nvPr/>
        </p:nvSpPr>
        <p:spPr>
          <a:xfrm rot="5400000">
            <a:off x="1266944" y="2041186"/>
            <a:ext cx="833440" cy="2075544"/>
          </a:xfrm>
          <a:prstGeom prst="roundRect">
            <a:avLst>
              <a:gd name="adj" fmla="val 11397"/>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3" name="Rounded Rectangle 2">
            <a:extLst>
              <a:ext uri="{FF2B5EF4-FFF2-40B4-BE49-F238E27FC236}">
                <a16:creationId xmlns:a16="http://schemas.microsoft.com/office/drawing/2014/main" id="{21650DA5-9515-E69D-D158-043C52747716}"/>
              </a:ext>
            </a:extLst>
          </p:cNvPr>
          <p:cNvSpPr/>
          <p:nvPr/>
        </p:nvSpPr>
        <p:spPr>
          <a:xfrm>
            <a:off x="776523" y="2248807"/>
            <a:ext cx="1814285" cy="3033486"/>
          </a:xfrm>
          <a:prstGeom prst="roundRect">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4" name="Chevron 3">
            <a:extLst>
              <a:ext uri="{FF2B5EF4-FFF2-40B4-BE49-F238E27FC236}">
                <a16:creationId xmlns:a16="http://schemas.microsoft.com/office/drawing/2014/main" id="{920151DB-0C5E-2061-BF66-3B500306AAF8}"/>
              </a:ext>
            </a:extLst>
          </p:cNvPr>
          <p:cNvSpPr/>
          <p:nvPr/>
        </p:nvSpPr>
        <p:spPr>
          <a:xfrm rot="5400000">
            <a:off x="1030934" y="2357260"/>
            <a:ext cx="1305461" cy="2075542"/>
          </a:xfrm>
          <a:prstGeom prst="chevron">
            <a:avLst>
              <a:gd name="adj" fmla="val 26552"/>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5" name="TextBox 4">
            <a:extLst>
              <a:ext uri="{FF2B5EF4-FFF2-40B4-BE49-F238E27FC236}">
                <a16:creationId xmlns:a16="http://schemas.microsoft.com/office/drawing/2014/main" id="{A41B56AB-DC23-EBD5-9807-6E5182CBBEC8}"/>
              </a:ext>
            </a:extLst>
          </p:cNvPr>
          <p:cNvSpPr txBox="1"/>
          <p:nvPr/>
        </p:nvSpPr>
        <p:spPr>
          <a:xfrm>
            <a:off x="776517" y="4155479"/>
            <a:ext cx="1814288" cy="738664"/>
          </a:xfrm>
          <a:prstGeom prst="rect">
            <a:avLst/>
          </a:prstGeom>
          <a:noFill/>
        </p:spPr>
        <p:txBody>
          <a:bodyPr wrap="square" rtlCol="0">
            <a:spAutoFit/>
          </a:bodyPr>
          <a:lstStyle/>
          <a:p>
            <a:pPr algn="ctr" rtl="1"/>
            <a:r>
              <a:rPr lang="ar-EG" sz="1400" dirty="0">
                <a:latin typeface="DIN Next LT Arabic Light" panose="020B0303020203050203" pitchFamily="34" charset="-78"/>
                <a:cs typeface="DIN Next LT Arabic Light" panose="020B0303020203050203" pitchFamily="34" charset="-78"/>
              </a:rPr>
              <a:t>تحقيق نسبة خطأ 0% في الحسابات والتصاريح المولّدة.</a:t>
            </a:r>
          </a:p>
        </p:txBody>
      </p:sp>
      <p:sp>
        <p:nvSpPr>
          <p:cNvPr id="6" name="TextBox 5">
            <a:extLst>
              <a:ext uri="{FF2B5EF4-FFF2-40B4-BE49-F238E27FC236}">
                <a16:creationId xmlns:a16="http://schemas.microsoft.com/office/drawing/2014/main" id="{E9C402DF-1ED9-3B82-93C9-329EC8EE1823}"/>
              </a:ext>
            </a:extLst>
          </p:cNvPr>
          <p:cNvSpPr txBox="1"/>
          <p:nvPr/>
        </p:nvSpPr>
        <p:spPr>
          <a:xfrm>
            <a:off x="776519" y="2351991"/>
            <a:ext cx="1814289" cy="646331"/>
          </a:xfrm>
          <a:prstGeom prst="rect">
            <a:avLst/>
          </a:prstGeom>
          <a:noFill/>
        </p:spPr>
        <p:txBody>
          <a:bodyPr wrap="square" rtlCol="0">
            <a:spAutoFit/>
          </a:bodyPr>
          <a:lstStyle/>
          <a:p>
            <a:pPr algn="ctr" rtl="1"/>
            <a:r>
              <a:rPr lang="ar-EG" b="1" dirty="0">
                <a:solidFill>
                  <a:schemeClr val="accent1"/>
                </a:solidFill>
                <a:latin typeface="DIN Next LT Arabic Light" panose="020B0303020203050203" pitchFamily="34" charset="-78"/>
                <a:cs typeface="DIN Next LT Arabic Light" panose="020B0303020203050203" pitchFamily="34" charset="-78"/>
              </a:rPr>
              <a:t>الأتمتة الدقيقة بنسبة خطأ 0%</a:t>
            </a:r>
          </a:p>
        </p:txBody>
      </p:sp>
      <p:sp>
        <p:nvSpPr>
          <p:cNvPr id="7" name="Rounded Rectangle 6">
            <a:extLst>
              <a:ext uri="{FF2B5EF4-FFF2-40B4-BE49-F238E27FC236}">
                <a16:creationId xmlns:a16="http://schemas.microsoft.com/office/drawing/2014/main" id="{DC6B5223-90A0-8887-9D8F-CBC660610F2D}"/>
              </a:ext>
            </a:extLst>
          </p:cNvPr>
          <p:cNvSpPr/>
          <p:nvPr/>
        </p:nvSpPr>
        <p:spPr>
          <a:xfrm rot="5400000">
            <a:off x="3473112" y="2041186"/>
            <a:ext cx="833440" cy="2075544"/>
          </a:xfrm>
          <a:prstGeom prst="roundRect">
            <a:avLst>
              <a:gd name="adj" fmla="val 11397"/>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8" name="Rounded Rectangle 7">
            <a:extLst>
              <a:ext uri="{FF2B5EF4-FFF2-40B4-BE49-F238E27FC236}">
                <a16:creationId xmlns:a16="http://schemas.microsoft.com/office/drawing/2014/main" id="{10018C44-DE95-A999-9120-0F057982A4C6}"/>
              </a:ext>
            </a:extLst>
          </p:cNvPr>
          <p:cNvSpPr/>
          <p:nvPr/>
        </p:nvSpPr>
        <p:spPr>
          <a:xfrm>
            <a:off x="2982691" y="2248807"/>
            <a:ext cx="1814285" cy="3033486"/>
          </a:xfrm>
          <a:prstGeom prst="roundRect">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9" name="Chevron 8">
            <a:extLst>
              <a:ext uri="{FF2B5EF4-FFF2-40B4-BE49-F238E27FC236}">
                <a16:creationId xmlns:a16="http://schemas.microsoft.com/office/drawing/2014/main" id="{AC7FF5CE-331A-AAA3-1A31-3DE6E9C4D43A}"/>
              </a:ext>
            </a:extLst>
          </p:cNvPr>
          <p:cNvSpPr/>
          <p:nvPr/>
        </p:nvSpPr>
        <p:spPr>
          <a:xfrm rot="5400000">
            <a:off x="3237103" y="2357259"/>
            <a:ext cx="1305460" cy="2075542"/>
          </a:xfrm>
          <a:prstGeom prst="chevron">
            <a:avLst>
              <a:gd name="adj" fmla="val 26552"/>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10" name="TextBox 9">
            <a:extLst>
              <a:ext uri="{FF2B5EF4-FFF2-40B4-BE49-F238E27FC236}">
                <a16:creationId xmlns:a16="http://schemas.microsoft.com/office/drawing/2014/main" id="{21350810-D8BA-28B7-EC8A-9A4099E16989}"/>
              </a:ext>
            </a:extLst>
          </p:cNvPr>
          <p:cNvSpPr txBox="1"/>
          <p:nvPr/>
        </p:nvSpPr>
        <p:spPr>
          <a:xfrm>
            <a:off x="2982687" y="4100730"/>
            <a:ext cx="1814288" cy="738664"/>
          </a:xfrm>
          <a:prstGeom prst="rect">
            <a:avLst/>
          </a:prstGeom>
          <a:noFill/>
        </p:spPr>
        <p:txBody>
          <a:bodyPr wrap="square" rtlCol="0">
            <a:spAutoFit/>
          </a:bodyPr>
          <a:lstStyle/>
          <a:p>
            <a:pPr algn="ctr" rtl="1"/>
            <a:r>
              <a:rPr lang="ar-EG" sz="1400" dirty="0">
                <a:latin typeface="DIN Next LT Arabic Light" panose="020B0303020203050203" pitchFamily="34" charset="-78"/>
                <a:cs typeface="DIN Next LT Arabic Light" panose="020B0303020203050203" pitchFamily="34" charset="-78"/>
              </a:rPr>
              <a:t>استقطاب 400 عميل في السنة الأولى مع نمو شهري بنسبة 20%.</a:t>
            </a:r>
          </a:p>
        </p:txBody>
      </p:sp>
      <p:sp>
        <p:nvSpPr>
          <p:cNvPr id="11" name="TextBox 10">
            <a:extLst>
              <a:ext uri="{FF2B5EF4-FFF2-40B4-BE49-F238E27FC236}">
                <a16:creationId xmlns:a16="http://schemas.microsoft.com/office/drawing/2014/main" id="{3DF8F507-1296-1D27-7CA5-902CDE7D0D86}"/>
              </a:ext>
            </a:extLst>
          </p:cNvPr>
          <p:cNvSpPr txBox="1"/>
          <p:nvPr/>
        </p:nvSpPr>
        <p:spPr>
          <a:xfrm>
            <a:off x="2982687" y="2351991"/>
            <a:ext cx="1814289" cy="646331"/>
          </a:xfrm>
          <a:prstGeom prst="rect">
            <a:avLst/>
          </a:prstGeom>
          <a:noFill/>
        </p:spPr>
        <p:txBody>
          <a:bodyPr wrap="square" rtlCol="0">
            <a:spAutoFit/>
          </a:bodyPr>
          <a:lstStyle/>
          <a:p>
            <a:pPr algn="ctr" rtl="1"/>
            <a:r>
              <a:rPr lang="ar-EG" b="1" dirty="0">
                <a:solidFill>
                  <a:schemeClr val="accent2"/>
                </a:solidFill>
                <a:latin typeface="DIN Next LT Arabic Light" panose="020B0303020203050203" pitchFamily="34" charset="-78"/>
                <a:cs typeface="DIN Next LT Arabic Light" panose="020B0303020203050203" pitchFamily="34" charset="-78"/>
              </a:rPr>
              <a:t>الاستحواذ على حصة سوقية مستهدفة</a:t>
            </a:r>
          </a:p>
        </p:txBody>
      </p:sp>
      <p:sp>
        <p:nvSpPr>
          <p:cNvPr id="12" name="Rounded Rectangle 11">
            <a:extLst>
              <a:ext uri="{FF2B5EF4-FFF2-40B4-BE49-F238E27FC236}">
                <a16:creationId xmlns:a16="http://schemas.microsoft.com/office/drawing/2014/main" id="{A0F01BD5-DB02-2BDD-FF4C-90C54B7C4CC0}"/>
              </a:ext>
            </a:extLst>
          </p:cNvPr>
          <p:cNvSpPr/>
          <p:nvPr/>
        </p:nvSpPr>
        <p:spPr>
          <a:xfrm rot="5400000">
            <a:off x="5679280" y="2041186"/>
            <a:ext cx="833440" cy="2075544"/>
          </a:xfrm>
          <a:prstGeom prst="roundRect">
            <a:avLst>
              <a:gd name="adj" fmla="val 11397"/>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13" name="Rounded Rectangle 12">
            <a:extLst>
              <a:ext uri="{FF2B5EF4-FFF2-40B4-BE49-F238E27FC236}">
                <a16:creationId xmlns:a16="http://schemas.microsoft.com/office/drawing/2014/main" id="{523C6D1B-C917-CDA7-4DE7-D91594545BB0}"/>
              </a:ext>
            </a:extLst>
          </p:cNvPr>
          <p:cNvSpPr/>
          <p:nvPr/>
        </p:nvSpPr>
        <p:spPr>
          <a:xfrm>
            <a:off x="5188859" y="2248807"/>
            <a:ext cx="1814285" cy="3033486"/>
          </a:xfrm>
          <a:prstGeom prst="roundRect">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4" name="Chevron 13">
            <a:extLst>
              <a:ext uri="{FF2B5EF4-FFF2-40B4-BE49-F238E27FC236}">
                <a16:creationId xmlns:a16="http://schemas.microsoft.com/office/drawing/2014/main" id="{A71C5DAC-B089-0DBB-D770-C76CF3CBA328}"/>
              </a:ext>
            </a:extLst>
          </p:cNvPr>
          <p:cNvSpPr/>
          <p:nvPr/>
        </p:nvSpPr>
        <p:spPr>
          <a:xfrm rot="5400000">
            <a:off x="5443270" y="2357260"/>
            <a:ext cx="1305461" cy="2075542"/>
          </a:xfrm>
          <a:prstGeom prst="chevron">
            <a:avLst>
              <a:gd name="adj" fmla="val 26552"/>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15" name="TextBox 14">
            <a:extLst>
              <a:ext uri="{FF2B5EF4-FFF2-40B4-BE49-F238E27FC236}">
                <a16:creationId xmlns:a16="http://schemas.microsoft.com/office/drawing/2014/main" id="{E5AC8F93-1550-081B-5346-25F6F22944ED}"/>
              </a:ext>
            </a:extLst>
          </p:cNvPr>
          <p:cNvSpPr txBox="1"/>
          <p:nvPr/>
        </p:nvSpPr>
        <p:spPr>
          <a:xfrm>
            <a:off x="5188855" y="4100271"/>
            <a:ext cx="1814288" cy="738664"/>
          </a:xfrm>
          <a:prstGeom prst="rect">
            <a:avLst/>
          </a:prstGeom>
          <a:noFill/>
        </p:spPr>
        <p:txBody>
          <a:bodyPr wrap="square" rtlCol="0">
            <a:spAutoFit/>
          </a:bodyPr>
          <a:lstStyle/>
          <a:p>
            <a:pPr algn="ctr" rtl="1"/>
            <a:r>
              <a:rPr lang="ar-EG" sz="1400" dirty="0">
                <a:latin typeface="DIN Next LT Arabic Light" panose="020B0303020203050203" pitchFamily="34" charset="-78"/>
                <a:cs typeface="DIN Next LT Arabic Light" panose="020B0303020203050203" pitchFamily="34" charset="-78"/>
              </a:rPr>
              <a:t>تصفير غرامات التأخير بنسبة 100% لجميع المشتركين.</a:t>
            </a:r>
          </a:p>
        </p:txBody>
      </p:sp>
      <p:sp>
        <p:nvSpPr>
          <p:cNvPr id="16" name="TextBox 15">
            <a:extLst>
              <a:ext uri="{FF2B5EF4-FFF2-40B4-BE49-F238E27FC236}">
                <a16:creationId xmlns:a16="http://schemas.microsoft.com/office/drawing/2014/main" id="{CD38A7D9-82E1-4C9F-14FB-A78EE4E4D409}"/>
              </a:ext>
            </a:extLst>
          </p:cNvPr>
          <p:cNvSpPr txBox="1"/>
          <p:nvPr/>
        </p:nvSpPr>
        <p:spPr>
          <a:xfrm>
            <a:off x="5188855" y="2351991"/>
            <a:ext cx="1814289" cy="646331"/>
          </a:xfrm>
          <a:prstGeom prst="rect">
            <a:avLst/>
          </a:prstGeom>
          <a:noFill/>
        </p:spPr>
        <p:txBody>
          <a:bodyPr wrap="square" rtlCol="0">
            <a:spAutoFit/>
          </a:bodyPr>
          <a:lstStyle/>
          <a:p>
            <a:pPr algn="ctr" rtl="1"/>
            <a:r>
              <a:rPr lang="ar-EG" b="1" dirty="0">
                <a:solidFill>
                  <a:schemeClr val="accent3"/>
                </a:solidFill>
                <a:latin typeface="DIN Next LT Arabic Light" panose="020B0303020203050203" pitchFamily="34" charset="-78"/>
                <a:cs typeface="DIN Next LT Arabic Light" panose="020B0303020203050203" pitchFamily="34" charset="-78"/>
              </a:rPr>
              <a:t>القضاء التام على غرامات التأخير</a:t>
            </a:r>
          </a:p>
        </p:txBody>
      </p:sp>
      <p:sp>
        <p:nvSpPr>
          <p:cNvPr id="17" name="Rounded Rectangle 16">
            <a:extLst>
              <a:ext uri="{FF2B5EF4-FFF2-40B4-BE49-F238E27FC236}">
                <a16:creationId xmlns:a16="http://schemas.microsoft.com/office/drawing/2014/main" id="{7F4E2DAE-6FEE-9662-683D-E5BEE2B6273E}"/>
              </a:ext>
            </a:extLst>
          </p:cNvPr>
          <p:cNvSpPr/>
          <p:nvPr/>
        </p:nvSpPr>
        <p:spPr>
          <a:xfrm rot="5400000">
            <a:off x="7885448" y="2041186"/>
            <a:ext cx="833440" cy="2075544"/>
          </a:xfrm>
          <a:prstGeom prst="roundRect">
            <a:avLst>
              <a:gd name="adj" fmla="val 11397"/>
            </a:avLst>
          </a:prstGeom>
          <a:solidFill>
            <a:schemeClr val="accent4">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18" name="Rounded Rectangle 17">
            <a:extLst>
              <a:ext uri="{FF2B5EF4-FFF2-40B4-BE49-F238E27FC236}">
                <a16:creationId xmlns:a16="http://schemas.microsoft.com/office/drawing/2014/main" id="{D9620EA9-9499-1D61-0DC3-9E7C1D0BE245}"/>
              </a:ext>
            </a:extLst>
          </p:cNvPr>
          <p:cNvSpPr/>
          <p:nvPr/>
        </p:nvSpPr>
        <p:spPr>
          <a:xfrm>
            <a:off x="7395027" y="2248807"/>
            <a:ext cx="1814285" cy="3033486"/>
          </a:xfrm>
          <a:prstGeom prst="roundRect">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9" name="Chevron 18">
            <a:extLst>
              <a:ext uri="{FF2B5EF4-FFF2-40B4-BE49-F238E27FC236}">
                <a16:creationId xmlns:a16="http://schemas.microsoft.com/office/drawing/2014/main" id="{A305D65F-A709-3605-216D-669FE2DE6193}"/>
              </a:ext>
            </a:extLst>
          </p:cNvPr>
          <p:cNvSpPr/>
          <p:nvPr/>
        </p:nvSpPr>
        <p:spPr>
          <a:xfrm rot="5400000">
            <a:off x="7649438" y="2357260"/>
            <a:ext cx="1305461" cy="2075542"/>
          </a:xfrm>
          <a:prstGeom prst="chevron">
            <a:avLst>
              <a:gd name="adj" fmla="val 26552"/>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20" name="TextBox 19">
            <a:extLst>
              <a:ext uri="{FF2B5EF4-FFF2-40B4-BE49-F238E27FC236}">
                <a16:creationId xmlns:a16="http://schemas.microsoft.com/office/drawing/2014/main" id="{D293F85C-7679-B2BE-EDA9-4A88C85FB6CE}"/>
              </a:ext>
            </a:extLst>
          </p:cNvPr>
          <p:cNvSpPr txBox="1"/>
          <p:nvPr/>
        </p:nvSpPr>
        <p:spPr>
          <a:xfrm>
            <a:off x="7395023" y="4155479"/>
            <a:ext cx="1814288" cy="738664"/>
          </a:xfrm>
          <a:prstGeom prst="rect">
            <a:avLst/>
          </a:prstGeom>
          <a:noFill/>
        </p:spPr>
        <p:txBody>
          <a:bodyPr wrap="square" rtlCol="0">
            <a:spAutoFit/>
          </a:bodyPr>
          <a:lstStyle/>
          <a:p>
            <a:pPr algn="ctr" rtl="1"/>
            <a:r>
              <a:rPr lang="ar-EG" sz="1400" dirty="0">
                <a:latin typeface="DIN Next LT Arabic Light" panose="020B0303020203050203" pitchFamily="34" charset="-78"/>
                <a:cs typeface="DIN Next LT Arabic Light" panose="020B0303020203050203" pitchFamily="34" charset="-78"/>
              </a:rPr>
              <a:t>الوصول لنقطة التعادل وتغطية المصاريف خلال 12 إلى 18 شهراً.</a:t>
            </a:r>
          </a:p>
        </p:txBody>
      </p:sp>
      <p:sp>
        <p:nvSpPr>
          <p:cNvPr id="21" name="TextBox 20">
            <a:extLst>
              <a:ext uri="{FF2B5EF4-FFF2-40B4-BE49-F238E27FC236}">
                <a16:creationId xmlns:a16="http://schemas.microsoft.com/office/drawing/2014/main" id="{2AC6ABC5-AF9C-6859-8C06-AE66980AF14C}"/>
              </a:ext>
            </a:extLst>
          </p:cNvPr>
          <p:cNvSpPr txBox="1"/>
          <p:nvPr/>
        </p:nvSpPr>
        <p:spPr>
          <a:xfrm>
            <a:off x="7395023" y="2266521"/>
            <a:ext cx="1814289" cy="646331"/>
          </a:xfrm>
          <a:prstGeom prst="rect">
            <a:avLst/>
          </a:prstGeom>
          <a:noFill/>
        </p:spPr>
        <p:txBody>
          <a:bodyPr wrap="square" rtlCol="0">
            <a:spAutoFit/>
          </a:bodyPr>
          <a:lstStyle/>
          <a:p>
            <a:pPr algn="ctr" rtl="1"/>
            <a:r>
              <a:rPr lang="ar-EG" b="1" dirty="0">
                <a:solidFill>
                  <a:schemeClr val="accent4"/>
                </a:solidFill>
                <a:latin typeface="DIN Next LT Arabic Light" panose="020B0303020203050203" pitchFamily="34" charset="-78"/>
                <a:cs typeface="DIN Next LT Arabic Light" panose="020B0303020203050203" pitchFamily="34" charset="-78"/>
              </a:rPr>
              <a:t>تحقيق الاستدامة المالية ونقطة التعادل</a:t>
            </a:r>
          </a:p>
        </p:txBody>
      </p:sp>
      <p:sp>
        <p:nvSpPr>
          <p:cNvPr id="22" name="Rounded Rectangle 21">
            <a:extLst>
              <a:ext uri="{FF2B5EF4-FFF2-40B4-BE49-F238E27FC236}">
                <a16:creationId xmlns:a16="http://schemas.microsoft.com/office/drawing/2014/main" id="{A7013D7F-3DD6-70EB-19B5-76361AF2AD82}"/>
              </a:ext>
            </a:extLst>
          </p:cNvPr>
          <p:cNvSpPr/>
          <p:nvPr/>
        </p:nvSpPr>
        <p:spPr>
          <a:xfrm rot="5400000">
            <a:off x="10091616" y="2041186"/>
            <a:ext cx="833440" cy="2075544"/>
          </a:xfrm>
          <a:prstGeom prst="roundRect">
            <a:avLst>
              <a:gd name="adj" fmla="val 11397"/>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23" name="Rounded Rectangle 22">
            <a:extLst>
              <a:ext uri="{FF2B5EF4-FFF2-40B4-BE49-F238E27FC236}">
                <a16:creationId xmlns:a16="http://schemas.microsoft.com/office/drawing/2014/main" id="{A254D048-337F-E8F3-E8E3-9646CAFB788A}"/>
              </a:ext>
            </a:extLst>
          </p:cNvPr>
          <p:cNvSpPr/>
          <p:nvPr/>
        </p:nvSpPr>
        <p:spPr>
          <a:xfrm>
            <a:off x="9601195" y="2248807"/>
            <a:ext cx="1814285" cy="3033486"/>
          </a:xfrm>
          <a:prstGeom prst="roundRect">
            <a:avLst/>
          </a:prstGeom>
          <a:solidFill>
            <a:schemeClr val="bg1"/>
          </a:solidFill>
          <a:ln w="28575">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24" name="Chevron 23">
            <a:extLst>
              <a:ext uri="{FF2B5EF4-FFF2-40B4-BE49-F238E27FC236}">
                <a16:creationId xmlns:a16="http://schemas.microsoft.com/office/drawing/2014/main" id="{3249F3CE-17D3-F4BB-5BFD-7412F71152C9}"/>
              </a:ext>
            </a:extLst>
          </p:cNvPr>
          <p:cNvSpPr/>
          <p:nvPr/>
        </p:nvSpPr>
        <p:spPr>
          <a:xfrm rot="5400000">
            <a:off x="9855606" y="2357260"/>
            <a:ext cx="1305461" cy="2075542"/>
          </a:xfrm>
          <a:prstGeom prst="chevron">
            <a:avLst>
              <a:gd name="adj" fmla="val 26552"/>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solidFill>
                <a:schemeClr val="tx1"/>
              </a:solidFill>
              <a:latin typeface="DIN Next LT Arabic Light" panose="020B0303020203050203" pitchFamily="34" charset="-78"/>
              <a:cs typeface="DIN Next LT Arabic Light" panose="020B0303020203050203" pitchFamily="34" charset="-78"/>
            </a:endParaRPr>
          </a:p>
        </p:txBody>
      </p:sp>
      <p:sp>
        <p:nvSpPr>
          <p:cNvPr id="25" name="TextBox 24">
            <a:extLst>
              <a:ext uri="{FF2B5EF4-FFF2-40B4-BE49-F238E27FC236}">
                <a16:creationId xmlns:a16="http://schemas.microsoft.com/office/drawing/2014/main" id="{30BBF2E3-D36E-C7F0-10E6-E52985B15033}"/>
              </a:ext>
            </a:extLst>
          </p:cNvPr>
          <p:cNvSpPr txBox="1"/>
          <p:nvPr/>
        </p:nvSpPr>
        <p:spPr>
          <a:xfrm>
            <a:off x="9601191" y="4155479"/>
            <a:ext cx="1814288" cy="738664"/>
          </a:xfrm>
          <a:prstGeom prst="rect">
            <a:avLst/>
          </a:prstGeom>
          <a:noFill/>
        </p:spPr>
        <p:txBody>
          <a:bodyPr wrap="square" rtlCol="0">
            <a:spAutoFit/>
          </a:bodyPr>
          <a:lstStyle/>
          <a:p>
            <a:pPr algn="ctr" rtl="1"/>
            <a:r>
              <a:rPr lang="ar-EG" sz="1400" dirty="0">
                <a:latin typeface="DIN Next LT Arabic Light" panose="020B0303020203050203" pitchFamily="34" charset="-78"/>
                <a:cs typeface="DIN Next LT Arabic Light" panose="020B0303020203050203" pitchFamily="34" charset="-78"/>
              </a:rPr>
              <a:t>بناء شبكة امتياز تجاري تغطي المستوى الوطني خلال 3 سنوات.</a:t>
            </a:r>
          </a:p>
        </p:txBody>
      </p:sp>
      <p:sp>
        <p:nvSpPr>
          <p:cNvPr id="26" name="TextBox 25">
            <a:extLst>
              <a:ext uri="{FF2B5EF4-FFF2-40B4-BE49-F238E27FC236}">
                <a16:creationId xmlns:a16="http://schemas.microsoft.com/office/drawing/2014/main" id="{0A7B2FB9-D107-542C-BEC9-E1F26CC17339}"/>
              </a:ext>
            </a:extLst>
          </p:cNvPr>
          <p:cNvSpPr txBox="1"/>
          <p:nvPr/>
        </p:nvSpPr>
        <p:spPr>
          <a:xfrm>
            <a:off x="9601191" y="2265971"/>
            <a:ext cx="1814289" cy="646331"/>
          </a:xfrm>
          <a:prstGeom prst="rect">
            <a:avLst/>
          </a:prstGeom>
          <a:noFill/>
        </p:spPr>
        <p:txBody>
          <a:bodyPr wrap="square" rtlCol="0">
            <a:spAutoFit/>
          </a:bodyPr>
          <a:lstStyle/>
          <a:p>
            <a:pPr algn="ctr" rtl="1"/>
            <a:r>
              <a:rPr lang="ar-EG" b="1" dirty="0">
                <a:solidFill>
                  <a:schemeClr val="accent5">
                    <a:lumMod val="50000"/>
                  </a:schemeClr>
                </a:solidFill>
                <a:latin typeface="DIN Next LT Arabic Light" panose="020B0303020203050203" pitchFamily="34" charset="-78"/>
                <a:cs typeface="DIN Next LT Arabic Light" panose="020B0303020203050203" pitchFamily="34" charset="-78"/>
              </a:rPr>
              <a:t>التوسع الجغرافي والامتياز التجاري</a:t>
            </a:r>
          </a:p>
        </p:txBody>
      </p:sp>
      <p:sp>
        <p:nvSpPr>
          <p:cNvPr id="27" name="Freeform 26">
            <a:extLst>
              <a:ext uri="{FF2B5EF4-FFF2-40B4-BE49-F238E27FC236}">
                <a16:creationId xmlns:a16="http://schemas.microsoft.com/office/drawing/2014/main" id="{9319999B-6FDF-CA35-4D14-8A9FBEEB16AC}"/>
              </a:ext>
            </a:extLst>
          </p:cNvPr>
          <p:cNvSpPr>
            <a:spLocks noEditPoints="1"/>
          </p:cNvSpPr>
          <p:nvPr/>
        </p:nvSpPr>
        <p:spPr bwMode="auto">
          <a:xfrm>
            <a:off x="3587196" y="3214185"/>
            <a:ext cx="605274" cy="603987"/>
          </a:xfrm>
          <a:custGeom>
            <a:avLst/>
            <a:gdLst>
              <a:gd name="T0" fmla="*/ 0 w 199"/>
              <a:gd name="T1" fmla="*/ 99 h 198"/>
              <a:gd name="T2" fmla="*/ 199 w 199"/>
              <a:gd name="T3" fmla="*/ 99 h 198"/>
              <a:gd name="T4" fmla="*/ 112 w 199"/>
              <a:gd name="T5" fmla="*/ 185 h 198"/>
              <a:gd name="T6" fmla="*/ 104 w 199"/>
              <a:gd name="T7" fmla="*/ 145 h 198"/>
              <a:gd name="T8" fmla="*/ 112 w 199"/>
              <a:gd name="T9" fmla="*/ 185 h 198"/>
              <a:gd name="T10" fmla="*/ 96 w 199"/>
              <a:gd name="T11" fmla="*/ 145 h 198"/>
              <a:gd name="T12" fmla="*/ 87 w 199"/>
              <a:gd name="T13" fmla="*/ 185 h 198"/>
              <a:gd name="T14" fmla="*/ 87 w 199"/>
              <a:gd name="T15" fmla="*/ 13 h 198"/>
              <a:gd name="T16" fmla="*/ 96 w 199"/>
              <a:gd name="T17" fmla="*/ 53 h 198"/>
              <a:gd name="T18" fmla="*/ 87 w 199"/>
              <a:gd name="T19" fmla="*/ 13 h 198"/>
              <a:gd name="T20" fmla="*/ 104 w 199"/>
              <a:gd name="T21" fmla="*/ 53 h 198"/>
              <a:gd name="T22" fmla="*/ 112 w 199"/>
              <a:gd name="T23" fmla="*/ 13 h 198"/>
              <a:gd name="T24" fmla="*/ 104 w 199"/>
              <a:gd name="T25" fmla="*/ 61 h 198"/>
              <a:gd name="T26" fmla="*/ 149 w 199"/>
              <a:gd name="T27" fmla="*/ 95 h 198"/>
              <a:gd name="T28" fmla="*/ 104 w 199"/>
              <a:gd name="T29" fmla="*/ 61 h 198"/>
              <a:gd name="T30" fmla="*/ 96 w 199"/>
              <a:gd name="T31" fmla="*/ 95 h 198"/>
              <a:gd name="T32" fmla="*/ 57 w 199"/>
              <a:gd name="T33" fmla="*/ 55 h 198"/>
              <a:gd name="T34" fmla="*/ 42 w 199"/>
              <a:gd name="T35" fmla="*/ 95 h 198"/>
              <a:gd name="T36" fmla="*/ 31 w 199"/>
              <a:gd name="T37" fmla="*/ 45 h 198"/>
              <a:gd name="T38" fmla="*/ 42 w 199"/>
              <a:gd name="T39" fmla="*/ 95 h 198"/>
              <a:gd name="T40" fmla="*/ 49 w 199"/>
              <a:gd name="T41" fmla="*/ 145 h 198"/>
              <a:gd name="T42" fmla="*/ 13 w 199"/>
              <a:gd name="T43" fmla="*/ 103 h 198"/>
              <a:gd name="T44" fmla="*/ 50 w 199"/>
              <a:gd name="T45" fmla="*/ 103 h 198"/>
              <a:gd name="T46" fmla="*/ 96 w 199"/>
              <a:gd name="T47" fmla="*/ 137 h 198"/>
              <a:gd name="T48" fmla="*/ 50 w 199"/>
              <a:gd name="T49" fmla="*/ 103 h 198"/>
              <a:gd name="T50" fmla="*/ 104 w 199"/>
              <a:gd name="T51" fmla="*/ 103 h 198"/>
              <a:gd name="T52" fmla="*/ 143 w 199"/>
              <a:gd name="T53" fmla="*/ 142 h 198"/>
              <a:gd name="T54" fmla="*/ 157 w 199"/>
              <a:gd name="T55" fmla="*/ 103 h 198"/>
              <a:gd name="T56" fmla="*/ 168 w 199"/>
              <a:gd name="T57" fmla="*/ 153 h 198"/>
              <a:gd name="T58" fmla="*/ 157 w 199"/>
              <a:gd name="T59" fmla="*/ 103 h 198"/>
              <a:gd name="T60" fmla="*/ 150 w 199"/>
              <a:gd name="T61" fmla="*/ 53 h 198"/>
              <a:gd name="T62" fmla="*/ 187 w 199"/>
              <a:gd name="T63" fmla="*/ 95 h 198"/>
              <a:gd name="T64" fmla="*/ 162 w 199"/>
              <a:gd name="T65" fmla="*/ 39 h 198"/>
              <a:gd name="T66" fmla="*/ 131 w 199"/>
              <a:gd name="T67" fmla="*/ 18 h 198"/>
              <a:gd name="T68" fmla="*/ 68 w 199"/>
              <a:gd name="T69" fmla="*/ 18 h 198"/>
              <a:gd name="T70" fmla="*/ 37 w 199"/>
              <a:gd name="T71" fmla="*/ 39 h 198"/>
              <a:gd name="T72" fmla="*/ 37 w 199"/>
              <a:gd name="T73" fmla="*/ 159 h 198"/>
              <a:gd name="T74" fmla="*/ 68 w 199"/>
              <a:gd name="T75" fmla="*/ 180 h 198"/>
              <a:gd name="T76" fmla="*/ 131 w 199"/>
              <a:gd name="T77" fmla="*/ 180 h 198"/>
              <a:gd name="T78" fmla="*/ 162 w 199"/>
              <a:gd name="T79" fmla="*/ 159 h 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99" h="198">
                <a:moveTo>
                  <a:pt x="100" y="0"/>
                </a:moveTo>
                <a:cubicBezTo>
                  <a:pt x="45" y="0"/>
                  <a:pt x="0" y="44"/>
                  <a:pt x="0" y="99"/>
                </a:cubicBezTo>
                <a:cubicBezTo>
                  <a:pt x="0" y="153"/>
                  <a:pt x="45" y="198"/>
                  <a:pt x="100" y="198"/>
                </a:cubicBezTo>
                <a:cubicBezTo>
                  <a:pt x="154" y="198"/>
                  <a:pt x="199" y="153"/>
                  <a:pt x="199" y="99"/>
                </a:cubicBezTo>
                <a:cubicBezTo>
                  <a:pt x="199" y="44"/>
                  <a:pt x="154" y="0"/>
                  <a:pt x="100" y="0"/>
                </a:cubicBezTo>
                <a:moveTo>
                  <a:pt x="112" y="185"/>
                </a:moveTo>
                <a:cubicBezTo>
                  <a:pt x="109" y="185"/>
                  <a:pt x="106" y="186"/>
                  <a:pt x="104" y="186"/>
                </a:cubicBezTo>
                <a:cubicBezTo>
                  <a:pt x="104" y="145"/>
                  <a:pt x="104" y="145"/>
                  <a:pt x="104" y="145"/>
                </a:cubicBezTo>
                <a:cubicBezTo>
                  <a:pt x="116" y="145"/>
                  <a:pt x="129" y="147"/>
                  <a:pt x="140" y="150"/>
                </a:cubicBezTo>
                <a:cubicBezTo>
                  <a:pt x="133" y="167"/>
                  <a:pt x="123" y="180"/>
                  <a:pt x="112" y="185"/>
                </a:cubicBezTo>
                <a:moveTo>
                  <a:pt x="59" y="150"/>
                </a:moveTo>
                <a:cubicBezTo>
                  <a:pt x="71" y="147"/>
                  <a:pt x="83" y="145"/>
                  <a:pt x="96" y="145"/>
                </a:cubicBezTo>
                <a:cubicBezTo>
                  <a:pt x="96" y="186"/>
                  <a:pt x="96" y="186"/>
                  <a:pt x="96" y="186"/>
                </a:cubicBezTo>
                <a:cubicBezTo>
                  <a:pt x="93" y="186"/>
                  <a:pt x="90" y="185"/>
                  <a:pt x="87" y="185"/>
                </a:cubicBezTo>
                <a:cubicBezTo>
                  <a:pt x="76" y="180"/>
                  <a:pt x="66" y="167"/>
                  <a:pt x="59" y="150"/>
                </a:cubicBezTo>
                <a:moveTo>
                  <a:pt x="87" y="13"/>
                </a:moveTo>
                <a:cubicBezTo>
                  <a:pt x="90" y="12"/>
                  <a:pt x="93" y="12"/>
                  <a:pt x="96" y="12"/>
                </a:cubicBezTo>
                <a:cubicBezTo>
                  <a:pt x="96" y="53"/>
                  <a:pt x="96" y="53"/>
                  <a:pt x="96" y="53"/>
                </a:cubicBezTo>
                <a:cubicBezTo>
                  <a:pt x="83" y="53"/>
                  <a:pt x="71" y="51"/>
                  <a:pt x="59" y="48"/>
                </a:cubicBezTo>
                <a:cubicBezTo>
                  <a:pt x="66" y="31"/>
                  <a:pt x="76" y="18"/>
                  <a:pt x="87" y="13"/>
                </a:cubicBezTo>
                <a:moveTo>
                  <a:pt x="140" y="48"/>
                </a:moveTo>
                <a:cubicBezTo>
                  <a:pt x="129" y="51"/>
                  <a:pt x="116" y="53"/>
                  <a:pt x="104" y="53"/>
                </a:cubicBezTo>
                <a:cubicBezTo>
                  <a:pt x="104" y="12"/>
                  <a:pt x="104" y="12"/>
                  <a:pt x="104" y="12"/>
                </a:cubicBezTo>
                <a:cubicBezTo>
                  <a:pt x="106" y="12"/>
                  <a:pt x="109" y="12"/>
                  <a:pt x="112" y="13"/>
                </a:cubicBezTo>
                <a:cubicBezTo>
                  <a:pt x="123" y="18"/>
                  <a:pt x="133" y="31"/>
                  <a:pt x="140" y="48"/>
                </a:cubicBezTo>
                <a:moveTo>
                  <a:pt x="104" y="61"/>
                </a:moveTo>
                <a:cubicBezTo>
                  <a:pt x="117" y="61"/>
                  <a:pt x="130" y="59"/>
                  <a:pt x="143" y="55"/>
                </a:cubicBezTo>
                <a:cubicBezTo>
                  <a:pt x="146" y="67"/>
                  <a:pt x="148" y="81"/>
                  <a:pt x="149" y="95"/>
                </a:cubicBezTo>
                <a:cubicBezTo>
                  <a:pt x="104" y="95"/>
                  <a:pt x="104" y="95"/>
                  <a:pt x="104" y="95"/>
                </a:cubicBezTo>
                <a:lnTo>
                  <a:pt x="104" y="61"/>
                </a:lnTo>
                <a:close/>
                <a:moveTo>
                  <a:pt x="96" y="61"/>
                </a:moveTo>
                <a:cubicBezTo>
                  <a:pt x="96" y="95"/>
                  <a:pt x="96" y="95"/>
                  <a:pt x="96" y="95"/>
                </a:cubicBezTo>
                <a:cubicBezTo>
                  <a:pt x="50" y="95"/>
                  <a:pt x="50" y="95"/>
                  <a:pt x="50" y="95"/>
                </a:cubicBezTo>
                <a:cubicBezTo>
                  <a:pt x="51" y="81"/>
                  <a:pt x="53" y="67"/>
                  <a:pt x="57" y="55"/>
                </a:cubicBezTo>
                <a:cubicBezTo>
                  <a:pt x="69" y="59"/>
                  <a:pt x="82" y="61"/>
                  <a:pt x="96" y="61"/>
                </a:cubicBezTo>
                <a:moveTo>
                  <a:pt x="42" y="95"/>
                </a:moveTo>
                <a:cubicBezTo>
                  <a:pt x="13" y="95"/>
                  <a:pt x="13" y="95"/>
                  <a:pt x="13" y="95"/>
                </a:cubicBezTo>
                <a:cubicBezTo>
                  <a:pt x="13" y="76"/>
                  <a:pt x="20" y="59"/>
                  <a:pt x="31" y="45"/>
                </a:cubicBezTo>
                <a:cubicBezTo>
                  <a:pt x="37" y="48"/>
                  <a:pt x="43" y="51"/>
                  <a:pt x="49" y="53"/>
                </a:cubicBezTo>
                <a:cubicBezTo>
                  <a:pt x="45" y="65"/>
                  <a:pt x="43" y="80"/>
                  <a:pt x="42" y="95"/>
                </a:cubicBezTo>
                <a:moveTo>
                  <a:pt x="42" y="103"/>
                </a:moveTo>
                <a:cubicBezTo>
                  <a:pt x="43" y="118"/>
                  <a:pt x="45" y="132"/>
                  <a:pt x="49" y="145"/>
                </a:cubicBezTo>
                <a:cubicBezTo>
                  <a:pt x="43" y="147"/>
                  <a:pt x="37" y="150"/>
                  <a:pt x="31" y="153"/>
                </a:cubicBezTo>
                <a:cubicBezTo>
                  <a:pt x="20" y="139"/>
                  <a:pt x="13" y="122"/>
                  <a:pt x="13" y="103"/>
                </a:cubicBezTo>
                <a:lnTo>
                  <a:pt x="42" y="103"/>
                </a:lnTo>
                <a:close/>
                <a:moveTo>
                  <a:pt x="50" y="103"/>
                </a:moveTo>
                <a:cubicBezTo>
                  <a:pt x="96" y="103"/>
                  <a:pt x="96" y="103"/>
                  <a:pt x="96" y="103"/>
                </a:cubicBezTo>
                <a:cubicBezTo>
                  <a:pt x="96" y="137"/>
                  <a:pt x="96" y="137"/>
                  <a:pt x="96" y="137"/>
                </a:cubicBezTo>
                <a:cubicBezTo>
                  <a:pt x="82" y="137"/>
                  <a:pt x="69" y="139"/>
                  <a:pt x="57" y="142"/>
                </a:cubicBezTo>
                <a:cubicBezTo>
                  <a:pt x="53" y="131"/>
                  <a:pt x="51" y="117"/>
                  <a:pt x="50" y="103"/>
                </a:cubicBezTo>
                <a:moveTo>
                  <a:pt x="104" y="137"/>
                </a:moveTo>
                <a:cubicBezTo>
                  <a:pt x="104" y="103"/>
                  <a:pt x="104" y="103"/>
                  <a:pt x="104" y="103"/>
                </a:cubicBezTo>
                <a:cubicBezTo>
                  <a:pt x="149" y="103"/>
                  <a:pt x="149" y="103"/>
                  <a:pt x="149" y="103"/>
                </a:cubicBezTo>
                <a:cubicBezTo>
                  <a:pt x="148" y="117"/>
                  <a:pt x="146" y="131"/>
                  <a:pt x="143" y="142"/>
                </a:cubicBezTo>
                <a:cubicBezTo>
                  <a:pt x="130" y="139"/>
                  <a:pt x="117" y="137"/>
                  <a:pt x="104" y="137"/>
                </a:cubicBezTo>
                <a:moveTo>
                  <a:pt x="157" y="103"/>
                </a:moveTo>
                <a:cubicBezTo>
                  <a:pt x="187" y="103"/>
                  <a:pt x="187" y="103"/>
                  <a:pt x="187" y="103"/>
                </a:cubicBezTo>
                <a:cubicBezTo>
                  <a:pt x="186" y="122"/>
                  <a:pt x="179" y="139"/>
                  <a:pt x="168" y="153"/>
                </a:cubicBezTo>
                <a:cubicBezTo>
                  <a:pt x="162" y="150"/>
                  <a:pt x="156" y="147"/>
                  <a:pt x="150" y="145"/>
                </a:cubicBezTo>
                <a:cubicBezTo>
                  <a:pt x="154" y="132"/>
                  <a:pt x="156" y="118"/>
                  <a:pt x="157" y="103"/>
                </a:cubicBezTo>
                <a:moveTo>
                  <a:pt x="157" y="95"/>
                </a:moveTo>
                <a:cubicBezTo>
                  <a:pt x="156" y="80"/>
                  <a:pt x="154" y="65"/>
                  <a:pt x="150" y="53"/>
                </a:cubicBezTo>
                <a:cubicBezTo>
                  <a:pt x="156" y="51"/>
                  <a:pt x="162" y="48"/>
                  <a:pt x="168" y="45"/>
                </a:cubicBezTo>
                <a:cubicBezTo>
                  <a:pt x="179" y="59"/>
                  <a:pt x="186" y="76"/>
                  <a:pt x="187" y="95"/>
                </a:cubicBezTo>
                <a:lnTo>
                  <a:pt x="157" y="95"/>
                </a:lnTo>
                <a:close/>
                <a:moveTo>
                  <a:pt x="162" y="39"/>
                </a:moveTo>
                <a:cubicBezTo>
                  <a:pt x="158" y="41"/>
                  <a:pt x="153" y="43"/>
                  <a:pt x="147" y="45"/>
                </a:cubicBezTo>
                <a:cubicBezTo>
                  <a:pt x="143" y="34"/>
                  <a:pt x="137" y="25"/>
                  <a:pt x="131" y="18"/>
                </a:cubicBezTo>
                <a:cubicBezTo>
                  <a:pt x="143" y="22"/>
                  <a:pt x="154" y="29"/>
                  <a:pt x="162" y="39"/>
                </a:cubicBezTo>
                <a:moveTo>
                  <a:pt x="68" y="18"/>
                </a:moveTo>
                <a:cubicBezTo>
                  <a:pt x="62" y="25"/>
                  <a:pt x="56" y="34"/>
                  <a:pt x="52" y="45"/>
                </a:cubicBezTo>
                <a:cubicBezTo>
                  <a:pt x="46" y="43"/>
                  <a:pt x="41" y="41"/>
                  <a:pt x="37" y="39"/>
                </a:cubicBezTo>
                <a:cubicBezTo>
                  <a:pt x="46" y="29"/>
                  <a:pt x="56" y="22"/>
                  <a:pt x="68" y="18"/>
                </a:cubicBezTo>
                <a:moveTo>
                  <a:pt x="37" y="159"/>
                </a:moveTo>
                <a:cubicBezTo>
                  <a:pt x="41" y="157"/>
                  <a:pt x="46" y="154"/>
                  <a:pt x="52" y="152"/>
                </a:cubicBezTo>
                <a:cubicBezTo>
                  <a:pt x="56" y="163"/>
                  <a:pt x="62" y="173"/>
                  <a:pt x="68" y="180"/>
                </a:cubicBezTo>
                <a:cubicBezTo>
                  <a:pt x="56" y="175"/>
                  <a:pt x="46" y="168"/>
                  <a:pt x="37" y="159"/>
                </a:cubicBezTo>
                <a:moveTo>
                  <a:pt x="131" y="180"/>
                </a:moveTo>
                <a:cubicBezTo>
                  <a:pt x="137" y="173"/>
                  <a:pt x="143" y="163"/>
                  <a:pt x="147" y="152"/>
                </a:cubicBezTo>
                <a:cubicBezTo>
                  <a:pt x="153" y="154"/>
                  <a:pt x="158" y="157"/>
                  <a:pt x="162" y="159"/>
                </a:cubicBezTo>
                <a:cubicBezTo>
                  <a:pt x="154" y="168"/>
                  <a:pt x="143" y="175"/>
                  <a:pt x="131" y="180"/>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8" name="Freeform 27">
            <a:extLst>
              <a:ext uri="{FF2B5EF4-FFF2-40B4-BE49-F238E27FC236}">
                <a16:creationId xmlns:a16="http://schemas.microsoft.com/office/drawing/2014/main" id="{6F3AFF8F-C0F1-4474-DDDF-70F9992F96E2}"/>
              </a:ext>
            </a:extLst>
          </p:cNvPr>
          <p:cNvSpPr>
            <a:spLocks noEditPoints="1"/>
          </p:cNvSpPr>
          <p:nvPr/>
        </p:nvSpPr>
        <p:spPr bwMode="auto">
          <a:xfrm>
            <a:off x="5909097" y="3229252"/>
            <a:ext cx="373808" cy="573852"/>
          </a:xfrm>
          <a:custGeom>
            <a:avLst/>
            <a:gdLst>
              <a:gd name="T0" fmla="*/ 78 w 108"/>
              <a:gd name="T1" fmla="*/ 143 h 166"/>
              <a:gd name="T2" fmla="*/ 33 w 108"/>
              <a:gd name="T3" fmla="*/ 147 h 166"/>
              <a:gd name="T4" fmla="*/ 29 w 108"/>
              <a:gd name="T5" fmla="*/ 143 h 166"/>
              <a:gd name="T6" fmla="*/ 74 w 108"/>
              <a:gd name="T7" fmla="*/ 139 h 166"/>
              <a:gd name="T8" fmla="*/ 74 w 108"/>
              <a:gd name="T9" fmla="*/ 150 h 166"/>
              <a:gd name="T10" fmla="*/ 29 w 108"/>
              <a:gd name="T11" fmla="*/ 154 h 166"/>
              <a:gd name="T12" fmla="*/ 33 w 108"/>
              <a:gd name="T13" fmla="*/ 160 h 166"/>
              <a:gd name="T14" fmla="*/ 38 w 108"/>
              <a:gd name="T15" fmla="*/ 162 h 166"/>
              <a:gd name="T16" fmla="*/ 66 w 108"/>
              <a:gd name="T17" fmla="*/ 166 h 166"/>
              <a:gd name="T18" fmla="*/ 70 w 108"/>
              <a:gd name="T19" fmla="*/ 160 h 166"/>
              <a:gd name="T20" fmla="*/ 78 w 108"/>
              <a:gd name="T21" fmla="*/ 156 h 166"/>
              <a:gd name="T22" fmla="*/ 74 w 108"/>
              <a:gd name="T23" fmla="*/ 150 h 166"/>
              <a:gd name="T24" fmla="*/ 33 w 108"/>
              <a:gd name="T25" fmla="*/ 127 h 166"/>
              <a:gd name="T26" fmla="*/ 29 w 108"/>
              <a:gd name="T27" fmla="*/ 132 h 166"/>
              <a:gd name="T28" fmla="*/ 74 w 108"/>
              <a:gd name="T29" fmla="*/ 136 h 166"/>
              <a:gd name="T30" fmla="*/ 78 w 108"/>
              <a:gd name="T31" fmla="*/ 131 h 166"/>
              <a:gd name="T32" fmla="*/ 108 w 108"/>
              <a:gd name="T33" fmla="*/ 53 h 166"/>
              <a:gd name="T34" fmla="*/ 76 w 108"/>
              <a:gd name="T35" fmla="*/ 123 h 166"/>
              <a:gd name="T36" fmla="*/ 15 w 108"/>
              <a:gd name="T37" fmla="*/ 90 h 166"/>
              <a:gd name="T38" fmla="*/ 54 w 108"/>
              <a:gd name="T39" fmla="*/ 0 h 166"/>
              <a:gd name="T40" fmla="*/ 54 w 108"/>
              <a:gd name="T41" fmla="*/ 0 h 166"/>
              <a:gd name="T42" fmla="*/ 61 w 108"/>
              <a:gd name="T43" fmla="*/ 115 h 166"/>
              <a:gd name="T44" fmla="*/ 67 w 108"/>
              <a:gd name="T45" fmla="*/ 73 h 166"/>
              <a:gd name="T46" fmla="*/ 63 w 108"/>
              <a:gd name="T47" fmla="*/ 77 h 166"/>
              <a:gd name="T48" fmla="*/ 54 w 108"/>
              <a:gd name="T49" fmla="*/ 69 h 166"/>
              <a:gd name="T50" fmla="*/ 45 w 108"/>
              <a:gd name="T51" fmla="*/ 76 h 166"/>
              <a:gd name="T52" fmla="*/ 39 w 108"/>
              <a:gd name="T53" fmla="*/ 73 h 166"/>
              <a:gd name="T54" fmla="*/ 61 w 108"/>
              <a:gd name="T55" fmla="*/ 115 h 166"/>
              <a:gd name="T56" fmla="*/ 54 w 108"/>
              <a:gd name="T57" fmla="*/ 8 h 166"/>
              <a:gd name="T58" fmla="*/ 54 w 108"/>
              <a:gd name="T59" fmla="*/ 8 h 166"/>
              <a:gd name="T60" fmla="*/ 20 w 108"/>
              <a:gd name="T61" fmla="*/ 85 h 166"/>
              <a:gd name="T62" fmla="*/ 21 w 108"/>
              <a:gd name="T63" fmla="*/ 85 h 166"/>
              <a:gd name="T64" fmla="*/ 34 w 108"/>
              <a:gd name="T65" fmla="*/ 115 h 166"/>
              <a:gd name="T66" fmla="*/ 35 w 108"/>
              <a:gd name="T67" fmla="*/ 73 h 166"/>
              <a:gd name="T68" fmla="*/ 31 w 108"/>
              <a:gd name="T69" fmla="*/ 72 h 166"/>
              <a:gd name="T70" fmla="*/ 35 w 108"/>
              <a:gd name="T71" fmla="*/ 71 h 166"/>
              <a:gd name="T72" fmla="*/ 36 w 108"/>
              <a:gd name="T73" fmla="*/ 67 h 166"/>
              <a:gd name="T74" fmla="*/ 39 w 108"/>
              <a:gd name="T75" fmla="*/ 71 h 166"/>
              <a:gd name="T76" fmla="*/ 42 w 108"/>
              <a:gd name="T77" fmla="*/ 71 h 166"/>
              <a:gd name="T78" fmla="*/ 53 w 108"/>
              <a:gd name="T79" fmla="*/ 67 h 166"/>
              <a:gd name="T80" fmla="*/ 63 w 108"/>
              <a:gd name="T81" fmla="*/ 74 h 166"/>
              <a:gd name="T82" fmla="*/ 67 w 108"/>
              <a:gd name="T83" fmla="*/ 71 h 166"/>
              <a:gd name="T84" fmla="*/ 69 w 108"/>
              <a:gd name="T85" fmla="*/ 69 h 166"/>
              <a:gd name="T86" fmla="*/ 73 w 108"/>
              <a:gd name="T87" fmla="*/ 69 h 166"/>
              <a:gd name="T88" fmla="*/ 75 w 108"/>
              <a:gd name="T89" fmla="*/ 71 h 166"/>
              <a:gd name="T90" fmla="*/ 75 w 108"/>
              <a:gd name="T91" fmla="*/ 73 h 166"/>
              <a:gd name="T92" fmla="*/ 65 w 108"/>
              <a:gd name="T93" fmla="*/ 115 h 166"/>
              <a:gd name="T94" fmla="*/ 73 w 108"/>
              <a:gd name="T95" fmla="*/ 115 h 166"/>
              <a:gd name="T96" fmla="*/ 87 w 108"/>
              <a:gd name="T97" fmla="*/ 85 h 166"/>
              <a:gd name="T98" fmla="*/ 100 w 108"/>
              <a:gd name="T99" fmla="*/ 53 h 1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8" h="166">
                <a:moveTo>
                  <a:pt x="78" y="143"/>
                </a:moveTo>
                <a:cubicBezTo>
                  <a:pt x="78" y="143"/>
                  <a:pt x="78" y="143"/>
                  <a:pt x="78" y="143"/>
                </a:cubicBezTo>
                <a:cubicBezTo>
                  <a:pt x="78" y="145"/>
                  <a:pt x="76" y="147"/>
                  <a:pt x="74" y="147"/>
                </a:cubicBezTo>
                <a:cubicBezTo>
                  <a:pt x="33" y="147"/>
                  <a:pt x="33" y="147"/>
                  <a:pt x="33" y="147"/>
                </a:cubicBezTo>
                <a:cubicBezTo>
                  <a:pt x="31" y="147"/>
                  <a:pt x="29" y="145"/>
                  <a:pt x="29" y="143"/>
                </a:cubicBezTo>
                <a:cubicBezTo>
                  <a:pt x="29" y="143"/>
                  <a:pt x="29" y="143"/>
                  <a:pt x="29" y="143"/>
                </a:cubicBezTo>
                <a:cubicBezTo>
                  <a:pt x="29" y="141"/>
                  <a:pt x="31" y="139"/>
                  <a:pt x="33" y="139"/>
                </a:cubicBezTo>
                <a:cubicBezTo>
                  <a:pt x="74" y="139"/>
                  <a:pt x="74" y="139"/>
                  <a:pt x="74" y="139"/>
                </a:cubicBezTo>
                <a:cubicBezTo>
                  <a:pt x="76" y="139"/>
                  <a:pt x="78" y="141"/>
                  <a:pt x="78" y="143"/>
                </a:cubicBezTo>
                <a:moveTo>
                  <a:pt x="74" y="150"/>
                </a:moveTo>
                <a:cubicBezTo>
                  <a:pt x="33" y="150"/>
                  <a:pt x="33" y="150"/>
                  <a:pt x="33" y="150"/>
                </a:cubicBezTo>
                <a:cubicBezTo>
                  <a:pt x="31" y="150"/>
                  <a:pt x="29" y="152"/>
                  <a:pt x="29" y="154"/>
                </a:cubicBezTo>
                <a:cubicBezTo>
                  <a:pt x="29" y="156"/>
                  <a:pt x="29" y="156"/>
                  <a:pt x="29" y="156"/>
                </a:cubicBezTo>
                <a:cubicBezTo>
                  <a:pt x="29" y="159"/>
                  <a:pt x="31" y="160"/>
                  <a:pt x="33" y="160"/>
                </a:cubicBezTo>
                <a:cubicBezTo>
                  <a:pt x="38" y="160"/>
                  <a:pt x="38" y="160"/>
                  <a:pt x="38" y="160"/>
                </a:cubicBezTo>
                <a:cubicBezTo>
                  <a:pt x="38" y="162"/>
                  <a:pt x="38" y="162"/>
                  <a:pt x="38" y="162"/>
                </a:cubicBezTo>
                <a:cubicBezTo>
                  <a:pt x="38" y="164"/>
                  <a:pt x="39" y="166"/>
                  <a:pt x="42" y="166"/>
                </a:cubicBezTo>
                <a:cubicBezTo>
                  <a:pt x="66" y="166"/>
                  <a:pt x="66" y="166"/>
                  <a:pt x="66" y="166"/>
                </a:cubicBezTo>
                <a:cubicBezTo>
                  <a:pt x="68" y="166"/>
                  <a:pt x="70" y="164"/>
                  <a:pt x="70" y="162"/>
                </a:cubicBezTo>
                <a:cubicBezTo>
                  <a:pt x="70" y="160"/>
                  <a:pt x="70" y="160"/>
                  <a:pt x="70" y="160"/>
                </a:cubicBezTo>
                <a:cubicBezTo>
                  <a:pt x="74" y="160"/>
                  <a:pt x="74" y="160"/>
                  <a:pt x="74" y="160"/>
                </a:cubicBezTo>
                <a:cubicBezTo>
                  <a:pt x="76" y="160"/>
                  <a:pt x="78" y="159"/>
                  <a:pt x="78" y="156"/>
                </a:cubicBezTo>
                <a:cubicBezTo>
                  <a:pt x="78" y="154"/>
                  <a:pt x="78" y="154"/>
                  <a:pt x="78" y="154"/>
                </a:cubicBezTo>
                <a:cubicBezTo>
                  <a:pt x="78" y="152"/>
                  <a:pt x="76" y="150"/>
                  <a:pt x="74" y="150"/>
                </a:cubicBezTo>
                <a:moveTo>
                  <a:pt x="74" y="127"/>
                </a:moveTo>
                <a:cubicBezTo>
                  <a:pt x="33" y="127"/>
                  <a:pt x="33" y="127"/>
                  <a:pt x="33" y="127"/>
                </a:cubicBezTo>
                <a:cubicBezTo>
                  <a:pt x="31" y="127"/>
                  <a:pt x="29" y="129"/>
                  <a:pt x="29" y="131"/>
                </a:cubicBezTo>
                <a:cubicBezTo>
                  <a:pt x="29" y="132"/>
                  <a:pt x="29" y="132"/>
                  <a:pt x="29" y="132"/>
                </a:cubicBezTo>
                <a:cubicBezTo>
                  <a:pt x="29" y="134"/>
                  <a:pt x="31" y="136"/>
                  <a:pt x="33" y="136"/>
                </a:cubicBezTo>
                <a:cubicBezTo>
                  <a:pt x="74" y="136"/>
                  <a:pt x="74" y="136"/>
                  <a:pt x="74" y="136"/>
                </a:cubicBezTo>
                <a:cubicBezTo>
                  <a:pt x="76" y="136"/>
                  <a:pt x="78" y="134"/>
                  <a:pt x="78" y="132"/>
                </a:cubicBezTo>
                <a:cubicBezTo>
                  <a:pt x="78" y="131"/>
                  <a:pt x="78" y="131"/>
                  <a:pt x="78" y="131"/>
                </a:cubicBezTo>
                <a:cubicBezTo>
                  <a:pt x="78" y="129"/>
                  <a:pt x="76" y="127"/>
                  <a:pt x="74" y="127"/>
                </a:cubicBezTo>
                <a:moveTo>
                  <a:pt x="108" y="53"/>
                </a:moveTo>
                <a:cubicBezTo>
                  <a:pt x="108" y="68"/>
                  <a:pt x="102" y="81"/>
                  <a:pt x="93" y="90"/>
                </a:cubicBezTo>
                <a:cubicBezTo>
                  <a:pt x="75" y="111"/>
                  <a:pt x="86" y="123"/>
                  <a:pt x="76" y="123"/>
                </a:cubicBezTo>
                <a:cubicBezTo>
                  <a:pt x="32" y="123"/>
                  <a:pt x="32" y="123"/>
                  <a:pt x="32" y="123"/>
                </a:cubicBezTo>
                <a:cubicBezTo>
                  <a:pt x="22" y="123"/>
                  <a:pt x="32" y="111"/>
                  <a:pt x="15" y="90"/>
                </a:cubicBezTo>
                <a:cubicBezTo>
                  <a:pt x="6" y="81"/>
                  <a:pt x="0" y="68"/>
                  <a:pt x="0" y="53"/>
                </a:cubicBezTo>
                <a:cubicBezTo>
                  <a:pt x="0" y="24"/>
                  <a:pt x="24" y="0"/>
                  <a:pt x="54" y="0"/>
                </a:cubicBezTo>
                <a:cubicBezTo>
                  <a:pt x="54" y="0"/>
                  <a:pt x="54" y="0"/>
                  <a:pt x="54" y="0"/>
                </a:cubicBezTo>
                <a:cubicBezTo>
                  <a:pt x="54" y="0"/>
                  <a:pt x="54" y="0"/>
                  <a:pt x="54" y="0"/>
                </a:cubicBezTo>
                <a:cubicBezTo>
                  <a:pt x="84" y="0"/>
                  <a:pt x="108" y="24"/>
                  <a:pt x="108" y="53"/>
                </a:cubicBezTo>
                <a:moveTo>
                  <a:pt x="61" y="115"/>
                </a:moveTo>
                <a:cubicBezTo>
                  <a:pt x="68" y="73"/>
                  <a:pt x="68" y="73"/>
                  <a:pt x="68" y="73"/>
                </a:cubicBezTo>
                <a:cubicBezTo>
                  <a:pt x="67" y="73"/>
                  <a:pt x="67" y="73"/>
                  <a:pt x="67" y="73"/>
                </a:cubicBezTo>
                <a:cubicBezTo>
                  <a:pt x="63" y="76"/>
                  <a:pt x="63" y="76"/>
                  <a:pt x="63" y="76"/>
                </a:cubicBezTo>
                <a:cubicBezTo>
                  <a:pt x="63" y="76"/>
                  <a:pt x="63" y="77"/>
                  <a:pt x="63" y="77"/>
                </a:cubicBezTo>
                <a:cubicBezTo>
                  <a:pt x="62" y="77"/>
                  <a:pt x="62" y="76"/>
                  <a:pt x="62" y="76"/>
                </a:cubicBezTo>
                <a:cubicBezTo>
                  <a:pt x="54" y="69"/>
                  <a:pt x="54" y="69"/>
                  <a:pt x="54" y="69"/>
                </a:cubicBezTo>
                <a:cubicBezTo>
                  <a:pt x="46" y="76"/>
                  <a:pt x="46" y="76"/>
                  <a:pt x="46" y="76"/>
                </a:cubicBezTo>
                <a:cubicBezTo>
                  <a:pt x="46" y="77"/>
                  <a:pt x="45" y="77"/>
                  <a:pt x="45" y="76"/>
                </a:cubicBezTo>
                <a:cubicBezTo>
                  <a:pt x="41" y="73"/>
                  <a:pt x="41" y="73"/>
                  <a:pt x="41" y="73"/>
                </a:cubicBezTo>
                <a:cubicBezTo>
                  <a:pt x="39" y="73"/>
                  <a:pt x="39" y="73"/>
                  <a:pt x="39" y="73"/>
                </a:cubicBezTo>
                <a:cubicBezTo>
                  <a:pt x="47" y="115"/>
                  <a:pt x="47" y="115"/>
                  <a:pt x="47" y="115"/>
                </a:cubicBezTo>
                <a:lnTo>
                  <a:pt x="61" y="115"/>
                </a:lnTo>
                <a:close/>
                <a:moveTo>
                  <a:pt x="100" y="53"/>
                </a:moveTo>
                <a:cubicBezTo>
                  <a:pt x="100" y="28"/>
                  <a:pt x="79" y="8"/>
                  <a:pt x="54" y="8"/>
                </a:cubicBezTo>
                <a:cubicBezTo>
                  <a:pt x="54" y="0"/>
                  <a:pt x="54" y="0"/>
                  <a:pt x="54" y="0"/>
                </a:cubicBezTo>
                <a:cubicBezTo>
                  <a:pt x="54" y="8"/>
                  <a:pt x="54" y="8"/>
                  <a:pt x="54" y="8"/>
                </a:cubicBezTo>
                <a:cubicBezTo>
                  <a:pt x="29" y="8"/>
                  <a:pt x="8" y="28"/>
                  <a:pt x="8" y="53"/>
                </a:cubicBezTo>
                <a:cubicBezTo>
                  <a:pt x="8" y="65"/>
                  <a:pt x="12" y="76"/>
                  <a:pt x="20" y="85"/>
                </a:cubicBezTo>
                <a:cubicBezTo>
                  <a:pt x="21" y="85"/>
                  <a:pt x="21" y="85"/>
                  <a:pt x="21" y="85"/>
                </a:cubicBezTo>
                <a:cubicBezTo>
                  <a:pt x="21" y="85"/>
                  <a:pt x="21" y="85"/>
                  <a:pt x="21" y="85"/>
                </a:cubicBezTo>
                <a:cubicBezTo>
                  <a:pt x="32" y="98"/>
                  <a:pt x="34" y="109"/>
                  <a:pt x="34" y="115"/>
                </a:cubicBezTo>
                <a:cubicBezTo>
                  <a:pt x="34" y="115"/>
                  <a:pt x="34" y="115"/>
                  <a:pt x="34" y="115"/>
                </a:cubicBezTo>
                <a:cubicBezTo>
                  <a:pt x="43" y="115"/>
                  <a:pt x="43" y="115"/>
                  <a:pt x="43" y="115"/>
                </a:cubicBezTo>
                <a:cubicBezTo>
                  <a:pt x="35" y="73"/>
                  <a:pt x="35" y="73"/>
                  <a:pt x="35" y="73"/>
                </a:cubicBezTo>
                <a:cubicBezTo>
                  <a:pt x="32" y="73"/>
                  <a:pt x="32" y="73"/>
                  <a:pt x="32" y="73"/>
                </a:cubicBezTo>
                <a:cubicBezTo>
                  <a:pt x="32" y="73"/>
                  <a:pt x="31" y="72"/>
                  <a:pt x="31" y="72"/>
                </a:cubicBezTo>
                <a:cubicBezTo>
                  <a:pt x="31" y="71"/>
                  <a:pt x="32" y="71"/>
                  <a:pt x="32" y="71"/>
                </a:cubicBezTo>
                <a:cubicBezTo>
                  <a:pt x="35" y="71"/>
                  <a:pt x="35" y="71"/>
                  <a:pt x="35" y="71"/>
                </a:cubicBezTo>
                <a:cubicBezTo>
                  <a:pt x="35" y="69"/>
                  <a:pt x="35" y="69"/>
                  <a:pt x="35" y="69"/>
                </a:cubicBezTo>
                <a:cubicBezTo>
                  <a:pt x="35" y="68"/>
                  <a:pt x="35" y="67"/>
                  <a:pt x="36" y="67"/>
                </a:cubicBezTo>
                <a:cubicBezTo>
                  <a:pt x="37" y="67"/>
                  <a:pt x="39" y="68"/>
                  <a:pt x="39" y="69"/>
                </a:cubicBezTo>
                <a:cubicBezTo>
                  <a:pt x="39" y="71"/>
                  <a:pt x="39" y="71"/>
                  <a:pt x="39" y="71"/>
                </a:cubicBezTo>
                <a:cubicBezTo>
                  <a:pt x="41" y="71"/>
                  <a:pt x="41" y="71"/>
                  <a:pt x="41" y="71"/>
                </a:cubicBezTo>
                <a:cubicBezTo>
                  <a:pt x="42" y="71"/>
                  <a:pt x="42" y="71"/>
                  <a:pt x="42" y="71"/>
                </a:cubicBezTo>
                <a:cubicBezTo>
                  <a:pt x="46" y="74"/>
                  <a:pt x="46" y="74"/>
                  <a:pt x="46" y="74"/>
                </a:cubicBezTo>
                <a:cubicBezTo>
                  <a:pt x="53" y="67"/>
                  <a:pt x="53" y="67"/>
                  <a:pt x="53" y="67"/>
                </a:cubicBezTo>
                <a:cubicBezTo>
                  <a:pt x="54" y="66"/>
                  <a:pt x="54" y="66"/>
                  <a:pt x="55" y="67"/>
                </a:cubicBezTo>
                <a:cubicBezTo>
                  <a:pt x="63" y="74"/>
                  <a:pt x="63" y="74"/>
                  <a:pt x="63" y="74"/>
                </a:cubicBezTo>
                <a:cubicBezTo>
                  <a:pt x="66" y="71"/>
                  <a:pt x="66" y="71"/>
                  <a:pt x="66" y="71"/>
                </a:cubicBezTo>
                <a:cubicBezTo>
                  <a:pt x="66" y="71"/>
                  <a:pt x="67" y="71"/>
                  <a:pt x="67" y="71"/>
                </a:cubicBezTo>
                <a:cubicBezTo>
                  <a:pt x="69" y="71"/>
                  <a:pt x="69" y="71"/>
                  <a:pt x="69" y="71"/>
                </a:cubicBezTo>
                <a:cubicBezTo>
                  <a:pt x="69" y="69"/>
                  <a:pt x="69" y="69"/>
                  <a:pt x="69" y="69"/>
                </a:cubicBezTo>
                <a:cubicBezTo>
                  <a:pt x="69" y="68"/>
                  <a:pt x="70" y="67"/>
                  <a:pt x="71" y="67"/>
                </a:cubicBezTo>
                <a:cubicBezTo>
                  <a:pt x="72" y="67"/>
                  <a:pt x="73" y="68"/>
                  <a:pt x="73" y="69"/>
                </a:cubicBezTo>
                <a:cubicBezTo>
                  <a:pt x="73" y="71"/>
                  <a:pt x="73" y="71"/>
                  <a:pt x="73" y="71"/>
                </a:cubicBezTo>
                <a:cubicBezTo>
                  <a:pt x="75" y="71"/>
                  <a:pt x="75" y="71"/>
                  <a:pt x="75" y="71"/>
                </a:cubicBezTo>
                <a:cubicBezTo>
                  <a:pt x="76" y="71"/>
                  <a:pt x="76" y="71"/>
                  <a:pt x="76" y="72"/>
                </a:cubicBezTo>
                <a:cubicBezTo>
                  <a:pt x="76" y="72"/>
                  <a:pt x="76" y="73"/>
                  <a:pt x="75" y="73"/>
                </a:cubicBezTo>
                <a:cubicBezTo>
                  <a:pt x="72" y="73"/>
                  <a:pt x="72" y="73"/>
                  <a:pt x="72" y="73"/>
                </a:cubicBezTo>
                <a:cubicBezTo>
                  <a:pt x="65" y="115"/>
                  <a:pt x="65" y="115"/>
                  <a:pt x="65" y="115"/>
                </a:cubicBezTo>
                <a:cubicBezTo>
                  <a:pt x="73" y="115"/>
                  <a:pt x="73" y="115"/>
                  <a:pt x="73" y="115"/>
                </a:cubicBezTo>
                <a:cubicBezTo>
                  <a:pt x="73" y="115"/>
                  <a:pt x="73" y="115"/>
                  <a:pt x="73" y="115"/>
                </a:cubicBezTo>
                <a:cubicBezTo>
                  <a:pt x="74" y="109"/>
                  <a:pt x="76" y="98"/>
                  <a:pt x="87" y="85"/>
                </a:cubicBezTo>
                <a:cubicBezTo>
                  <a:pt x="87" y="85"/>
                  <a:pt x="87" y="85"/>
                  <a:pt x="87" y="85"/>
                </a:cubicBezTo>
                <a:cubicBezTo>
                  <a:pt x="87" y="85"/>
                  <a:pt x="87" y="85"/>
                  <a:pt x="87" y="85"/>
                </a:cubicBezTo>
                <a:cubicBezTo>
                  <a:pt x="95" y="76"/>
                  <a:pt x="100" y="65"/>
                  <a:pt x="100" y="53"/>
                </a:cubicBezTo>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9" name="Freeform 28">
            <a:extLst>
              <a:ext uri="{FF2B5EF4-FFF2-40B4-BE49-F238E27FC236}">
                <a16:creationId xmlns:a16="http://schemas.microsoft.com/office/drawing/2014/main" id="{DB72629A-0E60-1B5C-CBBF-F921DF99150B}"/>
              </a:ext>
            </a:extLst>
          </p:cNvPr>
          <p:cNvSpPr>
            <a:spLocks noEditPoints="1"/>
          </p:cNvSpPr>
          <p:nvPr/>
        </p:nvSpPr>
        <p:spPr bwMode="auto">
          <a:xfrm>
            <a:off x="7989872" y="3220624"/>
            <a:ext cx="624592" cy="591108"/>
          </a:xfrm>
          <a:custGeom>
            <a:avLst/>
            <a:gdLst>
              <a:gd name="T0" fmla="*/ 86 w 205"/>
              <a:gd name="T1" fmla="*/ 179 h 194"/>
              <a:gd name="T2" fmla="*/ 80 w 205"/>
              <a:gd name="T3" fmla="*/ 174 h 194"/>
              <a:gd name="T4" fmla="*/ 86 w 205"/>
              <a:gd name="T5" fmla="*/ 168 h 194"/>
              <a:gd name="T6" fmla="*/ 121 w 205"/>
              <a:gd name="T7" fmla="*/ 168 h 194"/>
              <a:gd name="T8" fmla="*/ 127 w 205"/>
              <a:gd name="T9" fmla="*/ 174 h 194"/>
              <a:gd name="T10" fmla="*/ 121 w 205"/>
              <a:gd name="T11" fmla="*/ 179 h 194"/>
              <a:gd name="T12" fmla="*/ 86 w 205"/>
              <a:gd name="T13" fmla="*/ 179 h 194"/>
              <a:gd name="T14" fmla="*/ 137 w 205"/>
              <a:gd name="T15" fmla="*/ 182 h 194"/>
              <a:gd name="T16" fmla="*/ 69 w 205"/>
              <a:gd name="T17" fmla="*/ 182 h 194"/>
              <a:gd name="T18" fmla="*/ 63 w 205"/>
              <a:gd name="T19" fmla="*/ 188 h 194"/>
              <a:gd name="T20" fmla="*/ 69 w 205"/>
              <a:gd name="T21" fmla="*/ 194 h 194"/>
              <a:gd name="T22" fmla="*/ 137 w 205"/>
              <a:gd name="T23" fmla="*/ 194 h 194"/>
              <a:gd name="T24" fmla="*/ 143 w 205"/>
              <a:gd name="T25" fmla="*/ 188 h 194"/>
              <a:gd name="T26" fmla="*/ 137 w 205"/>
              <a:gd name="T27" fmla="*/ 182 h 194"/>
              <a:gd name="T28" fmla="*/ 205 w 205"/>
              <a:gd name="T29" fmla="*/ 125 h 194"/>
              <a:gd name="T30" fmla="*/ 169 w 205"/>
              <a:gd name="T31" fmla="*/ 153 h 194"/>
              <a:gd name="T32" fmla="*/ 134 w 205"/>
              <a:gd name="T33" fmla="*/ 125 h 194"/>
              <a:gd name="T34" fmla="*/ 137 w 205"/>
              <a:gd name="T35" fmla="*/ 125 h 194"/>
              <a:gd name="T36" fmla="*/ 165 w 205"/>
              <a:gd name="T37" fmla="*/ 48 h 194"/>
              <a:gd name="T38" fmla="*/ 165 w 205"/>
              <a:gd name="T39" fmla="*/ 47 h 194"/>
              <a:gd name="T40" fmla="*/ 161 w 205"/>
              <a:gd name="T41" fmla="*/ 42 h 194"/>
              <a:gd name="T42" fmla="*/ 109 w 205"/>
              <a:gd name="T43" fmla="*/ 32 h 194"/>
              <a:gd name="T44" fmla="*/ 109 w 205"/>
              <a:gd name="T45" fmla="*/ 164 h 194"/>
              <a:gd name="T46" fmla="*/ 97 w 205"/>
              <a:gd name="T47" fmla="*/ 164 h 194"/>
              <a:gd name="T48" fmla="*/ 97 w 205"/>
              <a:gd name="T49" fmla="*/ 32 h 194"/>
              <a:gd name="T50" fmla="*/ 45 w 205"/>
              <a:gd name="T51" fmla="*/ 42 h 194"/>
              <a:gd name="T52" fmla="*/ 42 w 205"/>
              <a:gd name="T53" fmla="*/ 47 h 194"/>
              <a:gd name="T54" fmla="*/ 40 w 205"/>
              <a:gd name="T55" fmla="*/ 48 h 194"/>
              <a:gd name="T56" fmla="*/ 67 w 205"/>
              <a:gd name="T57" fmla="*/ 125 h 194"/>
              <a:gd name="T58" fmla="*/ 71 w 205"/>
              <a:gd name="T59" fmla="*/ 125 h 194"/>
              <a:gd name="T60" fmla="*/ 35 w 205"/>
              <a:gd name="T61" fmla="*/ 153 h 194"/>
              <a:gd name="T62" fmla="*/ 0 w 205"/>
              <a:gd name="T63" fmla="*/ 125 h 194"/>
              <a:gd name="T64" fmla="*/ 3 w 205"/>
              <a:gd name="T65" fmla="*/ 125 h 194"/>
              <a:gd name="T66" fmla="*/ 32 w 205"/>
              <a:gd name="T67" fmla="*/ 47 h 194"/>
              <a:gd name="T68" fmla="*/ 29 w 205"/>
              <a:gd name="T69" fmla="*/ 45 h 194"/>
              <a:gd name="T70" fmla="*/ 32 w 205"/>
              <a:gd name="T71" fmla="*/ 33 h 194"/>
              <a:gd name="T72" fmla="*/ 40 w 205"/>
              <a:gd name="T73" fmla="*/ 32 h 194"/>
              <a:gd name="T74" fmla="*/ 97 w 205"/>
              <a:gd name="T75" fmla="*/ 20 h 194"/>
              <a:gd name="T76" fmla="*/ 97 w 205"/>
              <a:gd name="T77" fmla="*/ 15 h 194"/>
              <a:gd name="T78" fmla="*/ 94 w 205"/>
              <a:gd name="T79" fmla="*/ 9 h 194"/>
              <a:gd name="T80" fmla="*/ 103 w 205"/>
              <a:gd name="T81" fmla="*/ 0 h 194"/>
              <a:gd name="T82" fmla="*/ 112 w 205"/>
              <a:gd name="T83" fmla="*/ 9 h 194"/>
              <a:gd name="T84" fmla="*/ 109 w 205"/>
              <a:gd name="T85" fmla="*/ 15 h 194"/>
              <a:gd name="T86" fmla="*/ 109 w 205"/>
              <a:gd name="T87" fmla="*/ 20 h 194"/>
              <a:gd name="T88" fmla="*/ 167 w 205"/>
              <a:gd name="T89" fmla="*/ 32 h 194"/>
              <a:gd name="T90" fmla="*/ 175 w 205"/>
              <a:gd name="T91" fmla="*/ 33 h 194"/>
              <a:gd name="T92" fmla="*/ 177 w 205"/>
              <a:gd name="T93" fmla="*/ 45 h 194"/>
              <a:gd name="T94" fmla="*/ 174 w 205"/>
              <a:gd name="T95" fmla="*/ 48 h 194"/>
              <a:gd name="T96" fmla="*/ 201 w 205"/>
              <a:gd name="T97" fmla="*/ 125 h 194"/>
              <a:gd name="T98" fmla="*/ 205 w 205"/>
              <a:gd name="T99" fmla="*/ 125 h 194"/>
              <a:gd name="T100" fmla="*/ 35 w 205"/>
              <a:gd name="T101" fmla="*/ 57 h 194"/>
              <a:gd name="T102" fmla="*/ 12 w 205"/>
              <a:gd name="T103" fmla="*/ 125 h 194"/>
              <a:gd name="T104" fmla="*/ 58 w 205"/>
              <a:gd name="T105" fmla="*/ 125 h 194"/>
              <a:gd name="T106" fmla="*/ 58 w 205"/>
              <a:gd name="T107" fmla="*/ 125 h 194"/>
              <a:gd name="T108" fmla="*/ 35 w 205"/>
              <a:gd name="T109" fmla="*/ 57 h 194"/>
              <a:gd name="T110" fmla="*/ 192 w 205"/>
              <a:gd name="T111" fmla="*/ 125 h 194"/>
              <a:gd name="T112" fmla="*/ 169 w 205"/>
              <a:gd name="T113" fmla="*/ 57 h 194"/>
              <a:gd name="T114" fmla="*/ 146 w 205"/>
              <a:gd name="T115" fmla="*/ 125 h 194"/>
              <a:gd name="T116" fmla="*/ 192 w 205"/>
              <a:gd name="T117" fmla="*/ 125 h 1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5" h="194">
                <a:moveTo>
                  <a:pt x="86" y="179"/>
                </a:moveTo>
                <a:cubicBezTo>
                  <a:pt x="82" y="179"/>
                  <a:pt x="80" y="177"/>
                  <a:pt x="80" y="174"/>
                </a:cubicBezTo>
                <a:cubicBezTo>
                  <a:pt x="80" y="170"/>
                  <a:pt x="82" y="168"/>
                  <a:pt x="86" y="168"/>
                </a:cubicBezTo>
                <a:cubicBezTo>
                  <a:pt x="121" y="168"/>
                  <a:pt x="121" y="168"/>
                  <a:pt x="121" y="168"/>
                </a:cubicBezTo>
                <a:cubicBezTo>
                  <a:pt x="124" y="168"/>
                  <a:pt x="127" y="170"/>
                  <a:pt x="127" y="174"/>
                </a:cubicBezTo>
                <a:cubicBezTo>
                  <a:pt x="127" y="177"/>
                  <a:pt x="124" y="179"/>
                  <a:pt x="121" y="179"/>
                </a:cubicBezTo>
                <a:lnTo>
                  <a:pt x="86" y="179"/>
                </a:lnTo>
                <a:close/>
                <a:moveTo>
                  <a:pt x="137" y="182"/>
                </a:moveTo>
                <a:cubicBezTo>
                  <a:pt x="69" y="182"/>
                  <a:pt x="69" y="182"/>
                  <a:pt x="69" y="182"/>
                </a:cubicBezTo>
                <a:cubicBezTo>
                  <a:pt x="66" y="182"/>
                  <a:pt x="63" y="185"/>
                  <a:pt x="63" y="188"/>
                </a:cubicBezTo>
                <a:cubicBezTo>
                  <a:pt x="63" y="191"/>
                  <a:pt x="66" y="194"/>
                  <a:pt x="69" y="194"/>
                </a:cubicBezTo>
                <a:cubicBezTo>
                  <a:pt x="137" y="194"/>
                  <a:pt x="137" y="194"/>
                  <a:pt x="137" y="194"/>
                </a:cubicBezTo>
                <a:cubicBezTo>
                  <a:pt x="141" y="194"/>
                  <a:pt x="143" y="191"/>
                  <a:pt x="143" y="188"/>
                </a:cubicBezTo>
                <a:cubicBezTo>
                  <a:pt x="143" y="185"/>
                  <a:pt x="141" y="182"/>
                  <a:pt x="137" y="182"/>
                </a:cubicBezTo>
                <a:close/>
                <a:moveTo>
                  <a:pt x="205" y="125"/>
                </a:moveTo>
                <a:cubicBezTo>
                  <a:pt x="205" y="140"/>
                  <a:pt x="189" y="153"/>
                  <a:pt x="169" y="153"/>
                </a:cubicBezTo>
                <a:cubicBezTo>
                  <a:pt x="150" y="153"/>
                  <a:pt x="134" y="140"/>
                  <a:pt x="134" y="125"/>
                </a:cubicBezTo>
                <a:cubicBezTo>
                  <a:pt x="137" y="125"/>
                  <a:pt x="137" y="125"/>
                  <a:pt x="137" y="125"/>
                </a:cubicBezTo>
                <a:cubicBezTo>
                  <a:pt x="165" y="48"/>
                  <a:pt x="165" y="48"/>
                  <a:pt x="165" y="48"/>
                </a:cubicBezTo>
                <a:cubicBezTo>
                  <a:pt x="165" y="48"/>
                  <a:pt x="165" y="47"/>
                  <a:pt x="165" y="47"/>
                </a:cubicBezTo>
                <a:cubicBezTo>
                  <a:pt x="163" y="46"/>
                  <a:pt x="162" y="44"/>
                  <a:pt x="161" y="42"/>
                </a:cubicBezTo>
                <a:cubicBezTo>
                  <a:pt x="148" y="36"/>
                  <a:pt x="129" y="33"/>
                  <a:pt x="109" y="32"/>
                </a:cubicBezTo>
                <a:cubicBezTo>
                  <a:pt x="109" y="164"/>
                  <a:pt x="109" y="164"/>
                  <a:pt x="109" y="164"/>
                </a:cubicBezTo>
                <a:cubicBezTo>
                  <a:pt x="97" y="164"/>
                  <a:pt x="97" y="164"/>
                  <a:pt x="97" y="164"/>
                </a:cubicBezTo>
                <a:cubicBezTo>
                  <a:pt x="97" y="32"/>
                  <a:pt x="97" y="32"/>
                  <a:pt x="97" y="32"/>
                </a:cubicBezTo>
                <a:cubicBezTo>
                  <a:pt x="77" y="33"/>
                  <a:pt x="58" y="36"/>
                  <a:pt x="45" y="42"/>
                </a:cubicBezTo>
                <a:cubicBezTo>
                  <a:pt x="45" y="44"/>
                  <a:pt x="44" y="46"/>
                  <a:pt x="42" y="47"/>
                </a:cubicBezTo>
                <a:cubicBezTo>
                  <a:pt x="41" y="48"/>
                  <a:pt x="40" y="48"/>
                  <a:pt x="40" y="48"/>
                </a:cubicBezTo>
                <a:cubicBezTo>
                  <a:pt x="67" y="125"/>
                  <a:pt x="67" y="125"/>
                  <a:pt x="67" y="125"/>
                </a:cubicBezTo>
                <a:cubicBezTo>
                  <a:pt x="71" y="125"/>
                  <a:pt x="71" y="125"/>
                  <a:pt x="71" y="125"/>
                </a:cubicBezTo>
                <a:cubicBezTo>
                  <a:pt x="71" y="140"/>
                  <a:pt x="55" y="153"/>
                  <a:pt x="35" y="153"/>
                </a:cubicBezTo>
                <a:cubicBezTo>
                  <a:pt x="16" y="153"/>
                  <a:pt x="0" y="140"/>
                  <a:pt x="0" y="125"/>
                </a:cubicBezTo>
                <a:cubicBezTo>
                  <a:pt x="3" y="125"/>
                  <a:pt x="3" y="125"/>
                  <a:pt x="3" y="125"/>
                </a:cubicBezTo>
                <a:cubicBezTo>
                  <a:pt x="32" y="47"/>
                  <a:pt x="32" y="47"/>
                  <a:pt x="32" y="47"/>
                </a:cubicBezTo>
                <a:cubicBezTo>
                  <a:pt x="31" y="47"/>
                  <a:pt x="30" y="46"/>
                  <a:pt x="29" y="45"/>
                </a:cubicBezTo>
                <a:cubicBezTo>
                  <a:pt x="27" y="41"/>
                  <a:pt x="28" y="35"/>
                  <a:pt x="32" y="33"/>
                </a:cubicBezTo>
                <a:cubicBezTo>
                  <a:pt x="34" y="31"/>
                  <a:pt x="37" y="31"/>
                  <a:pt x="40" y="32"/>
                </a:cubicBezTo>
                <a:cubicBezTo>
                  <a:pt x="54" y="25"/>
                  <a:pt x="75" y="21"/>
                  <a:pt x="97" y="20"/>
                </a:cubicBezTo>
                <a:cubicBezTo>
                  <a:pt x="97" y="15"/>
                  <a:pt x="97" y="15"/>
                  <a:pt x="97" y="15"/>
                </a:cubicBezTo>
                <a:cubicBezTo>
                  <a:pt x="95" y="14"/>
                  <a:pt x="94" y="11"/>
                  <a:pt x="94" y="9"/>
                </a:cubicBezTo>
                <a:cubicBezTo>
                  <a:pt x="94" y="4"/>
                  <a:pt x="98" y="0"/>
                  <a:pt x="103" y="0"/>
                </a:cubicBezTo>
                <a:cubicBezTo>
                  <a:pt x="108" y="0"/>
                  <a:pt x="112" y="4"/>
                  <a:pt x="112" y="9"/>
                </a:cubicBezTo>
                <a:cubicBezTo>
                  <a:pt x="112" y="11"/>
                  <a:pt x="111" y="14"/>
                  <a:pt x="109" y="15"/>
                </a:cubicBezTo>
                <a:cubicBezTo>
                  <a:pt x="109" y="20"/>
                  <a:pt x="109" y="20"/>
                  <a:pt x="109" y="20"/>
                </a:cubicBezTo>
                <a:cubicBezTo>
                  <a:pt x="131" y="21"/>
                  <a:pt x="152" y="25"/>
                  <a:pt x="167" y="32"/>
                </a:cubicBezTo>
                <a:cubicBezTo>
                  <a:pt x="169" y="31"/>
                  <a:pt x="172" y="31"/>
                  <a:pt x="175" y="33"/>
                </a:cubicBezTo>
                <a:cubicBezTo>
                  <a:pt x="179" y="35"/>
                  <a:pt x="180" y="41"/>
                  <a:pt x="177" y="45"/>
                </a:cubicBezTo>
                <a:cubicBezTo>
                  <a:pt x="176" y="46"/>
                  <a:pt x="175" y="47"/>
                  <a:pt x="174" y="48"/>
                </a:cubicBezTo>
                <a:cubicBezTo>
                  <a:pt x="201" y="125"/>
                  <a:pt x="201" y="125"/>
                  <a:pt x="201" y="125"/>
                </a:cubicBezTo>
                <a:lnTo>
                  <a:pt x="205" y="125"/>
                </a:lnTo>
                <a:close/>
                <a:moveTo>
                  <a:pt x="35" y="57"/>
                </a:moveTo>
                <a:cubicBezTo>
                  <a:pt x="12" y="125"/>
                  <a:pt x="12" y="125"/>
                  <a:pt x="12" y="125"/>
                </a:cubicBezTo>
                <a:cubicBezTo>
                  <a:pt x="58" y="125"/>
                  <a:pt x="58" y="125"/>
                  <a:pt x="58" y="125"/>
                </a:cubicBezTo>
                <a:cubicBezTo>
                  <a:pt x="58" y="125"/>
                  <a:pt x="58" y="125"/>
                  <a:pt x="58" y="125"/>
                </a:cubicBezTo>
                <a:lnTo>
                  <a:pt x="35" y="57"/>
                </a:lnTo>
                <a:close/>
                <a:moveTo>
                  <a:pt x="192" y="125"/>
                </a:moveTo>
                <a:cubicBezTo>
                  <a:pt x="169" y="57"/>
                  <a:pt x="169" y="57"/>
                  <a:pt x="169" y="57"/>
                </a:cubicBezTo>
                <a:cubicBezTo>
                  <a:pt x="146" y="125"/>
                  <a:pt x="146" y="125"/>
                  <a:pt x="146" y="125"/>
                </a:cubicBezTo>
                <a:cubicBezTo>
                  <a:pt x="192" y="125"/>
                  <a:pt x="192" y="125"/>
                  <a:pt x="192" y="125"/>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30" name="Freeform 29">
            <a:extLst>
              <a:ext uri="{FF2B5EF4-FFF2-40B4-BE49-F238E27FC236}">
                <a16:creationId xmlns:a16="http://schemas.microsoft.com/office/drawing/2014/main" id="{846137C0-FC7D-7EB1-671E-D9EEDBCB382B}"/>
              </a:ext>
            </a:extLst>
          </p:cNvPr>
          <p:cNvSpPr>
            <a:spLocks/>
          </p:cNvSpPr>
          <p:nvPr/>
        </p:nvSpPr>
        <p:spPr bwMode="auto">
          <a:xfrm>
            <a:off x="10230901" y="3265027"/>
            <a:ext cx="554872" cy="502304"/>
          </a:xfrm>
          <a:custGeom>
            <a:avLst/>
            <a:gdLst>
              <a:gd name="T0" fmla="*/ 161 w 161"/>
              <a:gd name="T1" fmla="*/ 27 h 145"/>
              <a:gd name="T2" fmla="*/ 139 w 161"/>
              <a:gd name="T3" fmla="*/ 49 h 145"/>
              <a:gd name="T4" fmla="*/ 123 w 161"/>
              <a:gd name="T5" fmla="*/ 42 h 145"/>
              <a:gd name="T6" fmla="*/ 93 w 161"/>
              <a:gd name="T7" fmla="*/ 62 h 145"/>
              <a:gd name="T8" fmla="*/ 94 w 161"/>
              <a:gd name="T9" fmla="*/ 68 h 145"/>
              <a:gd name="T10" fmla="*/ 92 w 161"/>
              <a:gd name="T11" fmla="*/ 75 h 145"/>
              <a:gd name="T12" fmla="*/ 123 w 161"/>
              <a:gd name="T13" fmla="*/ 106 h 145"/>
              <a:gd name="T14" fmla="*/ 132 w 161"/>
              <a:gd name="T15" fmla="*/ 103 h 145"/>
              <a:gd name="T16" fmla="*/ 149 w 161"/>
              <a:gd name="T17" fmla="*/ 120 h 145"/>
              <a:gd name="T18" fmla="*/ 132 w 161"/>
              <a:gd name="T19" fmla="*/ 136 h 145"/>
              <a:gd name="T20" fmla="*/ 116 w 161"/>
              <a:gd name="T21" fmla="*/ 120 h 145"/>
              <a:gd name="T22" fmla="*/ 119 w 161"/>
              <a:gd name="T23" fmla="*/ 110 h 145"/>
              <a:gd name="T24" fmla="*/ 88 w 161"/>
              <a:gd name="T25" fmla="*/ 79 h 145"/>
              <a:gd name="T26" fmla="*/ 80 w 161"/>
              <a:gd name="T27" fmla="*/ 81 h 145"/>
              <a:gd name="T28" fmla="*/ 75 w 161"/>
              <a:gd name="T29" fmla="*/ 81 h 145"/>
              <a:gd name="T30" fmla="*/ 52 w 161"/>
              <a:gd name="T31" fmla="*/ 115 h 145"/>
              <a:gd name="T32" fmla="*/ 58 w 161"/>
              <a:gd name="T33" fmla="*/ 127 h 145"/>
              <a:gd name="T34" fmla="*/ 41 w 161"/>
              <a:gd name="T35" fmla="*/ 145 h 145"/>
              <a:gd name="T36" fmla="*/ 24 w 161"/>
              <a:gd name="T37" fmla="*/ 127 h 145"/>
              <a:gd name="T38" fmla="*/ 41 w 161"/>
              <a:gd name="T39" fmla="*/ 110 h 145"/>
              <a:gd name="T40" fmla="*/ 48 w 161"/>
              <a:gd name="T41" fmla="*/ 112 h 145"/>
              <a:gd name="T42" fmla="*/ 71 w 161"/>
              <a:gd name="T43" fmla="*/ 78 h 145"/>
              <a:gd name="T44" fmla="*/ 67 w 161"/>
              <a:gd name="T45" fmla="*/ 72 h 145"/>
              <a:gd name="T46" fmla="*/ 30 w 161"/>
              <a:gd name="T47" fmla="*/ 76 h 145"/>
              <a:gd name="T48" fmla="*/ 16 w 161"/>
              <a:gd name="T49" fmla="*/ 90 h 145"/>
              <a:gd name="T50" fmla="*/ 0 w 161"/>
              <a:gd name="T51" fmla="*/ 75 h 145"/>
              <a:gd name="T52" fmla="*/ 16 w 161"/>
              <a:gd name="T53" fmla="*/ 60 h 145"/>
              <a:gd name="T54" fmla="*/ 30 w 161"/>
              <a:gd name="T55" fmla="*/ 71 h 145"/>
              <a:gd name="T56" fmla="*/ 67 w 161"/>
              <a:gd name="T57" fmla="*/ 66 h 145"/>
              <a:gd name="T58" fmla="*/ 72 w 161"/>
              <a:gd name="T59" fmla="*/ 58 h 145"/>
              <a:gd name="T60" fmla="*/ 54 w 161"/>
              <a:gd name="T61" fmla="*/ 26 h 145"/>
              <a:gd name="T62" fmla="*/ 49 w 161"/>
              <a:gd name="T63" fmla="*/ 27 h 145"/>
              <a:gd name="T64" fmla="*/ 36 w 161"/>
              <a:gd name="T65" fmla="*/ 13 h 145"/>
              <a:gd name="T66" fmla="*/ 49 w 161"/>
              <a:gd name="T67" fmla="*/ 0 h 145"/>
              <a:gd name="T68" fmla="*/ 63 w 161"/>
              <a:gd name="T69" fmla="*/ 13 h 145"/>
              <a:gd name="T70" fmla="*/ 58 w 161"/>
              <a:gd name="T71" fmla="*/ 23 h 145"/>
              <a:gd name="T72" fmla="*/ 76 w 161"/>
              <a:gd name="T73" fmla="*/ 55 h 145"/>
              <a:gd name="T74" fmla="*/ 80 w 161"/>
              <a:gd name="T75" fmla="*/ 55 h 145"/>
              <a:gd name="T76" fmla="*/ 90 w 161"/>
              <a:gd name="T77" fmla="*/ 58 h 145"/>
              <a:gd name="T78" fmla="*/ 120 w 161"/>
              <a:gd name="T79" fmla="*/ 37 h 145"/>
              <a:gd name="T80" fmla="*/ 117 w 161"/>
              <a:gd name="T81" fmla="*/ 27 h 145"/>
              <a:gd name="T82" fmla="*/ 139 w 161"/>
              <a:gd name="T83" fmla="*/ 4 h 145"/>
              <a:gd name="T84" fmla="*/ 161 w 161"/>
              <a:gd name="T85" fmla="*/ 27 h 1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161" h="145">
                <a:moveTo>
                  <a:pt x="161" y="27"/>
                </a:moveTo>
                <a:cubicBezTo>
                  <a:pt x="161" y="39"/>
                  <a:pt x="151" y="49"/>
                  <a:pt x="139" y="49"/>
                </a:cubicBezTo>
                <a:cubicBezTo>
                  <a:pt x="133" y="49"/>
                  <a:pt x="127" y="46"/>
                  <a:pt x="123" y="42"/>
                </a:cubicBezTo>
                <a:cubicBezTo>
                  <a:pt x="123" y="42"/>
                  <a:pt x="123" y="42"/>
                  <a:pt x="93" y="62"/>
                </a:cubicBezTo>
                <a:cubicBezTo>
                  <a:pt x="93" y="64"/>
                  <a:pt x="94" y="66"/>
                  <a:pt x="94" y="68"/>
                </a:cubicBezTo>
                <a:cubicBezTo>
                  <a:pt x="94" y="71"/>
                  <a:pt x="93" y="73"/>
                  <a:pt x="92" y="75"/>
                </a:cubicBezTo>
                <a:cubicBezTo>
                  <a:pt x="92" y="75"/>
                  <a:pt x="92" y="75"/>
                  <a:pt x="123" y="106"/>
                </a:cubicBezTo>
                <a:cubicBezTo>
                  <a:pt x="125" y="104"/>
                  <a:pt x="129" y="103"/>
                  <a:pt x="132" y="103"/>
                </a:cubicBezTo>
                <a:cubicBezTo>
                  <a:pt x="141" y="103"/>
                  <a:pt x="149" y="110"/>
                  <a:pt x="149" y="120"/>
                </a:cubicBezTo>
                <a:cubicBezTo>
                  <a:pt x="149" y="129"/>
                  <a:pt x="141" y="136"/>
                  <a:pt x="132" y="136"/>
                </a:cubicBezTo>
                <a:cubicBezTo>
                  <a:pt x="123" y="136"/>
                  <a:pt x="116" y="129"/>
                  <a:pt x="116" y="120"/>
                </a:cubicBezTo>
                <a:cubicBezTo>
                  <a:pt x="116" y="116"/>
                  <a:pt x="117" y="113"/>
                  <a:pt x="119" y="110"/>
                </a:cubicBezTo>
                <a:cubicBezTo>
                  <a:pt x="119" y="110"/>
                  <a:pt x="119" y="110"/>
                  <a:pt x="88" y="79"/>
                </a:cubicBezTo>
                <a:cubicBezTo>
                  <a:pt x="86" y="81"/>
                  <a:pt x="83" y="81"/>
                  <a:pt x="80" y="81"/>
                </a:cubicBezTo>
                <a:cubicBezTo>
                  <a:pt x="79" y="81"/>
                  <a:pt x="77" y="81"/>
                  <a:pt x="75" y="81"/>
                </a:cubicBezTo>
                <a:cubicBezTo>
                  <a:pt x="75" y="81"/>
                  <a:pt x="75" y="81"/>
                  <a:pt x="52" y="115"/>
                </a:cubicBezTo>
                <a:cubicBezTo>
                  <a:pt x="56" y="118"/>
                  <a:pt x="58" y="123"/>
                  <a:pt x="58" y="127"/>
                </a:cubicBezTo>
                <a:cubicBezTo>
                  <a:pt x="58" y="137"/>
                  <a:pt x="50" y="145"/>
                  <a:pt x="41" y="145"/>
                </a:cubicBezTo>
                <a:cubicBezTo>
                  <a:pt x="31" y="145"/>
                  <a:pt x="24" y="137"/>
                  <a:pt x="24" y="127"/>
                </a:cubicBezTo>
                <a:cubicBezTo>
                  <a:pt x="24" y="118"/>
                  <a:pt x="31" y="110"/>
                  <a:pt x="41" y="110"/>
                </a:cubicBezTo>
                <a:cubicBezTo>
                  <a:pt x="43" y="110"/>
                  <a:pt x="46" y="111"/>
                  <a:pt x="48" y="112"/>
                </a:cubicBezTo>
                <a:cubicBezTo>
                  <a:pt x="48" y="112"/>
                  <a:pt x="48" y="112"/>
                  <a:pt x="71" y="78"/>
                </a:cubicBezTo>
                <a:cubicBezTo>
                  <a:pt x="69" y="76"/>
                  <a:pt x="68" y="74"/>
                  <a:pt x="67" y="72"/>
                </a:cubicBezTo>
                <a:cubicBezTo>
                  <a:pt x="67" y="72"/>
                  <a:pt x="67" y="72"/>
                  <a:pt x="30" y="76"/>
                </a:cubicBezTo>
                <a:cubicBezTo>
                  <a:pt x="30" y="84"/>
                  <a:pt x="23" y="90"/>
                  <a:pt x="16" y="90"/>
                </a:cubicBezTo>
                <a:cubicBezTo>
                  <a:pt x="7" y="90"/>
                  <a:pt x="0" y="83"/>
                  <a:pt x="0" y="75"/>
                </a:cubicBezTo>
                <a:cubicBezTo>
                  <a:pt x="0" y="66"/>
                  <a:pt x="7" y="60"/>
                  <a:pt x="16" y="60"/>
                </a:cubicBezTo>
                <a:cubicBezTo>
                  <a:pt x="22" y="60"/>
                  <a:pt x="28" y="64"/>
                  <a:pt x="30" y="71"/>
                </a:cubicBezTo>
                <a:cubicBezTo>
                  <a:pt x="30" y="71"/>
                  <a:pt x="30" y="71"/>
                  <a:pt x="67" y="66"/>
                </a:cubicBezTo>
                <a:cubicBezTo>
                  <a:pt x="67" y="63"/>
                  <a:pt x="69" y="60"/>
                  <a:pt x="72" y="58"/>
                </a:cubicBezTo>
                <a:cubicBezTo>
                  <a:pt x="72" y="58"/>
                  <a:pt x="72" y="58"/>
                  <a:pt x="54" y="26"/>
                </a:cubicBezTo>
                <a:cubicBezTo>
                  <a:pt x="52" y="26"/>
                  <a:pt x="51" y="27"/>
                  <a:pt x="49" y="27"/>
                </a:cubicBezTo>
                <a:cubicBezTo>
                  <a:pt x="42" y="27"/>
                  <a:pt x="36" y="20"/>
                  <a:pt x="36" y="13"/>
                </a:cubicBezTo>
                <a:cubicBezTo>
                  <a:pt x="36" y="5"/>
                  <a:pt x="42" y="0"/>
                  <a:pt x="49" y="0"/>
                </a:cubicBezTo>
                <a:cubicBezTo>
                  <a:pt x="57" y="0"/>
                  <a:pt x="63" y="5"/>
                  <a:pt x="63" y="13"/>
                </a:cubicBezTo>
                <a:cubicBezTo>
                  <a:pt x="63" y="17"/>
                  <a:pt x="61" y="21"/>
                  <a:pt x="58" y="23"/>
                </a:cubicBezTo>
                <a:cubicBezTo>
                  <a:pt x="58" y="23"/>
                  <a:pt x="58" y="23"/>
                  <a:pt x="76" y="55"/>
                </a:cubicBezTo>
                <a:cubicBezTo>
                  <a:pt x="77" y="55"/>
                  <a:pt x="79" y="55"/>
                  <a:pt x="80" y="55"/>
                </a:cubicBezTo>
                <a:cubicBezTo>
                  <a:pt x="84" y="55"/>
                  <a:pt x="87" y="56"/>
                  <a:pt x="90" y="58"/>
                </a:cubicBezTo>
                <a:cubicBezTo>
                  <a:pt x="90" y="58"/>
                  <a:pt x="90" y="58"/>
                  <a:pt x="120" y="37"/>
                </a:cubicBezTo>
                <a:cubicBezTo>
                  <a:pt x="118" y="34"/>
                  <a:pt x="117" y="30"/>
                  <a:pt x="117" y="27"/>
                </a:cubicBezTo>
                <a:cubicBezTo>
                  <a:pt x="117" y="14"/>
                  <a:pt x="127" y="4"/>
                  <a:pt x="139" y="4"/>
                </a:cubicBezTo>
                <a:cubicBezTo>
                  <a:pt x="151" y="4"/>
                  <a:pt x="161" y="14"/>
                  <a:pt x="161" y="27"/>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31" name="Freeform 30">
            <a:extLst>
              <a:ext uri="{FF2B5EF4-FFF2-40B4-BE49-F238E27FC236}">
                <a16:creationId xmlns:a16="http://schemas.microsoft.com/office/drawing/2014/main" id="{09D4EE49-8562-0DC9-4388-A4D37A68487A}"/>
              </a:ext>
            </a:extLst>
          </p:cNvPr>
          <p:cNvSpPr>
            <a:spLocks noEditPoints="1"/>
          </p:cNvSpPr>
          <p:nvPr/>
        </p:nvSpPr>
        <p:spPr bwMode="auto">
          <a:xfrm>
            <a:off x="1399057" y="3229639"/>
            <a:ext cx="569215" cy="573079"/>
          </a:xfrm>
          <a:custGeom>
            <a:avLst/>
            <a:gdLst>
              <a:gd name="T0" fmla="*/ 16 w 187"/>
              <a:gd name="T1" fmla="*/ 26 h 188"/>
              <a:gd name="T2" fmla="*/ 81 w 187"/>
              <a:gd name="T3" fmla="*/ 91 h 188"/>
              <a:gd name="T4" fmla="*/ 81 w 187"/>
              <a:gd name="T5" fmla="*/ 16 h 188"/>
              <a:gd name="T6" fmla="*/ 26 w 187"/>
              <a:gd name="T7" fmla="*/ 87 h 188"/>
              <a:gd name="T8" fmla="*/ 26 w 187"/>
              <a:gd name="T9" fmla="*/ 20 h 188"/>
              <a:gd name="T10" fmla="*/ 86 w 187"/>
              <a:gd name="T11" fmla="*/ 81 h 188"/>
              <a:gd name="T12" fmla="*/ 97 w 187"/>
              <a:gd name="T13" fmla="*/ 26 h 188"/>
              <a:gd name="T14" fmla="*/ 162 w 187"/>
              <a:gd name="T15" fmla="*/ 91 h 188"/>
              <a:gd name="T16" fmla="*/ 162 w 187"/>
              <a:gd name="T17" fmla="*/ 16 h 188"/>
              <a:gd name="T18" fmla="*/ 107 w 187"/>
              <a:gd name="T19" fmla="*/ 87 h 188"/>
              <a:gd name="T20" fmla="*/ 107 w 187"/>
              <a:gd name="T21" fmla="*/ 20 h 188"/>
              <a:gd name="T22" fmla="*/ 167 w 187"/>
              <a:gd name="T23" fmla="*/ 81 h 188"/>
              <a:gd name="T24" fmla="*/ 16 w 187"/>
              <a:gd name="T25" fmla="*/ 107 h 188"/>
              <a:gd name="T26" fmla="*/ 81 w 187"/>
              <a:gd name="T27" fmla="*/ 171 h 188"/>
              <a:gd name="T28" fmla="*/ 81 w 187"/>
              <a:gd name="T29" fmla="*/ 97 h 188"/>
              <a:gd name="T30" fmla="*/ 26 w 187"/>
              <a:gd name="T31" fmla="*/ 167 h 188"/>
              <a:gd name="T32" fmla="*/ 26 w 187"/>
              <a:gd name="T33" fmla="*/ 101 h 188"/>
              <a:gd name="T34" fmla="*/ 86 w 187"/>
              <a:gd name="T35" fmla="*/ 162 h 188"/>
              <a:gd name="T36" fmla="*/ 97 w 187"/>
              <a:gd name="T37" fmla="*/ 107 h 188"/>
              <a:gd name="T38" fmla="*/ 162 w 187"/>
              <a:gd name="T39" fmla="*/ 171 h 188"/>
              <a:gd name="T40" fmla="*/ 162 w 187"/>
              <a:gd name="T41" fmla="*/ 97 h 188"/>
              <a:gd name="T42" fmla="*/ 107 w 187"/>
              <a:gd name="T43" fmla="*/ 167 h 188"/>
              <a:gd name="T44" fmla="*/ 107 w 187"/>
              <a:gd name="T45" fmla="*/ 101 h 188"/>
              <a:gd name="T46" fmla="*/ 167 w 187"/>
              <a:gd name="T47" fmla="*/ 162 h 188"/>
              <a:gd name="T48" fmla="*/ 0 w 187"/>
              <a:gd name="T49" fmla="*/ 23 h 188"/>
              <a:gd name="T50" fmla="*/ 164 w 187"/>
              <a:gd name="T51" fmla="*/ 188 h 188"/>
              <a:gd name="T52" fmla="*/ 164 w 187"/>
              <a:gd name="T53" fmla="*/ 0 h 188"/>
              <a:gd name="T54" fmla="*/ 24 w 187"/>
              <a:gd name="T55" fmla="*/ 180 h 188"/>
              <a:gd name="T56" fmla="*/ 24 w 187"/>
              <a:gd name="T57" fmla="*/ 8 h 188"/>
              <a:gd name="T58" fmla="*/ 179 w 187"/>
              <a:gd name="T59" fmla="*/ 165 h 188"/>
              <a:gd name="T60" fmla="*/ 57 w 187"/>
              <a:gd name="T61" fmla="*/ 57 h 188"/>
              <a:gd name="T62" fmla="*/ 49 w 187"/>
              <a:gd name="T63" fmla="*/ 71 h 188"/>
              <a:gd name="T64" fmla="*/ 31 w 187"/>
              <a:gd name="T65" fmla="*/ 53 h 188"/>
              <a:gd name="T66" fmla="*/ 49 w 187"/>
              <a:gd name="T67" fmla="*/ 35 h 188"/>
              <a:gd name="T68" fmla="*/ 57 w 187"/>
              <a:gd name="T69" fmla="*/ 49 h 188"/>
              <a:gd name="T70" fmla="*/ 156 w 187"/>
              <a:gd name="T71" fmla="*/ 127 h 188"/>
              <a:gd name="T72" fmla="*/ 112 w 187"/>
              <a:gd name="T73" fmla="*/ 127 h 188"/>
              <a:gd name="T74" fmla="*/ 156 w 187"/>
              <a:gd name="T75" fmla="*/ 127 h 188"/>
              <a:gd name="T76" fmla="*/ 116 w 187"/>
              <a:gd name="T77" fmla="*/ 58 h 188"/>
              <a:gd name="T78" fmla="*/ 152 w 187"/>
              <a:gd name="T79" fmla="*/ 50 h 188"/>
              <a:gd name="T80" fmla="*/ 152 w 187"/>
              <a:gd name="T81" fmla="*/ 145 h 188"/>
              <a:gd name="T82" fmla="*/ 116 w 187"/>
              <a:gd name="T83" fmla="*/ 137 h 188"/>
              <a:gd name="T84" fmla="*/ 69 w 187"/>
              <a:gd name="T85" fmla="*/ 124 h 188"/>
              <a:gd name="T86" fmla="*/ 69 w 187"/>
              <a:gd name="T87" fmla="*/ 150 h 188"/>
              <a:gd name="T88" fmla="*/ 53 w 187"/>
              <a:gd name="T89" fmla="*/ 140 h 188"/>
              <a:gd name="T90" fmla="*/ 38 w 187"/>
              <a:gd name="T91" fmla="*/ 150 h 188"/>
              <a:gd name="T92" fmla="*/ 38 w 187"/>
              <a:gd name="T93" fmla="*/ 124 h 188"/>
              <a:gd name="T94" fmla="*/ 53 w 187"/>
              <a:gd name="T95" fmla="*/ 128 h 188"/>
              <a:gd name="T96" fmla="*/ 69 w 187"/>
              <a:gd name="T97" fmla="*/ 124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7" h="188">
                <a:moveTo>
                  <a:pt x="81" y="16"/>
                </a:moveTo>
                <a:cubicBezTo>
                  <a:pt x="26" y="16"/>
                  <a:pt x="26" y="16"/>
                  <a:pt x="26" y="16"/>
                </a:cubicBezTo>
                <a:cubicBezTo>
                  <a:pt x="20" y="16"/>
                  <a:pt x="16" y="21"/>
                  <a:pt x="16" y="26"/>
                </a:cubicBezTo>
                <a:cubicBezTo>
                  <a:pt x="16" y="81"/>
                  <a:pt x="16" y="81"/>
                  <a:pt x="16" y="81"/>
                </a:cubicBezTo>
                <a:cubicBezTo>
                  <a:pt x="16" y="86"/>
                  <a:pt x="20" y="91"/>
                  <a:pt x="26" y="91"/>
                </a:cubicBezTo>
                <a:cubicBezTo>
                  <a:pt x="81" y="91"/>
                  <a:pt x="81" y="91"/>
                  <a:pt x="81" y="91"/>
                </a:cubicBezTo>
                <a:cubicBezTo>
                  <a:pt x="86" y="91"/>
                  <a:pt x="90" y="86"/>
                  <a:pt x="90" y="81"/>
                </a:cubicBezTo>
                <a:cubicBezTo>
                  <a:pt x="90" y="26"/>
                  <a:pt x="90" y="26"/>
                  <a:pt x="90" y="26"/>
                </a:cubicBezTo>
                <a:cubicBezTo>
                  <a:pt x="90" y="21"/>
                  <a:pt x="86" y="16"/>
                  <a:pt x="81" y="16"/>
                </a:cubicBezTo>
                <a:close/>
                <a:moveTo>
                  <a:pt x="86" y="81"/>
                </a:moveTo>
                <a:cubicBezTo>
                  <a:pt x="86" y="84"/>
                  <a:pt x="84" y="87"/>
                  <a:pt x="81" y="87"/>
                </a:cubicBezTo>
                <a:cubicBezTo>
                  <a:pt x="26" y="87"/>
                  <a:pt x="26" y="87"/>
                  <a:pt x="26" y="87"/>
                </a:cubicBezTo>
                <a:cubicBezTo>
                  <a:pt x="23" y="87"/>
                  <a:pt x="20" y="84"/>
                  <a:pt x="20" y="81"/>
                </a:cubicBezTo>
                <a:cubicBezTo>
                  <a:pt x="20" y="26"/>
                  <a:pt x="20" y="26"/>
                  <a:pt x="20" y="26"/>
                </a:cubicBezTo>
                <a:cubicBezTo>
                  <a:pt x="20" y="23"/>
                  <a:pt x="23" y="20"/>
                  <a:pt x="26" y="20"/>
                </a:cubicBezTo>
                <a:cubicBezTo>
                  <a:pt x="81" y="20"/>
                  <a:pt x="81" y="20"/>
                  <a:pt x="81" y="20"/>
                </a:cubicBezTo>
                <a:cubicBezTo>
                  <a:pt x="84" y="20"/>
                  <a:pt x="86" y="23"/>
                  <a:pt x="86" y="26"/>
                </a:cubicBezTo>
                <a:lnTo>
                  <a:pt x="86" y="81"/>
                </a:lnTo>
                <a:close/>
                <a:moveTo>
                  <a:pt x="162" y="16"/>
                </a:moveTo>
                <a:cubicBezTo>
                  <a:pt x="107" y="16"/>
                  <a:pt x="107" y="16"/>
                  <a:pt x="107" y="16"/>
                </a:cubicBezTo>
                <a:cubicBezTo>
                  <a:pt x="101" y="16"/>
                  <a:pt x="97" y="21"/>
                  <a:pt x="97" y="26"/>
                </a:cubicBezTo>
                <a:cubicBezTo>
                  <a:pt x="97" y="81"/>
                  <a:pt x="97" y="81"/>
                  <a:pt x="97" y="81"/>
                </a:cubicBezTo>
                <a:cubicBezTo>
                  <a:pt x="97" y="86"/>
                  <a:pt x="101" y="91"/>
                  <a:pt x="107" y="91"/>
                </a:cubicBezTo>
                <a:cubicBezTo>
                  <a:pt x="162" y="91"/>
                  <a:pt x="162" y="91"/>
                  <a:pt x="162" y="91"/>
                </a:cubicBezTo>
                <a:cubicBezTo>
                  <a:pt x="167" y="91"/>
                  <a:pt x="171" y="86"/>
                  <a:pt x="171" y="81"/>
                </a:cubicBezTo>
                <a:cubicBezTo>
                  <a:pt x="171" y="26"/>
                  <a:pt x="171" y="26"/>
                  <a:pt x="171" y="26"/>
                </a:cubicBezTo>
                <a:cubicBezTo>
                  <a:pt x="171" y="21"/>
                  <a:pt x="167" y="16"/>
                  <a:pt x="162" y="16"/>
                </a:cubicBezTo>
                <a:close/>
                <a:moveTo>
                  <a:pt x="167" y="81"/>
                </a:moveTo>
                <a:cubicBezTo>
                  <a:pt x="167" y="84"/>
                  <a:pt x="165" y="87"/>
                  <a:pt x="162" y="87"/>
                </a:cubicBezTo>
                <a:cubicBezTo>
                  <a:pt x="107" y="87"/>
                  <a:pt x="107" y="87"/>
                  <a:pt x="107" y="87"/>
                </a:cubicBezTo>
                <a:cubicBezTo>
                  <a:pt x="104" y="87"/>
                  <a:pt x="101" y="84"/>
                  <a:pt x="101" y="81"/>
                </a:cubicBezTo>
                <a:cubicBezTo>
                  <a:pt x="101" y="26"/>
                  <a:pt x="101" y="26"/>
                  <a:pt x="101" y="26"/>
                </a:cubicBezTo>
                <a:cubicBezTo>
                  <a:pt x="101" y="23"/>
                  <a:pt x="104" y="20"/>
                  <a:pt x="107" y="20"/>
                </a:cubicBezTo>
                <a:cubicBezTo>
                  <a:pt x="162" y="20"/>
                  <a:pt x="162" y="20"/>
                  <a:pt x="162" y="20"/>
                </a:cubicBezTo>
                <a:cubicBezTo>
                  <a:pt x="165" y="20"/>
                  <a:pt x="167" y="23"/>
                  <a:pt x="167" y="26"/>
                </a:cubicBezTo>
                <a:lnTo>
                  <a:pt x="167" y="81"/>
                </a:lnTo>
                <a:close/>
                <a:moveTo>
                  <a:pt x="81" y="97"/>
                </a:moveTo>
                <a:cubicBezTo>
                  <a:pt x="26" y="97"/>
                  <a:pt x="26" y="97"/>
                  <a:pt x="26" y="97"/>
                </a:cubicBezTo>
                <a:cubicBezTo>
                  <a:pt x="20" y="97"/>
                  <a:pt x="16" y="101"/>
                  <a:pt x="16" y="107"/>
                </a:cubicBezTo>
                <a:cubicBezTo>
                  <a:pt x="16" y="162"/>
                  <a:pt x="16" y="162"/>
                  <a:pt x="16" y="162"/>
                </a:cubicBezTo>
                <a:cubicBezTo>
                  <a:pt x="16" y="167"/>
                  <a:pt x="20" y="171"/>
                  <a:pt x="26" y="171"/>
                </a:cubicBezTo>
                <a:cubicBezTo>
                  <a:pt x="81" y="171"/>
                  <a:pt x="81" y="171"/>
                  <a:pt x="81" y="171"/>
                </a:cubicBezTo>
                <a:cubicBezTo>
                  <a:pt x="86" y="171"/>
                  <a:pt x="90" y="167"/>
                  <a:pt x="90" y="162"/>
                </a:cubicBezTo>
                <a:cubicBezTo>
                  <a:pt x="90" y="107"/>
                  <a:pt x="90" y="107"/>
                  <a:pt x="90" y="107"/>
                </a:cubicBezTo>
                <a:cubicBezTo>
                  <a:pt x="90" y="101"/>
                  <a:pt x="86" y="97"/>
                  <a:pt x="81" y="97"/>
                </a:cubicBezTo>
                <a:close/>
                <a:moveTo>
                  <a:pt x="86" y="162"/>
                </a:moveTo>
                <a:cubicBezTo>
                  <a:pt x="86" y="165"/>
                  <a:pt x="84" y="167"/>
                  <a:pt x="81" y="167"/>
                </a:cubicBezTo>
                <a:cubicBezTo>
                  <a:pt x="26" y="167"/>
                  <a:pt x="26" y="167"/>
                  <a:pt x="26" y="167"/>
                </a:cubicBezTo>
                <a:cubicBezTo>
                  <a:pt x="23" y="167"/>
                  <a:pt x="20" y="165"/>
                  <a:pt x="20" y="162"/>
                </a:cubicBezTo>
                <a:cubicBezTo>
                  <a:pt x="20" y="107"/>
                  <a:pt x="20" y="107"/>
                  <a:pt x="20" y="107"/>
                </a:cubicBezTo>
                <a:cubicBezTo>
                  <a:pt x="20" y="104"/>
                  <a:pt x="23" y="101"/>
                  <a:pt x="26" y="101"/>
                </a:cubicBezTo>
                <a:cubicBezTo>
                  <a:pt x="81" y="101"/>
                  <a:pt x="81" y="101"/>
                  <a:pt x="81" y="101"/>
                </a:cubicBezTo>
                <a:cubicBezTo>
                  <a:pt x="84" y="101"/>
                  <a:pt x="86" y="104"/>
                  <a:pt x="86" y="107"/>
                </a:cubicBezTo>
                <a:lnTo>
                  <a:pt x="86" y="162"/>
                </a:lnTo>
                <a:close/>
                <a:moveTo>
                  <a:pt x="162" y="97"/>
                </a:moveTo>
                <a:cubicBezTo>
                  <a:pt x="107" y="97"/>
                  <a:pt x="107" y="97"/>
                  <a:pt x="107" y="97"/>
                </a:cubicBezTo>
                <a:cubicBezTo>
                  <a:pt x="101" y="97"/>
                  <a:pt x="97" y="101"/>
                  <a:pt x="97" y="107"/>
                </a:cubicBezTo>
                <a:cubicBezTo>
                  <a:pt x="97" y="162"/>
                  <a:pt x="97" y="162"/>
                  <a:pt x="97" y="162"/>
                </a:cubicBezTo>
                <a:cubicBezTo>
                  <a:pt x="97" y="167"/>
                  <a:pt x="101" y="171"/>
                  <a:pt x="107" y="171"/>
                </a:cubicBezTo>
                <a:cubicBezTo>
                  <a:pt x="162" y="171"/>
                  <a:pt x="162" y="171"/>
                  <a:pt x="162" y="171"/>
                </a:cubicBezTo>
                <a:cubicBezTo>
                  <a:pt x="167" y="171"/>
                  <a:pt x="171" y="167"/>
                  <a:pt x="171" y="162"/>
                </a:cubicBezTo>
                <a:cubicBezTo>
                  <a:pt x="171" y="107"/>
                  <a:pt x="171" y="107"/>
                  <a:pt x="171" y="107"/>
                </a:cubicBezTo>
                <a:cubicBezTo>
                  <a:pt x="171" y="101"/>
                  <a:pt x="167" y="97"/>
                  <a:pt x="162" y="97"/>
                </a:cubicBezTo>
                <a:close/>
                <a:moveTo>
                  <a:pt x="167" y="162"/>
                </a:moveTo>
                <a:cubicBezTo>
                  <a:pt x="167" y="165"/>
                  <a:pt x="165" y="167"/>
                  <a:pt x="162" y="167"/>
                </a:cubicBezTo>
                <a:cubicBezTo>
                  <a:pt x="107" y="167"/>
                  <a:pt x="107" y="167"/>
                  <a:pt x="107" y="167"/>
                </a:cubicBezTo>
                <a:cubicBezTo>
                  <a:pt x="104" y="167"/>
                  <a:pt x="101" y="165"/>
                  <a:pt x="101" y="162"/>
                </a:cubicBezTo>
                <a:cubicBezTo>
                  <a:pt x="101" y="107"/>
                  <a:pt x="101" y="107"/>
                  <a:pt x="101" y="107"/>
                </a:cubicBezTo>
                <a:cubicBezTo>
                  <a:pt x="101" y="104"/>
                  <a:pt x="104" y="101"/>
                  <a:pt x="107" y="101"/>
                </a:cubicBezTo>
                <a:cubicBezTo>
                  <a:pt x="162" y="101"/>
                  <a:pt x="162" y="101"/>
                  <a:pt x="162" y="101"/>
                </a:cubicBezTo>
                <a:cubicBezTo>
                  <a:pt x="165" y="101"/>
                  <a:pt x="167" y="104"/>
                  <a:pt x="167" y="107"/>
                </a:cubicBezTo>
                <a:lnTo>
                  <a:pt x="167" y="162"/>
                </a:lnTo>
                <a:close/>
                <a:moveTo>
                  <a:pt x="164" y="0"/>
                </a:moveTo>
                <a:cubicBezTo>
                  <a:pt x="24" y="0"/>
                  <a:pt x="24" y="0"/>
                  <a:pt x="24" y="0"/>
                </a:cubicBezTo>
                <a:cubicBezTo>
                  <a:pt x="11" y="0"/>
                  <a:pt x="0" y="10"/>
                  <a:pt x="0" y="23"/>
                </a:cubicBezTo>
                <a:cubicBezTo>
                  <a:pt x="0" y="165"/>
                  <a:pt x="0" y="165"/>
                  <a:pt x="0" y="165"/>
                </a:cubicBezTo>
                <a:cubicBezTo>
                  <a:pt x="0" y="177"/>
                  <a:pt x="11" y="188"/>
                  <a:pt x="24" y="188"/>
                </a:cubicBezTo>
                <a:cubicBezTo>
                  <a:pt x="164" y="188"/>
                  <a:pt x="164" y="188"/>
                  <a:pt x="164" y="188"/>
                </a:cubicBezTo>
                <a:cubicBezTo>
                  <a:pt x="177" y="188"/>
                  <a:pt x="187" y="177"/>
                  <a:pt x="187" y="165"/>
                </a:cubicBezTo>
                <a:cubicBezTo>
                  <a:pt x="187" y="23"/>
                  <a:pt x="187" y="23"/>
                  <a:pt x="187" y="23"/>
                </a:cubicBezTo>
                <a:cubicBezTo>
                  <a:pt x="187" y="10"/>
                  <a:pt x="177" y="0"/>
                  <a:pt x="164" y="0"/>
                </a:cubicBezTo>
                <a:close/>
                <a:moveTo>
                  <a:pt x="179" y="165"/>
                </a:moveTo>
                <a:cubicBezTo>
                  <a:pt x="179" y="173"/>
                  <a:pt x="172" y="180"/>
                  <a:pt x="164" y="180"/>
                </a:cubicBezTo>
                <a:cubicBezTo>
                  <a:pt x="24" y="180"/>
                  <a:pt x="24" y="180"/>
                  <a:pt x="24" y="180"/>
                </a:cubicBezTo>
                <a:cubicBezTo>
                  <a:pt x="15" y="180"/>
                  <a:pt x="8" y="173"/>
                  <a:pt x="8" y="165"/>
                </a:cubicBezTo>
                <a:cubicBezTo>
                  <a:pt x="8" y="23"/>
                  <a:pt x="8" y="23"/>
                  <a:pt x="8" y="23"/>
                </a:cubicBezTo>
                <a:cubicBezTo>
                  <a:pt x="8" y="15"/>
                  <a:pt x="15" y="8"/>
                  <a:pt x="24" y="8"/>
                </a:cubicBezTo>
                <a:cubicBezTo>
                  <a:pt x="164" y="8"/>
                  <a:pt x="164" y="8"/>
                  <a:pt x="164" y="8"/>
                </a:cubicBezTo>
                <a:cubicBezTo>
                  <a:pt x="172" y="8"/>
                  <a:pt x="179" y="15"/>
                  <a:pt x="179" y="23"/>
                </a:cubicBezTo>
                <a:lnTo>
                  <a:pt x="179" y="165"/>
                </a:lnTo>
                <a:close/>
                <a:moveTo>
                  <a:pt x="76" y="53"/>
                </a:moveTo>
                <a:cubicBezTo>
                  <a:pt x="76" y="55"/>
                  <a:pt x="74" y="57"/>
                  <a:pt x="72" y="57"/>
                </a:cubicBezTo>
                <a:cubicBezTo>
                  <a:pt x="57" y="57"/>
                  <a:pt x="57" y="57"/>
                  <a:pt x="57" y="57"/>
                </a:cubicBezTo>
                <a:cubicBezTo>
                  <a:pt x="57" y="71"/>
                  <a:pt x="57" y="71"/>
                  <a:pt x="57" y="71"/>
                </a:cubicBezTo>
                <a:cubicBezTo>
                  <a:pt x="57" y="73"/>
                  <a:pt x="56" y="75"/>
                  <a:pt x="53" y="75"/>
                </a:cubicBezTo>
                <a:cubicBezTo>
                  <a:pt x="51" y="75"/>
                  <a:pt x="49" y="73"/>
                  <a:pt x="49" y="71"/>
                </a:cubicBezTo>
                <a:cubicBezTo>
                  <a:pt x="49" y="57"/>
                  <a:pt x="49" y="57"/>
                  <a:pt x="49" y="57"/>
                </a:cubicBezTo>
                <a:cubicBezTo>
                  <a:pt x="35" y="57"/>
                  <a:pt x="35" y="57"/>
                  <a:pt x="35" y="57"/>
                </a:cubicBezTo>
                <a:cubicBezTo>
                  <a:pt x="33" y="57"/>
                  <a:pt x="31" y="55"/>
                  <a:pt x="31" y="53"/>
                </a:cubicBezTo>
                <a:cubicBezTo>
                  <a:pt x="31" y="51"/>
                  <a:pt x="33" y="49"/>
                  <a:pt x="35" y="49"/>
                </a:cubicBezTo>
                <a:cubicBezTo>
                  <a:pt x="49" y="49"/>
                  <a:pt x="49" y="49"/>
                  <a:pt x="49" y="49"/>
                </a:cubicBezTo>
                <a:cubicBezTo>
                  <a:pt x="49" y="35"/>
                  <a:pt x="49" y="35"/>
                  <a:pt x="49" y="35"/>
                </a:cubicBezTo>
                <a:cubicBezTo>
                  <a:pt x="49" y="32"/>
                  <a:pt x="51" y="31"/>
                  <a:pt x="53" y="31"/>
                </a:cubicBezTo>
                <a:cubicBezTo>
                  <a:pt x="56" y="31"/>
                  <a:pt x="57" y="32"/>
                  <a:pt x="57" y="35"/>
                </a:cubicBezTo>
                <a:cubicBezTo>
                  <a:pt x="57" y="49"/>
                  <a:pt x="57" y="49"/>
                  <a:pt x="57" y="49"/>
                </a:cubicBezTo>
                <a:cubicBezTo>
                  <a:pt x="72" y="49"/>
                  <a:pt x="72" y="49"/>
                  <a:pt x="72" y="49"/>
                </a:cubicBezTo>
                <a:cubicBezTo>
                  <a:pt x="74" y="49"/>
                  <a:pt x="76" y="51"/>
                  <a:pt x="76" y="53"/>
                </a:cubicBezTo>
                <a:close/>
                <a:moveTo>
                  <a:pt x="156" y="127"/>
                </a:moveTo>
                <a:cubicBezTo>
                  <a:pt x="156" y="129"/>
                  <a:pt x="155" y="131"/>
                  <a:pt x="152" y="131"/>
                </a:cubicBezTo>
                <a:cubicBezTo>
                  <a:pt x="116" y="131"/>
                  <a:pt x="116" y="131"/>
                  <a:pt x="116" y="131"/>
                </a:cubicBezTo>
                <a:cubicBezTo>
                  <a:pt x="114" y="131"/>
                  <a:pt x="112" y="129"/>
                  <a:pt x="112" y="127"/>
                </a:cubicBezTo>
                <a:cubicBezTo>
                  <a:pt x="112" y="125"/>
                  <a:pt x="114" y="123"/>
                  <a:pt x="116" y="123"/>
                </a:cubicBezTo>
                <a:cubicBezTo>
                  <a:pt x="152" y="123"/>
                  <a:pt x="152" y="123"/>
                  <a:pt x="152" y="123"/>
                </a:cubicBezTo>
                <a:cubicBezTo>
                  <a:pt x="155" y="123"/>
                  <a:pt x="156" y="125"/>
                  <a:pt x="156" y="127"/>
                </a:cubicBezTo>
                <a:close/>
                <a:moveTo>
                  <a:pt x="156" y="54"/>
                </a:moveTo>
                <a:cubicBezTo>
                  <a:pt x="156" y="56"/>
                  <a:pt x="155" y="58"/>
                  <a:pt x="152" y="58"/>
                </a:cubicBezTo>
                <a:cubicBezTo>
                  <a:pt x="116" y="58"/>
                  <a:pt x="116" y="58"/>
                  <a:pt x="116" y="58"/>
                </a:cubicBezTo>
                <a:cubicBezTo>
                  <a:pt x="114" y="58"/>
                  <a:pt x="112" y="56"/>
                  <a:pt x="112" y="54"/>
                </a:cubicBezTo>
                <a:cubicBezTo>
                  <a:pt x="112" y="51"/>
                  <a:pt x="114" y="50"/>
                  <a:pt x="116" y="50"/>
                </a:cubicBezTo>
                <a:cubicBezTo>
                  <a:pt x="152" y="50"/>
                  <a:pt x="152" y="50"/>
                  <a:pt x="152" y="50"/>
                </a:cubicBezTo>
                <a:cubicBezTo>
                  <a:pt x="155" y="50"/>
                  <a:pt x="156" y="51"/>
                  <a:pt x="156" y="54"/>
                </a:cubicBezTo>
                <a:close/>
                <a:moveTo>
                  <a:pt x="156" y="141"/>
                </a:moveTo>
                <a:cubicBezTo>
                  <a:pt x="156" y="143"/>
                  <a:pt x="155" y="145"/>
                  <a:pt x="152" y="145"/>
                </a:cubicBezTo>
                <a:cubicBezTo>
                  <a:pt x="116" y="145"/>
                  <a:pt x="116" y="145"/>
                  <a:pt x="116" y="145"/>
                </a:cubicBezTo>
                <a:cubicBezTo>
                  <a:pt x="114" y="145"/>
                  <a:pt x="112" y="143"/>
                  <a:pt x="112" y="141"/>
                </a:cubicBezTo>
                <a:cubicBezTo>
                  <a:pt x="112" y="139"/>
                  <a:pt x="114" y="137"/>
                  <a:pt x="116" y="137"/>
                </a:cubicBezTo>
                <a:cubicBezTo>
                  <a:pt x="152" y="137"/>
                  <a:pt x="152" y="137"/>
                  <a:pt x="152" y="137"/>
                </a:cubicBezTo>
                <a:cubicBezTo>
                  <a:pt x="155" y="137"/>
                  <a:pt x="156" y="139"/>
                  <a:pt x="156" y="141"/>
                </a:cubicBezTo>
                <a:close/>
                <a:moveTo>
                  <a:pt x="69" y="124"/>
                </a:moveTo>
                <a:cubicBezTo>
                  <a:pt x="59" y="134"/>
                  <a:pt x="59" y="134"/>
                  <a:pt x="59" y="134"/>
                </a:cubicBezTo>
                <a:cubicBezTo>
                  <a:pt x="69" y="144"/>
                  <a:pt x="69" y="144"/>
                  <a:pt x="69" y="144"/>
                </a:cubicBezTo>
                <a:cubicBezTo>
                  <a:pt x="71" y="146"/>
                  <a:pt x="71" y="148"/>
                  <a:pt x="69" y="150"/>
                </a:cubicBezTo>
                <a:cubicBezTo>
                  <a:pt x="68" y="151"/>
                  <a:pt x="67" y="151"/>
                  <a:pt x="66" y="151"/>
                </a:cubicBezTo>
                <a:cubicBezTo>
                  <a:pt x="65" y="151"/>
                  <a:pt x="64" y="151"/>
                  <a:pt x="63" y="150"/>
                </a:cubicBezTo>
                <a:cubicBezTo>
                  <a:pt x="53" y="140"/>
                  <a:pt x="53" y="140"/>
                  <a:pt x="53" y="140"/>
                </a:cubicBezTo>
                <a:cubicBezTo>
                  <a:pt x="43" y="150"/>
                  <a:pt x="43" y="150"/>
                  <a:pt x="43" y="150"/>
                </a:cubicBezTo>
                <a:cubicBezTo>
                  <a:pt x="42" y="151"/>
                  <a:pt x="41" y="151"/>
                  <a:pt x="40" y="151"/>
                </a:cubicBezTo>
                <a:cubicBezTo>
                  <a:pt x="39" y="151"/>
                  <a:pt x="38" y="151"/>
                  <a:pt x="38" y="150"/>
                </a:cubicBezTo>
                <a:cubicBezTo>
                  <a:pt x="36" y="148"/>
                  <a:pt x="36" y="146"/>
                  <a:pt x="38" y="144"/>
                </a:cubicBezTo>
                <a:cubicBezTo>
                  <a:pt x="48" y="134"/>
                  <a:pt x="48" y="134"/>
                  <a:pt x="48" y="134"/>
                </a:cubicBezTo>
                <a:cubicBezTo>
                  <a:pt x="38" y="124"/>
                  <a:pt x="38" y="124"/>
                  <a:pt x="38" y="124"/>
                </a:cubicBezTo>
                <a:cubicBezTo>
                  <a:pt x="36" y="123"/>
                  <a:pt x="36" y="120"/>
                  <a:pt x="38" y="118"/>
                </a:cubicBezTo>
                <a:cubicBezTo>
                  <a:pt x="39" y="117"/>
                  <a:pt x="42" y="117"/>
                  <a:pt x="43" y="118"/>
                </a:cubicBezTo>
                <a:cubicBezTo>
                  <a:pt x="53" y="128"/>
                  <a:pt x="53" y="128"/>
                  <a:pt x="53" y="128"/>
                </a:cubicBezTo>
                <a:cubicBezTo>
                  <a:pt x="63" y="118"/>
                  <a:pt x="63" y="118"/>
                  <a:pt x="63" y="118"/>
                </a:cubicBezTo>
                <a:cubicBezTo>
                  <a:pt x="65" y="117"/>
                  <a:pt x="67" y="117"/>
                  <a:pt x="69" y="118"/>
                </a:cubicBezTo>
                <a:cubicBezTo>
                  <a:pt x="71" y="120"/>
                  <a:pt x="71" y="123"/>
                  <a:pt x="69" y="124"/>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32" name="TextBox 31">
            <a:extLst>
              <a:ext uri="{FF2B5EF4-FFF2-40B4-BE49-F238E27FC236}">
                <a16:creationId xmlns:a16="http://schemas.microsoft.com/office/drawing/2014/main" id="{2486AB0B-7D0E-DBBB-E29A-2082378C7FA5}"/>
              </a:ext>
            </a:extLst>
          </p:cNvPr>
          <p:cNvSpPr txBox="1"/>
          <p:nvPr/>
        </p:nvSpPr>
        <p:spPr>
          <a:xfrm>
            <a:off x="1309140" y="571516"/>
            <a:ext cx="9573720" cy="923330"/>
          </a:xfrm>
          <a:prstGeom prst="rect">
            <a:avLst/>
          </a:prstGeom>
          <a:noFill/>
        </p:spPr>
        <p:txBody>
          <a:bodyPr wrap="square" rtlCol="0" anchor="ctr">
            <a:spAutoFit/>
          </a:bodyPr>
          <a:lstStyle/>
          <a:p>
            <a:pPr algn="ctr" rtl="1"/>
            <a:r>
              <a:rPr lang="ar-DZ" sz="5400" b="1" dirty="0">
                <a:latin typeface="DIN Next LT Arabic Light" panose="020B0303020203050203" pitchFamily="34" charset="-78"/>
                <a:cs typeface="DIN Next LT Arabic Light" panose="020B0303020203050203" pitchFamily="34" charset="-78"/>
              </a:rPr>
              <a:t>اهداف المشروع</a:t>
            </a:r>
            <a:endParaRPr lang="en-ID" sz="5400" b="1" dirty="0">
              <a:latin typeface="DIN Next LT Arabic Light" panose="020B0303020203050203" pitchFamily="34" charset="-78"/>
              <a:cs typeface="DIN Next LT Arabic Light" panose="020B0303020203050203" pitchFamily="34" charset="-78"/>
            </a:endParaRPr>
          </a:p>
        </p:txBody>
      </p:sp>
      <p:sp>
        <p:nvSpPr>
          <p:cNvPr id="33" name="Rectangle 32">
            <a:extLst>
              <a:ext uri="{FF2B5EF4-FFF2-40B4-BE49-F238E27FC236}">
                <a16:creationId xmlns:a16="http://schemas.microsoft.com/office/drawing/2014/main" id="{040F7558-E460-A8B6-72E6-F6AF9BBA5836}"/>
              </a:ext>
            </a:extLst>
          </p:cNvPr>
          <p:cNvSpPr/>
          <p:nvPr/>
        </p:nvSpPr>
        <p:spPr>
          <a:xfrm>
            <a:off x="0" y="0"/>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fr-FR" dirty="0">
                <a:latin typeface="DIN Next LT Arabic Light" panose="020B0303020203050203" pitchFamily="34" charset="-78"/>
                <a:cs typeface="DIN Next LT Arabic Light" panose="020B0303020203050203" pitchFamily="34" charset="-78"/>
              </a:rPr>
              <a:t>MATAX</a:t>
            </a:r>
            <a:endParaRPr lang="en-ID" dirty="0">
              <a:latin typeface="DIN Next LT Arabic Light" panose="020B0303020203050203" pitchFamily="34" charset="-78"/>
              <a:cs typeface="DIN Next LT Arabic Light" panose="020B0303020203050203" pitchFamily="34" charset="-78"/>
            </a:endParaRPr>
          </a:p>
        </p:txBody>
      </p:sp>
    </p:spTree>
    <p:extLst>
      <p:ext uri="{BB962C8B-B14F-4D97-AF65-F5344CB8AC3E}">
        <p14:creationId xmlns:p14="http://schemas.microsoft.com/office/powerpoint/2010/main" val="371282946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309140" y="679238"/>
            <a:ext cx="9573720" cy="707886"/>
          </a:xfrm>
          <a:prstGeom prst="rect">
            <a:avLst/>
          </a:prstGeom>
          <a:noFill/>
        </p:spPr>
        <p:txBody>
          <a:bodyPr wrap="square" rtlCol="0" anchor="ctr">
            <a:spAutoFit/>
          </a:bodyPr>
          <a:lstStyle/>
          <a:p>
            <a:pPr algn="ctr" rtl="1"/>
            <a:r>
              <a:rPr lang="ar-DZ" sz="4000" b="1" dirty="0">
                <a:latin typeface="DIN Next LT Arabic Light" panose="020B0303020203050203" pitchFamily="34" charset="-78"/>
                <a:cs typeface="DIN Next LT Arabic Light" panose="020B0303020203050203" pitchFamily="34" charset="-78"/>
              </a:rPr>
              <a:t>الجوانب الابتكارية للمشروع</a:t>
            </a:r>
            <a:endParaRPr lang="en-ID" sz="4000" b="1" dirty="0">
              <a:latin typeface="DIN Next LT Arabic Light" panose="020B0303020203050203" pitchFamily="34" charset="-78"/>
              <a:cs typeface="DIN Next LT Arabic Light" panose="020B0303020203050203" pitchFamily="34" charset="-78"/>
            </a:endParaRPr>
          </a:p>
        </p:txBody>
      </p:sp>
      <p:sp>
        <p:nvSpPr>
          <p:cNvPr id="3" name="Arc 2"/>
          <p:cNvSpPr/>
          <p:nvPr/>
        </p:nvSpPr>
        <p:spPr>
          <a:xfrm>
            <a:off x="1204647" y="2207664"/>
            <a:ext cx="1192396" cy="1192396"/>
          </a:xfrm>
          <a:prstGeom prst="arc">
            <a:avLst>
              <a:gd name="adj1" fmla="val 16200000"/>
              <a:gd name="adj2" fmla="val 16172378"/>
            </a:avLst>
          </a:prstGeom>
          <a:ln w="190500">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4" name="Arc 3"/>
          <p:cNvSpPr/>
          <p:nvPr/>
        </p:nvSpPr>
        <p:spPr>
          <a:xfrm>
            <a:off x="1204647" y="2207664"/>
            <a:ext cx="1192396" cy="1192396"/>
          </a:xfrm>
          <a:prstGeom prst="arc">
            <a:avLst>
              <a:gd name="adj1" fmla="val 16200000"/>
              <a:gd name="adj2" fmla="val 11877190"/>
            </a:avLst>
          </a:prstGeom>
          <a:ln w="190500" cap="rnd">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5" name="TextBox 4"/>
          <p:cNvSpPr txBox="1"/>
          <p:nvPr/>
        </p:nvSpPr>
        <p:spPr>
          <a:xfrm>
            <a:off x="472605" y="3591937"/>
            <a:ext cx="2625833" cy="400110"/>
          </a:xfrm>
          <a:prstGeom prst="rect">
            <a:avLst/>
          </a:prstGeom>
          <a:noFill/>
        </p:spPr>
        <p:txBody>
          <a:bodyPr wrap="square" rtlCol="0">
            <a:spAutoFit/>
          </a:bodyPr>
          <a:lstStyle/>
          <a:p>
            <a:pPr algn="ctr" rtl="1"/>
            <a:r>
              <a:rPr lang="ar-DZ" sz="2000" dirty="0">
                <a:solidFill>
                  <a:schemeClr val="accent1"/>
                </a:solidFill>
                <a:latin typeface="DIN Next LT Arabic Light" panose="020B0303020203050203" pitchFamily="34" charset="-78"/>
                <a:cs typeface="DIN Next LT Arabic Light" panose="020B0303020203050203" pitchFamily="34" charset="-78"/>
              </a:rPr>
              <a:t>هندسة الجباية بضغطة زر</a:t>
            </a:r>
            <a:endParaRPr lang="en-ID" sz="2000" dirty="0">
              <a:solidFill>
                <a:schemeClr val="accent1"/>
              </a:solidFill>
              <a:latin typeface="DIN Next LT Arabic Light" panose="020B0303020203050203" pitchFamily="34" charset="-78"/>
              <a:cs typeface="DIN Next LT Arabic Light" panose="020B0303020203050203" pitchFamily="34" charset="-78"/>
            </a:endParaRPr>
          </a:p>
        </p:txBody>
      </p:sp>
      <p:sp>
        <p:nvSpPr>
          <p:cNvPr id="6" name="TextBox 5"/>
          <p:cNvSpPr txBox="1"/>
          <p:nvPr/>
        </p:nvSpPr>
        <p:spPr>
          <a:xfrm>
            <a:off x="408191" y="4166810"/>
            <a:ext cx="2520264" cy="1443152"/>
          </a:xfrm>
          <a:prstGeom prst="rect">
            <a:avLst/>
          </a:prstGeom>
          <a:noFill/>
        </p:spPr>
        <p:txBody>
          <a:bodyPr wrap="square" rtlCol="0">
            <a:spAutoFit/>
          </a:bodyPr>
          <a:lstStyle/>
          <a:p>
            <a:pPr algn="ctr" rtl="1">
              <a:lnSpc>
                <a:spcPct val="150000"/>
              </a:lnSpc>
            </a:pPr>
            <a:r>
              <a:rPr lang="ar-EG" sz="1200" b="1" dirty="0">
                <a:latin typeface="DIN Next LT Arabic Light" panose="020B0303020203050203" pitchFamily="34" charset="-78"/>
                <a:cs typeface="DIN Next LT Arabic Light" panose="020B0303020203050203" pitchFamily="34" charset="-78"/>
              </a:rPr>
              <a:t>الابتكار في تحويل عملية معقدة مثل ملء وتوليد تصاريح </a:t>
            </a:r>
            <a:r>
              <a:rPr lang="fr-FR" sz="1200" b="1" dirty="0">
                <a:latin typeface="DIN Next LT Arabic Light" panose="020B0303020203050203" pitchFamily="34" charset="-78"/>
                <a:cs typeface="DIN Next LT Arabic Light" panose="020B0303020203050203" pitchFamily="34" charset="-78"/>
              </a:rPr>
              <a:t>G50 </a:t>
            </a:r>
            <a:r>
              <a:rPr lang="ar-EG" sz="1200" b="1" dirty="0">
                <a:latin typeface="DIN Next LT Arabic Light" panose="020B0303020203050203" pitchFamily="34" charset="-78"/>
                <a:cs typeface="DIN Next LT Arabic Light" panose="020B0303020203050203" pitchFamily="34" charset="-78"/>
              </a:rPr>
              <a:t>من عملية محاسبية ورقية تأخذ ساعات، إلى عملية رقمية مؤتمتة بالكامل تتم بضغطة زر واحدة وبنسبة خطأ 0%، ممّا يكسر الحاجز التقليدي بين المكلف والضرائب.</a:t>
            </a:r>
          </a:p>
        </p:txBody>
      </p:sp>
      <p:sp>
        <p:nvSpPr>
          <p:cNvPr id="7" name="Arc 6"/>
          <p:cNvSpPr/>
          <p:nvPr/>
        </p:nvSpPr>
        <p:spPr>
          <a:xfrm>
            <a:off x="3350947" y="2207664"/>
            <a:ext cx="1192396" cy="1192396"/>
          </a:xfrm>
          <a:prstGeom prst="arc">
            <a:avLst>
              <a:gd name="adj1" fmla="val 16200000"/>
              <a:gd name="adj2" fmla="val 16172378"/>
            </a:avLst>
          </a:prstGeom>
          <a:ln w="190500">
            <a:solidFill>
              <a:schemeClr val="accent2">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8" name="Arc 7"/>
          <p:cNvSpPr/>
          <p:nvPr/>
        </p:nvSpPr>
        <p:spPr>
          <a:xfrm>
            <a:off x="3350947" y="2207664"/>
            <a:ext cx="1192396" cy="1192396"/>
          </a:xfrm>
          <a:prstGeom prst="arc">
            <a:avLst>
              <a:gd name="adj1" fmla="val 16200000"/>
              <a:gd name="adj2" fmla="val 10743644"/>
            </a:avLst>
          </a:prstGeom>
          <a:ln w="190500" cap="rnd">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9" name="TextBox 8"/>
          <p:cNvSpPr txBox="1"/>
          <p:nvPr/>
        </p:nvSpPr>
        <p:spPr>
          <a:xfrm>
            <a:off x="2680570" y="3626563"/>
            <a:ext cx="2625833" cy="369332"/>
          </a:xfrm>
          <a:prstGeom prst="rect">
            <a:avLst/>
          </a:prstGeom>
          <a:noFill/>
        </p:spPr>
        <p:txBody>
          <a:bodyPr wrap="square" rtlCol="0">
            <a:spAutoFit/>
          </a:bodyPr>
          <a:lstStyle/>
          <a:p>
            <a:pPr algn="ctr" rtl="1"/>
            <a:r>
              <a:rPr lang="ar-DZ" dirty="0">
                <a:solidFill>
                  <a:schemeClr val="accent2"/>
                </a:solidFill>
                <a:latin typeface="DIN Next LT Arabic Light" panose="020B0303020203050203" pitchFamily="34" charset="-78"/>
                <a:cs typeface="DIN Next LT Arabic Light" panose="020B0303020203050203" pitchFamily="34" charset="-78"/>
              </a:rPr>
              <a:t>نظام التنبيه الاستباقي الذكي</a:t>
            </a:r>
            <a:endParaRPr lang="en-ID" dirty="0">
              <a:solidFill>
                <a:schemeClr val="accent2"/>
              </a:solidFill>
              <a:latin typeface="DIN Next LT Arabic Light" panose="020B0303020203050203" pitchFamily="34" charset="-78"/>
              <a:cs typeface="DIN Next LT Arabic Light" panose="020B0303020203050203" pitchFamily="34" charset="-78"/>
            </a:endParaRPr>
          </a:p>
        </p:txBody>
      </p:sp>
      <p:sp>
        <p:nvSpPr>
          <p:cNvPr id="10" name="TextBox 9"/>
          <p:cNvSpPr txBox="1"/>
          <p:nvPr/>
        </p:nvSpPr>
        <p:spPr>
          <a:xfrm>
            <a:off x="2870626" y="4159721"/>
            <a:ext cx="2382871" cy="1720151"/>
          </a:xfrm>
          <a:prstGeom prst="rect">
            <a:avLst/>
          </a:prstGeom>
          <a:noFill/>
        </p:spPr>
        <p:txBody>
          <a:bodyPr wrap="square" rtlCol="0">
            <a:spAutoFit/>
          </a:bodyPr>
          <a:lstStyle/>
          <a:p>
            <a:pPr algn="ctr" rtl="1">
              <a:lnSpc>
                <a:spcPct val="150000"/>
              </a:lnSpc>
            </a:pPr>
            <a:r>
              <a:rPr lang="ar-EG" sz="1200" b="1" dirty="0">
                <a:latin typeface="DIN Next LT Arabic Light" panose="020B0303020203050203" pitchFamily="34" charset="-78"/>
                <a:cs typeface="DIN Next LT Arabic Light" panose="020B0303020203050203" pitchFamily="34" charset="-78"/>
              </a:rPr>
              <a:t>تجاوز الفكرة التقليدية للمفكرات والمواعيد، من خلال دمج نظام إشعارات ذكي ومتعدد القنوات (</a:t>
            </a:r>
            <a:r>
              <a:rPr lang="fr-FR" sz="1200" b="1" dirty="0">
                <a:latin typeface="DIN Next LT Arabic Light" panose="020B0303020203050203" pitchFamily="34" charset="-78"/>
                <a:cs typeface="DIN Next LT Arabic Light" panose="020B0303020203050203" pitchFamily="34" charset="-78"/>
              </a:rPr>
              <a:t>SMS، </a:t>
            </a:r>
            <a:r>
              <a:rPr lang="ar-EG" sz="1200" b="1" dirty="0">
                <a:latin typeface="DIN Next LT Arabic Light" panose="020B0303020203050203" pitchFamily="34" charset="-78"/>
                <a:cs typeface="DIN Next LT Arabic Light" panose="020B0303020203050203" pitchFamily="34" charset="-78"/>
              </a:rPr>
              <a:t>بريد إلكتروني، إشعارات المنصة) يعمل بشكل استباقي بناءً على نوع نشاط المؤسسة، ممّا يضمن حماية حتمية للمقاول من أي عقوبات مالية.</a:t>
            </a:r>
          </a:p>
        </p:txBody>
      </p:sp>
      <p:sp>
        <p:nvSpPr>
          <p:cNvPr id="11" name="Arc 10"/>
          <p:cNvSpPr/>
          <p:nvPr/>
        </p:nvSpPr>
        <p:spPr>
          <a:xfrm>
            <a:off x="5497247" y="2207664"/>
            <a:ext cx="1192396" cy="1192396"/>
          </a:xfrm>
          <a:prstGeom prst="arc">
            <a:avLst>
              <a:gd name="adj1" fmla="val 16200000"/>
              <a:gd name="adj2" fmla="val 16172378"/>
            </a:avLst>
          </a:prstGeom>
          <a:ln w="190500">
            <a:solidFill>
              <a:schemeClr val="accent3">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2" name="Arc 11"/>
          <p:cNvSpPr/>
          <p:nvPr/>
        </p:nvSpPr>
        <p:spPr>
          <a:xfrm>
            <a:off x="5497247" y="2207664"/>
            <a:ext cx="1192396" cy="1192396"/>
          </a:xfrm>
          <a:prstGeom prst="arc">
            <a:avLst>
              <a:gd name="adj1" fmla="val 16200000"/>
              <a:gd name="adj2" fmla="val 13735666"/>
            </a:avLst>
          </a:prstGeom>
          <a:ln w="190500" cap="rnd">
            <a:solidFill>
              <a:schemeClr val="accent3"/>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3" name="TextBox 12"/>
          <p:cNvSpPr txBox="1"/>
          <p:nvPr/>
        </p:nvSpPr>
        <p:spPr>
          <a:xfrm>
            <a:off x="4906800" y="3668882"/>
            <a:ext cx="2723105" cy="323165"/>
          </a:xfrm>
          <a:prstGeom prst="rect">
            <a:avLst/>
          </a:prstGeom>
          <a:noFill/>
        </p:spPr>
        <p:txBody>
          <a:bodyPr wrap="square" rtlCol="0">
            <a:spAutoFit/>
          </a:bodyPr>
          <a:lstStyle/>
          <a:p>
            <a:pPr algn="ctr" rtl="1"/>
            <a:r>
              <a:rPr lang="ar-DZ" sz="1500" dirty="0">
                <a:solidFill>
                  <a:schemeClr val="accent3"/>
                </a:solidFill>
                <a:latin typeface="DIN Next LT Arabic Light" panose="020B0303020203050203" pitchFamily="34" charset="-78"/>
                <a:cs typeface="DIN Next LT Arabic Light" panose="020B0303020203050203" pitchFamily="34" charset="-78"/>
              </a:rPr>
              <a:t>بيئة الأرشفة السحابية المشفرة والمحمية</a:t>
            </a:r>
            <a:endParaRPr lang="en-ID" sz="1500" dirty="0">
              <a:solidFill>
                <a:schemeClr val="accent3"/>
              </a:solidFill>
              <a:latin typeface="DIN Next LT Arabic Light" panose="020B0303020203050203" pitchFamily="34" charset="-78"/>
              <a:cs typeface="DIN Next LT Arabic Light" panose="020B0303020203050203" pitchFamily="34" charset="-78"/>
            </a:endParaRPr>
          </a:p>
        </p:txBody>
      </p:sp>
      <p:sp>
        <p:nvSpPr>
          <p:cNvPr id="14" name="TextBox 13"/>
          <p:cNvSpPr txBox="1"/>
          <p:nvPr/>
        </p:nvSpPr>
        <p:spPr>
          <a:xfrm>
            <a:off x="5106409" y="4163569"/>
            <a:ext cx="2382870" cy="1720151"/>
          </a:xfrm>
          <a:prstGeom prst="rect">
            <a:avLst/>
          </a:prstGeom>
          <a:noFill/>
        </p:spPr>
        <p:txBody>
          <a:bodyPr wrap="square" rtlCol="0">
            <a:spAutoFit/>
          </a:bodyPr>
          <a:lstStyle/>
          <a:p>
            <a:pPr algn="ctr" rtl="1">
              <a:lnSpc>
                <a:spcPct val="150000"/>
              </a:lnSpc>
            </a:pPr>
            <a:r>
              <a:rPr lang="ar-EG" sz="1200" b="1" dirty="0">
                <a:latin typeface="DIN Next LT Arabic Light" panose="020B0303020203050203" pitchFamily="34" charset="-78"/>
                <a:cs typeface="DIN Next LT Arabic Light" panose="020B0303020203050203" pitchFamily="34" charset="-78"/>
              </a:rPr>
              <a:t>تقديم بديل ثوري للأرشيف الورقي عبر دمج تقنيات تخزين سحابي آمن ومشفر للمستندات الجبائية والمحاسبية، مما يتيح للمقاول استرجاع ملفاته التاريخية فوراً وعرضها بشكل منظم في حال وجود تدقيق أو رقابة جبائية فجائية.</a:t>
            </a:r>
          </a:p>
        </p:txBody>
      </p:sp>
      <p:sp>
        <p:nvSpPr>
          <p:cNvPr id="15" name="Arc 14"/>
          <p:cNvSpPr/>
          <p:nvPr/>
        </p:nvSpPr>
        <p:spPr>
          <a:xfrm>
            <a:off x="7643547" y="2207664"/>
            <a:ext cx="1192396" cy="1192396"/>
          </a:xfrm>
          <a:prstGeom prst="arc">
            <a:avLst>
              <a:gd name="adj1" fmla="val 16200000"/>
              <a:gd name="adj2" fmla="val 16172378"/>
            </a:avLst>
          </a:prstGeom>
          <a:ln w="190500">
            <a:solidFill>
              <a:schemeClr val="accent4">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6" name="Arc 15"/>
          <p:cNvSpPr/>
          <p:nvPr/>
        </p:nvSpPr>
        <p:spPr>
          <a:xfrm>
            <a:off x="7643547" y="2207664"/>
            <a:ext cx="1192396" cy="1192396"/>
          </a:xfrm>
          <a:prstGeom prst="arc">
            <a:avLst>
              <a:gd name="adj1" fmla="val 16200000"/>
              <a:gd name="adj2" fmla="val 7156559"/>
            </a:avLst>
          </a:prstGeom>
          <a:ln w="190500" cap="rnd">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17" name="TextBox 16"/>
          <p:cNvSpPr txBox="1"/>
          <p:nvPr/>
        </p:nvSpPr>
        <p:spPr>
          <a:xfrm>
            <a:off x="7265919" y="3668882"/>
            <a:ext cx="2625833" cy="523220"/>
          </a:xfrm>
          <a:prstGeom prst="rect">
            <a:avLst/>
          </a:prstGeom>
          <a:noFill/>
        </p:spPr>
        <p:txBody>
          <a:bodyPr wrap="square" rtlCol="0">
            <a:spAutoFit/>
          </a:bodyPr>
          <a:lstStyle/>
          <a:p>
            <a:pPr algn="ctr" rtl="1"/>
            <a:r>
              <a:rPr lang="ar-DZ" sz="1400" dirty="0">
                <a:solidFill>
                  <a:schemeClr val="accent4"/>
                </a:solidFill>
                <a:latin typeface="DIN Next LT Arabic Light" panose="020B0303020203050203" pitchFamily="34" charset="-78"/>
                <a:cs typeface="DIN Next LT Arabic Light" panose="020B0303020203050203" pitchFamily="34" charset="-78"/>
              </a:rPr>
              <a:t>لوحة قيادة لحظية متوافقة مع التشريع الجزائري</a:t>
            </a:r>
            <a:endParaRPr lang="en-ID" sz="1400" dirty="0">
              <a:solidFill>
                <a:schemeClr val="accent4"/>
              </a:solidFill>
              <a:latin typeface="DIN Next LT Arabic Light" panose="020B0303020203050203" pitchFamily="34" charset="-78"/>
              <a:cs typeface="DIN Next LT Arabic Light" panose="020B0303020203050203" pitchFamily="34" charset="-78"/>
            </a:endParaRPr>
          </a:p>
        </p:txBody>
      </p:sp>
      <p:sp>
        <p:nvSpPr>
          <p:cNvPr id="18" name="TextBox 17"/>
          <p:cNvSpPr txBox="1"/>
          <p:nvPr/>
        </p:nvSpPr>
        <p:spPr>
          <a:xfrm>
            <a:off x="7333071" y="4163570"/>
            <a:ext cx="2389623" cy="1720151"/>
          </a:xfrm>
          <a:prstGeom prst="rect">
            <a:avLst/>
          </a:prstGeom>
          <a:noFill/>
        </p:spPr>
        <p:txBody>
          <a:bodyPr wrap="square" rtlCol="0">
            <a:spAutoFit/>
          </a:bodyPr>
          <a:lstStyle/>
          <a:p>
            <a:pPr algn="ctr" rtl="1">
              <a:lnSpc>
                <a:spcPct val="150000"/>
              </a:lnSpc>
            </a:pPr>
            <a:r>
              <a:rPr lang="ar-EG" sz="1200" b="1" dirty="0">
                <a:latin typeface="DIN Next LT Arabic Light" panose="020B0303020203050203" pitchFamily="34" charset="-78"/>
                <a:cs typeface="DIN Next LT Arabic Light" panose="020B0303020203050203" pitchFamily="34" charset="-78"/>
              </a:rPr>
              <a:t>توفير لوحة تحكم ذكية تعكس الوضعية المالية والجبائية للمؤسسة بشكل فوري، مبرمجة لتتحدث تلقائياً مع صدور كل قانون مالية سنوي في الجزائر، ممّا يمنح المقاولين والشركات الناشئة رؤية واضحة ومطابقة تامة للأنظمة دون تكاليف تحديث إضافية.</a:t>
            </a:r>
          </a:p>
        </p:txBody>
      </p:sp>
      <p:sp>
        <p:nvSpPr>
          <p:cNvPr id="19" name="Arc 18"/>
          <p:cNvSpPr/>
          <p:nvPr/>
        </p:nvSpPr>
        <p:spPr>
          <a:xfrm>
            <a:off x="9789847" y="2207664"/>
            <a:ext cx="1192396" cy="1192396"/>
          </a:xfrm>
          <a:prstGeom prst="arc">
            <a:avLst>
              <a:gd name="adj1" fmla="val 16200000"/>
              <a:gd name="adj2" fmla="val 16172378"/>
            </a:avLst>
          </a:prstGeom>
          <a:ln w="190500">
            <a:solidFill>
              <a:schemeClr val="accent5">
                <a:lumMod val="20000"/>
                <a:lumOff val="8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20" name="Arc 19"/>
          <p:cNvSpPr/>
          <p:nvPr/>
        </p:nvSpPr>
        <p:spPr>
          <a:xfrm>
            <a:off x="9789847" y="2207664"/>
            <a:ext cx="1192396" cy="1192396"/>
          </a:xfrm>
          <a:prstGeom prst="arc">
            <a:avLst>
              <a:gd name="adj1" fmla="val 16200000"/>
              <a:gd name="adj2" fmla="val 8006289"/>
            </a:avLst>
          </a:prstGeom>
          <a:ln w="190500" cap="rnd">
            <a:solidFill>
              <a:schemeClr val="accent5"/>
            </a:solidFill>
          </a:ln>
        </p:spPr>
        <p:style>
          <a:lnRef idx="1">
            <a:schemeClr val="accent1"/>
          </a:lnRef>
          <a:fillRef idx="0">
            <a:schemeClr val="accent1"/>
          </a:fillRef>
          <a:effectRef idx="0">
            <a:schemeClr val="accent1"/>
          </a:effectRef>
          <a:fontRef idx="minor">
            <a:schemeClr val="tx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21" name="TextBox 20"/>
          <p:cNvSpPr txBox="1"/>
          <p:nvPr/>
        </p:nvSpPr>
        <p:spPr>
          <a:xfrm>
            <a:off x="9465550" y="3640351"/>
            <a:ext cx="2625833" cy="523220"/>
          </a:xfrm>
          <a:prstGeom prst="rect">
            <a:avLst/>
          </a:prstGeom>
          <a:noFill/>
        </p:spPr>
        <p:txBody>
          <a:bodyPr wrap="square" rtlCol="0">
            <a:spAutoFit/>
          </a:bodyPr>
          <a:lstStyle/>
          <a:p>
            <a:pPr algn="ctr" rtl="1"/>
            <a:r>
              <a:rPr lang="ar-DZ" sz="1400" dirty="0">
                <a:solidFill>
                  <a:schemeClr val="accent5"/>
                </a:solidFill>
                <a:latin typeface="DIN Next LT Arabic Light" panose="020B0303020203050203" pitchFamily="34" charset="-78"/>
                <a:cs typeface="DIN Next LT Arabic Light" panose="020B0303020203050203" pitchFamily="34" charset="-78"/>
              </a:rPr>
              <a:t>نموذج هجين يدمج التكنولوجيا بالخبرة البشرية</a:t>
            </a:r>
            <a:endParaRPr lang="en-ID" sz="1400" dirty="0">
              <a:solidFill>
                <a:schemeClr val="accent5"/>
              </a:solidFill>
              <a:latin typeface="DIN Next LT Arabic Light" panose="020B0303020203050203" pitchFamily="34" charset="-78"/>
              <a:cs typeface="DIN Next LT Arabic Light" panose="020B0303020203050203" pitchFamily="34" charset="-78"/>
            </a:endParaRPr>
          </a:p>
        </p:txBody>
      </p:sp>
      <p:sp>
        <p:nvSpPr>
          <p:cNvPr id="22" name="TextBox 21"/>
          <p:cNvSpPr txBox="1"/>
          <p:nvPr/>
        </p:nvSpPr>
        <p:spPr>
          <a:xfrm>
            <a:off x="9627698" y="4163571"/>
            <a:ext cx="2301536" cy="1720151"/>
          </a:xfrm>
          <a:prstGeom prst="rect">
            <a:avLst/>
          </a:prstGeom>
          <a:noFill/>
        </p:spPr>
        <p:txBody>
          <a:bodyPr wrap="square" rtlCol="0">
            <a:spAutoFit/>
          </a:bodyPr>
          <a:lstStyle/>
          <a:p>
            <a:pPr algn="ctr" rtl="1">
              <a:lnSpc>
                <a:spcPct val="150000"/>
              </a:lnSpc>
            </a:pPr>
            <a:r>
              <a:rPr lang="ar-EG" sz="1200" b="1" dirty="0">
                <a:latin typeface="DIN Next LT Arabic Light" panose="020B0303020203050203" pitchFamily="34" charset="-78"/>
                <a:cs typeface="DIN Next LT Arabic Light" panose="020B0303020203050203" pitchFamily="34" charset="-78"/>
              </a:rPr>
              <a:t>الابتكار في أسلوب العمل؛ فالمنصة لا تكتفي بكونها برمجياً صامتاً، بل تقدم نموذجاً يربط الأتمتة البرمجية السريعة بشبكة مكاتب محاسبة شريكة، ممّا يمنح العميل سرعة التكنولوجيا وأمان الاستشارة البشرية المتخصصة في آن واحد.</a:t>
            </a:r>
          </a:p>
        </p:txBody>
      </p:sp>
      <p:sp>
        <p:nvSpPr>
          <p:cNvPr id="23" name="Freeform 22"/>
          <p:cNvSpPr>
            <a:spLocks noEditPoints="1"/>
          </p:cNvSpPr>
          <p:nvPr/>
        </p:nvSpPr>
        <p:spPr bwMode="auto">
          <a:xfrm>
            <a:off x="1516238" y="2511890"/>
            <a:ext cx="569215" cy="555050"/>
          </a:xfrm>
          <a:custGeom>
            <a:avLst/>
            <a:gdLst>
              <a:gd name="T0" fmla="*/ 64 w 187"/>
              <a:gd name="T1" fmla="*/ 82 h 182"/>
              <a:gd name="T2" fmla="*/ 74 w 187"/>
              <a:gd name="T3" fmla="*/ 92 h 182"/>
              <a:gd name="T4" fmla="*/ 59 w 187"/>
              <a:gd name="T5" fmla="*/ 99 h 182"/>
              <a:gd name="T6" fmla="*/ 47 w 187"/>
              <a:gd name="T7" fmla="*/ 95 h 182"/>
              <a:gd name="T8" fmla="*/ 7 w 187"/>
              <a:gd name="T9" fmla="*/ 54 h 182"/>
              <a:gd name="T10" fmla="*/ 9 w 187"/>
              <a:gd name="T11" fmla="*/ 27 h 182"/>
              <a:gd name="T12" fmla="*/ 30 w 187"/>
              <a:gd name="T13" fmla="*/ 7 h 182"/>
              <a:gd name="T14" fmla="*/ 46 w 187"/>
              <a:gd name="T15" fmla="*/ 0 h 182"/>
              <a:gd name="T16" fmla="*/ 57 w 187"/>
              <a:gd name="T17" fmla="*/ 4 h 182"/>
              <a:gd name="T18" fmla="*/ 97 w 187"/>
              <a:gd name="T19" fmla="*/ 44 h 182"/>
              <a:gd name="T20" fmla="*/ 95 w 187"/>
              <a:gd name="T21" fmla="*/ 72 h 182"/>
              <a:gd name="T22" fmla="*/ 85 w 187"/>
              <a:gd name="T23" fmla="*/ 61 h 182"/>
              <a:gd name="T24" fmla="*/ 87 w 187"/>
              <a:gd name="T25" fmla="*/ 55 h 182"/>
              <a:gd name="T26" fmla="*/ 47 w 187"/>
              <a:gd name="T27" fmla="*/ 14 h 182"/>
              <a:gd name="T28" fmla="*/ 46 w 187"/>
              <a:gd name="T29" fmla="*/ 14 h 182"/>
              <a:gd name="T30" fmla="*/ 40 w 187"/>
              <a:gd name="T31" fmla="*/ 17 h 182"/>
              <a:gd name="T32" fmla="*/ 20 w 187"/>
              <a:gd name="T33" fmla="*/ 37 h 182"/>
              <a:gd name="T34" fmla="*/ 17 w 187"/>
              <a:gd name="T35" fmla="*/ 44 h 182"/>
              <a:gd name="T36" fmla="*/ 58 w 187"/>
              <a:gd name="T37" fmla="*/ 84 h 182"/>
              <a:gd name="T38" fmla="*/ 64 w 187"/>
              <a:gd name="T39" fmla="*/ 82 h 182"/>
              <a:gd name="T40" fmla="*/ 180 w 187"/>
              <a:gd name="T41" fmla="*/ 127 h 182"/>
              <a:gd name="T42" fmla="*/ 140 w 187"/>
              <a:gd name="T43" fmla="*/ 87 h 182"/>
              <a:gd name="T44" fmla="*/ 128 w 187"/>
              <a:gd name="T45" fmla="*/ 82 h 182"/>
              <a:gd name="T46" fmla="*/ 113 w 187"/>
              <a:gd name="T47" fmla="*/ 89 h 182"/>
              <a:gd name="T48" fmla="*/ 123 w 187"/>
              <a:gd name="T49" fmla="*/ 100 h 182"/>
              <a:gd name="T50" fmla="*/ 128 w 187"/>
              <a:gd name="T51" fmla="*/ 97 h 182"/>
              <a:gd name="T52" fmla="*/ 129 w 187"/>
              <a:gd name="T53" fmla="*/ 97 h 182"/>
              <a:gd name="T54" fmla="*/ 170 w 187"/>
              <a:gd name="T55" fmla="*/ 138 h 182"/>
              <a:gd name="T56" fmla="*/ 167 w 187"/>
              <a:gd name="T57" fmla="*/ 144 h 182"/>
              <a:gd name="T58" fmla="*/ 147 w 187"/>
              <a:gd name="T59" fmla="*/ 165 h 182"/>
              <a:gd name="T60" fmla="*/ 140 w 187"/>
              <a:gd name="T61" fmla="*/ 167 h 182"/>
              <a:gd name="T62" fmla="*/ 100 w 187"/>
              <a:gd name="T63" fmla="*/ 127 h 182"/>
              <a:gd name="T64" fmla="*/ 102 w 187"/>
              <a:gd name="T65" fmla="*/ 120 h 182"/>
              <a:gd name="T66" fmla="*/ 92 w 187"/>
              <a:gd name="T67" fmla="*/ 110 h 182"/>
              <a:gd name="T68" fmla="*/ 90 w 187"/>
              <a:gd name="T69" fmla="*/ 137 h 182"/>
              <a:gd name="T70" fmla="*/ 130 w 187"/>
              <a:gd name="T71" fmla="*/ 177 h 182"/>
              <a:gd name="T72" fmla="*/ 141 w 187"/>
              <a:gd name="T73" fmla="*/ 182 h 182"/>
              <a:gd name="T74" fmla="*/ 141 w 187"/>
              <a:gd name="T75" fmla="*/ 182 h 182"/>
              <a:gd name="T76" fmla="*/ 157 w 187"/>
              <a:gd name="T77" fmla="*/ 175 h 182"/>
              <a:gd name="T78" fmla="*/ 178 w 187"/>
              <a:gd name="T79" fmla="*/ 155 h 182"/>
              <a:gd name="T80" fmla="*/ 180 w 187"/>
              <a:gd name="T81" fmla="*/ 127 h 182"/>
              <a:gd name="T82" fmla="*/ 60 w 187"/>
              <a:gd name="T83" fmla="*/ 57 h 182"/>
              <a:gd name="T84" fmla="*/ 60 w 187"/>
              <a:gd name="T85" fmla="*/ 70 h 182"/>
              <a:gd name="T86" fmla="*/ 114 w 187"/>
              <a:gd name="T87" fmla="*/ 124 h 182"/>
              <a:gd name="T88" fmla="*/ 121 w 187"/>
              <a:gd name="T89" fmla="*/ 127 h 182"/>
              <a:gd name="T90" fmla="*/ 127 w 187"/>
              <a:gd name="T91" fmla="*/ 124 h 182"/>
              <a:gd name="T92" fmla="*/ 127 w 187"/>
              <a:gd name="T93" fmla="*/ 112 h 182"/>
              <a:gd name="T94" fmla="*/ 73 w 187"/>
              <a:gd name="T95" fmla="*/ 57 h 182"/>
              <a:gd name="T96" fmla="*/ 60 w 187"/>
              <a:gd name="T97" fmla="*/ 57 h 1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87" h="182">
                <a:moveTo>
                  <a:pt x="64" y="82"/>
                </a:moveTo>
                <a:cubicBezTo>
                  <a:pt x="74" y="92"/>
                  <a:pt x="74" y="92"/>
                  <a:pt x="74" y="92"/>
                </a:cubicBezTo>
                <a:cubicBezTo>
                  <a:pt x="70" y="97"/>
                  <a:pt x="64" y="99"/>
                  <a:pt x="59" y="99"/>
                </a:cubicBezTo>
                <a:cubicBezTo>
                  <a:pt x="54" y="99"/>
                  <a:pt x="50" y="98"/>
                  <a:pt x="47" y="95"/>
                </a:cubicBezTo>
                <a:cubicBezTo>
                  <a:pt x="7" y="54"/>
                  <a:pt x="7" y="54"/>
                  <a:pt x="7" y="54"/>
                </a:cubicBezTo>
                <a:cubicBezTo>
                  <a:pt x="0" y="47"/>
                  <a:pt x="1" y="35"/>
                  <a:pt x="9" y="27"/>
                </a:cubicBezTo>
                <a:cubicBezTo>
                  <a:pt x="30" y="7"/>
                  <a:pt x="30" y="7"/>
                  <a:pt x="30" y="7"/>
                </a:cubicBezTo>
                <a:cubicBezTo>
                  <a:pt x="34" y="2"/>
                  <a:pt x="40" y="0"/>
                  <a:pt x="46" y="0"/>
                </a:cubicBezTo>
                <a:cubicBezTo>
                  <a:pt x="50" y="0"/>
                  <a:pt x="54" y="1"/>
                  <a:pt x="57" y="4"/>
                </a:cubicBezTo>
                <a:cubicBezTo>
                  <a:pt x="97" y="44"/>
                  <a:pt x="97" y="44"/>
                  <a:pt x="97" y="44"/>
                </a:cubicBezTo>
                <a:cubicBezTo>
                  <a:pt x="104" y="51"/>
                  <a:pt x="103" y="63"/>
                  <a:pt x="95" y="72"/>
                </a:cubicBezTo>
                <a:cubicBezTo>
                  <a:pt x="85" y="61"/>
                  <a:pt x="85" y="61"/>
                  <a:pt x="85" y="61"/>
                </a:cubicBezTo>
                <a:cubicBezTo>
                  <a:pt x="87" y="58"/>
                  <a:pt x="87" y="55"/>
                  <a:pt x="87" y="55"/>
                </a:cubicBezTo>
                <a:cubicBezTo>
                  <a:pt x="47" y="14"/>
                  <a:pt x="47" y="14"/>
                  <a:pt x="47" y="14"/>
                </a:cubicBezTo>
                <a:cubicBezTo>
                  <a:pt x="47" y="14"/>
                  <a:pt x="46" y="14"/>
                  <a:pt x="46" y="14"/>
                </a:cubicBezTo>
                <a:cubicBezTo>
                  <a:pt x="44" y="14"/>
                  <a:pt x="42" y="15"/>
                  <a:pt x="40" y="17"/>
                </a:cubicBezTo>
                <a:cubicBezTo>
                  <a:pt x="20" y="37"/>
                  <a:pt x="20" y="37"/>
                  <a:pt x="20" y="37"/>
                </a:cubicBezTo>
                <a:cubicBezTo>
                  <a:pt x="17" y="40"/>
                  <a:pt x="17" y="43"/>
                  <a:pt x="17" y="44"/>
                </a:cubicBezTo>
                <a:cubicBezTo>
                  <a:pt x="58" y="84"/>
                  <a:pt x="58" y="84"/>
                  <a:pt x="58" y="84"/>
                </a:cubicBezTo>
                <a:cubicBezTo>
                  <a:pt x="58" y="85"/>
                  <a:pt x="61" y="85"/>
                  <a:pt x="64" y="82"/>
                </a:cubicBezTo>
                <a:close/>
                <a:moveTo>
                  <a:pt x="180" y="127"/>
                </a:moveTo>
                <a:cubicBezTo>
                  <a:pt x="140" y="87"/>
                  <a:pt x="140" y="87"/>
                  <a:pt x="140" y="87"/>
                </a:cubicBezTo>
                <a:cubicBezTo>
                  <a:pt x="137" y="84"/>
                  <a:pt x="133" y="82"/>
                  <a:pt x="128" y="82"/>
                </a:cubicBezTo>
                <a:cubicBezTo>
                  <a:pt x="123" y="82"/>
                  <a:pt x="117" y="85"/>
                  <a:pt x="113" y="89"/>
                </a:cubicBezTo>
                <a:cubicBezTo>
                  <a:pt x="123" y="100"/>
                  <a:pt x="123" y="100"/>
                  <a:pt x="123" y="100"/>
                </a:cubicBezTo>
                <a:cubicBezTo>
                  <a:pt x="125" y="98"/>
                  <a:pt x="127" y="97"/>
                  <a:pt x="128" y="97"/>
                </a:cubicBezTo>
                <a:cubicBezTo>
                  <a:pt x="129" y="97"/>
                  <a:pt x="129" y="97"/>
                  <a:pt x="129" y="97"/>
                </a:cubicBezTo>
                <a:cubicBezTo>
                  <a:pt x="170" y="138"/>
                  <a:pt x="170" y="138"/>
                  <a:pt x="170" y="138"/>
                </a:cubicBezTo>
                <a:cubicBezTo>
                  <a:pt x="170" y="138"/>
                  <a:pt x="170" y="141"/>
                  <a:pt x="167" y="144"/>
                </a:cubicBezTo>
                <a:cubicBezTo>
                  <a:pt x="147" y="165"/>
                  <a:pt x="147" y="165"/>
                  <a:pt x="147" y="165"/>
                </a:cubicBezTo>
                <a:cubicBezTo>
                  <a:pt x="144" y="167"/>
                  <a:pt x="141" y="167"/>
                  <a:pt x="140" y="167"/>
                </a:cubicBezTo>
                <a:cubicBezTo>
                  <a:pt x="100" y="127"/>
                  <a:pt x="100" y="127"/>
                  <a:pt x="100" y="127"/>
                </a:cubicBezTo>
                <a:cubicBezTo>
                  <a:pt x="100" y="126"/>
                  <a:pt x="100" y="123"/>
                  <a:pt x="102" y="120"/>
                </a:cubicBezTo>
                <a:cubicBezTo>
                  <a:pt x="92" y="110"/>
                  <a:pt x="92" y="110"/>
                  <a:pt x="92" y="110"/>
                </a:cubicBezTo>
                <a:cubicBezTo>
                  <a:pt x="84" y="118"/>
                  <a:pt x="83" y="130"/>
                  <a:pt x="90" y="137"/>
                </a:cubicBezTo>
                <a:cubicBezTo>
                  <a:pt x="130" y="177"/>
                  <a:pt x="130" y="177"/>
                  <a:pt x="130" y="177"/>
                </a:cubicBezTo>
                <a:cubicBezTo>
                  <a:pt x="133" y="180"/>
                  <a:pt x="137" y="182"/>
                  <a:pt x="141" y="182"/>
                </a:cubicBezTo>
                <a:cubicBezTo>
                  <a:pt x="141" y="182"/>
                  <a:pt x="141" y="182"/>
                  <a:pt x="141" y="182"/>
                </a:cubicBezTo>
                <a:cubicBezTo>
                  <a:pt x="147" y="182"/>
                  <a:pt x="153" y="179"/>
                  <a:pt x="157" y="175"/>
                </a:cubicBezTo>
                <a:cubicBezTo>
                  <a:pt x="178" y="155"/>
                  <a:pt x="178" y="155"/>
                  <a:pt x="178" y="155"/>
                </a:cubicBezTo>
                <a:cubicBezTo>
                  <a:pt x="186" y="146"/>
                  <a:pt x="187" y="134"/>
                  <a:pt x="180" y="127"/>
                </a:cubicBezTo>
                <a:close/>
                <a:moveTo>
                  <a:pt x="60" y="57"/>
                </a:moveTo>
                <a:cubicBezTo>
                  <a:pt x="56" y="61"/>
                  <a:pt x="56" y="66"/>
                  <a:pt x="60" y="70"/>
                </a:cubicBezTo>
                <a:cubicBezTo>
                  <a:pt x="114" y="124"/>
                  <a:pt x="114" y="124"/>
                  <a:pt x="114" y="124"/>
                </a:cubicBezTo>
                <a:cubicBezTo>
                  <a:pt x="116" y="126"/>
                  <a:pt x="118" y="127"/>
                  <a:pt x="121" y="127"/>
                </a:cubicBezTo>
                <a:cubicBezTo>
                  <a:pt x="123" y="127"/>
                  <a:pt x="125" y="126"/>
                  <a:pt x="127" y="124"/>
                </a:cubicBezTo>
                <a:cubicBezTo>
                  <a:pt x="131" y="121"/>
                  <a:pt x="131" y="115"/>
                  <a:pt x="127" y="112"/>
                </a:cubicBezTo>
                <a:cubicBezTo>
                  <a:pt x="73" y="57"/>
                  <a:pt x="73" y="57"/>
                  <a:pt x="73" y="57"/>
                </a:cubicBezTo>
                <a:cubicBezTo>
                  <a:pt x="69" y="53"/>
                  <a:pt x="63" y="53"/>
                  <a:pt x="60" y="57"/>
                </a:cubicBez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4" name="Freeform 23"/>
          <p:cNvSpPr>
            <a:spLocks noEditPoints="1"/>
          </p:cNvSpPr>
          <p:nvPr/>
        </p:nvSpPr>
        <p:spPr bwMode="auto">
          <a:xfrm>
            <a:off x="10115561" y="2508670"/>
            <a:ext cx="560201" cy="561489"/>
          </a:xfrm>
          <a:custGeom>
            <a:avLst/>
            <a:gdLst>
              <a:gd name="T0" fmla="*/ 55 w 184"/>
              <a:gd name="T1" fmla="*/ 54 h 184"/>
              <a:gd name="T2" fmla="*/ 50 w 184"/>
              <a:gd name="T3" fmla="*/ 54 h 184"/>
              <a:gd name="T4" fmla="*/ 45 w 184"/>
              <a:gd name="T5" fmla="*/ 45 h 184"/>
              <a:gd name="T6" fmla="*/ 55 w 184"/>
              <a:gd name="T7" fmla="*/ 49 h 184"/>
              <a:gd name="T8" fmla="*/ 159 w 184"/>
              <a:gd name="T9" fmla="*/ 92 h 184"/>
              <a:gd name="T10" fmla="*/ 149 w 184"/>
              <a:gd name="T11" fmla="*/ 88 h 184"/>
              <a:gd name="T12" fmla="*/ 149 w 184"/>
              <a:gd name="T13" fmla="*/ 95 h 184"/>
              <a:gd name="T14" fmla="*/ 26 w 184"/>
              <a:gd name="T15" fmla="*/ 92 h 184"/>
              <a:gd name="T16" fmla="*/ 36 w 184"/>
              <a:gd name="T17" fmla="*/ 95 h 184"/>
              <a:gd name="T18" fmla="*/ 36 w 184"/>
              <a:gd name="T19" fmla="*/ 88 h 184"/>
              <a:gd name="T20" fmla="*/ 26 w 184"/>
              <a:gd name="T21" fmla="*/ 92 h 184"/>
              <a:gd name="T22" fmla="*/ 48 w 184"/>
              <a:gd name="T23" fmla="*/ 140 h 184"/>
              <a:gd name="T24" fmla="*/ 55 w 184"/>
              <a:gd name="T25" fmla="*/ 134 h 184"/>
              <a:gd name="T26" fmla="*/ 50 w 184"/>
              <a:gd name="T27" fmla="*/ 130 h 184"/>
              <a:gd name="T28" fmla="*/ 45 w 184"/>
              <a:gd name="T29" fmla="*/ 139 h 184"/>
              <a:gd name="T30" fmla="*/ 89 w 184"/>
              <a:gd name="T31" fmla="*/ 29 h 184"/>
              <a:gd name="T32" fmla="*/ 92 w 184"/>
              <a:gd name="T33" fmla="*/ 38 h 184"/>
              <a:gd name="T34" fmla="*/ 96 w 184"/>
              <a:gd name="T35" fmla="*/ 29 h 184"/>
              <a:gd name="T36" fmla="*/ 135 w 184"/>
              <a:gd name="T37" fmla="*/ 130 h 184"/>
              <a:gd name="T38" fmla="*/ 130 w 184"/>
              <a:gd name="T39" fmla="*/ 134 h 184"/>
              <a:gd name="T40" fmla="*/ 137 w 184"/>
              <a:gd name="T41" fmla="*/ 140 h 184"/>
              <a:gd name="T42" fmla="*/ 139 w 184"/>
              <a:gd name="T43" fmla="*/ 134 h 184"/>
              <a:gd name="T44" fmla="*/ 89 w 184"/>
              <a:gd name="T45" fmla="*/ 155 h 184"/>
              <a:gd name="T46" fmla="*/ 96 w 184"/>
              <a:gd name="T47" fmla="*/ 155 h 184"/>
              <a:gd name="T48" fmla="*/ 92 w 184"/>
              <a:gd name="T49" fmla="*/ 145 h 184"/>
              <a:gd name="T50" fmla="*/ 89 w 184"/>
              <a:gd name="T51" fmla="*/ 155 h 184"/>
              <a:gd name="T52" fmla="*/ 134 w 184"/>
              <a:gd name="T53" fmla="*/ 45 h 184"/>
              <a:gd name="T54" fmla="*/ 130 w 184"/>
              <a:gd name="T55" fmla="*/ 54 h 184"/>
              <a:gd name="T56" fmla="*/ 135 w 184"/>
              <a:gd name="T57" fmla="*/ 54 h 184"/>
              <a:gd name="T58" fmla="*/ 139 w 184"/>
              <a:gd name="T59" fmla="*/ 45 h 184"/>
              <a:gd name="T60" fmla="*/ 44 w 184"/>
              <a:gd name="T61" fmla="*/ 14 h 184"/>
              <a:gd name="T62" fmla="*/ 92 w 184"/>
              <a:gd name="T63" fmla="*/ 12 h 184"/>
              <a:gd name="T64" fmla="*/ 92 w 184"/>
              <a:gd name="T65" fmla="*/ 172 h 184"/>
              <a:gd name="T66" fmla="*/ 21 w 184"/>
              <a:gd name="T67" fmla="*/ 56 h 184"/>
              <a:gd name="T68" fmla="*/ 35 w 184"/>
              <a:gd name="T69" fmla="*/ 28 h 184"/>
              <a:gd name="T70" fmla="*/ 11 w 184"/>
              <a:gd name="T71" fmla="*/ 49 h 184"/>
              <a:gd name="T72" fmla="*/ 92 w 184"/>
              <a:gd name="T73" fmla="*/ 184 h 184"/>
              <a:gd name="T74" fmla="*/ 92 w 184"/>
              <a:gd name="T75" fmla="*/ 0 h 184"/>
              <a:gd name="T76" fmla="*/ 124 w 184"/>
              <a:gd name="T77" fmla="*/ 96 h 184"/>
              <a:gd name="T78" fmla="*/ 131 w 184"/>
              <a:gd name="T79" fmla="*/ 104 h 184"/>
              <a:gd name="T80" fmla="*/ 124 w 184"/>
              <a:gd name="T81" fmla="*/ 117 h 184"/>
              <a:gd name="T82" fmla="*/ 115 w 184"/>
              <a:gd name="T83" fmla="*/ 104 h 184"/>
              <a:gd name="T84" fmla="*/ 94 w 184"/>
              <a:gd name="T85" fmla="*/ 98 h 184"/>
              <a:gd name="T86" fmla="*/ 124 w 184"/>
              <a:gd name="T87" fmla="*/ 68 h 184"/>
              <a:gd name="T88" fmla="*/ 115 w 184"/>
              <a:gd name="T89" fmla="*/ 83 h 184"/>
              <a:gd name="T90" fmla="*/ 115 w 184"/>
              <a:gd name="T91" fmla="*/ 96 h 184"/>
              <a:gd name="T92" fmla="*/ 86 w 184"/>
              <a:gd name="T93" fmla="*/ 82 h 184"/>
              <a:gd name="T94" fmla="*/ 56 w 184"/>
              <a:gd name="T95" fmla="*/ 72 h 184"/>
              <a:gd name="T96" fmla="*/ 58 w 184"/>
              <a:gd name="T97" fmla="*/ 81 h 184"/>
              <a:gd name="T98" fmla="*/ 69 w 184"/>
              <a:gd name="T99" fmla="*/ 76 h 184"/>
              <a:gd name="T100" fmla="*/ 59 w 184"/>
              <a:gd name="T101" fmla="*/ 105 h 184"/>
              <a:gd name="T102" fmla="*/ 54 w 184"/>
              <a:gd name="T103" fmla="*/ 117 h 184"/>
              <a:gd name="T104" fmla="*/ 87 w 184"/>
              <a:gd name="T105" fmla="*/ 108 h 184"/>
              <a:gd name="T106" fmla="*/ 70 w 184"/>
              <a:gd name="T107" fmla="*/ 108 h 1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84" h="184">
                <a:moveTo>
                  <a:pt x="55" y="49"/>
                </a:moveTo>
                <a:cubicBezTo>
                  <a:pt x="56" y="51"/>
                  <a:pt x="56" y="53"/>
                  <a:pt x="55" y="54"/>
                </a:cubicBezTo>
                <a:cubicBezTo>
                  <a:pt x="54" y="55"/>
                  <a:pt x="53" y="55"/>
                  <a:pt x="52" y="55"/>
                </a:cubicBezTo>
                <a:cubicBezTo>
                  <a:pt x="51" y="55"/>
                  <a:pt x="50" y="55"/>
                  <a:pt x="50" y="54"/>
                </a:cubicBezTo>
                <a:cubicBezTo>
                  <a:pt x="45" y="50"/>
                  <a:pt x="45" y="50"/>
                  <a:pt x="45" y="50"/>
                </a:cubicBezTo>
                <a:cubicBezTo>
                  <a:pt x="44" y="48"/>
                  <a:pt x="44" y="46"/>
                  <a:pt x="45" y="45"/>
                </a:cubicBezTo>
                <a:cubicBezTo>
                  <a:pt x="47" y="44"/>
                  <a:pt x="49" y="44"/>
                  <a:pt x="50" y="45"/>
                </a:cubicBezTo>
                <a:lnTo>
                  <a:pt x="55" y="49"/>
                </a:lnTo>
                <a:close/>
                <a:moveTo>
                  <a:pt x="155" y="95"/>
                </a:moveTo>
                <a:cubicBezTo>
                  <a:pt x="157" y="95"/>
                  <a:pt x="159" y="94"/>
                  <a:pt x="159" y="92"/>
                </a:cubicBezTo>
                <a:cubicBezTo>
                  <a:pt x="159" y="90"/>
                  <a:pt x="157" y="88"/>
                  <a:pt x="155" y="88"/>
                </a:cubicBezTo>
                <a:cubicBezTo>
                  <a:pt x="149" y="88"/>
                  <a:pt x="149" y="88"/>
                  <a:pt x="149" y="88"/>
                </a:cubicBezTo>
                <a:cubicBezTo>
                  <a:pt x="147" y="88"/>
                  <a:pt x="146" y="90"/>
                  <a:pt x="146" y="92"/>
                </a:cubicBezTo>
                <a:cubicBezTo>
                  <a:pt x="146" y="94"/>
                  <a:pt x="147" y="95"/>
                  <a:pt x="149" y="95"/>
                </a:cubicBezTo>
                <a:lnTo>
                  <a:pt x="155" y="95"/>
                </a:lnTo>
                <a:close/>
                <a:moveTo>
                  <a:pt x="26" y="92"/>
                </a:moveTo>
                <a:cubicBezTo>
                  <a:pt x="26" y="94"/>
                  <a:pt x="28" y="95"/>
                  <a:pt x="29" y="95"/>
                </a:cubicBezTo>
                <a:cubicBezTo>
                  <a:pt x="36" y="95"/>
                  <a:pt x="36" y="95"/>
                  <a:pt x="36" y="95"/>
                </a:cubicBezTo>
                <a:cubicBezTo>
                  <a:pt x="37" y="95"/>
                  <a:pt x="39" y="94"/>
                  <a:pt x="39" y="92"/>
                </a:cubicBezTo>
                <a:cubicBezTo>
                  <a:pt x="39" y="90"/>
                  <a:pt x="37" y="88"/>
                  <a:pt x="36" y="88"/>
                </a:cubicBezTo>
                <a:cubicBezTo>
                  <a:pt x="29" y="88"/>
                  <a:pt x="29" y="88"/>
                  <a:pt x="29" y="88"/>
                </a:cubicBezTo>
                <a:cubicBezTo>
                  <a:pt x="28" y="88"/>
                  <a:pt x="26" y="90"/>
                  <a:pt x="26" y="92"/>
                </a:cubicBezTo>
                <a:close/>
                <a:moveTo>
                  <a:pt x="45" y="139"/>
                </a:moveTo>
                <a:cubicBezTo>
                  <a:pt x="46" y="139"/>
                  <a:pt x="47" y="140"/>
                  <a:pt x="48" y="140"/>
                </a:cubicBezTo>
                <a:cubicBezTo>
                  <a:pt x="49" y="140"/>
                  <a:pt x="50" y="139"/>
                  <a:pt x="50" y="139"/>
                </a:cubicBezTo>
                <a:cubicBezTo>
                  <a:pt x="55" y="134"/>
                  <a:pt x="55" y="134"/>
                  <a:pt x="55" y="134"/>
                </a:cubicBezTo>
                <a:cubicBezTo>
                  <a:pt x="56" y="133"/>
                  <a:pt x="56" y="131"/>
                  <a:pt x="55" y="130"/>
                </a:cubicBezTo>
                <a:cubicBezTo>
                  <a:pt x="53" y="128"/>
                  <a:pt x="51" y="128"/>
                  <a:pt x="50" y="130"/>
                </a:cubicBezTo>
                <a:cubicBezTo>
                  <a:pt x="45" y="134"/>
                  <a:pt x="45" y="134"/>
                  <a:pt x="45" y="134"/>
                </a:cubicBezTo>
                <a:cubicBezTo>
                  <a:pt x="44" y="135"/>
                  <a:pt x="44" y="137"/>
                  <a:pt x="45" y="139"/>
                </a:cubicBezTo>
                <a:close/>
                <a:moveTo>
                  <a:pt x="92" y="25"/>
                </a:moveTo>
                <a:cubicBezTo>
                  <a:pt x="90" y="25"/>
                  <a:pt x="89" y="27"/>
                  <a:pt x="89" y="29"/>
                </a:cubicBezTo>
                <a:cubicBezTo>
                  <a:pt x="89" y="35"/>
                  <a:pt x="89" y="35"/>
                  <a:pt x="89" y="35"/>
                </a:cubicBezTo>
                <a:cubicBezTo>
                  <a:pt x="89" y="37"/>
                  <a:pt x="90" y="38"/>
                  <a:pt x="92" y="38"/>
                </a:cubicBezTo>
                <a:cubicBezTo>
                  <a:pt x="94" y="38"/>
                  <a:pt x="96" y="37"/>
                  <a:pt x="96" y="35"/>
                </a:cubicBezTo>
                <a:cubicBezTo>
                  <a:pt x="96" y="29"/>
                  <a:pt x="96" y="29"/>
                  <a:pt x="96" y="29"/>
                </a:cubicBezTo>
                <a:cubicBezTo>
                  <a:pt x="96" y="27"/>
                  <a:pt x="94" y="25"/>
                  <a:pt x="92" y="25"/>
                </a:cubicBezTo>
                <a:close/>
                <a:moveTo>
                  <a:pt x="135" y="130"/>
                </a:moveTo>
                <a:cubicBezTo>
                  <a:pt x="134" y="128"/>
                  <a:pt x="131" y="128"/>
                  <a:pt x="130" y="130"/>
                </a:cubicBezTo>
                <a:cubicBezTo>
                  <a:pt x="129" y="131"/>
                  <a:pt x="129" y="133"/>
                  <a:pt x="130" y="134"/>
                </a:cubicBezTo>
                <a:cubicBezTo>
                  <a:pt x="134" y="139"/>
                  <a:pt x="134" y="139"/>
                  <a:pt x="134" y="139"/>
                </a:cubicBezTo>
                <a:cubicBezTo>
                  <a:pt x="135" y="139"/>
                  <a:pt x="136" y="140"/>
                  <a:pt x="137" y="140"/>
                </a:cubicBezTo>
                <a:cubicBezTo>
                  <a:pt x="138" y="140"/>
                  <a:pt x="139" y="139"/>
                  <a:pt x="139" y="139"/>
                </a:cubicBezTo>
                <a:cubicBezTo>
                  <a:pt x="141" y="137"/>
                  <a:pt x="141" y="135"/>
                  <a:pt x="139" y="134"/>
                </a:cubicBezTo>
                <a:lnTo>
                  <a:pt x="135" y="130"/>
                </a:lnTo>
                <a:close/>
                <a:moveTo>
                  <a:pt x="89" y="155"/>
                </a:moveTo>
                <a:cubicBezTo>
                  <a:pt x="89" y="157"/>
                  <a:pt x="90" y="158"/>
                  <a:pt x="92" y="158"/>
                </a:cubicBezTo>
                <a:cubicBezTo>
                  <a:pt x="94" y="158"/>
                  <a:pt x="96" y="157"/>
                  <a:pt x="96" y="155"/>
                </a:cubicBezTo>
                <a:cubicBezTo>
                  <a:pt x="96" y="149"/>
                  <a:pt x="96" y="149"/>
                  <a:pt x="96" y="149"/>
                </a:cubicBezTo>
                <a:cubicBezTo>
                  <a:pt x="96" y="147"/>
                  <a:pt x="94" y="145"/>
                  <a:pt x="92" y="145"/>
                </a:cubicBezTo>
                <a:cubicBezTo>
                  <a:pt x="90" y="145"/>
                  <a:pt x="89" y="147"/>
                  <a:pt x="89" y="149"/>
                </a:cubicBezTo>
                <a:lnTo>
                  <a:pt x="89" y="155"/>
                </a:lnTo>
                <a:close/>
                <a:moveTo>
                  <a:pt x="139" y="45"/>
                </a:moveTo>
                <a:cubicBezTo>
                  <a:pt x="138" y="44"/>
                  <a:pt x="136" y="44"/>
                  <a:pt x="134" y="45"/>
                </a:cubicBezTo>
                <a:cubicBezTo>
                  <a:pt x="130" y="49"/>
                  <a:pt x="130" y="49"/>
                  <a:pt x="130" y="49"/>
                </a:cubicBezTo>
                <a:cubicBezTo>
                  <a:pt x="129" y="51"/>
                  <a:pt x="129" y="53"/>
                  <a:pt x="130" y="54"/>
                </a:cubicBezTo>
                <a:cubicBezTo>
                  <a:pt x="131" y="55"/>
                  <a:pt x="132" y="55"/>
                  <a:pt x="133" y="55"/>
                </a:cubicBezTo>
                <a:cubicBezTo>
                  <a:pt x="133" y="55"/>
                  <a:pt x="134" y="55"/>
                  <a:pt x="135" y="54"/>
                </a:cubicBezTo>
                <a:cubicBezTo>
                  <a:pt x="139" y="50"/>
                  <a:pt x="139" y="50"/>
                  <a:pt x="139" y="50"/>
                </a:cubicBezTo>
                <a:cubicBezTo>
                  <a:pt x="141" y="48"/>
                  <a:pt x="141" y="46"/>
                  <a:pt x="139" y="45"/>
                </a:cubicBezTo>
                <a:close/>
                <a:moveTo>
                  <a:pt x="92" y="0"/>
                </a:moveTo>
                <a:cubicBezTo>
                  <a:pt x="75" y="0"/>
                  <a:pt x="58" y="5"/>
                  <a:pt x="44" y="14"/>
                </a:cubicBezTo>
                <a:cubicBezTo>
                  <a:pt x="50" y="24"/>
                  <a:pt x="50" y="24"/>
                  <a:pt x="50" y="24"/>
                </a:cubicBezTo>
                <a:cubicBezTo>
                  <a:pt x="63" y="16"/>
                  <a:pt x="77" y="12"/>
                  <a:pt x="92" y="12"/>
                </a:cubicBezTo>
                <a:cubicBezTo>
                  <a:pt x="136" y="12"/>
                  <a:pt x="172" y="48"/>
                  <a:pt x="172" y="92"/>
                </a:cubicBezTo>
                <a:cubicBezTo>
                  <a:pt x="172" y="136"/>
                  <a:pt x="136" y="172"/>
                  <a:pt x="92" y="172"/>
                </a:cubicBezTo>
                <a:cubicBezTo>
                  <a:pt x="48" y="172"/>
                  <a:pt x="12" y="136"/>
                  <a:pt x="12" y="92"/>
                </a:cubicBezTo>
                <a:cubicBezTo>
                  <a:pt x="12" y="79"/>
                  <a:pt x="15" y="67"/>
                  <a:pt x="21" y="56"/>
                </a:cubicBezTo>
                <a:cubicBezTo>
                  <a:pt x="30" y="64"/>
                  <a:pt x="30" y="64"/>
                  <a:pt x="30" y="64"/>
                </a:cubicBezTo>
                <a:cubicBezTo>
                  <a:pt x="35" y="28"/>
                  <a:pt x="35" y="28"/>
                  <a:pt x="35" y="28"/>
                </a:cubicBezTo>
                <a:cubicBezTo>
                  <a:pt x="1" y="42"/>
                  <a:pt x="1" y="42"/>
                  <a:pt x="1" y="42"/>
                </a:cubicBezTo>
                <a:cubicBezTo>
                  <a:pt x="11" y="49"/>
                  <a:pt x="11" y="49"/>
                  <a:pt x="11" y="49"/>
                </a:cubicBezTo>
                <a:cubicBezTo>
                  <a:pt x="4" y="62"/>
                  <a:pt x="0" y="77"/>
                  <a:pt x="0" y="92"/>
                </a:cubicBezTo>
                <a:cubicBezTo>
                  <a:pt x="0" y="143"/>
                  <a:pt x="42" y="184"/>
                  <a:pt x="92" y="184"/>
                </a:cubicBezTo>
                <a:cubicBezTo>
                  <a:pt x="143" y="184"/>
                  <a:pt x="184" y="143"/>
                  <a:pt x="184" y="92"/>
                </a:cubicBezTo>
                <a:cubicBezTo>
                  <a:pt x="184" y="41"/>
                  <a:pt x="143" y="0"/>
                  <a:pt x="92" y="0"/>
                </a:cubicBezTo>
                <a:close/>
                <a:moveTo>
                  <a:pt x="124" y="68"/>
                </a:moveTo>
                <a:cubicBezTo>
                  <a:pt x="124" y="96"/>
                  <a:pt x="124" y="96"/>
                  <a:pt x="124" y="96"/>
                </a:cubicBezTo>
                <a:cubicBezTo>
                  <a:pt x="131" y="96"/>
                  <a:pt x="131" y="96"/>
                  <a:pt x="131" y="96"/>
                </a:cubicBezTo>
                <a:cubicBezTo>
                  <a:pt x="131" y="104"/>
                  <a:pt x="131" y="104"/>
                  <a:pt x="131" y="104"/>
                </a:cubicBezTo>
                <a:cubicBezTo>
                  <a:pt x="124" y="104"/>
                  <a:pt x="124" y="104"/>
                  <a:pt x="124" y="104"/>
                </a:cubicBezTo>
                <a:cubicBezTo>
                  <a:pt x="124" y="117"/>
                  <a:pt x="124" y="117"/>
                  <a:pt x="124" y="117"/>
                </a:cubicBezTo>
                <a:cubicBezTo>
                  <a:pt x="115" y="117"/>
                  <a:pt x="115" y="117"/>
                  <a:pt x="115" y="117"/>
                </a:cubicBezTo>
                <a:cubicBezTo>
                  <a:pt x="115" y="104"/>
                  <a:pt x="115" y="104"/>
                  <a:pt x="115" y="104"/>
                </a:cubicBezTo>
                <a:cubicBezTo>
                  <a:pt x="94" y="104"/>
                  <a:pt x="94" y="104"/>
                  <a:pt x="94" y="104"/>
                </a:cubicBezTo>
                <a:cubicBezTo>
                  <a:pt x="94" y="98"/>
                  <a:pt x="94" y="98"/>
                  <a:pt x="94" y="98"/>
                </a:cubicBezTo>
                <a:cubicBezTo>
                  <a:pt x="115" y="68"/>
                  <a:pt x="115" y="68"/>
                  <a:pt x="115" y="68"/>
                </a:cubicBezTo>
                <a:lnTo>
                  <a:pt x="124" y="68"/>
                </a:lnTo>
                <a:close/>
                <a:moveTo>
                  <a:pt x="115" y="83"/>
                </a:moveTo>
                <a:cubicBezTo>
                  <a:pt x="115" y="83"/>
                  <a:pt x="115" y="83"/>
                  <a:pt x="115" y="83"/>
                </a:cubicBezTo>
                <a:cubicBezTo>
                  <a:pt x="106" y="96"/>
                  <a:pt x="106" y="96"/>
                  <a:pt x="106" y="96"/>
                </a:cubicBezTo>
                <a:cubicBezTo>
                  <a:pt x="115" y="96"/>
                  <a:pt x="115" y="96"/>
                  <a:pt x="115" y="96"/>
                </a:cubicBezTo>
                <a:lnTo>
                  <a:pt x="115" y="83"/>
                </a:lnTo>
                <a:close/>
                <a:moveTo>
                  <a:pt x="86" y="82"/>
                </a:moveTo>
                <a:cubicBezTo>
                  <a:pt x="86" y="74"/>
                  <a:pt x="81" y="67"/>
                  <a:pt x="70" y="67"/>
                </a:cubicBezTo>
                <a:cubicBezTo>
                  <a:pt x="65" y="67"/>
                  <a:pt x="60" y="69"/>
                  <a:pt x="56" y="72"/>
                </a:cubicBezTo>
                <a:cubicBezTo>
                  <a:pt x="55" y="73"/>
                  <a:pt x="55" y="73"/>
                  <a:pt x="55" y="73"/>
                </a:cubicBezTo>
                <a:cubicBezTo>
                  <a:pt x="58" y="81"/>
                  <a:pt x="58" y="81"/>
                  <a:pt x="58" y="81"/>
                </a:cubicBezTo>
                <a:cubicBezTo>
                  <a:pt x="60" y="79"/>
                  <a:pt x="60" y="79"/>
                  <a:pt x="60" y="79"/>
                </a:cubicBezTo>
                <a:cubicBezTo>
                  <a:pt x="62" y="78"/>
                  <a:pt x="65" y="76"/>
                  <a:pt x="69" y="76"/>
                </a:cubicBezTo>
                <a:cubicBezTo>
                  <a:pt x="73" y="76"/>
                  <a:pt x="76" y="78"/>
                  <a:pt x="76" y="83"/>
                </a:cubicBezTo>
                <a:cubicBezTo>
                  <a:pt x="76" y="89"/>
                  <a:pt x="71" y="94"/>
                  <a:pt x="59" y="105"/>
                </a:cubicBezTo>
                <a:cubicBezTo>
                  <a:pt x="54" y="110"/>
                  <a:pt x="54" y="110"/>
                  <a:pt x="54" y="110"/>
                </a:cubicBezTo>
                <a:cubicBezTo>
                  <a:pt x="54" y="117"/>
                  <a:pt x="54" y="117"/>
                  <a:pt x="54" y="117"/>
                </a:cubicBezTo>
                <a:cubicBezTo>
                  <a:pt x="87" y="117"/>
                  <a:pt x="87" y="117"/>
                  <a:pt x="87" y="117"/>
                </a:cubicBezTo>
                <a:cubicBezTo>
                  <a:pt x="87" y="108"/>
                  <a:pt x="87" y="108"/>
                  <a:pt x="87" y="108"/>
                </a:cubicBezTo>
                <a:cubicBezTo>
                  <a:pt x="70" y="108"/>
                  <a:pt x="70" y="108"/>
                  <a:pt x="70" y="108"/>
                </a:cubicBezTo>
                <a:cubicBezTo>
                  <a:pt x="70" y="108"/>
                  <a:pt x="70" y="108"/>
                  <a:pt x="70" y="108"/>
                </a:cubicBezTo>
                <a:cubicBezTo>
                  <a:pt x="79" y="99"/>
                  <a:pt x="86" y="91"/>
                  <a:pt x="86" y="82"/>
                </a:cubicBez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5" name="Freeform 24"/>
          <p:cNvSpPr>
            <a:spLocks noEditPoints="1"/>
          </p:cNvSpPr>
          <p:nvPr/>
        </p:nvSpPr>
        <p:spPr bwMode="auto">
          <a:xfrm>
            <a:off x="3726928" y="2504164"/>
            <a:ext cx="440434" cy="570503"/>
          </a:xfrm>
          <a:custGeom>
            <a:avLst/>
            <a:gdLst>
              <a:gd name="T0" fmla="*/ 140 w 145"/>
              <a:gd name="T1" fmla="*/ 27 h 187"/>
              <a:gd name="T2" fmla="*/ 98 w 145"/>
              <a:gd name="T3" fmla="*/ 23 h 187"/>
              <a:gd name="T4" fmla="*/ 81 w 145"/>
              <a:gd name="T5" fmla="*/ 0 h 187"/>
              <a:gd name="T6" fmla="*/ 47 w 145"/>
              <a:gd name="T7" fmla="*/ 17 h 187"/>
              <a:gd name="T8" fmla="*/ 16 w 145"/>
              <a:gd name="T9" fmla="*/ 23 h 187"/>
              <a:gd name="T10" fmla="*/ 0 w 145"/>
              <a:gd name="T11" fmla="*/ 39 h 187"/>
              <a:gd name="T12" fmla="*/ 10 w 145"/>
              <a:gd name="T13" fmla="*/ 45 h 187"/>
              <a:gd name="T14" fmla="*/ 29 w 145"/>
              <a:gd name="T15" fmla="*/ 187 h 187"/>
              <a:gd name="T16" fmla="*/ 132 w 145"/>
              <a:gd name="T17" fmla="*/ 171 h 187"/>
              <a:gd name="T18" fmla="*/ 145 w 145"/>
              <a:gd name="T19" fmla="*/ 45 h 187"/>
              <a:gd name="T20" fmla="*/ 55 w 145"/>
              <a:gd name="T21" fmla="*/ 17 h 187"/>
              <a:gd name="T22" fmla="*/ 81 w 145"/>
              <a:gd name="T23" fmla="*/ 8 h 187"/>
              <a:gd name="T24" fmla="*/ 90 w 145"/>
              <a:gd name="T25" fmla="*/ 23 h 187"/>
              <a:gd name="T26" fmla="*/ 55 w 145"/>
              <a:gd name="T27" fmla="*/ 17 h 187"/>
              <a:gd name="T28" fmla="*/ 115 w 145"/>
              <a:gd name="T29" fmla="*/ 179 h 187"/>
              <a:gd name="T30" fmla="*/ 21 w 145"/>
              <a:gd name="T31" fmla="*/ 171 h 187"/>
              <a:gd name="T32" fmla="*/ 126 w 145"/>
              <a:gd name="T33" fmla="*/ 45 h 187"/>
              <a:gd name="T34" fmla="*/ 135 w 145"/>
              <a:gd name="T35" fmla="*/ 37 h 187"/>
              <a:gd name="T36" fmla="*/ 8 w 145"/>
              <a:gd name="T37" fmla="*/ 37 h 187"/>
              <a:gd name="T38" fmla="*/ 16 w 145"/>
              <a:gd name="T39" fmla="*/ 31 h 187"/>
              <a:gd name="T40" fmla="*/ 134 w 145"/>
              <a:gd name="T41" fmla="*/ 33 h 187"/>
              <a:gd name="T42" fmla="*/ 135 w 145"/>
              <a:gd name="T43" fmla="*/ 37 h 187"/>
              <a:gd name="T44" fmla="*/ 106 w 145"/>
              <a:gd name="T45" fmla="*/ 65 h 187"/>
              <a:gd name="T46" fmla="*/ 114 w 145"/>
              <a:gd name="T47" fmla="*/ 65 h 187"/>
              <a:gd name="T48" fmla="*/ 108 w 145"/>
              <a:gd name="T49" fmla="*/ 158 h 187"/>
              <a:gd name="T50" fmla="*/ 104 w 145"/>
              <a:gd name="T51" fmla="*/ 154 h 187"/>
              <a:gd name="T52" fmla="*/ 81 w 145"/>
              <a:gd name="T53" fmla="*/ 65 h 187"/>
              <a:gd name="T54" fmla="*/ 85 w 145"/>
              <a:gd name="T55" fmla="*/ 61 h 187"/>
              <a:gd name="T56" fmla="*/ 89 w 145"/>
              <a:gd name="T57" fmla="*/ 154 h 187"/>
              <a:gd name="T58" fmla="*/ 84 w 145"/>
              <a:gd name="T59" fmla="*/ 158 h 187"/>
              <a:gd name="T60" fmla="*/ 34 w 145"/>
              <a:gd name="T61" fmla="*/ 154 h 187"/>
              <a:gd name="T62" fmla="*/ 36 w 145"/>
              <a:gd name="T63" fmla="*/ 61 h 187"/>
              <a:gd name="T64" fmla="*/ 42 w 145"/>
              <a:gd name="T65" fmla="*/ 154 h 187"/>
              <a:gd name="T66" fmla="*/ 38 w 145"/>
              <a:gd name="T67" fmla="*/ 158 h 187"/>
              <a:gd name="T68" fmla="*/ 57 w 145"/>
              <a:gd name="T69" fmla="*/ 154 h 187"/>
              <a:gd name="T70" fmla="*/ 61 w 145"/>
              <a:gd name="T71" fmla="*/ 61 h 187"/>
              <a:gd name="T72" fmla="*/ 65 w 145"/>
              <a:gd name="T73" fmla="*/ 65 h 187"/>
              <a:gd name="T74" fmla="*/ 61 w 145"/>
              <a:gd name="T75" fmla="*/ 158 h 187"/>
              <a:gd name="T76" fmla="*/ 57 w 145"/>
              <a:gd name="T77" fmla="*/ 154 h 1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45" h="187">
                <a:moveTo>
                  <a:pt x="145" y="39"/>
                </a:moveTo>
                <a:cubicBezTo>
                  <a:pt x="145" y="35"/>
                  <a:pt x="143" y="30"/>
                  <a:pt x="140" y="27"/>
                </a:cubicBezTo>
                <a:cubicBezTo>
                  <a:pt x="137" y="24"/>
                  <a:pt x="133" y="23"/>
                  <a:pt x="129" y="23"/>
                </a:cubicBezTo>
                <a:cubicBezTo>
                  <a:pt x="98" y="23"/>
                  <a:pt x="98" y="23"/>
                  <a:pt x="98" y="23"/>
                </a:cubicBezTo>
                <a:cubicBezTo>
                  <a:pt x="98" y="17"/>
                  <a:pt x="98" y="17"/>
                  <a:pt x="98" y="17"/>
                </a:cubicBezTo>
                <a:cubicBezTo>
                  <a:pt x="98" y="8"/>
                  <a:pt x="90" y="0"/>
                  <a:pt x="81" y="0"/>
                </a:cubicBezTo>
                <a:cubicBezTo>
                  <a:pt x="63" y="0"/>
                  <a:pt x="63" y="0"/>
                  <a:pt x="63" y="0"/>
                </a:cubicBezTo>
                <a:cubicBezTo>
                  <a:pt x="54" y="0"/>
                  <a:pt x="47" y="8"/>
                  <a:pt x="47" y="17"/>
                </a:cubicBezTo>
                <a:cubicBezTo>
                  <a:pt x="47" y="23"/>
                  <a:pt x="47" y="23"/>
                  <a:pt x="47" y="23"/>
                </a:cubicBezTo>
                <a:cubicBezTo>
                  <a:pt x="16" y="23"/>
                  <a:pt x="16" y="23"/>
                  <a:pt x="16" y="23"/>
                </a:cubicBezTo>
                <a:cubicBezTo>
                  <a:pt x="12" y="23"/>
                  <a:pt x="8" y="24"/>
                  <a:pt x="4" y="27"/>
                </a:cubicBezTo>
                <a:cubicBezTo>
                  <a:pt x="1" y="30"/>
                  <a:pt x="0" y="35"/>
                  <a:pt x="0" y="39"/>
                </a:cubicBezTo>
                <a:cubicBezTo>
                  <a:pt x="0" y="45"/>
                  <a:pt x="0" y="45"/>
                  <a:pt x="0" y="45"/>
                </a:cubicBezTo>
                <a:cubicBezTo>
                  <a:pt x="10" y="45"/>
                  <a:pt x="10" y="45"/>
                  <a:pt x="10" y="45"/>
                </a:cubicBezTo>
                <a:cubicBezTo>
                  <a:pt x="13" y="171"/>
                  <a:pt x="13" y="171"/>
                  <a:pt x="13" y="171"/>
                </a:cubicBezTo>
                <a:cubicBezTo>
                  <a:pt x="13" y="180"/>
                  <a:pt x="21" y="187"/>
                  <a:pt x="29" y="187"/>
                </a:cubicBezTo>
                <a:cubicBezTo>
                  <a:pt x="115" y="187"/>
                  <a:pt x="115" y="187"/>
                  <a:pt x="115" y="187"/>
                </a:cubicBezTo>
                <a:cubicBezTo>
                  <a:pt x="124" y="187"/>
                  <a:pt x="132" y="180"/>
                  <a:pt x="132" y="171"/>
                </a:cubicBezTo>
                <a:cubicBezTo>
                  <a:pt x="135" y="45"/>
                  <a:pt x="135" y="45"/>
                  <a:pt x="135" y="45"/>
                </a:cubicBezTo>
                <a:cubicBezTo>
                  <a:pt x="145" y="45"/>
                  <a:pt x="145" y="45"/>
                  <a:pt x="145" y="45"/>
                </a:cubicBezTo>
                <a:lnTo>
                  <a:pt x="145" y="39"/>
                </a:lnTo>
                <a:close/>
                <a:moveTo>
                  <a:pt x="55" y="17"/>
                </a:moveTo>
                <a:cubicBezTo>
                  <a:pt x="55" y="12"/>
                  <a:pt x="59" y="8"/>
                  <a:pt x="63" y="8"/>
                </a:cubicBezTo>
                <a:cubicBezTo>
                  <a:pt x="81" y="8"/>
                  <a:pt x="81" y="8"/>
                  <a:pt x="81" y="8"/>
                </a:cubicBezTo>
                <a:cubicBezTo>
                  <a:pt x="86" y="8"/>
                  <a:pt x="90" y="12"/>
                  <a:pt x="90" y="17"/>
                </a:cubicBezTo>
                <a:cubicBezTo>
                  <a:pt x="90" y="23"/>
                  <a:pt x="90" y="23"/>
                  <a:pt x="90" y="23"/>
                </a:cubicBezTo>
                <a:cubicBezTo>
                  <a:pt x="55" y="23"/>
                  <a:pt x="55" y="23"/>
                  <a:pt x="55" y="23"/>
                </a:cubicBezTo>
                <a:lnTo>
                  <a:pt x="55" y="17"/>
                </a:lnTo>
                <a:close/>
                <a:moveTo>
                  <a:pt x="124" y="171"/>
                </a:moveTo>
                <a:cubicBezTo>
                  <a:pt x="124" y="175"/>
                  <a:pt x="120" y="179"/>
                  <a:pt x="115" y="179"/>
                </a:cubicBezTo>
                <a:cubicBezTo>
                  <a:pt x="29" y="179"/>
                  <a:pt x="29" y="179"/>
                  <a:pt x="29" y="179"/>
                </a:cubicBezTo>
                <a:cubicBezTo>
                  <a:pt x="25" y="179"/>
                  <a:pt x="21" y="175"/>
                  <a:pt x="21" y="171"/>
                </a:cubicBezTo>
                <a:cubicBezTo>
                  <a:pt x="18" y="45"/>
                  <a:pt x="18" y="45"/>
                  <a:pt x="18" y="45"/>
                </a:cubicBezTo>
                <a:cubicBezTo>
                  <a:pt x="126" y="45"/>
                  <a:pt x="126" y="45"/>
                  <a:pt x="126" y="45"/>
                </a:cubicBezTo>
                <a:lnTo>
                  <a:pt x="124" y="171"/>
                </a:lnTo>
                <a:close/>
                <a:moveTo>
                  <a:pt x="135" y="37"/>
                </a:moveTo>
                <a:cubicBezTo>
                  <a:pt x="10" y="37"/>
                  <a:pt x="10" y="37"/>
                  <a:pt x="10" y="37"/>
                </a:cubicBezTo>
                <a:cubicBezTo>
                  <a:pt x="8" y="37"/>
                  <a:pt x="8" y="37"/>
                  <a:pt x="8" y="37"/>
                </a:cubicBezTo>
                <a:cubicBezTo>
                  <a:pt x="9" y="35"/>
                  <a:pt x="9" y="34"/>
                  <a:pt x="10" y="33"/>
                </a:cubicBezTo>
                <a:cubicBezTo>
                  <a:pt x="12" y="32"/>
                  <a:pt x="14" y="31"/>
                  <a:pt x="16" y="31"/>
                </a:cubicBezTo>
                <a:cubicBezTo>
                  <a:pt x="129" y="31"/>
                  <a:pt x="129" y="31"/>
                  <a:pt x="129" y="31"/>
                </a:cubicBezTo>
                <a:cubicBezTo>
                  <a:pt x="131" y="31"/>
                  <a:pt x="133" y="32"/>
                  <a:pt x="134" y="33"/>
                </a:cubicBezTo>
                <a:cubicBezTo>
                  <a:pt x="135" y="34"/>
                  <a:pt x="136" y="35"/>
                  <a:pt x="136" y="37"/>
                </a:cubicBezTo>
                <a:lnTo>
                  <a:pt x="135" y="37"/>
                </a:lnTo>
                <a:close/>
                <a:moveTo>
                  <a:pt x="104" y="154"/>
                </a:moveTo>
                <a:cubicBezTo>
                  <a:pt x="106" y="65"/>
                  <a:pt x="106" y="65"/>
                  <a:pt x="106" y="65"/>
                </a:cubicBezTo>
                <a:cubicBezTo>
                  <a:pt x="106" y="62"/>
                  <a:pt x="108" y="61"/>
                  <a:pt x="110" y="61"/>
                </a:cubicBezTo>
                <a:cubicBezTo>
                  <a:pt x="112" y="61"/>
                  <a:pt x="114" y="63"/>
                  <a:pt x="114" y="65"/>
                </a:cubicBezTo>
                <a:cubicBezTo>
                  <a:pt x="112" y="154"/>
                  <a:pt x="112" y="154"/>
                  <a:pt x="112" y="154"/>
                </a:cubicBezTo>
                <a:cubicBezTo>
                  <a:pt x="112" y="156"/>
                  <a:pt x="110" y="158"/>
                  <a:pt x="108" y="158"/>
                </a:cubicBezTo>
                <a:cubicBezTo>
                  <a:pt x="108" y="158"/>
                  <a:pt x="108" y="158"/>
                  <a:pt x="108" y="158"/>
                </a:cubicBezTo>
                <a:cubicBezTo>
                  <a:pt x="105" y="158"/>
                  <a:pt x="104" y="156"/>
                  <a:pt x="104" y="154"/>
                </a:cubicBezTo>
                <a:close/>
                <a:moveTo>
                  <a:pt x="80" y="154"/>
                </a:moveTo>
                <a:cubicBezTo>
                  <a:pt x="81" y="65"/>
                  <a:pt x="81" y="65"/>
                  <a:pt x="81" y="65"/>
                </a:cubicBezTo>
                <a:cubicBezTo>
                  <a:pt x="81" y="63"/>
                  <a:pt x="83" y="61"/>
                  <a:pt x="85" y="61"/>
                </a:cubicBezTo>
                <a:cubicBezTo>
                  <a:pt x="85" y="61"/>
                  <a:pt x="85" y="61"/>
                  <a:pt x="85" y="61"/>
                </a:cubicBezTo>
                <a:cubicBezTo>
                  <a:pt x="87" y="61"/>
                  <a:pt x="89" y="63"/>
                  <a:pt x="89" y="65"/>
                </a:cubicBezTo>
                <a:cubicBezTo>
                  <a:pt x="89" y="154"/>
                  <a:pt x="89" y="154"/>
                  <a:pt x="89" y="154"/>
                </a:cubicBezTo>
                <a:cubicBezTo>
                  <a:pt x="89" y="156"/>
                  <a:pt x="87" y="158"/>
                  <a:pt x="85" y="158"/>
                </a:cubicBezTo>
                <a:cubicBezTo>
                  <a:pt x="85" y="158"/>
                  <a:pt x="85" y="158"/>
                  <a:pt x="84" y="158"/>
                </a:cubicBezTo>
                <a:cubicBezTo>
                  <a:pt x="82" y="158"/>
                  <a:pt x="80" y="156"/>
                  <a:pt x="80" y="154"/>
                </a:cubicBezTo>
                <a:close/>
                <a:moveTo>
                  <a:pt x="34" y="154"/>
                </a:moveTo>
                <a:cubicBezTo>
                  <a:pt x="32" y="65"/>
                  <a:pt x="32" y="65"/>
                  <a:pt x="32" y="65"/>
                </a:cubicBezTo>
                <a:cubicBezTo>
                  <a:pt x="32" y="63"/>
                  <a:pt x="34" y="61"/>
                  <a:pt x="36" y="61"/>
                </a:cubicBezTo>
                <a:cubicBezTo>
                  <a:pt x="38" y="61"/>
                  <a:pt x="40" y="62"/>
                  <a:pt x="40" y="65"/>
                </a:cubicBezTo>
                <a:cubicBezTo>
                  <a:pt x="42" y="154"/>
                  <a:pt x="42" y="154"/>
                  <a:pt x="42" y="154"/>
                </a:cubicBezTo>
                <a:cubicBezTo>
                  <a:pt x="42" y="156"/>
                  <a:pt x="40" y="158"/>
                  <a:pt x="38" y="158"/>
                </a:cubicBezTo>
                <a:cubicBezTo>
                  <a:pt x="38" y="158"/>
                  <a:pt x="38" y="158"/>
                  <a:pt x="38" y="158"/>
                </a:cubicBezTo>
                <a:cubicBezTo>
                  <a:pt x="36" y="158"/>
                  <a:pt x="34" y="156"/>
                  <a:pt x="34" y="154"/>
                </a:cubicBezTo>
                <a:close/>
                <a:moveTo>
                  <a:pt x="57" y="154"/>
                </a:moveTo>
                <a:cubicBezTo>
                  <a:pt x="57" y="65"/>
                  <a:pt x="57" y="65"/>
                  <a:pt x="57" y="65"/>
                </a:cubicBezTo>
                <a:cubicBezTo>
                  <a:pt x="57" y="63"/>
                  <a:pt x="58" y="61"/>
                  <a:pt x="61" y="61"/>
                </a:cubicBezTo>
                <a:cubicBezTo>
                  <a:pt x="61" y="61"/>
                  <a:pt x="61" y="61"/>
                  <a:pt x="61" y="61"/>
                </a:cubicBezTo>
                <a:cubicBezTo>
                  <a:pt x="63" y="61"/>
                  <a:pt x="65" y="63"/>
                  <a:pt x="65" y="65"/>
                </a:cubicBezTo>
                <a:cubicBezTo>
                  <a:pt x="65" y="154"/>
                  <a:pt x="65" y="154"/>
                  <a:pt x="65" y="154"/>
                </a:cubicBezTo>
                <a:cubicBezTo>
                  <a:pt x="65" y="156"/>
                  <a:pt x="64" y="158"/>
                  <a:pt x="61" y="158"/>
                </a:cubicBezTo>
                <a:cubicBezTo>
                  <a:pt x="61" y="158"/>
                  <a:pt x="61" y="158"/>
                  <a:pt x="61" y="158"/>
                </a:cubicBezTo>
                <a:cubicBezTo>
                  <a:pt x="59" y="158"/>
                  <a:pt x="57" y="156"/>
                  <a:pt x="57" y="154"/>
                </a:cubicBez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6" name="Freeform 25"/>
          <p:cNvSpPr>
            <a:spLocks noEditPoints="1"/>
          </p:cNvSpPr>
          <p:nvPr/>
        </p:nvSpPr>
        <p:spPr bwMode="auto">
          <a:xfrm>
            <a:off x="5830087" y="2492573"/>
            <a:ext cx="526717" cy="593684"/>
          </a:xfrm>
          <a:custGeom>
            <a:avLst/>
            <a:gdLst>
              <a:gd name="T0" fmla="*/ 23 w 173"/>
              <a:gd name="T1" fmla="*/ 101 h 195"/>
              <a:gd name="T2" fmla="*/ 13 w 173"/>
              <a:gd name="T3" fmla="*/ 130 h 195"/>
              <a:gd name="T4" fmla="*/ 173 w 173"/>
              <a:gd name="T5" fmla="*/ 75 h 195"/>
              <a:gd name="T6" fmla="*/ 169 w 173"/>
              <a:gd name="T7" fmla="*/ 175 h 195"/>
              <a:gd name="T8" fmla="*/ 31 w 173"/>
              <a:gd name="T9" fmla="*/ 195 h 195"/>
              <a:gd name="T10" fmla="*/ 23 w 173"/>
              <a:gd name="T11" fmla="*/ 177 h 195"/>
              <a:gd name="T12" fmla="*/ 125 w 173"/>
              <a:gd name="T13" fmla="*/ 184 h 195"/>
              <a:gd name="T14" fmla="*/ 128 w 173"/>
              <a:gd name="T15" fmla="*/ 179 h 195"/>
              <a:gd name="T16" fmla="*/ 141 w 173"/>
              <a:gd name="T17" fmla="*/ 98 h 195"/>
              <a:gd name="T18" fmla="*/ 158 w 173"/>
              <a:gd name="T19" fmla="*/ 86 h 195"/>
              <a:gd name="T20" fmla="*/ 162 w 173"/>
              <a:gd name="T21" fmla="*/ 84 h 195"/>
              <a:gd name="T22" fmla="*/ 163 w 173"/>
              <a:gd name="T23" fmla="*/ 18 h 195"/>
              <a:gd name="T24" fmla="*/ 23 w 173"/>
              <a:gd name="T25" fmla="*/ 24 h 195"/>
              <a:gd name="T26" fmla="*/ 155 w 173"/>
              <a:gd name="T27" fmla="*/ 0 h 195"/>
              <a:gd name="T28" fmla="*/ 141 w 173"/>
              <a:gd name="T29" fmla="*/ 154 h 195"/>
              <a:gd name="T30" fmla="*/ 136 w 173"/>
              <a:gd name="T31" fmla="*/ 180 h 195"/>
              <a:gd name="T32" fmla="*/ 151 w 173"/>
              <a:gd name="T33" fmla="*/ 183 h 195"/>
              <a:gd name="T34" fmla="*/ 159 w 173"/>
              <a:gd name="T35" fmla="*/ 96 h 195"/>
              <a:gd name="T36" fmla="*/ 137 w 173"/>
              <a:gd name="T37" fmla="*/ 147 h 195"/>
              <a:gd name="T38" fmla="*/ 154 w 173"/>
              <a:gd name="T39" fmla="*/ 136 h 195"/>
              <a:gd name="T40" fmla="*/ 157 w 173"/>
              <a:gd name="T41" fmla="*/ 131 h 195"/>
              <a:gd name="T42" fmla="*/ 161 w 173"/>
              <a:gd name="T43" fmla="*/ 95 h 195"/>
              <a:gd name="T44" fmla="*/ 13 w 173"/>
              <a:gd name="T45" fmla="*/ 62 h 195"/>
              <a:gd name="T46" fmla="*/ 104 w 173"/>
              <a:gd name="T47" fmla="*/ 104 h 195"/>
              <a:gd name="T48" fmla="*/ 88 w 173"/>
              <a:gd name="T49" fmla="*/ 120 h 195"/>
              <a:gd name="T50" fmla="*/ 104 w 173"/>
              <a:gd name="T51" fmla="*/ 122 h 195"/>
              <a:gd name="T52" fmla="*/ 121 w 173"/>
              <a:gd name="T53" fmla="*/ 87 h 195"/>
              <a:gd name="T54" fmla="*/ 94 w 173"/>
              <a:gd name="T55" fmla="*/ 104 h 195"/>
              <a:gd name="T56" fmla="*/ 105 w 173"/>
              <a:gd name="T57" fmla="*/ 77 h 195"/>
              <a:gd name="T58" fmla="*/ 94 w 173"/>
              <a:gd name="T59" fmla="*/ 81 h 195"/>
              <a:gd name="T60" fmla="*/ 96 w 173"/>
              <a:gd name="T61" fmla="*/ 88 h 195"/>
              <a:gd name="T62" fmla="*/ 7 w 173"/>
              <a:gd name="T63" fmla="*/ 68 h 195"/>
              <a:gd name="T64" fmla="*/ 26 w 173"/>
              <a:gd name="T65" fmla="*/ 86 h 195"/>
              <a:gd name="T66" fmla="*/ 7 w 173"/>
              <a:gd name="T67" fmla="*/ 80 h 195"/>
              <a:gd name="T68" fmla="*/ 26 w 173"/>
              <a:gd name="T69" fmla="*/ 74 h 195"/>
              <a:gd name="T70" fmla="*/ 0 w 173"/>
              <a:gd name="T71" fmla="*/ 40 h 195"/>
              <a:gd name="T72" fmla="*/ 33 w 173"/>
              <a:gd name="T73" fmla="*/ 37 h 195"/>
              <a:gd name="T74" fmla="*/ 0 w 173"/>
              <a:gd name="T75" fmla="*/ 40 h 195"/>
              <a:gd name="T76" fmla="*/ 27 w 173"/>
              <a:gd name="T77" fmla="*/ 40 h 195"/>
              <a:gd name="T78" fmla="*/ 6 w 173"/>
              <a:gd name="T79" fmla="*/ 37 h 195"/>
              <a:gd name="T80" fmla="*/ 0 w 173"/>
              <a:gd name="T81" fmla="*/ 156 h 195"/>
              <a:gd name="T82" fmla="*/ 33 w 173"/>
              <a:gd name="T83" fmla="*/ 152 h 195"/>
              <a:gd name="T84" fmla="*/ 26 w 173"/>
              <a:gd name="T85" fmla="*/ 157 h 195"/>
              <a:gd name="T86" fmla="*/ 7 w 173"/>
              <a:gd name="T87" fmla="*/ 151 h 195"/>
              <a:gd name="T88" fmla="*/ 0 w 173"/>
              <a:gd name="T89" fmla="*/ 117 h 195"/>
              <a:gd name="T90" fmla="*/ 33 w 173"/>
              <a:gd name="T91" fmla="*/ 114 h 195"/>
              <a:gd name="T92" fmla="*/ 0 w 173"/>
              <a:gd name="T93" fmla="*/ 117 h 195"/>
              <a:gd name="T94" fmla="*/ 27 w 173"/>
              <a:gd name="T95" fmla="*/ 117 h 195"/>
              <a:gd name="T96" fmla="*/ 6 w 173"/>
              <a:gd name="T97" fmla="*/ 114 h 1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3" h="195">
                <a:moveTo>
                  <a:pt x="13" y="101"/>
                </a:moveTo>
                <a:cubicBezTo>
                  <a:pt x="13" y="92"/>
                  <a:pt x="13" y="92"/>
                  <a:pt x="13" y="92"/>
                </a:cubicBezTo>
                <a:cubicBezTo>
                  <a:pt x="23" y="92"/>
                  <a:pt x="23" y="92"/>
                  <a:pt x="23" y="92"/>
                </a:cubicBezTo>
                <a:cubicBezTo>
                  <a:pt x="23" y="101"/>
                  <a:pt x="23" y="101"/>
                  <a:pt x="23" y="101"/>
                </a:cubicBezTo>
                <a:lnTo>
                  <a:pt x="13" y="101"/>
                </a:lnTo>
                <a:close/>
                <a:moveTo>
                  <a:pt x="23" y="139"/>
                </a:moveTo>
                <a:cubicBezTo>
                  <a:pt x="23" y="130"/>
                  <a:pt x="23" y="130"/>
                  <a:pt x="23" y="130"/>
                </a:cubicBezTo>
                <a:cubicBezTo>
                  <a:pt x="13" y="130"/>
                  <a:pt x="13" y="130"/>
                  <a:pt x="13" y="130"/>
                </a:cubicBezTo>
                <a:cubicBezTo>
                  <a:pt x="13" y="139"/>
                  <a:pt x="13" y="139"/>
                  <a:pt x="13" y="139"/>
                </a:cubicBezTo>
                <a:lnTo>
                  <a:pt x="23" y="139"/>
                </a:lnTo>
                <a:close/>
                <a:moveTo>
                  <a:pt x="173" y="18"/>
                </a:moveTo>
                <a:cubicBezTo>
                  <a:pt x="173" y="75"/>
                  <a:pt x="173" y="75"/>
                  <a:pt x="173" y="75"/>
                </a:cubicBezTo>
                <a:cubicBezTo>
                  <a:pt x="173" y="77"/>
                  <a:pt x="172" y="80"/>
                  <a:pt x="171" y="83"/>
                </a:cubicBezTo>
                <a:cubicBezTo>
                  <a:pt x="171" y="121"/>
                  <a:pt x="171" y="121"/>
                  <a:pt x="171" y="121"/>
                </a:cubicBezTo>
                <a:cubicBezTo>
                  <a:pt x="171" y="124"/>
                  <a:pt x="170" y="128"/>
                  <a:pt x="169" y="131"/>
                </a:cubicBezTo>
                <a:cubicBezTo>
                  <a:pt x="169" y="175"/>
                  <a:pt x="169" y="175"/>
                  <a:pt x="169" y="175"/>
                </a:cubicBezTo>
                <a:cubicBezTo>
                  <a:pt x="169" y="185"/>
                  <a:pt x="161" y="193"/>
                  <a:pt x="151" y="193"/>
                </a:cubicBezTo>
                <a:cubicBezTo>
                  <a:pt x="129" y="193"/>
                  <a:pt x="129" y="193"/>
                  <a:pt x="129" y="193"/>
                </a:cubicBezTo>
                <a:cubicBezTo>
                  <a:pt x="127" y="194"/>
                  <a:pt x="124" y="195"/>
                  <a:pt x="121" y="195"/>
                </a:cubicBezTo>
                <a:cubicBezTo>
                  <a:pt x="31" y="195"/>
                  <a:pt x="31" y="195"/>
                  <a:pt x="31" y="195"/>
                </a:cubicBezTo>
                <a:cubicBezTo>
                  <a:pt x="21" y="195"/>
                  <a:pt x="13" y="187"/>
                  <a:pt x="13" y="177"/>
                </a:cubicBezTo>
                <a:cubicBezTo>
                  <a:pt x="13" y="169"/>
                  <a:pt x="13" y="169"/>
                  <a:pt x="13" y="169"/>
                </a:cubicBezTo>
                <a:cubicBezTo>
                  <a:pt x="23" y="169"/>
                  <a:pt x="23" y="169"/>
                  <a:pt x="23" y="169"/>
                </a:cubicBezTo>
                <a:cubicBezTo>
                  <a:pt x="23" y="177"/>
                  <a:pt x="23" y="177"/>
                  <a:pt x="23" y="177"/>
                </a:cubicBezTo>
                <a:cubicBezTo>
                  <a:pt x="23" y="182"/>
                  <a:pt x="27" y="185"/>
                  <a:pt x="31" y="185"/>
                </a:cubicBezTo>
                <a:cubicBezTo>
                  <a:pt x="121" y="185"/>
                  <a:pt x="121" y="185"/>
                  <a:pt x="121" y="185"/>
                </a:cubicBezTo>
                <a:cubicBezTo>
                  <a:pt x="122" y="185"/>
                  <a:pt x="124" y="185"/>
                  <a:pt x="125" y="184"/>
                </a:cubicBezTo>
                <a:cubicBezTo>
                  <a:pt x="125" y="184"/>
                  <a:pt x="125" y="184"/>
                  <a:pt x="125" y="184"/>
                </a:cubicBezTo>
                <a:cubicBezTo>
                  <a:pt x="126" y="183"/>
                  <a:pt x="126" y="183"/>
                  <a:pt x="127" y="182"/>
                </a:cubicBezTo>
                <a:cubicBezTo>
                  <a:pt x="127" y="182"/>
                  <a:pt x="127" y="181"/>
                  <a:pt x="128" y="181"/>
                </a:cubicBezTo>
                <a:cubicBezTo>
                  <a:pt x="128" y="180"/>
                  <a:pt x="128" y="180"/>
                  <a:pt x="128" y="179"/>
                </a:cubicBezTo>
                <a:cubicBezTo>
                  <a:pt x="128" y="179"/>
                  <a:pt x="128" y="179"/>
                  <a:pt x="128" y="179"/>
                </a:cubicBezTo>
                <a:cubicBezTo>
                  <a:pt x="129" y="178"/>
                  <a:pt x="129" y="178"/>
                  <a:pt x="129" y="177"/>
                </a:cubicBezTo>
                <a:cubicBezTo>
                  <a:pt x="129" y="120"/>
                  <a:pt x="129" y="120"/>
                  <a:pt x="129" y="120"/>
                </a:cubicBezTo>
                <a:cubicBezTo>
                  <a:pt x="129" y="113"/>
                  <a:pt x="133" y="104"/>
                  <a:pt x="139" y="99"/>
                </a:cubicBezTo>
                <a:cubicBezTo>
                  <a:pt x="140" y="99"/>
                  <a:pt x="140" y="99"/>
                  <a:pt x="141" y="98"/>
                </a:cubicBezTo>
                <a:cubicBezTo>
                  <a:pt x="154" y="90"/>
                  <a:pt x="154" y="90"/>
                  <a:pt x="154" y="90"/>
                </a:cubicBezTo>
                <a:cubicBezTo>
                  <a:pt x="155" y="89"/>
                  <a:pt x="156" y="89"/>
                  <a:pt x="156" y="88"/>
                </a:cubicBezTo>
                <a:cubicBezTo>
                  <a:pt x="156" y="88"/>
                  <a:pt x="156" y="88"/>
                  <a:pt x="156" y="88"/>
                </a:cubicBezTo>
                <a:cubicBezTo>
                  <a:pt x="157" y="87"/>
                  <a:pt x="157" y="87"/>
                  <a:pt x="158" y="86"/>
                </a:cubicBezTo>
                <a:cubicBezTo>
                  <a:pt x="158" y="86"/>
                  <a:pt x="158" y="86"/>
                  <a:pt x="158" y="86"/>
                </a:cubicBezTo>
                <a:cubicBezTo>
                  <a:pt x="159" y="85"/>
                  <a:pt x="159" y="85"/>
                  <a:pt x="160" y="84"/>
                </a:cubicBezTo>
                <a:cubicBezTo>
                  <a:pt x="162" y="84"/>
                  <a:pt x="162" y="84"/>
                  <a:pt x="162" y="84"/>
                </a:cubicBezTo>
                <a:cubicBezTo>
                  <a:pt x="162" y="84"/>
                  <a:pt x="162" y="84"/>
                  <a:pt x="162" y="84"/>
                </a:cubicBezTo>
                <a:cubicBezTo>
                  <a:pt x="160" y="83"/>
                  <a:pt x="160" y="83"/>
                  <a:pt x="160" y="83"/>
                </a:cubicBezTo>
                <a:cubicBezTo>
                  <a:pt x="160" y="82"/>
                  <a:pt x="161" y="82"/>
                  <a:pt x="161" y="81"/>
                </a:cubicBezTo>
                <a:cubicBezTo>
                  <a:pt x="162" y="78"/>
                  <a:pt x="163" y="76"/>
                  <a:pt x="163" y="75"/>
                </a:cubicBezTo>
                <a:cubicBezTo>
                  <a:pt x="163" y="18"/>
                  <a:pt x="163" y="18"/>
                  <a:pt x="163" y="18"/>
                </a:cubicBezTo>
                <a:cubicBezTo>
                  <a:pt x="163" y="14"/>
                  <a:pt x="159" y="10"/>
                  <a:pt x="155" y="10"/>
                </a:cubicBezTo>
                <a:cubicBezTo>
                  <a:pt x="31" y="10"/>
                  <a:pt x="31" y="10"/>
                  <a:pt x="31" y="10"/>
                </a:cubicBezTo>
                <a:cubicBezTo>
                  <a:pt x="27" y="10"/>
                  <a:pt x="23" y="14"/>
                  <a:pt x="23" y="18"/>
                </a:cubicBezTo>
                <a:cubicBezTo>
                  <a:pt x="23" y="24"/>
                  <a:pt x="23" y="24"/>
                  <a:pt x="23" y="24"/>
                </a:cubicBezTo>
                <a:cubicBezTo>
                  <a:pt x="13" y="24"/>
                  <a:pt x="13" y="24"/>
                  <a:pt x="13" y="24"/>
                </a:cubicBezTo>
                <a:cubicBezTo>
                  <a:pt x="13" y="18"/>
                  <a:pt x="13" y="18"/>
                  <a:pt x="13" y="18"/>
                </a:cubicBezTo>
                <a:cubicBezTo>
                  <a:pt x="13" y="8"/>
                  <a:pt x="21" y="0"/>
                  <a:pt x="31" y="0"/>
                </a:cubicBezTo>
                <a:cubicBezTo>
                  <a:pt x="155" y="0"/>
                  <a:pt x="155" y="0"/>
                  <a:pt x="155" y="0"/>
                </a:cubicBezTo>
                <a:cubicBezTo>
                  <a:pt x="165" y="0"/>
                  <a:pt x="173" y="8"/>
                  <a:pt x="173" y="18"/>
                </a:cubicBezTo>
                <a:close/>
                <a:moveTo>
                  <a:pt x="159" y="142"/>
                </a:moveTo>
                <a:cubicBezTo>
                  <a:pt x="158" y="143"/>
                  <a:pt x="157" y="144"/>
                  <a:pt x="156" y="144"/>
                </a:cubicBezTo>
                <a:cubicBezTo>
                  <a:pt x="141" y="154"/>
                  <a:pt x="141" y="154"/>
                  <a:pt x="141" y="154"/>
                </a:cubicBezTo>
                <a:cubicBezTo>
                  <a:pt x="140" y="154"/>
                  <a:pt x="139" y="155"/>
                  <a:pt x="138" y="155"/>
                </a:cubicBezTo>
                <a:cubicBezTo>
                  <a:pt x="138" y="155"/>
                  <a:pt x="137" y="155"/>
                  <a:pt x="137" y="156"/>
                </a:cubicBezTo>
                <a:cubicBezTo>
                  <a:pt x="137" y="177"/>
                  <a:pt x="137" y="177"/>
                  <a:pt x="137" y="177"/>
                </a:cubicBezTo>
                <a:cubicBezTo>
                  <a:pt x="137" y="178"/>
                  <a:pt x="136" y="179"/>
                  <a:pt x="136" y="180"/>
                </a:cubicBezTo>
                <a:cubicBezTo>
                  <a:pt x="136" y="180"/>
                  <a:pt x="136" y="181"/>
                  <a:pt x="136" y="181"/>
                </a:cubicBezTo>
                <a:cubicBezTo>
                  <a:pt x="136" y="182"/>
                  <a:pt x="136" y="182"/>
                  <a:pt x="136" y="183"/>
                </a:cubicBezTo>
                <a:cubicBezTo>
                  <a:pt x="136" y="183"/>
                  <a:pt x="136" y="183"/>
                  <a:pt x="136" y="183"/>
                </a:cubicBezTo>
                <a:cubicBezTo>
                  <a:pt x="151" y="183"/>
                  <a:pt x="151" y="183"/>
                  <a:pt x="151" y="183"/>
                </a:cubicBezTo>
                <a:cubicBezTo>
                  <a:pt x="155" y="183"/>
                  <a:pt x="159" y="179"/>
                  <a:pt x="159" y="175"/>
                </a:cubicBezTo>
                <a:lnTo>
                  <a:pt x="159" y="142"/>
                </a:lnTo>
                <a:close/>
                <a:moveTo>
                  <a:pt x="161" y="95"/>
                </a:moveTo>
                <a:cubicBezTo>
                  <a:pt x="160" y="95"/>
                  <a:pt x="159" y="96"/>
                  <a:pt x="159" y="96"/>
                </a:cubicBezTo>
                <a:cubicBezTo>
                  <a:pt x="145" y="105"/>
                  <a:pt x="145" y="105"/>
                  <a:pt x="145" y="105"/>
                </a:cubicBezTo>
                <a:cubicBezTo>
                  <a:pt x="140" y="108"/>
                  <a:pt x="137" y="115"/>
                  <a:pt x="137" y="120"/>
                </a:cubicBezTo>
                <a:cubicBezTo>
                  <a:pt x="137" y="147"/>
                  <a:pt x="137" y="147"/>
                  <a:pt x="137" y="147"/>
                </a:cubicBezTo>
                <a:cubicBezTo>
                  <a:pt x="137" y="147"/>
                  <a:pt x="137" y="147"/>
                  <a:pt x="137" y="147"/>
                </a:cubicBezTo>
                <a:cubicBezTo>
                  <a:pt x="152" y="137"/>
                  <a:pt x="152" y="137"/>
                  <a:pt x="152" y="137"/>
                </a:cubicBezTo>
                <a:cubicBezTo>
                  <a:pt x="153" y="137"/>
                  <a:pt x="153" y="136"/>
                  <a:pt x="154" y="136"/>
                </a:cubicBezTo>
                <a:cubicBezTo>
                  <a:pt x="155" y="137"/>
                  <a:pt x="155" y="137"/>
                  <a:pt x="155" y="137"/>
                </a:cubicBezTo>
                <a:cubicBezTo>
                  <a:pt x="154" y="136"/>
                  <a:pt x="154" y="136"/>
                  <a:pt x="154" y="136"/>
                </a:cubicBezTo>
                <a:cubicBezTo>
                  <a:pt x="155" y="135"/>
                  <a:pt x="155" y="135"/>
                  <a:pt x="156" y="134"/>
                </a:cubicBezTo>
                <a:cubicBezTo>
                  <a:pt x="158" y="135"/>
                  <a:pt x="158" y="135"/>
                  <a:pt x="158" y="135"/>
                </a:cubicBezTo>
                <a:cubicBezTo>
                  <a:pt x="156" y="134"/>
                  <a:pt x="156" y="134"/>
                  <a:pt x="156" y="134"/>
                </a:cubicBezTo>
                <a:cubicBezTo>
                  <a:pt x="156" y="133"/>
                  <a:pt x="157" y="132"/>
                  <a:pt x="157" y="131"/>
                </a:cubicBezTo>
                <a:cubicBezTo>
                  <a:pt x="158" y="130"/>
                  <a:pt x="159" y="129"/>
                  <a:pt x="159" y="129"/>
                </a:cubicBezTo>
                <a:cubicBezTo>
                  <a:pt x="159" y="128"/>
                  <a:pt x="159" y="128"/>
                  <a:pt x="159" y="128"/>
                </a:cubicBezTo>
                <a:cubicBezTo>
                  <a:pt x="160" y="125"/>
                  <a:pt x="161" y="123"/>
                  <a:pt x="161" y="121"/>
                </a:cubicBezTo>
                <a:lnTo>
                  <a:pt x="161" y="95"/>
                </a:lnTo>
                <a:close/>
                <a:moveTo>
                  <a:pt x="23" y="62"/>
                </a:moveTo>
                <a:cubicBezTo>
                  <a:pt x="23" y="53"/>
                  <a:pt x="23" y="53"/>
                  <a:pt x="23" y="53"/>
                </a:cubicBezTo>
                <a:cubicBezTo>
                  <a:pt x="13" y="53"/>
                  <a:pt x="13" y="53"/>
                  <a:pt x="13" y="53"/>
                </a:cubicBezTo>
                <a:cubicBezTo>
                  <a:pt x="13" y="62"/>
                  <a:pt x="13" y="62"/>
                  <a:pt x="13" y="62"/>
                </a:cubicBezTo>
                <a:lnTo>
                  <a:pt x="23" y="62"/>
                </a:lnTo>
                <a:close/>
                <a:moveTo>
                  <a:pt x="103" y="91"/>
                </a:moveTo>
                <a:cubicBezTo>
                  <a:pt x="103" y="93"/>
                  <a:pt x="102" y="96"/>
                  <a:pt x="102" y="98"/>
                </a:cubicBezTo>
                <a:cubicBezTo>
                  <a:pt x="102" y="100"/>
                  <a:pt x="103" y="104"/>
                  <a:pt x="104" y="104"/>
                </a:cubicBezTo>
                <a:cubicBezTo>
                  <a:pt x="109" y="104"/>
                  <a:pt x="114" y="98"/>
                  <a:pt x="114" y="88"/>
                </a:cubicBezTo>
                <a:cubicBezTo>
                  <a:pt x="114" y="74"/>
                  <a:pt x="105" y="65"/>
                  <a:pt x="92" y="65"/>
                </a:cubicBezTo>
                <a:cubicBezTo>
                  <a:pt x="76" y="65"/>
                  <a:pt x="65" y="78"/>
                  <a:pt x="65" y="96"/>
                </a:cubicBezTo>
                <a:cubicBezTo>
                  <a:pt x="65" y="110"/>
                  <a:pt x="74" y="120"/>
                  <a:pt x="88" y="120"/>
                </a:cubicBezTo>
                <a:cubicBezTo>
                  <a:pt x="93" y="120"/>
                  <a:pt x="98" y="118"/>
                  <a:pt x="98" y="118"/>
                </a:cubicBezTo>
                <a:cubicBezTo>
                  <a:pt x="101" y="117"/>
                  <a:pt x="103" y="118"/>
                  <a:pt x="104" y="120"/>
                </a:cubicBezTo>
                <a:cubicBezTo>
                  <a:pt x="104" y="121"/>
                  <a:pt x="104" y="121"/>
                  <a:pt x="104" y="121"/>
                </a:cubicBezTo>
                <a:cubicBezTo>
                  <a:pt x="104" y="122"/>
                  <a:pt x="104" y="122"/>
                  <a:pt x="104" y="122"/>
                </a:cubicBezTo>
                <a:cubicBezTo>
                  <a:pt x="99" y="125"/>
                  <a:pt x="93" y="126"/>
                  <a:pt x="87" y="126"/>
                </a:cubicBezTo>
                <a:cubicBezTo>
                  <a:pt x="70" y="126"/>
                  <a:pt x="58" y="113"/>
                  <a:pt x="58" y="96"/>
                </a:cubicBezTo>
                <a:cubicBezTo>
                  <a:pt x="58" y="75"/>
                  <a:pt x="73" y="59"/>
                  <a:pt x="93" y="59"/>
                </a:cubicBezTo>
                <a:cubicBezTo>
                  <a:pt x="109" y="59"/>
                  <a:pt x="121" y="71"/>
                  <a:pt x="121" y="87"/>
                </a:cubicBezTo>
                <a:cubicBezTo>
                  <a:pt x="121" y="102"/>
                  <a:pt x="112" y="110"/>
                  <a:pt x="103" y="110"/>
                </a:cubicBezTo>
                <a:cubicBezTo>
                  <a:pt x="101" y="110"/>
                  <a:pt x="99" y="110"/>
                  <a:pt x="97" y="108"/>
                </a:cubicBezTo>
                <a:cubicBezTo>
                  <a:pt x="96" y="107"/>
                  <a:pt x="96" y="105"/>
                  <a:pt x="95" y="103"/>
                </a:cubicBezTo>
                <a:cubicBezTo>
                  <a:pt x="95" y="103"/>
                  <a:pt x="95" y="104"/>
                  <a:pt x="94" y="104"/>
                </a:cubicBezTo>
                <a:cubicBezTo>
                  <a:pt x="94" y="105"/>
                  <a:pt x="89" y="110"/>
                  <a:pt x="83" y="110"/>
                </a:cubicBezTo>
                <a:cubicBezTo>
                  <a:pt x="77" y="110"/>
                  <a:pt x="72" y="106"/>
                  <a:pt x="72" y="98"/>
                </a:cubicBezTo>
                <a:cubicBezTo>
                  <a:pt x="72" y="85"/>
                  <a:pt x="82" y="75"/>
                  <a:pt x="95" y="75"/>
                </a:cubicBezTo>
                <a:cubicBezTo>
                  <a:pt x="98" y="75"/>
                  <a:pt x="102" y="75"/>
                  <a:pt x="105" y="77"/>
                </a:cubicBezTo>
                <a:cubicBezTo>
                  <a:pt x="105" y="77"/>
                  <a:pt x="106" y="77"/>
                  <a:pt x="105" y="78"/>
                </a:cubicBezTo>
                <a:lnTo>
                  <a:pt x="103" y="91"/>
                </a:lnTo>
                <a:close/>
                <a:moveTo>
                  <a:pt x="97" y="82"/>
                </a:moveTo>
                <a:cubicBezTo>
                  <a:pt x="96" y="82"/>
                  <a:pt x="95" y="81"/>
                  <a:pt x="94" y="81"/>
                </a:cubicBezTo>
                <a:cubicBezTo>
                  <a:pt x="86" y="81"/>
                  <a:pt x="80" y="89"/>
                  <a:pt x="80" y="97"/>
                </a:cubicBezTo>
                <a:cubicBezTo>
                  <a:pt x="80" y="99"/>
                  <a:pt x="80" y="104"/>
                  <a:pt x="85" y="104"/>
                </a:cubicBezTo>
                <a:cubicBezTo>
                  <a:pt x="89" y="104"/>
                  <a:pt x="93" y="97"/>
                  <a:pt x="94" y="94"/>
                </a:cubicBezTo>
                <a:cubicBezTo>
                  <a:pt x="95" y="93"/>
                  <a:pt x="96" y="90"/>
                  <a:pt x="96" y="88"/>
                </a:cubicBezTo>
                <a:lnTo>
                  <a:pt x="97" y="82"/>
                </a:lnTo>
                <a:close/>
                <a:moveTo>
                  <a:pt x="0" y="79"/>
                </a:moveTo>
                <a:cubicBezTo>
                  <a:pt x="0" y="75"/>
                  <a:pt x="0" y="75"/>
                  <a:pt x="0" y="75"/>
                </a:cubicBezTo>
                <a:cubicBezTo>
                  <a:pt x="0" y="71"/>
                  <a:pt x="3" y="68"/>
                  <a:pt x="7" y="68"/>
                </a:cubicBezTo>
                <a:cubicBezTo>
                  <a:pt x="26" y="68"/>
                  <a:pt x="26" y="68"/>
                  <a:pt x="26" y="68"/>
                </a:cubicBezTo>
                <a:cubicBezTo>
                  <a:pt x="30" y="68"/>
                  <a:pt x="33" y="71"/>
                  <a:pt x="33" y="75"/>
                </a:cubicBezTo>
                <a:cubicBezTo>
                  <a:pt x="33" y="79"/>
                  <a:pt x="33" y="79"/>
                  <a:pt x="33" y="79"/>
                </a:cubicBezTo>
                <a:cubicBezTo>
                  <a:pt x="33" y="83"/>
                  <a:pt x="30" y="86"/>
                  <a:pt x="26" y="86"/>
                </a:cubicBezTo>
                <a:cubicBezTo>
                  <a:pt x="7" y="86"/>
                  <a:pt x="7" y="86"/>
                  <a:pt x="7" y="86"/>
                </a:cubicBezTo>
                <a:cubicBezTo>
                  <a:pt x="3" y="86"/>
                  <a:pt x="0" y="83"/>
                  <a:pt x="0" y="79"/>
                </a:cubicBezTo>
                <a:close/>
                <a:moveTo>
                  <a:pt x="6" y="79"/>
                </a:moveTo>
                <a:cubicBezTo>
                  <a:pt x="6" y="79"/>
                  <a:pt x="7" y="80"/>
                  <a:pt x="7" y="80"/>
                </a:cubicBezTo>
                <a:cubicBezTo>
                  <a:pt x="26" y="80"/>
                  <a:pt x="26" y="80"/>
                  <a:pt x="26" y="80"/>
                </a:cubicBezTo>
                <a:cubicBezTo>
                  <a:pt x="27" y="80"/>
                  <a:pt x="27" y="79"/>
                  <a:pt x="27" y="79"/>
                </a:cubicBezTo>
                <a:cubicBezTo>
                  <a:pt x="27" y="75"/>
                  <a:pt x="27" y="75"/>
                  <a:pt x="27" y="75"/>
                </a:cubicBezTo>
                <a:cubicBezTo>
                  <a:pt x="27" y="75"/>
                  <a:pt x="27" y="74"/>
                  <a:pt x="26" y="74"/>
                </a:cubicBezTo>
                <a:cubicBezTo>
                  <a:pt x="7" y="74"/>
                  <a:pt x="7" y="74"/>
                  <a:pt x="7" y="74"/>
                </a:cubicBezTo>
                <a:cubicBezTo>
                  <a:pt x="7" y="74"/>
                  <a:pt x="6" y="75"/>
                  <a:pt x="6" y="75"/>
                </a:cubicBezTo>
                <a:lnTo>
                  <a:pt x="6" y="79"/>
                </a:lnTo>
                <a:close/>
                <a:moveTo>
                  <a:pt x="0" y="40"/>
                </a:moveTo>
                <a:cubicBezTo>
                  <a:pt x="0" y="37"/>
                  <a:pt x="0" y="37"/>
                  <a:pt x="0" y="37"/>
                </a:cubicBezTo>
                <a:cubicBezTo>
                  <a:pt x="0" y="33"/>
                  <a:pt x="3" y="30"/>
                  <a:pt x="7" y="30"/>
                </a:cubicBezTo>
                <a:cubicBezTo>
                  <a:pt x="26" y="30"/>
                  <a:pt x="26" y="30"/>
                  <a:pt x="26" y="30"/>
                </a:cubicBezTo>
                <a:cubicBezTo>
                  <a:pt x="30" y="30"/>
                  <a:pt x="33" y="33"/>
                  <a:pt x="33" y="37"/>
                </a:cubicBezTo>
                <a:cubicBezTo>
                  <a:pt x="33" y="40"/>
                  <a:pt x="33" y="40"/>
                  <a:pt x="33" y="40"/>
                </a:cubicBezTo>
                <a:cubicBezTo>
                  <a:pt x="33" y="44"/>
                  <a:pt x="30" y="47"/>
                  <a:pt x="26" y="47"/>
                </a:cubicBezTo>
                <a:cubicBezTo>
                  <a:pt x="7" y="47"/>
                  <a:pt x="7" y="47"/>
                  <a:pt x="7" y="47"/>
                </a:cubicBezTo>
                <a:cubicBezTo>
                  <a:pt x="3" y="47"/>
                  <a:pt x="0" y="44"/>
                  <a:pt x="0" y="40"/>
                </a:cubicBezTo>
                <a:close/>
                <a:moveTo>
                  <a:pt x="6" y="40"/>
                </a:moveTo>
                <a:cubicBezTo>
                  <a:pt x="6" y="41"/>
                  <a:pt x="7" y="41"/>
                  <a:pt x="7" y="41"/>
                </a:cubicBezTo>
                <a:cubicBezTo>
                  <a:pt x="26" y="41"/>
                  <a:pt x="26" y="41"/>
                  <a:pt x="26" y="41"/>
                </a:cubicBezTo>
                <a:cubicBezTo>
                  <a:pt x="27" y="41"/>
                  <a:pt x="27" y="41"/>
                  <a:pt x="27" y="40"/>
                </a:cubicBezTo>
                <a:cubicBezTo>
                  <a:pt x="27" y="37"/>
                  <a:pt x="27" y="37"/>
                  <a:pt x="27" y="37"/>
                </a:cubicBezTo>
                <a:cubicBezTo>
                  <a:pt x="27" y="36"/>
                  <a:pt x="27" y="36"/>
                  <a:pt x="26" y="36"/>
                </a:cubicBezTo>
                <a:cubicBezTo>
                  <a:pt x="7" y="36"/>
                  <a:pt x="7" y="36"/>
                  <a:pt x="7" y="36"/>
                </a:cubicBezTo>
                <a:cubicBezTo>
                  <a:pt x="7" y="36"/>
                  <a:pt x="6" y="36"/>
                  <a:pt x="6" y="37"/>
                </a:cubicBezTo>
                <a:lnTo>
                  <a:pt x="6" y="40"/>
                </a:lnTo>
                <a:close/>
                <a:moveTo>
                  <a:pt x="26" y="163"/>
                </a:moveTo>
                <a:cubicBezTo>
                  <a:pt x="7" y="163"/>
                  <a:pt x="7" y="163"/>
                  <a:pt x="7" y="163"/>
                </a:cubicBezTo>
                <a:cubicBezTo>
                  <a:pt x="3" y="163"/>
                  <a:pt x="0" y="159"/>
                  <a:pt x="0" y="156"/>
                </a:cubicBezTo>
                <a:cubicBezTo>
                  <a:pt x="0" y="152"/>
                  <a:pt x="0" y="152"/>
                  <a:pt x="0" y="152"/>
                </a:cubicBezTo>
                <a:cubicBezTo>
                  <a:pt x="0" y="148"/>
                  <a:pt x="3" y="145"/>
                  <a:pt x="7" y="145"/>
                </a:cubicBezTo>
                <a:cubicBezTo>
                  <a:pt x="26" y="145"/>
                  <a:pt x="26" y="145"/>
                  <a:pt x="26" y="145"/>
                </a:cubicBezTo>
                <a:cubicBezTo>
                  <a:pt x="30" y="145"/>
                  <a:pt x="33" y="148"/>
                  <a:pt x="33" y="152"/>
                </a:cubicBezTo>
                <a:cubicBezTo>
                  <a:pt x="33" y="156"/>
                  <a:pt x="33" y="156"/>
                  <a:pt x="33" y="156"/>
                </a:cubicBezTo>
                <a:cubicBezTo>
                  <a:pt x="33" y="159"/>
                  <a:pt x="30" y="163"/>
                  <a:pt x="26" y="163"/>
                </a:cubicBezTo>
                <a:close/>
                <a:moveTo>
                  <a:pt x="7" y="157"/>
                </a:moveTo>
                <a:cubicBezTo>
                  <a:pt x="26" y="157"/>
                  <a:pt x="26" y="157"/>
                  <a:pt x="26" y="157"/>
                </a:cubicBezTo>
                <a:cubicBezTo>
                  <a:pt x="27" y="157"/>
                  <a:pt x="27" y="156"/>
                  <a:pt x="27" y="156"/>
                </a:cubicBezTo>
                <a:cubicBezTo>
                  <a:pt x="27" y="152"/>
                  <a:pt x="27" y="152"/>
                  <a:pt x="27" y="152"/>
                </a:cubicBezTo>
                <a:cubicBezTo>
                  <a:pt x="27" y="151"/>
                  <a:pt x="27" y="151"/>
                  <a:pt x="26" y="151"/>
                </a:cubicBezTo>
                <a:cubicBezTo>
                  <a:pt x="7" y="151"/>
                  <a:pt x="7" y="151"/>
                  <a:pt x="7" y="151"/>
                </a:cubicBezTo>
                <a:cubicBezTo>
                  <a:pt x="7" y="151"/>
                  <a:pt x="6" y="151"/>
                  <a:pt x="6" y="152"/>
                </a:cubicBezTo>
                <a:cubicBezTo>
                  <a:pt x="6" y="156"/>
                  <a:pt x="6" y="156"/>
                  <a:pt x="6" y="156"/>
                </a:cubicBezTo>
                <a:cubicBezTo>
                  <a:pt x="6" y="156"/>
                  <a:pt x="7" y="157"/>
                  <a:pt x="7" y="157"/>
                </a:cubicBezTo>
                <a:close/>
                <a:moveTo>
                  <a:pt x="0" y="117"/>
                </a:moveTo>
                <a:cubicBezTo>
                  <a:pt x="0" y="114"/>
                  <a:pt x="0" y="114"/>
                  <a:pt x="0" y="114"/>
                </a:cubicBezTo>
                <a:cubicBezTo>
                  <a:pt x="0" y="110"/>
                  <a:pt x="3" y="107"/>
                  <a:pt x="7" y="107"/>
                </a:cubicBezTo>
                <a:cubicBezTo>
                  <a:pt x="26" y="107"/>
                  <a:pt x="26" y="107"/>
                  <a:pt x="26" y="107"/>
                </a:cubicBezTo>
                <a:cubicBezTo>
                  <a:pt x="30" y="107"/>
                  <a:pt x="33" y="110"/>
                  <a:pt x="33" y="114"/>
                </a:cubicBezTo>
                <a:cubicBezTo>
                  <a:pt x="33" y="117"/>
                  <a:pt x="33" y="117"/>
                  <a:pt x="33" y="117"/>
                </a:cubicBezTo>
                <a:cubicBezTo>
                  <a:pt x="33" y="121"/>
                  <a:pt x="30" y="124"/>
                  <a:pt x="26" y="124"/>
                </a:cubicBezTo>
                <a:cubicBezTo>
                  <a:pt x="7" y="124"/>
                  <a:pt x="7" y="124"/>
                  <a:pt x="7" y="124"/>
                </a:cubicBezTo>
                <a:cubicBezTo>
                  <a:pt x="3" y="124"/>
                  <a:pt x="0" y="121"/>
                  <a:pt x="0" y="117"/>
                </a:cubicBezTo>
                <a:close/>
                <a:moveTo>
                  <a:pt x="6" y="117"/>
                </a:moveTo>
                <a:cubicBezTo>
                  <a:pt x="6" y="118"/>
                  <a:pt x="7" y="118"/>
                  <a:pt x="7" y="118"/>
                </a:cubicBezTo>
                <a:cubicBezTo>
                  <a:pt x="26" y="118"/>
                  <a:pt x="26" y="118"/>
                  <a:pt x="26" y="118"/>
                </a:cubicBezTo>
                <a:cubicBezTo>
                  <a:pt x="27" y="118"/>
                  <a:pt x="27" y="118"/>
                  <a:pt x="27" y="117"/>
                </a:cubicBezTo>
                <a:cubicBezTo>
                  <a:pt x="27" y="114"/>
                  <a:pt x="27" y="114"/>
                  <a:pt x="27" y="114"/>
                </a:cubicBezTo>
                <a:cubicBezTo>
                  <a:pt x="27" y="113"/>
                  <a:pt x="27" y="113"/>
                  <a:pt x="26" y="113"/>
                </a:cubicBezTo>
                <a:cubicBezTo>
                  <a:pt x="7" y="113"/>
                  <a:pt x="7" y="113"/>
                  <a:pt x="7" y="113"/>
                </a:cubicBezTo>
                <a:cubicBezTo>
                  <a:pt x="7" y="113"/>
                  <a:pt x="6" y="113"/>
                  <a:pt x="6" y="114"/>
                </a:cubicBezTo>
                <a:lnTo>
                  <a:pt x="6" y="117"/>
                </a:ln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7" name="Freeform 26"/>
          <p:cNvSpPr>
            <a:spLocks noEditPoints="1"/>
          </p:cNvSpPr>
          <p:nvPr/>
        </p:nvSpPr>
        <p:spPr bwMode="auto">
          <a:xfrm>
            <a:off x="7965440" y="2518330"/>
            <a:ext cx="548610" cy="542171"/>
          </a:xfrm>
          <a:custGeom>
            <a:avLst/>
            <a:gdLst>
              <a:gd name="T0" fmla="*/ 175 w 180"/>
              <a:gd name="T1" fmla="*/ 56 h 178"/>
              <a:gd name="T2" fmla="*/ 123 w 180"/>
              <a:gd name="T3" fmla="*/ 3 h 178"/>
              <a:gd name="T4" fmla="*/ 115 w 180"/>
              <a:gd name="T5" fmla="*/ 0 h 178"/>
              <a:gd name="T6" fmla="*/ 107 w 180"/>
              <a:gd name="T7" fmla="*/ 3 h 178"/>
              <a:gd name="T8" fmla="*/ 107 w 180"/>
              <a:gd name="T9" fmla="*/ 4 h 178"/>
              <a:gd name="T10" fmla="*/ 103 w 180"/>
              <a:gd name="T11" fmla="*/ 12 h 178"/>
              <a:gd name="T12" fmla="*/ 107 w 180"/>
              <a:gd name="T13" fmla="*/ 19 h 178"/>
              <a:gd name="T14" fmla="*/ 109 w 180"/>
              <a:gd name="T15" fmla="*/ 21 h 178"/>
              <a:gd name="T16" fmla="*/ 52 w 180"/>
              <a:gd name="T17" fmla="*/ 67 h 178"/>
              <a:gd name="T18" fmla="*/ 49 w 180"/>
              <a:gd name="T19" fmla="*/ 63 h 178"/>
              <a:gd name="T20" fmla="*/ 41 w 180"/>
              <a:gd name="T21" fmla="*/ 60 h 178"/>
              <a:gd name="T22" fmla="*/ 33 w 180"/>
              <a:gd name="T23" fmla="*/ 63 h 178"/>
              <a:gd name="T24" fmla="*/ 33 w 180"/>
              <a:gd name="T25" fmla="*/ 64 h 178"/>
              <a:gd name="T26" fmla="*/ 33 w 180"/>
              <a:gd name="T27" fmla="*/ 79 h 178"/>
              <a:gd name="T28" fmla="*/ 62 w 180"/>
              <a:gd name="T29" fmla="*/ 108 h 178"/>
              <a:gd name="T30" fmla="*/ 3 w 180"/>
              <a:gd name="T31" fmla="*/ 167 h 178"/>
              <a:gd name="T32" fmla="*/ 3 w 180"/>
              <a:gd name="T33" fmla="*/ 176 h 178"/>
              <a:gd name="T34" fmla="*/ 7 w 180"/>
              <a:gd name="T35" fmla="*/ 178 h 178"/>
              <a:gd name="T36" fmla="*/ 11 w 180"/>
              <a:gd name="T37" fmla="*/ 176 h 178"/>
              <a:gd name="T38" fmla="*/ 70 w 180"/>
              <a:gd name="T39" fmla="*/ 117 h 178"/>
              <a:gd name="T40" fmla="*/ 99 w 180"/>
              <a:gd name="T41" fmla="*/ 146 h 178"/>
              <a:gd name="T42" fmla="*/ 107 w 180"/>
              <a:gd name="T43" fmla="*/ 149 h 178"/>
              <a:gd name="T44" fmla="*/ 115 w 180"/>
              <a:gd name="T45" fmla="*/ 146 h 178"/>
              <a:gd name="T46" fmla="*/ 115 w 180"/>
              <a:gd name="T47" fmla="*/ 145 h 178"/>
              <a:gd name="T48" fmla="*/ 115 w 180"/>
              <a:gd name="T49" fmla="*/ 130 h 178"/>
              <a:gd name="T50" fmla="*/ 112 w 180"/>
              <a:gd name="T51" fmla="*/ 126 h 178"/>
              <a:gd name="T52" fmla="*/ 157 w 180"/>
              <a:gd name="T53" fmla="*/ 70 h 178"/>
              <a:gd name="T54" fmla="*/ 159 w 180"/>
              <a:gd name="T55" fmla="*/ 72 h 178"/>
              <a:gd name="T56" fmla="*/ 167 w 180"/>
              <a:gd name="T57" fmla="*/ 75 h 178"/>
              <a:gd name="T58" fmla="*/ 175 w 180"/>
              <a:gd name="T59" fmla="*/ 72 h 178"/>
              <a:gd name="T60" fmla="*/ 175 w 180"/>
              <a:gd name="T61" fmla="*/ 71 h 178"/>
              <a:gd name="T62" fmla="*/ 175 w 180"/>
              <a:gd name="T63" fmla="*/ 56 h 178"/>
              <a:gd name="T64" fmla="*/ 113 w 180"/>
              <a:gd name="T65" fmla="*/ 137 h 178"/>
              <a:gd name="T66" fmla="*/ 111 w 180"/>
              <a:gd name="T67" fmla="*/ 141 h 178"/>
              <a:gd name="T68" fmla="*/ 110 w 180"/>
              <a:gd name="T69" fmla="*/ 142 h 178"/>
              <a:gd name="T70" fmla="*/ 103 w 180"/>
              <a:gd name="T71" fmla="*/ 142 h 178"/>
              <a:gd name="T72" fmla="*/ 37 w 180"/>
              <a:gd name="T73" fmla="*/ 75 h 178"/>
              <a:gd name="T74" fmla="*/ 35 w 180"/>
              <a:gd name="T75" fmla="*/ 72 h 178"/>
              <a:gd name="T76" fmla="*/ 37 w 180"/>
              <a:gd name="T77" fmla="*/ 68 h 178"/>
              <a:gd name="T78" fmla="*/ 38 w 180"/>
              <a:gd name="T79" fmla="*/ 67 h 178"/>
              <a:gd name="T80" fmla="*/ 41 w 180"/>
              <a:gd name="T81" fmla="*/ 66 h 178"/>
              <a:gd name="T82" fmla="*/ 45 w 180"/>
              <a:gd name="T83" fmla="*/ 67 h 178"/>
              <a:gd name="T84" fmla="*/ 49 w 180"/>
              <a:gd name="T85" fmla="*/ 72 h 178"/>
              <a:gd name="T86" fmla="*/ 107 w 180"/>
              <a:gd name="T87" fmla="*/ 129 h 178"/>
              <a:gd name="T88" fmla="*/ 111 w 180"/>
              <a:gd name="T89" fmla="*/ 134 h 178"/>
              <a:gd name="T90" fmla="*/ 113 w 180"/>
              <a:gd name="T91" fmla="*/ 137 h 178"/>
              <a:gd name="T92" fmla="*/ 106 w 180"/>
              <a:gd name="T93" fmla="*/ 123 h 178"/>
              <a:gd name="T94" fmla="*/ 55 w 180"/>
              <a:gd name="T95" fmla="*/ 72 h 178"/>
              <a:gd name="T96" fmla="*/ 114 w 180"/>
              <a:gd name="T97" fmla="*/ 24 h 178"/>
              <a:gd name="T98" fmla="*/ 154 w 180"/>
              <a:gd name="T99" fmla="*/ 64 h 178"/>
              <a:gd name="T100" fmla="*/ 106 w 180"/>
              <a:gd name="T101" fmla="*/ 123 h 178"/>
              <a:gd name="T102" fmla="*/ 171 w 180"/>
              <a:gd name="T103" fmla="*/ 67 h 178"/>
              <a:gd name="T104" fmla="*/ 170 w 180"/>
              <a:gd name="T105" fmla="*/ 68 h 178"/>
              <a:gd name="T106" fmla="*/ 163 w 180"/>
              <a:gd name="T107" fmla="*/ 68 h 178"/>
              <a:gd name="T108" fmla="*/ 111 w 180"/>
              <a:gd name="T109" fmla="*/ 15 h 178"/>
              <a:gd name="T110" fmla="*/ 109 w 180"/>
              <a:gd name="T111" fmla="*/ 12 h 178"/>
              <a:gd name="T112" fmla="*/ 111 w 180"/>
              <a:gd name="T113" fmla="*/ 8 h 178"/>
              <a:gd name="T114" fmla="*/ 112 w 180"/>
              <a:gd name="T115" fmla="*/ 7 h 178"/>
              <a:gd name="T116" fmla="*/ 115 w 180"/>
              <a:gd name="T117" fmla="*/ 6 h 178"/>
              <a:gd name="T118" fmla="*/ 119 w 180"/>
              <a:gd name="T119" fmla="*/ 7 h 178"/>
              <a:gd name="T120" fmla="*/ 171 w 180"/>
              <a:gd name="T121" fmla="*/ 60 h 178"/>
              <a:gd name="T122" fmla="*/ 173 w 180"/>
              <a:gd name="T123" fmla="*/ 63 h 178"/>
              <a:gd name="T124" fmla="*/ 171 w 180"/>
              <a:gd name="T125" fmla="*/ 67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0" h="178">
                <a:moveTo>
                  <a:pt x="175" y="56"/>
                </a:moveTo>
                <a:cubicBezTo>
                  <a:pt x="123" y="3"/>
                  <a:pt x="123" y="3"/>
                  <a:pt x="123" y="3"/>
                </a:cubicBezTo>
                <a:cubicBezTo>
                  <a:pt x="121" y="1"/>
                  <a:pt x="118" y="0"/>
                  <a:pt x="115" y="0"/>
                </a:cubicBezTo>
                <a:cubicBezTo>
                  <a:pt x="112" y="0"/>
                  <a:pt x="110" y="1"/>
                  <a:pt x="107" y="3"/>
                </a:cubicBezTo>
                <a:cubicBezTo>
                  <a:pt x="107" y="4"/>
                  <a:pt x="107" y="4"/>
                  <a:pt x="107" y="4"/>
                </a:cubicBezTo>
                <a:cubicBezTo>
                  <a:pt x="105" y="6"/>
                  <a:pt x="103" y="9"/>
                  <a:pt x="103" y="12"/>
                </a:cubicBezTo>
                <a:cubicBezTo>
                  <a:pt x="103" y="15"/>
                  <a:pt x="105" y="17"/>
                  <a:pt x="107" y="19"/>
                </a:cubicBezTo>
                <a:cubicBezTo>
                  <a:pt x="109" y="21"/>
                  <a:pt x="109" y="21"/>
                  <a:pt x="109" y="21"/>
                </a:cubicBezTo>
                <a:cubicBezTo>
                  <a:pt x="52" y="67"/>
                  <a:pt x="52" y="67"/>
                  <a:pt x="52" y="67"/>
                </a:cubicBezTo>
                <a:cubicBezTo>
                  <a:pt x="49" y="63"/>
                  <a:pt x="49" y="63"/>
                  <a:pt x="49" y="63"/>
                </a:cubicBezTo>
                <a:cubicBezTo>
                  <a:pt x="47" y="61"/>
                  <a:pt x="44" y="60"/>
                  <a:pt x="41" y="60"/>
                </a:cubicBezTo>
                <a:cubicBezTo>
                  <a:pt x="38" y="60"/>
                  <a:pt x="36" y="61"/>
                  <a:pt x="33" y="63"/>
                </a:cubicBezTo>
                <a:cubicBezTo>
                  <a:pt x="33" y="64"/>
                  <a:pt x="33" y="64"/>
                  <a:pt x="33" y="64"/>
                </a:cubicBezTo>
                <a:cubicBezTo>
                  <a:pt x="28" y="68"/>
                  <a:pt x="28" y="75"/>
                  <a:pt x="33" y="79"/>
                </a:cubicBezTo>
                <a:cubicBezTo>
                  <a:pt x="62" y="108"/>
                  <a:pt x="62" y="108"/>
                  <a:pt x="62" y="108"/>
                </a:cubicBezTo>
                <a:cubicBezTo>
                  <a:pt x="3" y="167"/>
                  <a:pt x="3" y="167"/>
                  <a:pt x="3" y="167"/>
                </a:cubicBezTo>
                <a:cubicBezTo>
                  <a:pt x="0" y="170"/>
                  <a:pt x="0" y="174"/>
                  <a:pt x="3" y="176"/>
                </a:cubicBezTo>
                <a:cubicBezTo>
                  <a:pt x="4" y="177"/>
                  <a:pt x="5" y="178"/>
                  <a:pt x="7" y="178"/>
                </a:cubicBezTo>
                <a:cubicBezTo>
                  <a:pt x="8" y="178"/>
                  <a:pt x="10" y="177"/>
                  <a:pt x="11" y="176"/>
                </a:cubicBezTo>
                <a:cubicBezTo>
                  <a:pt x="70" y="117"/>
                  <a:pt x="70" y="117"/>
                  <a:pt x="70" y="117"/>
                </a:cubicBezTo>
                <a:cubicBezTo>
                  <a:pt x="99" y="146"/>
                  <a:pt x="99" y="146"/>
                  <a:pt x="99" y="146"/>
                </a:cubicBezTo>
                <a:cubicBezTo>
                  <a:pt x="101" y="148"/>
                  <a:pt x="104" y="149"/>
                  <a:pt x="107" y="149"/>
                </a:cubicBezTo>
                <a:cubicBezTo>
                  <a:pt x="110" y="149"/>
                  <a:pt x="112" y="148"/>
                  <a:pt x="115" y="146"/>
                </a:cubicBezTo>
                <a:cubicBezTo>
                  <a:pt x="115" y="145"/>
                  <a:pt x="115" y="145"/>
                  <a:pt x="115" y="145"/>
                </a:cubicBezTo>
                <a:cubicBezTo>
                  <a:pt x="120" y="141"/>
                  <a:pt x="120" y="134"/>
                  <a:pt x="115" y="130"/>
                </a:cubicBezTo>
                <a:cubicBezTo>
                  <a:pt x="112" y="126"/>
                  <a:pt x="112" y="126"/>
                  <a:pt x="112" y="126"/>
                </a:cubicBezTo>
                <a:cubicBezTo>
                  <a:pt x="157" y="70"/>
                  <a:pt x="157" y="70"/>
                  <a:pt x="157" y="70"/>
                </a:cubicBezTo>
                <a:cubicBezTo>
                  <a:pt x="159" y="72"/>
                  <a:pt x="159" y="72"/>
                  <a:pt x="159" y="72"/>
                </a:cubicBezTo>
                <a:cubicBezTo>
                  <a:pt x="161" y="74"/>
                  <a:pt x="164" y="75"/>
                  <a:pt x="167" y="75"/>
                </a:cubicBezTo>
                <a:cubicBezTo>
                  <a:pt x="170" y="75"/>
                  <a:pt x="173" y="74"/>
                  <a:pt x="175" y="72"/>
                </a:cubicBezTo>
                <a:cubicBezTo>
                  <a:pt x="175" y="71"/>
                  <a:pt x="175" y="71"/>
                  <a:pt x="175" y="71"/>
                </a:cubicBezTo>
                <a:cubicBezTo>
                  <a:pt x="180" y="67"/>
                  <a:pt x="180" y="60"/>
                  <a:pt x="175" y="56"/>
                </a:cubicBezTo>
                <a:close/>
                <a:moveTo>
                  <a:pt x="113" y="137"/>
                </a:moveTo>
                <a:cubicBezTo>
                  <a:pt x="113" y="139"/>
                  <a:pt x="112" y="140"/>
                  <a:pt x="111" y="141"/>
                </a:cubicBezTo>
                <a:cubicBezTo>
                  <a:pt x="110" y="142"/>
                  <a:pt x="110" y="142"/>
                  <a:pt x="110" y="142"/>
                </a:cubicBezTo>
                <a:cubicBezTo>
                  <a:pt x="108" y="143"/>
                  <a:pt x="105" y="143"/>
                  <a:pt x="103" y="142"/>
                </a:cubicBezTo>
                <a:cubicBezTo>
                  <a:pt x="37" y="75"/>
                  <a:pt x="37" y="75"/>
                  <a:pt x="37" y="75"/>
                </a:cubicBezTo>
                <a:cubicBezTo>
                  <a:pt x="36" y="74"/>
                  <a:pt x="35" y="73"/>
                  <a:pt x="35" y="72"/>
                </a:cubicBezTo>
                <a:cubicBezTo>
                  <a:pt x="35" y="70"/>
                  <a:pt x="36" y="69"/>
                  <a:pt x="37" y="68"/>
                </a:cubicBezTo>
                <a:cubicBezTo>
                  <a:pt x="38" y="67"/>
                  <a:pt x="38" y="67"/>
                  <a:pt x="38" y="67"/>
                </a:cubicBezTo>
                <a:cubicBezTo>
                  <a:pt x="39" y="66"/>
                  <a:pt x="40" y="66"/>
                  <a:pt x="41" y="66"/>
                </a:cubicBezTo>
                <a:cubicBezTo>
                  <a:pt x="43" y="66"/>
                  <a:pt x="44" y="66"/>
                  <a:pt x="45" y="67"/>
                </a:cubicBezTo>
                <a:cubicBezTo>
                  <a:pt x="49" y="72"/>
                  <a:pt x="49" y="72"/>
                  <a:pt x="49" y="72"/>
                </a:cubicBezTo>
                <a:cubicBezTo>
                  <a:pt x="107" y="129"/>
                  <a:pt x="107" y="129"/>
                  <a:pt x="107" y="129"/>
                </a:cubicBezTo>
                <a:cubicBezTo>
                  <a:pt x="111" y="134"/>
                  <a:pt x="111" y="134"/>
                  <a:pt x="111" y="134"/>
                </a:cubicBezTo>
                <a:cubicBezTo>
                  <a:pt x="112" y="135"/>
                  <a:pt x="113" y="136"/>
                  <a:pt x="113" y="137"/>
                </a:cubicBezTo>
                <a:close/>
                <a:moveTo>
                  <a:pt x="106" y="123"/>
                </a:moveTo>
                <a:cubicBezTo>
                  <a:pt x="55" y="72"/>
                  <a:pt x="55" y="72"/>
                  <a:pt x="55" y="72"/>
                </a:cubicBezTo>
                <a:cubicBezTo>
                  <a:pt x="114" y="24"/>
                  <a:pt x="114" y="24"/>
                  <a:pt x="114" y="24"/>
                </a:cubicBezTo>
                <a:cubicBezTo>
                  <a:pt x="154" y="64"/>
                  <a:pt x="154" y="64"/>
                  <a:pt x="154" y="64"/>
                </a:cubicBezTo>
                <a:lnTo>
                  <a:pt x="106" y="123"/>
                </a:lnTo>
                <a:close/>
                <a:moveTo>
                  <a:pt x="171" y="67"/>
                </a:moveTo>
                <a:cubicBezTo>
                  <a:pt x="170" y="68"/>
                  <a:pt x="170" y="68"/>
                  <a:pt x="170" y="68"/>
                </a:cubicBezTo>
                <a:cubicBezTo>
                  <a:pt x="169" y="69"/>
                  <a:pt x="165" y="69"/>
                  <a:pt x="163" y="68"/>
                </a:cubicBezTo>
                <a:cubicBezTo>
                  <a:pt x="111" y="15"/>
                  <a:pt x="111" y="15"/>
                  <a:pt x="111" y="15"/>
                </a:cubicBezTo>
                <a:cubicBezTo>
                  <a:pt x="110" y="14"/>
                  <a:pt x="109" y="13"/>
                  <a:pt x="109" y="12"/>
                </a:cubicBezTo>
                <a:cubicBezTo>
                  <a:pt x="109" y="10"/>
                  <a:pt x="110" y="9"/>
                  <a:pt x="111" y="8"/>
                </a:cubicBezTo>
                <a:cubicBezTo>
                  <a:pt x="112" y="7"/>
                  <a:pt x="112" y="7"/>
                  <a:pt x="112" y="7"/>
                </a:cubicBezTo>
                <a:cubicBezTo>
                  <a:pt x="113" y="6"/>
                  <a:pt x="114" y="6"/>
                  <a:pt x="115" y="6"/>
                </a:cubicBezTo>
                <a:cubicBezTo>
                  <a:pt x="117" y="6"/>
                  <a:pt x="118" y="6"/>
                  <a:pt x="119" y="7"/>
                </a:cubicBezTo>
                <a:cubicBezTo>
                  <a:pt x="171" y="60"/>
                  <a:pt x="171" y="60"/>
                  <a:pt x="171" y="60"/>
                </a:cubicBezTo>
                <a:cubicBezTo>
                  <a:pt x="172" y="61"/>
                  <a:pt x="173" y="62"/>
                  <a:pt x="173" y="63"/>
                </a:cubicBezTo>
                <a:cubicBezTo>
                  <a:pt x="173" y="65"/>
                  <a:pt x="172" y="66"/>
                  <a:pt x="171" y="67"/>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9" name="Rectangle 28"/>
          <p:cNvSpPr/>
          <p:nvPr/>
        </p:nvSpPr>
        <p:spPr>
          <a:xfrm>
            <a:off x="0" y="0"/>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EG" dirty="0">
                <a:latin typeface="DIN Next LT Arabic Light" panose="020B0303020203050203" pitchFamily="34" charset="-78"/>
                <a:cs typeface="DIN Next LT Arabic Light" panose="020B0303020203050203" pitchFamily="34" charset="-78"/>
              </a:rPr>
              <a:t>الجوانب الابتكارية للمشروع</a:t>
            </a:r>
          </a:p>
        </p:txBody>
      </p:sp>
    </p:spTree>
    <p:extLst>
      <p:ext uri="{BB962C8B-B14F-4D97-AF65-F5344CB8AC3E}">
        <p14:creationId xmlns:p14="http://schemas.microsoft.com/office/powerpoint/2010/main" val="235981366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a:off x="990905" y="3487215"/>
            <a:ext cx="1925786" cy="576262"/>
          </a:xfrm>
          <a:custGeom>
            <a:avLst/>
            <a:gdLst>
              <a:gd name="connsiteX0" fmla="*/ 962893 w 1925786"/>
              <a:gd name="connsiteY0" fmla="*/ 0 h 576262"/>
              <a:gd name="connsiteX1" fmla="*/ 1077193 w 1925786"/>
              <a:gd name="connsiteY1" fmla="*/ 166688 h 576262"/>
              <a:gd name="connsiteX2" fmla="*/ 1857522 w 1925786"/>
              <a:gd name="connsiteY2" fmla="*/ 166688 h 576262"/>
              <a:gd name="connsiteX3" fmla="*/ 1925786 w 1925786"/>
              <a:gd name="connsiteY3" fmla="*/ 234952 h 576262"/>
              <a:gd name="connsiteX4" fmla="*/ 1925786 w 1925786"/>
              <a:gd name="connsiteY4" fmla="*/ 507998 h 576262"/>
              <a:gd name="connsiteX5" fmla="*/ 1857522 w 1925786"/>
              <a:gd name="connsiteY5" fmla="*/ 576262 h 576262"/>
              <a:gd name="connsiteX6" fmla="*/ 68264 w 1925786"/>
              <a:gd name="connsiteY6" fmla="*/ 576262 h 576262"/>
              <a:gd name="connsiteX7" fmla="*/ 0 w 1925786"/>
              <a:gd name="connsiteY7" fmla="*/ 507998 h 576262"/>
              <a:gd name="connsiteX8" fmla="*/ 0 w 1925786"/>
              <a:gd name="connsiteY8" fmla="*/ 234952 h 576262"/>
              <a:gd name="connsiteX9" fmla="*/ 68264 w 1925786"/>
              <a:gd name="connsiteY9" fmla="*/ 166688 h 576262"/>
              <a:gd name="connsiteX10" fmla="*/ 848593 w 1925786"/>
              <a:gd name="connsiteY10" fmla="*/ 166688 h 576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5786" h="576262">
                <a:moveTo>
                  <a:pt x="962893" y="0"/>
                </a:moveTo>
                <a:lnTo>
                  <a:pt x="1077193" y="166688"/>
                </a:lnTo>
                <a:lnTo>
                  <a:pt x="1857522" y="166688"/>
                </a:lnTo>
                <a:cubicBezTo>
                  <a:pt x="1895223" y="166688"/>
                  <a:pt x="1925786" y="197251"/>
                  <a:pt x="1925786" y="234952"/>
                </a:cubicBezTo>
                <a:lnTo>
                  <a:pt x="1925786" y="507998"/>
                </a:lnTo>
                <a:cubicBezTo>
                  <a:pt x="1925786" y="545699"/>
                  <a:pt x="1895223" y="576262"/>
                  <a:pt x="1857522" y="576262"/>
                </a:cubicBezTo>
                <a:lnTo>
                  <a:pt x="68264" y="576262"/>
                </a:lnTo>
                <a:cubicBezTo>
                  <a:pt x="30563" y="576262"/>
                  <a:pt x="0" y="545699"/>
                  <a:pt x="0" y="507998"/>
                </a:cubicBezTo>
                <a:lnTo>
                  <a:pt x="0" y="234952"/>
                </a:lnTo>
                <a:cubicBezTo>
                  <a:pt x="0" y="197251"/>
                  <a:pt x="30563" y="166688"/>
                  <a:pt x="68264" y="166688"/>
                </a:cubicBezTo>
                <a:lnTo>
                  <a:pt x="848593" y="166688"/>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 name="Freeform 2"/>
          <p:cNvSpPr/>
          <p:nvPr/>
        </p:nvSpPr>
        <p:spPr>
          <a:xfrm flipV="1">
            <a:off x="3062006" y="3487215"/>
            <a:ext cx="1925786" cy="576262"/>
          </a:xfrm>
          <a:custGeom>
            <a:avLst/>
            <a:gdLst>
              <a:gd name="connsiteX0" fmla="*/ 962893 w 1925786"/>
              <a:gd name="connsiteY0" fmla="*/ 0 h 576262"/>
              <a:gd name="connsiteX1" fmla="*/ 1077193 w 1925786"/>
              <a:gd name="connsiteY1" fmla="*/ 166688 h 576262"/>
              <a:gd name="connsiteX2" fmla="*/ 1857522 w 1925786"/>
              <a:gd name="connsiteY2" fmla="*/ 166688 h 576262"/>
              <a:gd name="connsiteX3" fmla="*/ 1925786 w 1925786"/>
              <a:gd name="connsiteY3" fmla="*/ 234952 h 576262"/>
              <a:gd name="connsiteX4" fmla="*/ 1925786 w 1925786"/>
              <a:gd name="connsiteY4" fmla="*/ 507998 h 576262"/>
              <a:gd name="connsiteX5" fmla="*/ 1857522 w 1925786"/>
              <a:gd name="connsiteY5" fmla="*/ 576262 h 576262"/>
              <a:gd name="connsiteX6" fmla="*/ 68264 w 1925786"/>
              <a:gd name="connsiteY6" fmla="*/ 576262 h 576262"/>
              <a:gd name="connsiteX7" fmla="*/ 0 w 1925786"/>
              <a:gd name="connsiteY7" fmla="*/ 507998 h 576262"/>
              <a:gd name="connsiteX8" fmla="*/ 0 w 1925786"/>
              <a:gd name="connsiteY8" fmla="*/ 234952 h 576262"/>
              <a:gd name="connsiteX9" fmla="*/ 68264 w 1925786"/>
              <a:gd name="connsiteY9" fmla="*/ 166688 h 576262"/>
              <a:gd name="connsiteX10" fmla="*/ 848593 w 1925786"/>
              <a:gd name="connsiteY10" fmla="*/ 166688 h 576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5786" h="576262">
                <a:moveTo>
                  <a:pt x="962893" y="0"/>
                </a:moveTo>
                <a:lnTo>
                  <a:pt x="1077193" y="166688"/>
                </a:lnTo>
                <a:lnTo>
                  <a:pt x="1857522" y="166688"/>
                </a:lnTo>
                <a:cubicBezTo>
                  <a:pt x="1895223" y="166688"/>
                  <a:pt x="1925786" y="197251"/>
                  <a:pt x="1925786" y="234952"/>
                </a:cubicBezTo>
                <a:lnTo>
                  <a:pt x="1925786" y="507998"/>
                </a:lnTo>
                <a:cubicBezTo>
                  <a:pt x="1925786" y="545699"/>
                  <a:pt x="1895223" y="576262"/>
                  <a:pt x="1857522" y="576262"/>
                </a:cubicBezTo>
                <a:lnTo>
                  <a:pt x="68264" y="576262"/>
                </a:lnTo>
                <a:cubicBezTo>
                  <a:pt x="30563" y="576262"/>
                  <a:pt x="0" y="545699"/>
                  <a:pt x="0" y="507998"/>
                </a:cubicBezTo>
                <a:lnTo>
                  <a:pt x="0" y="234952"/>
                </a:lnTo>
                <a:cubicBezTo>
                  <a:pt x="0" y="197251"/>
                  <a:pt x="30563" y="166688"/>
                  <a:pt x="68264" y="166688"/>
                </a:cubicBezTo>
                <a:lnTo>
                  <a:pt x="848593" y="16668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4" name="Freeform 3"/>
          <p:cNvSpPr/>
          <p:nvPr/>
        </p:nvSpPr>
        <p:spPr>
          <a:xfrm>
            <a:off x="5133107" y="3487215"/>
            <a:ext cx="1925786" cy="576262"/>
          </a:xfrm>
          <a:custGeom>
            <a:avLst/>
            <a:gdLst>
              <a:gd name="connsiteX0" fmla="*/ 962893 w 1925786"/>
              <a:gd name="connsiteY0" fmla="*/ 0 h 576262"/>
              <a:gd name="connsiteX1" fmla="*/ 1077193 w 1925786"/>
              <a:gd name="connsiteY1" fmla="*/ 166688 h 576262"/>
              <a:gd name="connsiteX2" fmla="*/ 1857522 w 1925786"/>
              <a:gd name="connsiteY2" fmla="*/ 166688 h 576262"/>
              <a:gd name="connsiteX3" fmla="*/ 1925786 w 1925786"/>
              <a:gd name="connsiteY3" fmla="*/ 234952 h 576262"/>
              <a:gd name="connsiteX4" fmla="*/ 1925786 w 1925786"/>
              <a:gd name="connsiteY4" fmla="*/ 507998 h 576262"/>
              <a:gd name="connsiteX5" fmla="*/ 1857522 w 1925786"/>
              <a:gd name="connsiteY5" fmla="*/ 576262 h 576262"/>
              <a:gd name="connsiteX6" fmla="*/ 68264 w 1925786"/>
              <a:gd name="connsiteY6" fmla="*/ 576262 h 576262"/>
              <a:gd name="connsiteX7" fmla="*/ 0 w 1925786"/>
              <a:gd name="connsiteY7" fmla="*/ 507998 h 576262"/>
              <a:gd name="connsiteX8" fmla="*/ 0 w 1925786"/>
              <a:gd name="connsiteY8" fmla="*/ 234952 h 576262"/>
              <a:gd name="connsiteX9" fmla="*/ 68264 w 1925786"/>
              <a:gd name="connsiteY9" fmla="*/ 166688 h 576262"/>
              <a:gd name="connsiteX10" fmla="*/ 848593 w 1925786"/>
              <a:gd name="connsiteY10" fmla="*/ 166688 h 576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5786" h="576262">
                <a:moveTo>
                  <a:pt x="962893" y="0"/>
                </a:moveTo>
                <a:lnTo>
                  <a:pt x="1077193" y="166688"/>
                </a:lnTo>
                <a:lnTo>
                  <a:pt x="1857522" y="166688"/>
                </a:lnTo>
                <a:cubicBezTo>
                  <a:pt x="1895223" y="166688"/>
                  <a:pt x="1925786" y="197251"/>
                  <a:pt x="1925786" y="234952"/>
                </a:cubicBezTo>
                <a:lnTo>
                  <a:pt x="1925786" y="507998"/>
                </a:lnTo>
                <a:cubicBezTo>
                  <a:pt x="1925786" y="545699"/>
                  <a:pt x="1895223" y="576262"/>
                  <a:pt x="1857522" y="576262"/>
                </a:cubicBezTo>
                <a:lnTo>
                  <a:pt x="68264" y="576262"/>
                </a:lnTo>
                <a:cubicBezTo>
                  <a:pt x="30563" y="576262"/>
                  <a:pt x="0" y="545699"/>
                  <a:pt x="0" y="507998"/>
                </a:cubicBezTo>
                <a:lnTo>
                  <a:pt x="0" y="234952"/>
                </a:lnTo>
                <a:cubicBezTo>
                  <a:pt x="0" y="197251"/>
                  <a:pt x="30563" y="166688"/>
                  <a:pt x="68264" y="166688"/>
                </a:cubicBezTo>
                <a:lnTo>
                  <a:pt x="848593" y="166688"/>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5" name="Freeform 4"/>
          <p:cNvSpPr/>
          <p:nvPr/>
        </p:nvSpPr>
        <p:spPr>
          <a:xfrm flipH="1" flipV="1">
            <a:off x="7204208" y="3487215"/>
            <a:ext cx="1925786" cy="576262"/>
          </a:xfrm>
          <a:custGeom>
            <a:avLst/>
            <a:gdLst>
              <a:gd name="connsiteX0" fmla="*/ 962893 w 1925786"/>
              <a:gd name="connsiteY0" fmla="*/ 0 h 576262"/>
              <a:gd name="connsiteX1" fmla="*/ 1077193 w 1925786"/>
              <a:gd name="connsiteY1" fmla="*/ 166688 h 576262"/>
              <a:gd name="connsiteX2" fmla="*/ 1857522 w 1925786"/>
              <a:gd name="connsiteY2" fmla="*/ 166688 h 576262"/>
              <a:gd name="connsiteX3" fmla="*/ 1925786 w 1925786"/>
              <a:gd name="connsiteY3" fmla="*/ 234952 h 576262"/>
              <a:gd name="connsiteX4" fmla="*/ 1925786 w 1925786"/>
              <a:gd name="connsiteY4" fmla="*/ 507998 h 576262"/>
              <a:gd name="connsiteX5" fmla="*/ 1857522 w 1925786"/>
              <a:gd name="connsiteY5" fmla="*/ 576262 h 576262"/>
              <a:gd name="connsiteX6" fmla="*/ 68264 w 1925786"/>
              <a:gd name="connsiteY6" fmla="*/ 576262 h 576262"/>
              <a:gd name="connsiteX7" fmla="*/ 0 w 1925786"/>
              <a:gd name="connsiteY7" fmla="*/ 507998 h 576262"/>
              <a:gd name="connsiteX8" fmla="*/ 0 w 1925786"/>
              <a:gd name="connsiteY8" fmla="*/ 234952 h 576262"/>
              <a:gd name="connsiteX9" fmla="*/ 68264 w 1925786"/>
              <a:gd name="connsiteY9" fmla="*/ 166688 h 576262"/>
              <a:gd name="connsiteX10" fmla="*/ 848593 w 1925786"/>
              <a:gd name="connsiteY10" fmla="*/ 166688 h 576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5786" h="576262">
                <a:moveTo>
                  <a:pt x="962893" y="0"/>
                </a:moveTo>
                <a:lnTo>
                  <a:pt x="1077193" y="166688"/>
                </a:lnTo>
                <a:lnTo>
                  <a:pt x="1857522" y="166688"/>
                </a:lnTo>
                <a:cubicBezTo>
                  <a:pt x="1895223" y="166688"/>
                  <a:pt x="1925786" y="197251"/>
                  <a:pt x="1925786" y="234952"/>
                </a:cubicBezTo>
                <a:lnTo>
                  <a:pt x="1925786" y="507998"/>
                </a:lnTo>
                <a:cubicBezTo>
                  <a:pt x="1925786" y="545699"/>
                  <a:pt x="1895223" y="576262"/>
                  <a:pt x="1857522" y="576262"/>
                </a:cubicBezTo>
                <a:lnTo>
                  <a:pt x="68264" y="576262"/>
                </a:lnTo>
                <a:cubicBezTo>
                  <a:pt x="30563" y="576262"/>
                  <a:pt x="0" y="545699"/>
                  <a:pt x="0" y="507998"/>
                </a:cubicBezTo>
                <a:lnTo>
                  <a:pt x="0" y="234952"/>
                </a:lnTo>
                <a:cubicBezTo>
                  <a:pt x="0" y="197251"/>
                  <a:pt x="30563" y="166688"/>
                  <a:pt x="68264" y="166688"/>
                </a:cubicBezTo>
                <a:lnTo>
                  <a:pt x="848593" y="16668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6" name="Freeform 5"/>
          <p:cNvSpPr/>
          <p:nvPr/>
        </p:nvSpPr>
        <p:spPr>
          <a:xfrm>
            <a:off x="9275309" y="3487215"/>
            <a:ext cx="1925786" cy="576262"/>
          </a:xfrm>
          <a:custGeom>
            <a:avLst/>
            <a:gdLst>
              <a:gd name="connsiteX0" fmla="*/ 962893 w 1925786"/>
              <a:gd name="connsiteY0" fmla="*/ 0 h 576262"/>
              <a:gd name="connsiteX1" fmla="*/ 1077193 w 1925786"/>
              <a:gd name="connsiteY1" fmla="*/ 166688 h 576262"/>
              <a:gd name="connsiteX2" fmla="*/ 1857522 w 1925786"/>
              <a:gd name="connsiteY2" fmla="*/ 166688 h 576262"/>
              <a:gd name="connsiteX3" fmla="*/ 1925786 w 1925786"/>
              <a:gd name="connsiteY3" fmla="*/ 234952 h 576262"/>
              <a:gd name="connsiteX4" fmla="*/ 1925786 w 1925786"/>
              <a:gd name="connsiteY4" fmla="*/ 507998 h 576262"/>
              <a:gd name="connsiteX5" fmla="*/ 1857522 w 1925786"/>
              <a:gd name="connsiteY5" fmla="*/ 576262 h 576262"/>
              <a:gd name="connsiteX6" fmla="*/ 68264 w 1925786"/>
              <a:gd name="connsiteY6" fmla="*/ 576262 h 576262"/>
              <a:gd name="connsiteX7" fmla="*/ 0 w 1925786"/>
              <a:gd name="connsiteY7" fmla="*/ 507998 h 576262"/>
              <a:gd name="connsiteX8" fmla="*/ 0 w 1925786"/>
              <a:gd name="connsiteY8" fmla="*/ 234952 h 576262"/>
              <a:gd name="connsiteX9" fmla="*/ 68264 w 1925786"/>
              <a:gd name="connsiteY9" fmla="*/ 166688 h 576262"/>
              <a:gd name="connsiteX10" fmla="*/ 848593 w 1925786"/>
              <a:gd name="connsiteY10" fmla="*/ 166688 h 576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925786" h="576262">
                <a:moveTo>
                  <a:pt x="962893" y="0"/>
                </a:moveTo>
                <a:lnTo>
                  <a:pt x="1077193" y="166688"/>
                </a:lnTo>
                <a:lnTo>
                  <a:pt x="1857522" y="166688"/>
                </a:lnTo>
                <a:cubicBezTo>
                  <a:pt x="1895223" y="166688"/>
                  <a:pt x="1925786" y="197251"/>
                  <a:pt x="1925786" y="234952"/>
                </a:cubicBezTo>
                <a:lnTo>
                  <a:pt x="1925786" y="507998"/>
                </a:lnTo>
                <a:cubicBezTo>
                  <a:pt x="1925786" y="545699"/>
                  <a:pt x="1895223" y="576262"/>
                  <a:pt x="1857522" y="576262"/>
                </a:cubicBezTo>
                <a:lnTo>
                  <a:pt x="68264" y="576262"/>
                </a:lnTo>
                <a:cubicBezTo>
                  <a:pt x="30563" y="576262"/>
                  <a:pt x="0" y="545699"/>
                  <a:pt x="0" y="507998"/>
                </a:cubicBezTo>
                <a:lnTo>
                  <a:pt x="0" y="234952"/>
                </a:lnTo>
                <a:cubicBezTo>
                  <a:pt x="0" y="197251"/>
                  <a:pt x="30563" y="166688"/>
                  <a:pt x="68264" y="166688"/>
                </a:cubicBezTo>
                <a:lnTo>
                  <a:pt x="848593" y="166688"/>
                </a:ln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7" name="TextBox 6"/>
          <p:cNvSpPr txBox="1"/>
          <p:nvPr/>
        </p:nvSpPr>
        <p:spPr>
          <a:xfrm>
            <a:off x="834501" y="4470535"/>
            <a:ext cx="2082190" cy="338554"/>
          </a:xfrm>
          <a:prstGeom prst="rect">
            <a:avLst/>
          </a:prstGeom>
          <a:noFill/>
        </p:spPr>
        <p:txBody>
          <a:bodyPr wrap="square" rtlCol="0">
            <a:spAutoFit/>
          </a:bodyPr>
          <a:lstStyle/>
          <a:p>
            <a:pPr algn="ctr" rtl="1"/>
            <a:r>
              <a:rPr lang="ar-EG" sz="1600" b="1" dirty="0">
                <a:solidFill>
                  <a:schemeClr val="accent1"/>
                </a:solidFill>
                <a:latin typeface="DIN Next LT Arabic Light" panose="020B0303020203050203" pitchFamily="34" charset="-78"/>
                <a:cs typeface="DIN Next LT Arabic Light" panose="020B0303020203050203" pitchFamily="34" charset="-78"/>
              </a:rPr>
              <a:t>التخطيط والدراسة القانونية</a:t>
            </a:r>
          </a:p>
        </p:txBody>
      </p:sp>
      <p:sp>
        <p:nvSpPr>
          <p:cNvPr id="8" name="TextBox 7"/>
          <p:cNvSpPr txBox="1"/>
          <p:nvPr/>
        </p:nvSpPr>
        <p:spPr>
          <a:xfrm>
            <a:off x="874450" y="4784609"/>
            <a:ext cx="2002291" cy="954107"/>
          </a:xfrm>
          <a:prstGeom prst="rect">
            <a:avLst/>
          </a:prstGeom>
          <a:noFill/>
        </p:spPr>
        <p:txBody>
          <a:bodyPr wrap="square" rtlCol="0">
            <a:spAutoFit/>
          </a:bodyPr>
          <a:lstStyle/>
          <a:p>
            <a:pPr algn="ctr" rtl="1"/>
            <a:r>
              <a:rPr lang="ar-EG" sz="1400" dirty="0">
                <a:solidFill>
                  <a:schemeClr val="tx2"/>
                </a:solidFill>
                <a:latin typeface="DIN Next LT Arabic Light" panose="020B0303020203050203" pitchFamily="34" charset="-78"/>
                <a:cs typeface="DIN Next LT Arabic Light" panose="020B0303020203050203" pitchFamily="34" charset="-78"/>
              </a:rPr>
              <a:t>ضبط الشروط القانونية والامتثال للتشريع الجبائي الجزائري، مع تحديد المتطلبات البرمجية الأساسية للمنصة.</a:t>
            </a:r>
          </a:p>
        </p:txBody>
      </p:sp>
      <p:sp>
        <p:nvSpPr>
          <p:cNvPr id="9" name="TextBox 8"/>
          <p:cNvSpPr txBox="1"/>
          <p:nvPr/>
        </p:nvSpPr>
        <p:spPr>
          <a:xfrm>
            <a:off x="5133107" y="4470535"/>
            <a:ext cx="1925786" cy="338554"/>
          </a:xfrm>
          <a:prstGeom prst="rect">
            <a:avLst/>
          </a:prstGeom>
          <a:noFill/>
        </p:spPr>
        <p:txBody>
          <a:bodyPr wrap="square" rtlCol="0">
            <a:spAutoFit/>
          </a:bodyPr>
          <a:lstStyle/>
          <a:p>
            <a:pPr algn="ctr" rtl="1"/>
            <a:r>
              <a:rPr lang="ar-EG" sz="1600" b="1" dirty="0">
                <a:solidFill>
                  <a:schemeClr val="accent3"/>
                </a:solidFill>
                <a:latin typeface="DIN Next LT Arabic Light" panose="020B0303020203050203" pitchFamily="34" charset="-78"/>
                <a:cs typeface="DIN Next LT Arabic Light" panose="020B0303020203050203" pitchFamily="34" charset="-78"/>
              </a:rPr>
              <a:t>الإطلاق التجريبي والتدقيق</a:t>
            </a:r>
          </a:p>
        </p:txBody>
      </p:sp>
      <p:sp>
        <p:nvSpPr>
          <p:cNvPr id="10" name="TextBox 9"/>
          <p:cNvSpPr txBox="1"/>
          <p:nvPr/>
        </p:nvSpPr>
        <p:spPr>
          <a:xfrm>
            <a:off x="5133107" y="4749326"/>
            <a:ext cx="1925786" cy="954107"/>
          </a:xfrm>
          <a:prstGeom prst="rect">
            <a:avLst/>
          </a:prstGeom>
          <a:noFill/>
        </p:spPr>
        <p:txBody>
          <a:bodyPr wrap="square" rtlCol="0">
            <a:spAutoFit/>
          </a:bodyPr>
          <a:lstStyle/>
          <a:p>
            <a:pPr algn="ctr" rtl="1"/>
            <a:r>
              <a:rPr lang="ar-EG" sz="1400" dirty="0">
                <a:solidFill>
                  <a:schemeClr val="tx2"/>
                </a:solidFill>
                <a:latin typeface="DIN Next LT Arabic Light" panose="020B0303020203050203" pitchFamily="34" charset="-78"/>
                <a:cs typeface="DIN Next LT Arabic Light" panose="020B0303020203050203" pitchFamily="34" charset="-78"/>
              </a:rPr>
              <a:t>إطلاق نسخة تجريبية مع 10 إلى 20 مؤسسة مصغرة بتيارت لفحص دقة النظام وتصفير الأخطاء.</a:t>
            </a:r>
          </a:p>
        </p:txBody>
      </p:sp>
      <p:sp>
        <p:nvSpPr>
          <p:cNvPr id="11" name="TextBox 10"/>
          <p:cNvSpPr txBox="1"/>
          <p:nvPr/>
        </p:nvSpPr>
        <p:spPr>
          <a:xfrm>
            <a:off x="9275309" y="4470535"/>
            <a:ext cx="1925786" cy="338554"/>
          </a:xfrm>
          <a:prstGeom prst="rect">
            <a:avLst/>
          </a:prstGeom>
          <a:noFill/>
        </p:spPr>
        <p:txBody>
          <a:bodyPr wrap="square" rtlCol="0">
            <a:spAutoFit/>
          </a:bodyPr>
          <a:lstStyle/>
          <a:p>
            <a:pPr algn="ctr" rtl="1"/>
            <a:r>
              <a:rPr lang="ar-EG" sz="1600" b="1" dirty="0">
                <a:solidFill>
                  <a:schemeClr val="accent5"/>
                </a:solidFill>
                <a:latin typeface="DIN Next LT Arabic Light" panose="020B0303020203050203" pitchFamily="34" charset="-78"/>
                <a:cs typeface="DIN Next LT Arabic Light" panose="020B0303020203050203" pitchFamily="34" charset="-78"/>
              </a:rPr>
              <a:t>التوسع والامتياز التجاري</a:t>
            </a:r>
          </a:p>
        </p:txBody>
      </p:sp>
      <p:sp>
        <p:nvSpPr>
          <p:cNvPr id="12" name="TextBox 11"/>
          <p:cNvSpPr txBox="1"/>
          <p:nvPr/>
        </p:nvSpPr>
        <p:spPr>
          <a:xfrm>
            <a:off x="9275309" y="4749326"/>
            <a:ext cx="1925786" cy="954107"/>
          </a:xfrm>
          <a:prstGeom prst="rect">
            <a:avLst/>
          </a:prstGeom>
          <a:noFill/>
        </p:spPr>
        <p:txBody>
          <a:bodyPr wrap="square" rtlCol="0">
            <a:spAutoFit/>
          </a:bodyPr>
          <a:lstStyle/>
          <a:p>
            <a:pPr algn="ctr" rtl="1"/>
            <a:r>
              <a:rPr lang="ar-EG" sz="1400" dirty="0">
                <a:solidFill>
                  <a:schemeClr val="tx2"/>
                </a:solidFill>
                <a:latin typeface="DIN Next LT Arabic Light" panose="020B0303020203050203" pitchFamily="34" charset="-78"/>
                <a:cs typeface="DIN Next LT Arabic Light" panose="020B0303020203050203" pitchFamily="34" charset="-78"/>
              </a:rPr>
              <a:t>تطوير النظام عبر دمج تقنيات التنبؤ، وبناء شبكة مكاتب شريكة للتوسع من النطاق المحلي إلى الوطني.</a:t>
            </a:r>
          </a:p>
        </p:txBody>
      </p:sp>
      <p:sp>
        <p:nvSpPr>
          <p:cNvPr id="13" name="TextBox 12"/>
          <p:cNvSpPr txBox="1"/>
          <p:nvPr/>
        </p:nvSpPr>
        <p:spPr>
          <a:xfrm>
            <a:off x="7204208" y="1914780"/>
            <a:ext cx="1925786" cy="338554"/>
          </a:xfrm>
          <a:prstGeom prst="rect">
            <a:avLst/>
          </a:prstGeom>
          <a:noFill/>
        </p:spPr>
        <p:txBody>
          <a:bodyPr wrap="square" rtlCol="0">
            <a:spAutoFit/>
          </a:bodyPr>
          <a:lstStyle/>
          <a:p>
            <a:pPr algn="ctr" rtl="1"/>
            <a:r>
              <a:rPr lang="ar-EG" sz="1600" b="1" dirty="0">
                <a:solidFill>
                  <a:schemeClr val="accent4"/>
                </a:solidFill>
                <a:latin typeface="DIN Next LT Arabic Light" panose="020B0303020203050203" pitchFamily="34" charset="-78"/>
                <a:cs typeface="DIN Next LT Arabic Light" panose="020B0303020203050203" pitchFamily="34" charset="-78"/>
              </a:rPr>
              <a:t>الإطلاق الرسمي والتسويق</a:t>
            </a:r>
          </a:p>
        </p:txBody>
      </p:sp>
      <p:sp>
        <p:nvSpPr>
          <p:cNvPr id="14" name="TextBox 13"/>
          <p:cNvSpPr txBox="1"/>
          <p:nvPr/>
        </p:nvSpPr>
        <p:spPr>
          <a:xfrm>
            <a:off x="6980057" y="2170066"/>
            <a:ext cx="2374087" cy="738664"/>
          </a:xfrm>
          <a:prstGeom prst="rect">
            <a:avLst/>
          </a:prstGeom>
          <a:noFill/>
        </p:spPr>
        <p:txBody>
          <a:bodyPr wrap="square" rtlCol="0">
            <a:spAutoFit/>
          </a:bodyPr>
          <a:lstStyle/>
          <a:p>
            <a:pPr algn="ctr" rtl="1"/>
            <a:r>
              <a:rPr lang="ar-EG" sz="1400" dirty="0">
                <a:solidFill>
                  <a:schemeClr val="tx2"/>
                </a:solidFill>
                <a:latin typeface="DIN Next LT Arabic Light" panose="020B0303020203050203" pitchFamily="34" charset="-78"/>
                <a:cs typeface="DIN Next LT Arabic Light" panose="020B0303020203050203" pitchFamily="34" charset="-78"/>
              </a:rPr>
              <a:t>فتح المنصة للعموم، وبدء الحملات الترويجية مستهدفةً استقطاب 400 عميل، والوصول لنقطة التعادل المالي.</a:t>
            </a:r>
          </a:p>
        </p:txBody>
      </p:sp>
      <p:sp>
        <p:nvSpPr>
          <p:cNvPr id="15" name="TextBox 14"/>
          <p:cNvSpPr txBox="1"/>
          <p:nvPr/>
        </p:nvSpPr>
        <p:spPr>
          <a:xfrm>
            <a:off x="3062005" y="1965003"/>
            <a:ext cx="2071101" cy="338554"/>
          </a:xfrm>
          <a:prstGeom prst="rect">
            <a:avLst/>
          </a:prstGeom>
          <a:noFill/>
        </p:spPr>
        <p:txBody>
          <a:bodyPr wrap="square" rtlCol="0">
            <a:spAutoFit/>
          </a:bodyPr>
          <a:lstStyle/>
          <a:p>
            <a:pPr algn="ctr" rtl="1"/>
            <a:r>
              <a:rPr lang="ar-EG" sz="1600" b="1" dirty="0">
                <a:solidFill>
                  <a:schemeClr val="accent2"/>
                </a:solidFill>
                <a:latin typeface="DIN Next LT Arabic Light" panose="020B0303020203050203" pitchFamily="34" charset="-78"/>
                <a:cs typeface="DIN Next LT Arabic Light" panose="020B0303020203050203" pitchFamily="34" charset="-78"/>
              </a:rPr>
              <a:t>التطوير التقني وبناء المنصة</a:t>
            </a:r>
          </a:p>
        </p:txBody>
      </p:sp>
      <p:sp>
        <p:nvSpPr>
          <p:cNvPr id="16" name="TextBox 15"/>
          <p:cNvSpPr txBox="1"/>
          <p:nvPr/>
        </p:nvSpPr>
        <p:spPr>
          <a:xfrm>
            <a:off x="2942595" y="2253334"/>
            <a:ext cx="2164608" cy="738664"/>
          </a:xfrm>
          <a:prstGeom prst="rect">
            <a:avLst/>
          </a:prstGeom>
          <a:noFill/>
        </p:spPr>
        <p:txBody>
          <a:bodyPr wrap="square" rtlCol="0">
            <a:spAutoFit/>
          </a:bodyPr>
          <a:lstStyle/>
          <a:p>
            <a:pPr algn="ctr" rtl="1"/>
            <a:r>
              <a:rPr lang="ar-EG" sz="1400" dirty="0">
                <a:solidFill>
                  <a:schemeClr val="tx2"/>
                </a:solidFill>
                <a:latin typeface="DIN Next LT Arabic Light" panose="020B0303020203050203" pitchFamily="34" charset="-78"/>
                <a:cs typeface="DIN Next LT Arabic Light" panose="020B0303020203050203" pitchFamily="34" charset="-78"/>
              </a:rPr>
              <a:t>برمجة لوحة التحكم، أتمتة حسابات تصاريح </a:t>
            </a:r>
            <a:r>
              <a:rPr lang="fr-FR" sz="1400" dirty="0">
                <a:solidFill>
                  <a:schemeClr val="tx2"/>
                </a:solidFill>
                <a:latin typeface="DIN Next LT Arabic Light" panose="020B0303020203050203" pitchFamily="34" charset="-78"/>
                <a:cs typeface="DIN Next LT Arabic Light" panose="020B0303020203050203" pitchFamily="34" charset="-78"/>
              </a:rPr>
              <a:t>G50، </a:t>
            </a:r>
            <a:r>
              <a:rPr lang="ar-EG" sz="1400" dirty="0">
                <a:solidFill>
                  <a:schemeClr val="tx2"/>
                </a:solidFill>
                <a:latin typeface="DIN Next LT Arabic Light" panose="020B0303020203050203" pitchFamily="34" charset="-78"/>
                <a:cs typeface="DIN Next LT Arabic Light" panose="020B0303020203050203" pitchFamily="34" charset="-78"/>
              </a:rPr>
              <a:t>ودمج نظام التنبيهات الذكي والأرشفة السحابية.</a:t>
            </a:r>
          </a:p>
        </p:txBody>
      </p:sp>
      <p:sp>
        <p:nvSpPr>
          <p:cNvPr id="17" name="TextBox 16"/>
          <p:cNvSpPr txBox="1"/>
          <p:nvPr/>
        </p:nvSpPr>
        <p:spPr>
          <a:xfrm>
            <a:off x="1416769" y="3993481"/>
            <a:ext cx="1074058" cy="646331"/>
          </a:xfrm>
          <a:prstGeom prst="rect">
            <a:avLst/>
          </a:prstGeom>
          <a:noFill/>
        </p:spPr>
        <p:txBody>
          <a:bodyPr wrap="square" rtlCol="0">
            <a:spAutoFit/>
          </a:bodyPr>
          <a:lstStyle/>
          <a:p>
            <a:pPr algn="ctr" rtl="1"/>
            <a:r>
              <a:rPr lang="en-ID" sz="3600" dirty="0">
                <a:solidFill>
                  <a:schemeClr val="accent1"/>
                </a:solidFill>
                <a:latin typeface="DIN Next LT Arabic Light" panose="020B0303020203050203" pitchFamily="34" charset="-78"/>
                <a:cs typeface="DIN Next LT Arabic Light" panose="020B0303020203050203" pitchFamily="34" charset="-78"/>
              </a:rPr>
              <a:t>01</a:t>
            </a:r>
          </a:p>
        </p:txBody>
      </p:sp>
      <p:sp>
        <p:nvSpPr>
          <p:cNvPr id="18" name="TextBox 17"/>
          <p:cNvSpPr txBox="1"/>
          <p:nvPr/>
        </p:nvSpPr>
        <p:spPr>
          <a:xfrm>
            <a:off x="5558971" y="3993481"/>
            <a:ext cx="1074058" cy="646331"/>
          </a:xfrm>
          <a:prstGeom prst="rect">
            <a:avLst/>
          </a:prstGeom>
          <a:noFill/>
        </p:spPr>
        <p:txBody>
          <a:bodyPr wrap="square" rtlCol="0">
            <a:spAutoFit/>
          </a:bodyPr>
          <a:lstStyle/>
          <a:p>
            <a:pPr algn="ctr" rtl="1"/>
            <a:r>
              <a:rPr lang="en-ID" sz="3600" dirty="0">
                <a:solidFill>
                  <a:schemeClr val="accent3"/>
                </a:solidFill>
                <a:latin typeface="DIN Next LT Arabic Light" panose="020B0303020203050203" pitchFamily="34" charset="-78"/>
                <a:cs typeface="DIN Next LT Arabic Light" panose="020B0303020203050203" pitchFamily="34" charset="-78"/>
              </a:rPr>
              <a:t>03</a:t>
            </a:r>
          </a:p>
        </p:txBody>
      </p:sp>
      <p:sp>
        <p:nvSpPr>
          <p:cNvPr id="19" name="TextBox 18"/>
          <p:cNvSpPr txBox="1"/>
          <p:nvPr/>
        </p:nvSpPr>
        <p:spPr>
          <a:xfrm>
            <a:off x="9701173" y="3993481"/>
            <a:ext cx="1074058" cy="646331"/>
          </a:xfrm>
          <a:prstGeom prst="rect">
            <a:avLst/>
          </a:prstGeom>
          <a:noFill/>
        </p:spPr>
        <p:txBody>
          <a:bodyPr wrap="square" rtlCol="0">
            <a:spAutoFit/>
          </a:bodyPr>
          <a:lstStyle/>
          <a:p>
            <a:pPr algn="ctr" rtl="1"/>
            <a:r>
              <a:rPr lang="en-ID" sz="3600" dirty="0">
                <a:solidFill>
                  <a:schemeClr val="accent5"/>
                </a:solidFill>
                <a:latin typeface="DIN Next LT Arabic Light" panose="020B0303020203050203" pitchFamily="34" charset="-78"/>
                <a:cs typeface="DIN Next LT Arabic Light" panose="020B0303020203050203" pitchFamily="34" charset="-78"/>
              </a:rPr>
              <a:t>05</a:t>
            </a:r>
          </a:p>
        </p:txBody>
      </p:sp>
      <p:sp>
        <p:nvSpPr>
          <p:cNvPr id="20" name="TextBox 19"/>
          <p:cNvSpPr txBox="1"/>
          <p:nvPr/>
        </p:nvSpPr>
        <p:spPr>
          <a:xfrm>
            <a:off x="7630072" y="2865936"/>
            <a:ext cx="1074058" cy="646331"/>
          </a:xfrm>
          <a:prstGeom prst="rect">
            <a:avLst/>
          </a:prstGeom>
          <a:noFill/>
        </p:spPr>
        <p:txBody>
          <a:bodyPr wrap="square" rtlCol="0">
            <a:spAutoFit/>
          </a:bodyPr>
          <a:lstStyle/>
          <a:p>
            <a:pPr algn="ctr" rtl="1"/>
            <a:r>
              <a:rPr lang="en-ID" sz="3600" dirty="0">
                <a:solidFill>
                  <a:schemeClr val="accent4"/>
                </a:solidFill>
                <a:latin typeface="DIN Next LT Arabic Light" panose="020B0303020203050203" pitchFamily="34" charset="-78"/>
                <a:cs typeface="DIN Next LT Arabic Light" panose="020B0303020203050203" pitchFamily="34" charset="-78"/>
              </a:rPr>
              <a:t>04</a:t>
            </a:r>
          </a:p>
        </p:txBody>
      </p:sp>
      <p:sp>
        <p:nvSpPr>
          <p:cNvPr id="21" name="TextBox 20"/>
          <p:cNvSpPr txBox="1"/>
          <p:nvPr/>
        </p:nvSpPr>
        <p:spPr>
          <a:xfrm>
            <a:off x="3487870" y="2865936"/>
            <a:ext cx="1074058" cy="646331"/>
          </a:xfrm>
          <a:prstGeom prst="rect">
            <a:avLst/>
          </a:prstGeom>
          <a:noFill/>
        </p:spPr>
        <p:txBody>
          <a:bodyPr wrap="square" rtlCol="0">
            <a:spAutoFit/>
          </a:bodyPr>
          <a:lstStyle/>
          <a:p>
            <a:pPr algn="ctr" rtl="1"/>
            <a:r>
              <a:rPr lang="en-ID" sz="3600" dirty="0">
                <a:solidFill>
                  <a:schemeClr val="accent2"/>
                </a:solidFill>
                <a:latin typeface="DIN Next LT Arabic Light" panose="020B0303020203050203" pitchFamily="34" charset="-78"/>
                <a:cs typeface="DIN Next LT Arabic Light" panose="020B0303020203050203" pitchFamily="34" charset="-78"/>
              </a:rPr>
              <a:t>02</a:t>
            </a:r>
          </a:p>
        </p:txBody>
      </p:sp>
      <p:sp>
        <p:nvSpPr>
          <p:cNvPr id="22" name="Freeform 21"/>
          <p:cNvSpPr>
            <a:spLocks noEditPoints="1"/>
          </p:cNvSpPr>
          <p:nvPr/>
        </p:nvSpPr>
        <p:spPr bwMode="auto">
          <a:xfrm>
            <a:off x="9656633" y="2347606"/>
            <a:ext cx="1163138" cy="975378"/>
          </a:xfrm>
          <a:custGeom>
            <a:avLst/>
            <a:gdLst>
              <a:gd name="T0" fmla="*/ 58 w 202"/>
              <a:gd name="T1" fmla="*/ 129 h 169"/>
              <a:gd name="T2" fmla="*/ 61 w 202"/>
              <a:gd name="T3" fmla="*/ 121 h 169"/>
              <a:gd name="T4" fmla="*/ 54 w 202"/>
              <a:gd name="T5" fmla="*/ 108 h 169"/>
              <a:gd name="T6" fmla="*/ 57 w 202"/>
              <a:gd name="T7" fmla="*/ 99 h 169"/>
              <a:gd name="T8" fmla="*/ 54 w 202"/>
              <a:gd name="T9" fmla="*/ 90 h 169"/>
              <a:gd name="T10" fmla="*/ 61 w 202"/>
              <a:gd name="T11" fmla="*/ 77 h 169"/>
              <a:gd name="T12" fmla="*/ 57 w 202"/>
              <a:gd name="T13" fmla="*/ 67 h 169"/>
              <a:gd name="T14" fmla="*/ 62 w 202"/>
              <a:gd name="T15" fmla="*/ 71 h 169"/>
              <a:gd name="T16" fmla="*/ 67 w 202"/>
              <a:gd name="T17" fmla="*/ 98 h 169"/>
              <a:gd name="T18" fmla="*/ 80 w 202"/>
              <a:gd name="T19" fmla="*/ 113 h 169"/>
              <a:gd name="T20" fmla="*/ 71 w 202"/>
              <a:gd name="T21" fmla="*/ 92 h 169"/>
              <a:gd name="T22" fmla="*/ 71 w 202"/>
              <a:gd name="T23" fmla="*/ 67 h 169"/>
              <a:gd name="T24" fmla="*/ 59 w 202"/>
              <a:gd name="T25" fmla="*/ 29 h 169"/>
              <a:gd name="T26" fmla="*/ 69 w 202"/>
              <a:gd name="T27" fmla="*/ 4 h 169"/>
              <a:gd name="T28" fmla="*/ 80 w 202"/>
              <a:gd name="T29" fmla="*/ 21 h 169"/>
              <a:gd name="T30" fmla="*/ 101 w 202"/>
              <a:gd name="T31" fmla="*/ 48 h 169"/>
              <a:gd name="T32" fmla="*/ 123 w 202"/>
              <a:gd name="T33" fmla="*/ 70 h 169"/>
              <a:gd name="T34" fmla="*/ 142 w 202"/>
              <a:gd name="T35" fmla="*/ 73 h 169"/>
              <a:gd name="T36" fmla="*/ 142 w 202"/>
              <a:gd name="T37" fmla="*/ 147 h 169"/>
              <a:gd name="T38" fmla="*/ 131 w 202"/>
              <a:gd name="T39" fmla="*/ 147 h 169"/>
              <a:gd name="T40" fmla="*/ 116 w 202"/>
              <a:gd name="T41" fmla="*/ 151 h 169"/>
              <a:gd name="T42" fmla="*/ 105 w 202"/>
              <a:gd name="T43" fmla="*/ 149 h 169"/>
              <a:gd name="T44" fmla="*/ 77 w 202"/>
              <a:gd name="T45" fmla="*/ 154 h 169"/>
              <a:gd name="T46" fmla="*/ 60 w 202"/>
              <a:gd name="T47" fmla="*/ 154 h 169"/>
              <a:gd name="T48" fmla="*/ 65 w 202"/>
              <a:gd name="T49" fmla="*/ 143 h 169"/>
              <a:gd name="T50" fmla="*/ 58 w 202"/>
              <a:gd name="T51" fmla="*/ 129 h 169"/>
              <a:gd name="T52" fmla="*/ 12 w 202"/>
              <a:gd name="T53" fmla="*/ 110 h 169"/>
              <a:gd name="T54" fmla="*/ 13 w 202"/>
              <a:gd name="T55" fmla="*/ 110 h 169"/>
              <a:gd name="T56" fmla="*/ 4 w 202"/>
              <a:gd name="T57" fmla="*/ 121 h 169"/>
              <a:gd name="T58" fmla="*/ 16 w 202"/>
              <a:gd name="T59" fmla="*/ 132 h 169"/>
              <a:gd name="T60" fmla="*/ 21 w 202"/>
              <a:gd name="T61" fmla="*/ 132 h 169"/>
              <a:gd name="T62" fmla="*/ 12 w 202"/>
              <a:gd name="T63" fmla="*/ 143 h 169"/>
              <a:gd name="T64" fmla="*/ 24 w 202"/>
              <a:gd name="T65" fmla="*/ 154 h 169"/>
              <a:gd name="T66" fmla="*/ 36 w 202"/>
              <a:gd name="T67" fmla="*/ 154 h 169"/>
              <a:gd name="T68" fmla="*/ 47 w 202"/>
              <a:gd name="T69" fmla="*/ 154 h 169"/>
              <a:gd name="T70" fmla="*/ 59 w 202"/>
              <a:gd name="T71" fmla="*/ 143 h 169"/>
              <a:gd name="T72" fmla="*/ 47 w 202"/>
              <a:gd name="T73" fmla="*/ 132 h 169"/>
              <a:gd name="T74" fmla="*/ 45 w 202"/>
              <a:gd name="T75" fmla="*/ 132 h 169"/>
              <a:gd name="T76" fmla="*/ 55 w 202"/>
              <a:gd name="T77" fmla="*/ 121 h 169"/>
              <a:gd name="T78" fmla="*/ 43 w 202"/>
              <a:gd name="T79" fmla="*/ 110 h 169"/>
              <a:gd name="T80" fmla="*/ 41 w 202"/>
              <a:gd name="T81" fmla="*/ 110 h 169"/>
              <a:gd name="T82" fmla="*/ 51 w 202"/>
              <a:gd name="T83" fmla="*/ 99 h 169"/>
              <a:gd name="T84" fmla="*/ 41 w 202"/>
              <a:gd name="T85" fmla="*/ 88 h 169"/>
              <a:gd name="T86" fmla="*/ 43 w 202"/>
              <a:gd name="T87" fmla="*/ 88 h 169"/>
              <a:gd name="T88" fmla="*/ 55 w 202"/>
              <a:gd name="T89" fmla="*/ 77 h 169"/>
              <a:gd name="T90" fmla="*/ 44 w 202"/>
              <a:gd name="T91" fmla="*/ 66 h 169"/>
              <a:gd name="T92" fmla="*/ 20 w 202"/>
              <a:gd name="T93" fmla="*/ 66 h 169"/>
              <a:gd name="T94" fmla="*/ 8 w 202"/>
              <a:gd name="T95" fmla="*/ 77 h 169"/>
              <a:gd name="T96" fmla="*/ 18 w 202"/>
              <a:gd name="T97" fmla="*/ 88 h 169"/>
              <a:gd name="T98" fmla="*/ 12 w 202"/>
              <a:gd name="T99" fmla="*/ 88 h 169"/>
              <a:gd name="T100" fmla="*/ 0 w 202"/>
              <a:gd name="T101" fmla="*/ 99 h 169"/>
              <a:gd name="T102" fmla="*/ 12 w 202"/>
              <a:gd name="T103" fmla="*/ 110 h 169"/>
              <a:gd name="T104" fmla="*/ 202 w 202"/>
              <a:gd name="T105" fmla="*/ 169 h 169"/>
              <a:gd name="T106" fmla="*/ 149 w 202"/>
              <a:gd name="T107" fmla="*/ 169 h 169"/>
              <a:gd name="T108" fmla="*/ 149 w 202"/>
              <a:gd name="T109" fmla="*/ 67 h 169"/>
              <a:gd name="T110" fmla="*/ 202 w 202"/>
              <a:gd name="T111" fmla="*/ 67 h 169"/>
              <a:gd name="T112" fmla="*/ 202 w 202"/>
              <a:gd name="T113" fmla="*/ 169 h 169"/>
              <a:gd name="T114" fmla="*/ 164 w 202"/>
              <a:gd name="T115" fmla="*/ 146 h 169"/>
              <a:gd name="T116" fmla="*/ 158 w 202"/>
              <a:gd name="T117" fmla="*/ 153 h 169"/>
              <a:gd name="T118" fmla="*/ 164 w 202"/>
              <a:gd name="T119" fmla="*/ 159 h 169"/>
              <a:gd name="T120" fmla="*/ 170 w 202"/>
              <a:gd name="T121" fmla="*/ 153 h 169"/>
              <a:gd name="T122" fmla="*/ 164 w 202"/>
              <a:gd name="T123" fmla="*/ 146 h 1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202" h="169">
                <a:moveTo>
                  <a:pt x="58" y="129"/>
                </a:moveTo>
                <a:cubicBezTo>
                  <a:pt x="60" y="127"/>
                  <a:pt x="61" y="124"/>
                  <a:pt x="61" y="121"/>
                </a:cubicBezTo>
                <a:cubicBezTo>
                  <a:pt x="61" y="115"/>
                  <a:pt x="58" y="111"/>
                  <a:pt x="54" y="108"/>
                </a:cubicBezTo>
                <a:cubicBezTo>
                  <a:pt x="56" y="105"/>
                  <a:pt x="57" y="102"/>
                  <a:pt x="57" y="99"/>
                </a:cubicBezTo>
                <a:cubicBezTo>
                  <a:pt x="57" y="96"/>
                  <a:pt x="56" y="93"/>
                  <a:pt x="54" y="90"/>
                </a:cubicBezTo>
                <a:cubicBezTo>
                  <a:pt x="58" y="87"/>
                  <a:pt x="61" y="82"/>
                  <a:pt x="61" y="77"/>
                </a:cubicBezTo>
                <a:cubicBezTo>
                  <a:pt x="61" y="73"/>
                  <a:pt x="59" y="69"/>
                  <a:pt x="57" y="67"/>
                </a:cubicBezTo>
                <a:cubicBezTo>
                  <a:pt x="59" y="68"/>
                  <a:pt x="61" y="69"/>
                  <a:pt x="62" y="71"/>
                </a:cubicBezTo>
                <a:cubicBezTo>
                  <a:pt x="67" y="80"/>
                  <a:pt x="65" y="89"/>
                  <a:pt x="67" y="98"/>
                </a:cubicBezTo>
                <a:cubicBezTo>
                  <a:pt x="69" y="107"/>
                  <a:pt x="80" y="113"/>
                  <a:pt x="80" y="113"/>
                </a:cubicBezTo>
                <a:cubicBezTo>
                  <a:pt x="80" y="113"/>
                  <a:pt x="72" y="104"/>
                  <a:pt x="71" y="92"/>
                </a:cubicBezTo>
                <a:cubicBezTo>
                  <a:pt x="71" y="83"/>
                  <a:pt x="73" y="77"/>
                  <a:pt x="71" y="67"/>
                </a:cubicBezTo>
                <a:cubicBezTo>
                  <a:pt x="70" y="63"/>
                  <a:pt x="59" y="41"/>
                  <a:pt x="59" y="29"/>
                </a:cubicBezTo>
                <a:cubicBezTo>
                  <a:pt x="58" y="18"/>
                  <a:pt x="59" y="7"/>
                  <a:pt x="69" y="4"/>
                </a:cubicBezTo>
                <a:cubicBezTo>
                  <a:pt x="79" y="0"/>
                  <a:pt x="78" y="15"/>
                  <a:pt x="80" y="21"/>
                </a:cubicBezTo>
                <a:cubicBezTo>
                  <a:pt x="87" y="36"/>
                  <a:pt x="96" y="42"/>
                  <a:pt x="101" y="48"/>
                </a:cubicBezTo>
                <a:cubicBezTo>
                  <a:pt x="106" y="55"/>
                  <a:pt x="113" y="64"/>
                  <a:pt x="123" y="70"/>
                </a:cubicBezTo>
                <a:cubicBezTo>
                  <a:pt x="129" y="75"/>
                  <a:pt x="138" y="74"/>
                  <a:pt x="142" y="73"/>
                </a:cubicBezTo>
                <a:cubicBezTo>
                  <a:pt x="142" y="147"/>
                  <a:pt x="142" y="147"/>
                  <a:pt x="142" y="147"/>
                </a:cubicBezTo>
                <a:cubicBezTo>
                  <a:pt x="131" y="147"/>
                  <a:pt x="131" y="147"/>
                  <a:pt x="131" y="147"/>
                </a:cubicBezTo>
                <a:cubicBezTo>
                  <a:pt x="127" y="147"/>
                  <a:pt x="120" y="151"/>
                  <a:pt x="116" y="151"/>
                </a:cubicBezTo>
                <a:cubicBezTo>
                  <a:pt x="112" y="151"/>
                  <a:pt x="111" y="149"/>
                  <a:pt x="105" y="149"/>
                </a:cubicBezTo>
                <a:cubicBezTo>
                  <a:pt x="100" y="149"/>
                  <a:pt x="83" y="154"/>
                  <a:pt x="77" y="154"/>
                </a:cubicBezTo>
                <a:cubicBezTo>
                  <a:pt x="60" y="154"/>
                  <a:pt x="60" y="154"/>
                  <a:pt x="60" y="154"/>
                </a:cubicBezTo>
                <a:cubicBezTo>
                  <a:pt x="63" y="151"/>
                  <a:pt x="65" y="147"/>
                  <a:pt x="65" y="143"/>
                </a:cubicBezTo>
                <a:cubicBezTo>
                  <a:pt x="65" y="137"/>
                  <a:pt x="62" y="133"/>
                  <a:pt x="58" y="129"/>
                </a:cubicBezTo>
                <a:moveTo>
                  <a:pt x="12" y="110"/>
                </a:moveTo>
                <a:cubicBezTo>
                  <a:pt x="13" y="110"/>
                  <a:pt x="13" y="110"/>
                  <a:pt x="13" y="110"/>
                </a:cubicBezTo>
                <a:cubicBezTo>
                  <a:pt x="8" y="111"/>
                  <a:pt x="4" y="115"/>
                  <a:pt x="4" y="121"/>
                </a:cubicBezTo>
                <a:cubicBezTo>
                  <a:pt x="4" y="127"/>
                  <a:pt x="9" y="132"/>
                  <a:pt x="16" y="132"/>
                </a:cubicBezTo>
                <a:cubicBezTo>
                  <a:pt x="21" y="132"/>
                  <a:pt x="21" y="132"/>
                  <a:pt x="21" y="132"/>
                </a:cubicBezTo>
                <a:cubicBezTo>
                  <a:pt x="16" y="133"/>
                  <a:pt x="12" y="137"/>
                  <a:pt x="12" y="143"/>
                </a:cubicBezTo>
                <a:cubicBezTo>
                  <a:pt x="12" y="149"/>
                  <a:pt x="17" y="154"/>
                  <a:pt x="24" y="154"/>
                </a:cubicBezTo>
                <a:cubicBezTo>
                  <a:pt x="36" y="154"/>
                  <a:pt x="36" y="154"/>
                  <a:pt x="36" y="154"/>
                </a:cubicBezTo>
                <a:cubicBezTo>
                  <a:pt x="47" y="154"/>
                  <a:pt x="47" y="154"/>
                  <a:pt x="47" y="154"/>
                </a:cubicBezTo>
                <a:cubicBezTo>
                  <a:pt x="53" y="154"/>
                  <a:pt x="59" y="149"/>
                  <a:pt x="59" y="143"/>
                </a:cubicBezTo>
                <a:cubicBezTo>
                  <a:pt x="59" y="137"/>
                  <a:pt x="53" y="132"/>
                  <a:pt x="47" y="132"/>
                </a:cubicBezTo>
                <a:cubicBezTo>
                  <a:pt x="45" y="132"/>
                  <a:pt x="45" y="132"/>
                  <a:pt x="45" y="132"/>
                </a:cubicBezTo>
                <a:cubicBezTo>
                  <a:pt x="50" y="130"/>
                  <a:pt x="55" y="126"/>
                  <a:pt x="55" y="121"/>
                </a:cubicBezTo>
                <a:cubicBezTo>
                  <a:pt x="55" y="115"/>
                  <a:pt x="49" y="110"/>
                  <a:pt x="43" y="110"/>
                </a:cubicBezTo>
                <a:cubicBezTo>
                  <a:pt x="41" y="110"/>
                  <a:pt x="41" y="110"/>
                  <a:pt x="41" y="110"/>
                </a:cubicBezTo>
                <a:cubicBezTo>
                  <a:pt x="46" y="109"/>
                  <a:pt x="51" y="104"/>
                  <a:pt x="51" y="99"/>
                </a:cubicBezTo>
                <a:cubicBezTo>
                  <a:pt x="51" y="94"/>
                  <a:pt x="46" y="89"/>
                  <a:pt x="41" y="88"/>
                </a:cubicBezTo>
                <a:cubicBezTo>
                  <a:pt x="43" y="88"/>
                  <a:pt x="43" y="88"/>
                  <a:pt x="43" y="88"/>
                </a:cubicBezTo>
                <a:cubicBezTo>
                  <a:pt x="49" y="88"/>
                  <a:pt x="55" y="83"/>
                  <a:pt x="55" y="77"/>
                </a:cubicBezTo>
                <a:cubicBezTo>
                  <a:pt x="55" y="71"/>
                  <a:pt x="50" y="66"/>
                  <a:pt x="44" y="66"/>
                </a:cubicBezTo>
                <a:cubicBezTo>
                  <a:pt x="20" y="66"/>
                  <a:pt x="20" y="66"/>
                  <a:pt x="20" y="66"/>
                </a:cubicBezTo>
                <a:cubicBezTo>
                  <a:pt x="14" y="66"/>
                  <a:pt x="8" y="71"/>
                  <a:pt x="8" y="77"/>
                </a:cubicBezTo>
                <a:cubicBezTo>
                  <a:pt x="8" y="82"/>
                  <a:pt x="12" y="87"/>
                  <a:pt x="18" y="88"/>
                </a:cubicBezTo>
                <a:cubicBezTo>
                  <a:pt x="12" y="88"/>
                  <a:pt x="12" y="88"/>
                  <a:pt x="12" y="88"/>
                </a:cubicBezTo>
                <a:cubicBezTo>
                  <a:pt x="6" y="88"/>
                  <a:pt x="0" y="93"/>
                  <a:pt x="0" y="99"/>
                </a:cubicBezTo>
                <a:cubicBezTo>
                  <a:pt x="0" y="105"/>
                  <a:pt x="6" y="110"/>
                  <a:pt x="12" y="110"/>
                </a:cubicBezTo>
                <a:moveTo>
                  <a:pt x="202" y="169"/>
                </a:moveTo>
                <a:cubicBezTo>
                  <a:pt x="149" y="169"/>
                  <a:pt x="149" y="169"/>
                  <a:pt x="149" y="169"/>
                </a:cubicBezTo>
                <a:cubicBezTo>
                  <a:pt x="149" y="67"/>
                  <a:pt x="149" y="67"/>
                  <a:pt x="149" y="67"/>
                </a:cubicBezTo>
                <a:cubicBezTo>
                  <a:pt x="202" y="67"/>
                  <a:pt x="202" y="67"/>
                  <a:pt x="202" y="67"/>
                </a:cubicBezTo>
                <a:lnTo>
                  <a:pt x="202" y="169"/>
                </a:lnTo>
                <a:close/>
                <a:moveTo>
                  <a:pt x="164" y="146"/>
                </a:moveTo>
                <a:cubicBezTo>
                  <a:pt x="160" y="146"/>
                  <a:pt x="158" y="149"/>
                  <a:pt x="158" y="153"/>
                </a:cubicBezTo>
                <a:cubicBezTo>
                  <a:pt x="158" y="156"/>
                  <a:pt x="160" y="159"/>
                  <a:pt x="164" y="159"/>
                </a:cubicBezTo>
                <a:cubicBezTo>
                  <a:pt x="167" y="159"/>
                  <a:pt x="170" y="156"/>
                  <a:pt x="170" y="153"/>
                </a:cubicBezTo>
                <a:cubicBezTo>
                  <a:pt x="170" y="149"/>
                  <a:pt x="167" y="146"/>
                  <a:pt x="164" y="146"/>
                </a:cubicBezTo>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3" name="Freeform 22"/>
          <p:cNvSpPr>
            <a:spLocks noEditPoints="1"/>
          </p:cNvSpPr>
          <p:nvPr/>
        </p:nvSpPr>
        <p:spPr bwMode="auto">
          <a:xfrm>
            <a:off x="7573340" y="4174836"/>
            <a:ext cx="1187522" cy="1055846"/>
          </a:xfrm>
          <a:custGeom>
            <a:avLst/>
            <a:gdLst>
              <a:gd name="T0" fmla="*/ 143 w 206"/>
              <a:gd name="T1" fmla="*/ 93 h 183"/>
              <a:gd name="T2" fmla="*/ 115 w 206"/>
              <a:gd name="T3" fmla="*/ 90 h 183"/>
              <a:gd name="T4" fmla="*/ 117 w 206"/>
              <a:gd name="T5" fmla="*/ 88 h 183"/>
              <a:gd name="T6" fmla="*/ 145 w 206"/>
              <a:gd name="T7" fmla="*/ 90 h 183"/>
              <a:gd name="T8" fmla="*/ 138 w 206"/>
              <a:gd name="T9" fmla="*/ 105 h 183"/>
              <a:gd name="T10" fmla="*/ 140 w 206"/>
              <a:gd name="T11" fmla="*/ 101 h 183"/>
              <a:gd name="T12" fmla="*/ 145 w 206"/>
              <a:gd name="T13" fmla="*/ 99 h 183"/>
              <a:gd name="T14" fmla="*/ 143 w 206"/>
              <a:gd name="T15" fmla="*/ 95 h 183"/>
              <a:gd name="T16" fmla="*/ 115 w 206"/>
              <a:gd name="T17" fmla="*/ 97 h 183"/>
              <a:gd name="T18" fmla="*/ 117 w 206"/>
              <a:gd name="T19" fmla="*/ 101 h 183"/>
              <a:gd name="T20" fmla="*/ 120 w 206"/>
              <a:gd name="T21" fmla="*/ 102 h 183"/>
              <a:gd name="T22" fmla="*/ 116 w 206"/>
              <a:gd name="T23" fmla="*/ 78 h 183"/>
              <a:gd name="T24" fmla="*/ 155 w 206"/>
              <a:gd name="T25" fmla="*/ 57 h 183"/>
              <a:gd name="T26" fmla="*/ 130 w 206"/>
              <a:gd name="T27" fmla="*/ 0 h 183"/>
              <a:gd name="T28" fmla="*/ 105 w 206"/>
              <a:gd name="T29" fmla="*/ 57 h 183"/>
              <a:gd name="T30" fmla="*/ 145 w 206"/>
              <a:gd name="T31" fmla="*/ 83 h 183"/>
              <a:gd name="T32" fmla="*/ 117 w 206"/>
              <a:gd name="T33" fmla="*/ 80 h 183"/>
              <a:gd name="T34" fmla="*/ 115 w 206"/>
              <a:gd name="T35" fmla="*/ 83 h 183"/>
              <a:gd name="T36" fmla="*/ 143 w 206"/>
              <a:gd name="T37" fmla="*/ 86 h 183"/>
              <a:gd name="T38" fmla="*/ 0 w 206"/>
              <a:gd name="T39" fmla="*/ 111 h 183"/>
              <a:gd name="T40" fmla="*/ 43 w 206"/>
              <a:gd name="T41" fmla="*/ 183 h 183"/>
              <a:gd name="T42" fmla="*/ 0 w 206"/>
              <a:gd name="T43" fmla="*/ 111 h 183"/>
              <a:gd name="T44" fmla="*/ 15 w 206"/>
              <a:gd name="T45" fmla="*/ 173 h 183"/>
              <a:gd name="T46" fmla="*/ 15 w 206"/>
              <a:gd name="T47" fmla="*/ 161 h 183"/>
              <a:gd name="T48" fmla="*/ 190 w 206"/>
              <a:gd name="T49" fmla="*/ 111 h 183"/>
              <a:gd name="T50" fmla="*/ 160 w 206"/>
              <a:gd name="T51" fmla="*/ 137 h 183"/>
              <a:gd name="T52" fmla="*/ 130 w 206"/>
              <a:gd name="T53" fmla="*/ 151 h 183"/>
              <a:gd name="T54" fmla="*/ 128 w 206"/>
              <a:gd name="T55" fmla="*/ 148 h 183"/>
              <a:gd name="T56" fmla="*/ 121 w 206"/>
              <a:gd name="T57" fmla="*/ 118 h 183"/>
              <a:gd name="T58" fmla="*/ 56 w 206"/>
              <a:gd name="T59" fmla="*/ 116 h 183"/>
              <a:gd name="T60" fmla="*/ 48 w 206"/>
              <a:gd name="T61" fmla="*/ 164 h 183"/>
              <a:gd name="T62" fmla="*/ 83 w 206"/>
              <a:gd name="T63" fmla="*/ 165 h 183"/>
              <a:gd name="T64" fmla="*/ 146 w 206"/>
              <a:gd name="T65" fmla="*/ 168 h 183"/>
              <a:gd name="T66" fmla="*/ 203 w 206"/>
              <a:gd name="T67" fmla="*/ 124 h 1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206" h="183">
                <a:moveTo>
                  <a:pt x="145" y="90"/>
                </a:moveTo>
                <a:cubicBezTo>
                  <a:pt x="145" y="92"/>
                  <a:pt x="144" y="93"/>
                  <a:pt x="143" y="93"/>
                </a:cubicBezTo>
                <a:cubicBezTo>
                  <a:pt x="117" y="93"/>
                  <a:pt x="117" y="93"/>
                  <a:pt x="117" y="93"/>
                </a:cubicBezTo>
                <a:cubicBezTo>
                  <a:pt x="116" y="93"/>
                  <a:pt x="115" y="92"/>
                  <a:pt x="115" y="90"/>
                </a:cubicBezTo>
                <a:cubicBezTo>
                  <a:pt x="115" y="90"/>
                  <a:pt x="115" y="90"/>
                  <a:pt x="115" y="90"/>
                </a:cubicBezTo>
                <a:cubicBezTo>
                  <a:pt x="115" y="89"/>
                  <a:pt x="116" y="88"/>
                  <a:pt x="117" y="88"/>
                </a:cubicBezTo>
                <a:cubicBezTo>
                  <a:pt x="143" y="88"/>
                  <a:pt x="143" y="88"/>
                  <a:pt x="143" y="88"/>
                </a:cubicBezTo>
                <a:cubicBezTo>
                  <a:pt x="144" y="88"/>
                  <a:pt x="145" y="89"/>
                  <a:pt x="145" y="90"/>
                </a:cubicBezTo>
                <a:close/>
                <a:moveTo>
                  <a:pt x="122" y="105"/>
                </a:moveTo>
                <a:cubicBezTo>
                  <a:pt x="138" y="105"/>
                  <a:pt x="138" y="105"/>
                  <a:pt x="138" y="105"/>
                </a:cubicBezTo>
                <a:cubicBezTo>
                  <a:pt x="139" y="105"/>
                  <a:pt x="140" y="104"/>
                  <a:pt x="140" y="102"/>
                </a:cubicBezTo>
                <a:cubicBezTo>
                  <a:pt x="140" y="101"/>
                  <a:pt x="140" y="101"/>
                  <a:pt x="140" y="101"/>
                </a:cubicBezTo>
                <a:cubicBezTo>
                  <a:pt x="143" y="101"/>
                  <a:pt x="143" y="101"/>
                  <a:pt x="143" y="101"/>
                </a:cubicBezTo>
                <a:cubicBezTo>
                  <a:pt x="144" y="101"/>
                  <a:pt x="145" y="100"/>
                  <a:pt x="145" y="99"/>
                </a:cubicBezTo>
                <a:cubicBezTo>
                  <a:pt x="145" y="97"/>
                  <a:pt x="145" y="97"/>
                  <a:pt x="145" y="97"/>
                </a:cubicBezTo>
                <a:cubicBezTo>
                  <a:pt x="145" y="96"/>
                  <a:pt x="144" y="95"/>
                  <a:pt x="143" y="95"/>
                </a:cubicBezTo>
                <a:cubicBezTo>
                  <a:pt x="117" y="95"/>
                  <a:pt x="117" y="95"/>
                  <a:pt x="117" y="95"/>
                </a:cubicBezTo>
                <a:cubicBezTo>
                  <a:pt x="116" y="95"/>
                  <a:pt x="115" y="96"/>
                  <a:pt x="115" y="97"/>
                </a:cubicBezTo>
                <a:cubicBezTo>
                  <a:pt x="115" y="99"/>
                  <a:pt x="115" y="99"/>
                  <a:pt x="115" y="99"/>
                </a:cubicBezTo>
                <a:cubicBezTo>
                  <a:pt x="115" y="100"/>
                  <a:pt x="116" y="101"/>
                  <a:pt x="117" y="101"/>
                </a:cubicBezTo>
                <a:cubicBezTo>
                  <a:pt x="120" y="101"/>
                  <a:pt x="120" y="101"/>
                  <a:pt x="120" y="101"/>
                </a:cubicBezTo>
                <a:cubicBezTo>
                  <a:pt x="120" y="102"/>
                  <a:pt x="120" y="102"/>
                  <a:pt x="120" y="102"/>
                </a:cubicBezTo>
                <a:cubicBezTo>
                  <a:pt x="120" y="104"/>
                  <a:pt x="121" y="105"/>
                  <a:pt x="122" y="105"/>
                </a:cubicBezTo>
                <a:close/>
                <a:moveTo>
                  <a:pt x="116" y="78"/>
                </a:moveTo>
                <a:cubicBezTo>
                  <a:pt x="144" y="78"/>
                  <a:pt x="144" y="78"/>
                  <a:pt x="144" y="78"/>
                </a:cubicBezTo>
                <a:cubicBezTo>
                  <a:pt x="150" y="78"/>
                  <a:pt x="143" y="70"/>
                  <a:pt x="155" y="57"/>
                </a:cubicBezTo>
                <a:cubicBezTo>
                  <a:pt x="160" y="51"/>
                  <a:pt x="164" y="43"/>
                  <a:pt x="164" y="34"/>
                </a:cubicBezTo>
                <a:cubicBezTo>
                  <a:pt x="164" y="15"/>
                  <a:pt x="149" y="0"/>
                  <a:pt x="130" y="0"/>
                </a:cubicBezTo>
                <a:cubicBezTo>
                  <a:pt x="111" y="0"/>
                  <a:pt x="96" y="15"/>
                  <a:pt x="96" y="34"/>
                </a:cubicBezTo>
                <a:cubicBezTo>
                  <a:pt x="96" y="43"/>
                  <a:pt x="99" y="51"/>
                  <a:pt x="105" y="57"/>
                </a:cubicBezTo>
                <a:cubicBezTo>
                  <a:pt x="116" y="70"/>
                  <a:pt x="110" y="78"/>
                  <a:pt x="116" y="78"/>
                </a:cubicBezTo>
                <a:close/>
                <a:moveTo>
                  <a:pt x="145" y="83"/>
                </a:moveTo>
                <a:cubicBezTo>
                  <a:pt x="145" y="81"/>
                  <a:pt x="144" y="80"/>
                  <a:pt x="143" y="80"/>
                </a:cubicBezTo>
                <a:cubicBezTo>
                  <a:pt x="117" y="80"/>
                  <a:pt x="117" y="80"/>
                  <a:pt x="117" y="80"/>
                </a:cubicBezTo>
                <a:cubicBezTo>
                  <a:pt x="116" y="80"/>
                  <a:pt x="115" y="81"/>
                  <a:pt x="115" y="83"/>
                </a:cubicBezTo>
                <a:cubicBezTo>
                  <a:pt x="115" y="83"/>
                  <a:pt x="115" y="83"/>
                  <a:pt x="115" y="83"/>
                </a:cubicBezTo>
                <a:cubicBezTo>
                  <a:pt x="115" y="84"/>
                  <a:pt x="116" y="86"/>
                  <a:pt x="117" y="86"/>
                </a:cubicBezTo>
                <a:cubicBezTo>
                  <a:pt x="143" y="86"/>
                  <a:pt x="143" y="86"/>
                  <a:pt x="143" y="86"/>
                </a:cubicBezTo>
                <a:cubicBezTo>
                  <a:pt x="144" y="86"/>
                  <a:pt x="145" y="84"/>
                  <a:pt x="145" y="83"/>
                </a:cubicBezTo>
                <a:close/>
                <a:moveTo>
                  <a:pt x="0" y="111"/>
                </a:moveTo>
                <a:cubicBezTo>
                  <a:pt x="43" y="111"/>
                  <a:pt x="43" y="111"/>
                  <a:pt x="43" y="111"/>
                </a:cubicBezTo>
                <a:cubicBezTo>
                  <a:pt x="43" y="183"/>
                  <a:pt x="43" y="183"/>
                  <a:pt x="43" y="183"/>
                </a:cubicBezTo>
                <a:cubicBezTo>
                  <a:pt x="0" y="183"/>
                  <a:pt x="0" y="183"/>
                  <a:pt x="0" y="183"/>
                </a:cubicBezTo>
                <a:lnTo>
                  <a:pt x="0" y="111"/>
                </a:lnTo>
                <a:close/>
                <a:moveTo>
                  <a:pt x="8" y="167"/>
                </a:moveTo>
                <a:cubicBezTo>
                  <a:pt x="8" y="171"/>
                  <a:pt x="11" y="173"/>
                  <a:pt x="15" y="173"/>
                </a:cubicBezTo>
                <a:cubicBezTo>
                  <a:pt x="18" y="173"/>
                  <a:pt x="21" y="171"/>
                  <a:pt x="21" y="167"/>
                </a:cubicBezTo>
                <a:cubicBezTo>
                  <a:pt x="21" y="164"/>
                  <a:pt x="18" y="161"/>
                  <a:pt x="15" y="161"/>
                </a:cubicBezTo>
                <a:cubicBezTo>
                  <a:pt x="11" y="161"/>
                  <a:pt x="8" y="164"/>
                  <a:pt x="8" y="167"/>
                </a:cubicBezTo>
                <a:close/>
                <a:moveTo>
                  <a:pt x="190" y="111"/>
                </a:moveTo>
                <a:cubicBezTo>
                  <a:pt x="180" y="110"/>
                  <a:pt x="153" y="132"/>
                  <a:pt x="153" y="132"/>
                </a:cubicBezTo>
                <a:cubicBezTo>
                  <a:pt x="153" y="132"/>
                  <a:pt x="158" y="136"/>
                  <a:pt x="160" y="137"/>
                </a:cubicBezTo>
                <a:cubicBezTo>
                  <a:pt x="162" y="139"/>
                  <a:pt x="159" y="142"/>
                  <a:pt x="156" y="145"/>
                </a:cubicBezTo>
                <a:cubicBezTo>
                  <a:pt x="153" y="148"/>
                  <a:pt x="140" y="155"/>
                  <a:pt x="130" y="151"/>
                </a:cubicBezTo>
                <a:cubicBezTo>
                  <a:pt x="119" y="148"/>
                  <a:pt x="102" y="136"/>
                  <a:pt x="102" y="136"/>
                </a:cubicBezTo>
                <a:cubicBezTo>
                  <a:pt x="102" y="136"/>
                  <a:pt x="119" y="145"/>
                  <a:pt x="128" y="148"/>
                </a:cubicBezTo>
                <a:cubicBezTo>
                  <a:pt x="137" y="151"/>
                  <a:pt x="155" y="141"/>
                  <a:pt x="151" y="138"/>
                </a:cubicBezTo>
                <a:cubicBezTo>
                  <a:pt x="147" y="135"/>
                  <a:pt x="132" y="129"/>
                  <a:pt x="121" y="118"/>
                </a:cubicBezTo>
                <a:cubicBezTo>
                  <a:pt x="116" y="114"/>
                  <a:pt x="102" y="108"/>
                  <a:pt x="93" y="108"/>
                </a:cubicBezTo>
                <a:cubicBezTo>
                  <a:pt x="83" y="108"/>
                  <a:pt x="63" y="116"/>
                  <a:pt x="56" y="116"/>
                </a:cubicBezTo>
                <a:cubicBezTo>
                  <a:pt x="48" y="116"/>
                  <a:pt x="48" y="116"/>
                  <a:pt x="48" y="116"/>
                </a:cubicBezTo>
                <a:cubicBezTo>
                  <a:pt x="48" y="164"/>
                  <a:pt x="48" y="164"/>
                  <a:pt x="48" y="164"/>
                </a:cubicBezTo>
                <a:cubicBezTo>
                  <a:pt x="63" y="164"/>
                  <a:pt x="63" y="164"/>
                  <a:pt x="63" y="164"/>
                </a:cubicBezTo>
                <a:cubicBezTo>
                  <a:pt x="69" y="164"/>
                  <a:pt x="79" y="164"/>
                  <a:pt x="83" y="165"/>
                </a:cubicBezTo>
                <a:cubicBezTo>
                  <a:pt x="87" y="167"/>
                  <a:pt x="112" y="177"/>
                  <a:pt x="119" y="177"/>
                </a:cubicBezTo>
                <a:cubicBezTo>
                  <a:pt x="127" y="177"/>
                  <a:pt x="138" y="174"/>
                  <a:pt x="146" y="168"/>
                </a:cubicBezTo>
                <a:cubicBezTo>
                  <a:pt x="154" y="163"/>
                  <a:pt x="168" y="153"/>
                  <a:pt x="174" y="148"/>
                </a:cubicBezTo>
                <a:cubicBezTo>
                  <a:pt x="179" y="144"/>
                  <a:pt x="199" y="127"/>
                  <a:pt x="203" y="124"/>
                </a:cubicBezTo>
                <a:cubicBezTo>
                  <a:pt x="206" y="120"/>
                  <a:pt x="200" y="112"/>
                  <a:pt x="190" y="111"/>
                </a:cubicBezTo>
                <a:close/>
              </a:path>
            </a:pathLst>
          </a:custGeom>
          <a:solidFill>
            <a:schemeClr val="accent4"/>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4" name="Freeform 23"/>
          <p:cNvSpPr>
            <a:spLocks noEditPoints="1"/>
          </p:cNvSpPr>
          <p:nvPr/>
        </p:nvSpPr>
        <p:spPr bwMode="auto">
          <a:xfrm>
            <a:off x="1591634" y="2162115"/>
            <a:ext cx="1002200" cy="1085108"/>
          </a:xfrm>
          <a:custGeom>
            <a:avLst/>
            <a:gdLst>
              <a:gd name="T0" fmla="*/ 63 w 174"/>
              <a:gd name="T1" fmla="*/ 84 h 188"/>
              <a:gd name="T2" fmla="*/ 44 w 174"/>
              <a:gd name="T3" fmla="*/ 80 h 188"/>
              <a:gd name="T4" fmla="*/ 26 w 174"/>
              <a:gd name="T5" fmla="*/ 84 h 188"/>
              <a:gd name="T6" fmla="*/ 0 w 174"/>
              <a:gd name="T7" fmla="*/ 90 h 188"/>
              <a:gd name="T8" fmla="*/ 5 w 174"/>
              <a:gd name="T9" fmla="*/ 127 h 188"/>
              <a:gd name="T10" fmla="*/ 16 w 174"/>
              <a:gd name="T11" fmla="*/ 146 h 188"/>
              <a:gd name="T12" fmla="*/ 16 w 174"/>
              <a:gd name="T13" fmla="*/ 185 h 188"/>
              <a:gd name="T14" fmla="*/ 44 w 174"/>
              <a:gd name="T15" fmla="*/ 188 h 188"/>
              <a:gd name="T16" fmla="*/ 73 w 174"/>
              <a:gd name="T17" fmla="*/ 185 h 188"/>
              <a:gd name="T18" fmla="*/ 73 w 174"/>
              <a:gd name="T19" fmla="*/ 146 h 188"/>
              <a:gd name="T20" fmla="*/ 84 w 174"/>
              <a:gd name="T21" fmla="*/ 127 h 188"/>
              <a:gd name="T22" fmla="*/ 89 w 174"/>
              <a:gd name="T23" fmla="*/ 90 h 188"/>
              <a:gd name="T24" fmla="*/ 63 w 174"/>
              <a:gd name="T25" fmla="*/ 84 h 188"/>
              <a:gd name="T26" fmla="*/ 20 w 174"/>
              <a:gd name="T27" fmla="*/ 52 h 188"/>
              <a:gd name="T28" fmla="*/ 44 w 174"/>
              <a:gd name="T29" fmla="*/ 28 h 188"/>
              <a:gd name="T30" fmla="*/ 69 w 174"/>
              <a:gd name="T31" fmla="*/ 52 h 188"/>
              <a:gd name="T32" fmla="*/ 44 w 174"/>
              <a:gd name="T33" fmla="*/ 77 h 188"/>
              <a:gd name="T34" fmla="*/ 20 w 174"/>
              <a:gd name="T35" fmla="*/ 52 h 188"/>
              <a:gd name="T36" fmla="*/ 100 w 174"/>
              <a:gd name="T37" fmla="*/ 108 h 188"/>
              <a:gd name="T38" fmla="*/ 100 w 174"/>
              <a:gd name="T39" fmla="*/ 59 h 188"/>
              <a:gd name="T40" fmla="*/ 88 w 174"/>
              <a:gd name="T41" fmla="*/ 59 h 188"/>
              <a:gd name="T42" fmla="*/ 106 w 174"/>
              <a:gd name="T43" fmla="*/ 28 h 188"/>
              <a:gd name="T44" fmla="*/ 124 w 174"/>
              <a:gd name="T45" fmla="*/ 59 h 188"/>
              <a:gd name="T46" fmla="*/ 112 w 174"/>
              <a:gd name="T47" fmla="*/ 59 h 188"/>
              <a:gd name="T48" fmla="*/ 112 w 174"/>
              <a:gd name="T49" fmla="*/ 108 h 188"/>
              <a:gd name="T50" fmla="*/ 100 w 174"/>
              <a:gd name="T51" fmla="*/ 108 h 188"/>
              <a:gd name="T52" fmla="*/ 174 w 174"/>
              <a:gd name="T53" fmla="*/ 68 h 188"/>
              <a:gd name="T54" fmla="*/ 106 w 174"/>
              <a:gd name="T55" fmla="*/ 136 h 188"/>
              <a:gd name="T56" fmla="*/ 88 w 174"/>
              <a:gd name="T57" fmla="*/ 133 h 188"/>
              <a:gd name="T58" fmla="*/ 90 w 174"/>
              <a:gd name="T59" fmla="*/ 129 h 188"/>
              <a:gd name="T60" fmla="*/ 91 w 174"/>
              <a:gd name="T61" fmla="*/ 122 h 188"/>
              <a:gd name="T62" fmla="*/ 106 w 174"/>
              <a:gd name="T63" fmla="*/ 124 h 188"/>
              <a:gd name="T64" fmla="*/ 162 w 174"/>
              <a:gd name="T65" fmla="*/ 68 h 188"/>
              <a:gd name="T66" fmla="*/ 106 w 174"/>
              <a:gd name="T67" fmla="*/ 12 h 188"/>
              <a:gd name="T68" fmla="*/ 65 w 174"/>
              <a:gd name="T69" fmla="*/ 30 h 188"/>
              <a:gd name="T70" fmla="*/ 55 w 174"/>
              <a:gd name="T71" fmla="*/ 24 h 188"/>
              <a:gd name="T72" fmla="*/ 106 w 174"/>
              <a:gd name="T73" fmla="*/ 0 h 188"/>
              <a:gd name="T74" fmla="*/ 174 w 174"/>
              <a:gd name="T75" fmla="*/ 68 h 1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4" h="188">
                <a:moveTo>
                  <a:pt x="63" y="84"/>
                </a:moveTo>
                <a:cubicBezTo>
                  <a:pt x="60" y="83"/>
                  <a:pt x="53" y="80"/>
                  <a:pt x="44" y="80"/>
                </a:cubicBezTo>
                <a:cubicBezTo>
                  <a:pt x="36" y="80"/>
                  <a:pt x="29" y="83"/>
                  <a:pt x="26" y="84"/>
                </a:cubicBezTo>
                <a:cubicBezTo>
                  <a:pt x="9" y="86"/>
                  <a:pt x="0" y="90"/>
                  <a:pt x="0" y="90"/>
                </a:cubicBezTo>
                <a:cubicBezTo>
                  <a:pt x="0" y="90"/>
                  <a:pt x="3" y="120"/>
                  <a:pt x="5" y="127"/>
                </a:cubicBezTo>
                <a:cubicBezTo>
                  <a:pt x="7" y="135"/>
                  <a:pt x="16" y="138"/>
                  <a:pt x="16" y="146"/>
                </a:cubicBezTo>
                <a:cubicBezTo>
                  <a:pt x="16" y="185"/>
                  <a:pt x="16" y="185"/>
                  <a:pt x="16" y="185"/>
                </a:cubicBezTo>
                <a:cubicBezTo>
                  <a:pt x="16" y="185"/>
                  <a:pt x="30" y="188"/>
                  <a:pt x="44" y="188"/>
                </a:cubicBezTo>
                <a:cubicBezTo>
                  <a:pt x="59" y="188"/>
                  <a:pt x="73" y="185"/>
                  <a:pt x="73" y="185"/>
                </a:cubicBezTo>
                <a:cubicBezTo>
                  <a:pt x="73" y="146"/>
                  <a:pt x="73" y="146"/>
                  <a:pt x="73" y="146"/>
                </a:cubicBezTo>
                <a:cubicBezTo>
                  <a:pt x="73" y="138"/>
                  <a:pt x="82" y="135"/>
                  <a:pt x="84" y="127"/>
                </a:cubicBezTo>
                <a:cubicBezTo>
                  <a:pt x="86" y="120"/>
                  <a:pt x="89" y="90"/>
                  <a:pt x="89" y="90"/>
                </a:cubicBezTo>
                <a:cubicBezTo>
                  <a:pt x="89" y="90"/>
                  <a:pt x="80" y="86"/>
                  <a:pt x="63" y="84"/>
                </a:cubicBezTo>
                <a:moveTo>
                  <a:pt x="20" y="52"/>
                </a:moveTo>
                <a:cubicBezTo>
                  <a:pt x="20" y="39"/>
                  <a:pt x="31" y="28"/>
                  <a:pt x="44" y="28"/>
                </a:cubicBezTo>
                <a:cubicBezTo>
                  <a:pt x="58" y="28"/>
                  <a:pt x="69" y="39"/>
                  <a:pt x="69" y="52"/>
                </a:cubicBezTo>
                <a:cubicBezTo>
                  <a:pt x="69" y="66"/>
                  <a:pt x="58" y="77"/>
                  <a:pt x="44" y="77"/>
                </a:cubicBezTo>
                <a:cubicBezTo>
                  <a:pt x="31" y="77"/>
                  <a:pt x="20" y="66"/>
                  <a:pt x="20" y="52"/>
                </a:cubicBezTo>
                <a:moveTo>
                  <a:pt x="100" y="108"/>
                </a:moveTo>
                <a:cubicBezTo>
                  <a:pt x="100" y="59"/>
                  <a:pt x="100" y="59"/>
                  <a:pt x="100" y="59"/>
                </a:cubicBezTo>
                <a:cubicBezTo>
                  <a:pt x="88" y="59"/>
                  <a:pt x="88" y="59"/>
                  <a:pt x="88" y="59"/>
                </a:cubicBezTo>
                <a:cubicBezTo>
                  <a:pt x="106" y="28"/>
                  <a:pt x="106" y="28"/>
                  <a:pt x="106" y="28"/>
                </a:cubicBezTo>
                <a:cubicBezTo>
                  <a:pt x="124" y="59"/>
                  <a:pt x="124" y="59"/>
                  <a:pt x="124" y="59"/>
                </a:cubicBezTo>
                <a:cubicBezTo>
                  <a:pt x="112" y="59"/>
                  <a:pt x="112" y="59"/>
                  <a:pt x="112" y="59"/>
                </a:cubicBezTo>
                <a:cubicBezTo>
                  <a:pt x="112" y="108"/>
                  <a:pt x="112" y="108"/>
                  <a:pt x="112" y="108"/>
                </a:cubicBezTo>
                <a:lnTo>
                  <a:pt x="100" y="108"/>
                </a:lnTo>
                <a:close/>
                <a:moveTo>
                  <a:pt x="174" y="68"/>
                </a:moveTo>
                <a:cubicBezTo>
                  <a:pt x="174" y="106"/>
                  <a:pt x="144" y="136"/>
                  <a:pt x="106" y="136"/>
                </a:cubicBezTo>
                <a:cubicBezTo>
                  <a:pt x="100" y="136"/>
                  <a:pt x="94" y="135"/>
                  <a:pt x="88" y="133"/>
                </a:cubicBezTo>
                <a:cubicBezTo>
                  <a:pt x="88" y="132"/>
                  <a:pt x="89" y="131"/>
                  <a:pt x="90" y="129"/>
                </a:cubicBezTo>
                <a:cubicBezTo>
                  <a:pt x="90" y="128"/>
                  <a:pt x="91" y="125"/>
                  <a:pt x="91" y="122"/>
                </a:cubicBezTo>
                <a:cubicBezTo>
                  <a:pt x="96" y="123"/>
                  <a:pt x="101" y="124"/>
                  <a:pt x="106" y="124"/>
                </a:cubicBezTo>
                <a:cubicBezTo>
                  <a:pt x="137" y="124"/>
                  <a:pt x="162" y="99"/>
                  <a:pt x="162" y="68"/>
                </a:cubicBezTo>
                <a:cubicBezTo>
                  <a:pt x="162" y="37"/>
                  <a:pt x="137" y="12"/>
                  <a:pt x="106" y="12"/>
                </a:cubicBezTo>
                <a:cubicBezTo>
                  <a:pt x="90" y="12"/>
                  <a:pt x="76" y="19"/>
                  <a:pt x="65" y="30"/>
                </a:cubicBezTo>
                <a:cubicBezTo>
                  <a:pt x="62" y="28"/>
                  <a:pt x="59" y="25"/>
                  <a:pt x="55" y="24"/>
                </a:cubicBezTo>
                <a:cubicBezTo>
                  <a:pt x="68" y="9"/>
                  <a:pt x="86" y="0"/>
                  <a:pt x="106" y="0"/>
                </a:cubicBezTo>
                <a:cubicBezTo>
                  <a:pt x="144" y="0"/>
                  <a:pt x="174" y="31"/>
                  <a:pt x="174" y="68"/>
                </a:cubicBezTo>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5" name="Freeform 24"/>
          <p:cNvSpPr>
            <a:spLocks noEditPoints="1"/>
          </p:cNvSpPr>
          <p:nvPr/>
        </p:nvSpPr>
        <p:spPr bwMode="auto">
          <a:xfrm>
            <a:off x="3721312" y="4266845"/>
            <a:ext cx="607174" cy="1109492"/>
          </a:xfrm>
          <a:custGeom>
            <a:avLst/>
            <a:gdLst>
              <a:gd name="T0" fmla="*/ 52 w 105"/>
              <a:gd name="T1" fmla="*/ 62 h 192"/>
              <a:gd name="T2" fmla="*/ 30 w 105"/>
              <a:gd name="T3" fmla="*/ 68 h 192"/>
              <a:gd name="T4" fmla="*/ 0 w 105"/>
              <a:gd name="T5" fmla="*/ 74 h 192"/>
              <a:gd name="T6" fmla="*/ 5 w 105"/>
              <a:gd name="T7" fmla="*/ 120 h 192"/>
              <a:gd name="T8" fmla="*/ 18 w 105"/>
              <a:gd name="T9" fmla="*/ 141 h 192"/>
              <a:gd name="T10" fmla="*/ 18 w 105"/>
              <a:gd name="T11" fmla="*/ 188 h 192"/>
              <a:gd name="T12" fmla="*/ 52 w 105"/>
              <a:gd name="T13" fmla="*/ 192 h 192"/>
              <a:gd name="T14" fmla="*/ 86 w 105"/>
              <a:gd name="T15" fmla="*/ 188 h 192"/>
              <a:gd name="T16" fmla="*/ 86 w 105"/>
              <a:gd name="T17" fmla="*/ 141 h 192"/>
              <a:gd name="T18" fmla="*/ 99 w 105"/>
              <a:gd name="T19" fmla="*/ 120 h 192"/>
              <a:gd name="T20" fmla="*/ 105 w 105"/>
              <a:gd name="T21" fmla="*/ 74 h 192"/>
              <a:gd name="T22" fmla="*/ 74 w 105"/>
              <a:gd name="T23" fmla="*/ 68 h 192"/>
              <a:gd name="T24" fmla="*/ 52 w 105"/>
              <a:gd name="T25" fmla="*/ 62 h 192"/>
              <a:gd name="T26" fmla="*/ 59 w 105"/>
              <a:gd name="T27" fmla="*/ 81 h 192"/>
              <a:gd name="T28" fmla="*/ 55 w 105"/>
              <a:gd name="T29" fmla="*/ 86 h 192"/>
              <a:gd name="T30" fmla="*/ 63 w 105"/>
              <a:gd name="T31" fmla="*/ 126 h 192"/>
              <a:gd name="T32" fmla="*/ 52 w 105"/>
              <a:gd name="T33" fmla="*/ 138 h 192"/>
              <a:gd name="T34" fmla="*/ 42 w 105"/>
              <a:gd name="T35" fmla="*/ 126 h 192"/>
              <a:gd name="T36" fmla="*/ 49 w 105"/>
              <a:gd name="T37" fmla="*/ 86 h 192"/>
              <a:gd name="T38" fmla="*/ 46 w 105"/>
              <a:gd name="T39" fmla="*/ 81 h 192"/>
              <a:gd name="T40" fmla="*/ 46 w 105"/>
              <a:gd name="T41" fmla="*/ 79 h 192"/>
              <a:gd name="T42" fmla="*/ 38 w 105"/>
              <a:gd name="T43" fmla="*/ 75 h 192"/>
              <a:gd name="T44" fmla="*/ 41 w 105"/>
              <a:gd name="T45" fmla="*/ 72 h 192"/>
              <a:gd name="T46" fmla="*/ 50 w 105"/>
              <a:gd name="T47" fmla="*/ 74 h 192"/>
              <a:gd name="T48" fmla="*/ 55 w 105"/>
              <a:gd name="T49" fmla="*/ 74 h 192"/>
              <a:gd name="T50" fmla="*/ 64 w 105"/>
              <a:gd name="T51" fmla="*/ 72 h 192"/>
              <a:gd name="T52" fmla="*/ 67 w 105"/>
              <a:gd name="T53" fmla="*/ 75 h 192"/>
              <a:gd name="T54" fmla="*/ 59 w 105"/>
              <a:gd name="T55" fmla="*/ 79 h 192"/>
              <a:gd name="T56" fmla="*/ 59 w 105"/>
              <a:gd name="T57" fmla="*/ 81 h 192"/>
              <a:gd name="T58" fmla="*/ 23 w 105"/>
              <a:gd name="T59" fmla="*/ 29 h 192"/>
              <a:gd name="T60" fmla="*/ 52 w 105"/>
              <a:gd name="T61" fmla="*/ 0 h 192"/>
              <a:gd name="T62" fmla="*/ 81 w 105"/>
              <a:gd name="T63" fmla="*/ 29 h 192"/>
              <a:gd name="T64" fmla="*/ 52 w 105"/>
              <a:gd name="T65" fmla="*/ 59 h 192"/>
              <a:gd name="T66" fmla="*/ 23 w 105"/>
              <a:gd name="T67" fmla="*/ 29 h 1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05" h="192">
                <a:moveTo>
                  <a:pt x="52" y="62"/>
                </a:moveTo>
                <a:cubicBezTo>
                  <a:pt x="42" y="62"/>
                  <a:pt x="33" y="66"/>
                  <a:pt x="30" y="68"/>
                </a:cubicBezTo>
                <a:cubicBezTo>
                  <a:pt x="10" y="70"/>
                  <a:pt x="0" y="74"/>
                  <a:pt x="0" y="74"/>
                </a:cubicBezTo>
                <a:cubicBezTo>
                  <a:pt x="0" y="74"/>
                  <a:pt x="2" y="111"/>
                  <a:pt x="5" y="120"/>
                </a:cubicBezTo>
                <a:cubicBezTo>
                  <a:pt x="8" y="128"/>
                  <a:pt x="18" y="132"/>
                  <a:pt x="18" y="141"/>
                </a:cubicBezTo>
                <a:cubicBezTo>
                  <a:pt x="18" y="188"/>
                  <a:pt x="18" y="188"/>
                  <a:pt x="18" y="188"/>
                </a:cubicBezTo>
                <a:cubicBezTo>
                  <a:pt x="18" y="188"/>
                  <a:pt x="35" y="192"/>
                  <a:pt x="52" y="192"/>
                </a:cubicBezTo>
                <a:cubicBezTo>
                  <a:pt x="69" y="192"/>
                  <a:pt x="86" y="188"/>
                  <a:pt x="86" y="188"/>
                </a:cubicBezTo>
                <a:cubicBezTo>
                  <a:pt x="86" y="141"/>
                  <a:pt x="86" y="141"/>
                  <a:pt x="86" y="141"/>
                </a:cubicBezTo>
                <a:cubicBezTo>
                  <a:pt x="86" y="132"/>
                  <a:pt x="97" y="128"/>
                  <a:pt x="99" y="120"/>
                </a:cubicBezTo>
                <a:cubicBezTo>
                  <a:pt x="102" y="111"/>
                  <a:pt x="105" y="74"/>
                  <a:pt x="105" y="74"/>
                </a:cubicBezTo>
                <a:cubicBezTo>
                  <a:pt x="105" y="74"/>
                  <a:pt x="95" y="70"/>
                  <a:pt x="74" y="68"/>
                </a:cubicBezTo>
                <a:cubicBezTo>
                  <a:pt x="71" y="66"/>
                  <a:pt x="63" y="62"/>
                  <a:pt x="52" y="62"/>
                </a:cubicBezTo>
                <a:moveTo>
                  <a:pt x="59" y="81"/>
                </a:moveTo>
                <a:cubicBezTo>
                  <a:pt x="55" y="86"/>
                  <a:pt x="55" y="86"/>
                  <a:pt x="55" y="86"/>
                </a:cubicBezTo>
                <a:cubicBezTo>
                  <a:pt x="63" y="126"/>
                  <a:pt x="63" y="126"/>
                  <a:pt x="63" y="126"/>
                </a:cubicBezTo>
                <a:cubicBezTo>
                  <a:pt x="52" y="138"/>
                  <a:pt x="52" y="138"/>
                  <a:pt x="52" y="138"/>
                </a:cubicBezTo>
                <a:cubicBezTo>
                  <a:pt x="42" y="126"/>
                  <a:pt x="42" y="126"/>
                  <a:pt x="42" y="126"/>
                </a:cubicBezTo>
                <a:cubicBezTo>
                  <a:pt x="49" y="86"/>
                  <a:pt x="49" y="86"/>
                  <a:pt x="49" y="86"/>
                </a:cubicBezTo>
                <a:cubicBezTo>
                  <a:pt x="46" y="81"/>
                  <a:pt x="46" y="81"/>
                  <a:pt x="46" y="81"/>
                </a:cubicBezTo>
                <a:cubicBezTo>
                  <a:pt x="46" y="79"/>
                  <a:pt x="46" y="79"/>
                  <a:pt x="46" y="79"/>
                </a:cubicBezTo>
                <a:cubicBezTo>
                  <a:pt x="43" y="78"/>
                  <a:pt x="40" y="77"/>
                  <a:pt x="38" y="75"/>
                </a:cubicBezTo>
                <a:cubicBezTo>
                  <a:pt x="41" y="72"/>
                  <a:pt x="41" y="72"/>
                  <a:pt x="41" y="72"/>
                </a:cubicBezTo>
                <a:cubicBezTo>
                  <a:pt x="44" y="73"/>
                  <a:pt x="47" y="73"/>
                  <a:pt x="50" y="74"/>
                </a:cubicBezTo>
                <a:cubicBezTo>
                  <a:pt x="55" y="74"/>
                  <a:pt x="55" y="74"/>
                  <a:pt x="55" y="74"/>
                </a:cubicBezTo>
                <a:cubicBezTo>
                  <a:pt x="58" y="73"/>
                  <a:pt x="61" y="73"/>
                  <a:pt x="64" y="72"/>
                </a:cubicBezTo>
                <a:cubicBezTo>
                  <a:pt x="67" y="75"/>
                  <a:pt x="67" y="75"/>
                  <a:pt x="67" y="75"/>
                </a:cubicBezTo>
                <a:cubicBezTo>
                  <a:pt x="65" y="77"/>
                  <a:pt x="62" y="78"/>
                  <a:pt x="59" y="79"/>
                </a:cubicBezTo>
                <a:lnTo>
                  <a:pt x="59" y="81"/>
                </a:lnTo>
                <a:close/>
                <a:moveTo>
                  <a:pt x="23" y="29"/>
                </a:moveTo>
                <a:cubicBezTo>
                  <a:pt x="23" y="13"/>
                  <a:pt x="36" y="0"/>
                  <a:pt x="52" y="0"/>
                </a:cubicBezTo>
                <a:cubicBezTo>
                  <a:pt x="68" y="0"/>
                  <a:pt x="81" y="13"/>
                  <a:pt x="81" y="29"/>
                </a:cubicBezTo>
                <a:cubicBezTo>
                  <a:pt x="81" y="46"/>
                  <a:pt x="68" y="59"/>
                  <a:pt x="52" y="59"/>
                </a:cubicBezTo>
                <a:cubicBezTo>
                  <a:pt x="36" y="59"/>
                  <a:pt x="23" y="46"/>
                  <a:pt x="23" y="29"/>
                </a:cubicBezTo>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6" name="Freeform 25"/>
          <p:cNvSpPr>
            <a:spLocks noEditPoints="1"/>
          </p:cNvSpPr>
          <p:nvPr/>
        </p:nvSpPr>
        <p:spPr bwMode="auto">
          <a:xfrm>
            <a:off x="5825333" y="2147484"/>
            <a:ext cx="541334" cy="1114370"/>
          </a:xfrm>
          <a:custGeom>
            <a:avLst/>
            <a:gdLst>
              <a:gd name="T0" fmla="*/ 19 w 94"/>
              <a:gd name="T1" fmla="*/ 28 h 193"/>
              <a:gd name="T2" fmla="*/ 47 w 94"/>
              <a:gd name="T3" fmla="*/ 0 h 193"/>
              <a:gd name="T4" fmla="*/ 75 w 94"/>
              <a:gd name="T5" fmla="*/ 28 h 193"/>
              <a:gd name="T6" fmla="*/ 47 w 94"/>
              <a:gd name="T7" fmla="*/ 56 h 193"/>
              <a:gd name="T8" fmla="*/ 19 w 94"/>
              <a:gd name="T9" fmla="*/ 28 h 193"/>
              <a:gd name="T10" fmla="*/ 76 w 94"/>
              <a:gd name="T11" fmla="*/ 132 h 193"/>
              <a:gd name="T12" fmla="*/ 81 w 94"/>
              <a:gd name="T13" fmla="*/ 111 h 193"/>
              <a:gd name="T14" fmla="*/ 87 w 94"/>
              <a:gd name="T15" fmla="*/ 70 h 193"/>
              <a:gd name="T16" fmla="*/ 75 w 94"/>
              <a:gd name="T17" fmla="*/ 66 h 193"/>
              <a:gd name="T18" fmla="*/ 75 w 94"/>
              <a:gd name="T19" fmla="*/ 79 h 193"/>
              <a:gd name="T20" fmla="*/ 68 w 94"/>
              <a:gd name="T21" fmla="*/ 79 h 193"/>
              <a:gd name="T22" fmla="*/ 70 w 94"/>
              <a:gd name="T23" fmla="*/ 86 h 193"/>
              <a:gd name="T24" fmla="*/ 47 w 94"/>
              <a:gd name="T25" fmla="*/ 99 h 193"/>
              <a:gd name="T26" fmla="*/ 24 w 94"/>
              <a:gd name="T27" fmla="*/ 86 h 193"/>
              <a:gd name="T28" fmla="*/ 26 w 94"/>
              <a:gd name="T29" fmla="*/ 79 h 193"/>
              <a:gd name="T30" fmla="*/ 19 w 94"/>
              <a:gd name="T31" fmla="*/ 79 h 193"/>
              <a:gd name="T32" fmla="*/ 19 w 94"/>
              <a:gd name="T33" fmla="*/ 66 h 193"/>
              <a:gd name="T34" fmla="*/ 7 w 94"/>
              <a:gd name="T35" fmla="*/ 70 h 193"/>
              <a:gd name="T36" fmla="*/ 13 w 94"/>
              <a:gd name="T37" fmla="*/ 111 h 193"/>
              <a:gd name="T38" fmla="*/ 18 w 94"/>
              <a:gd name="T39" fmla="*/ 132 h 193"/>
              <a:gd name="T40" fmla="*/ 0 w 94"/>
              <a:gd name="T41" fmla="*/ 188 h 193"/>
              <a:gd name="T42" fmla="*/ 47 w 94"/>
              <a:gd name="T43" fmla="*/ 193 h 193"/>
              <a:gd name="T44" fmla="*/ 94 w 94"/>
              <a:gd name="T45" fmla="*/ 188 h 193"/>
              <a:gd name="T46" fmla="*/ 76 w 94"/>
              <a:gd name="T47" fmla="*/ 132 h 193"/>
              <a:gd name="T48" fmla="*/ 29 w 94"/>
              <a:gd name="T49" fmla="*/ 63 h 193"/>
              <a:gd name="T50" fmla="*/ 32 w 94"/>
              <a:gd name="T51" fmla="*/ 79 h 193"/>
              <a:gd name="T52" fmla="*/ 47 w 94"/>
              <a:gd name="T53" fmla="*/ 78 h 193"/>
              <a:gd name="T54" fmla="*/ 62 w 94"/>
              <a:gd name="T55" fmla="*/ 79 h 193"/>
              <a:gd name="T56" fmla="*/ 65 w 94"/>
              <a:gd name="T57" fmla="*/ 63 h 193"/>
              <a:gd name="T58" fmla="*/ 47 w 94"/>
              <a:gd name="T59" fmla="*/ 60 h 193"/>
              <a:gd name="T60" fmla="*/ 29 w 94"/>
              <a:gd name="T61" fmla="*/ 63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94" h="193">
                <a:moveTo>
                  <a:pt x="19" y="28"/>
                </a:moveTo>
                <a:cubicBezTo>
                  <a:pt x="19" y="13"/>
                  <a:pt x="32" y="0"/>
                  <a:pt x="47" y="0"/>
                </a:cubicBezTo>
                <a:cubicBezTo>
                  <a:pt x="62" y="0"/>
                  <a:pt x="75" y="13"/>
                  <a:pt x="75" y="28"/>
                </a:cubicBezTo>
                <a:cubicBezTo>
                  <a:pt x="75" y="43"/>
                  <a:pt x="62" y="56"/>
                  <a:pt x="47" y="56"/>
                </a:cubicBezTo>
                <a:cubicBezTo>
                  <a:pt x="32" y="56"/>
                  <a:pt x="19" y="43"/>
                  <a:pt x="19" y="28"/>
                </a:cubicBezTo>
                <a:close/>
                <a:moveTo>
                  <a:pt x="76" y="132"/>
                </a:moveTo>
                <a:cubicBezTo>
                  <a:pt x="76" y="124"/>
                  <a:pt x="79" y="119"/>
                  <a:pt x="81" y="111"/>
                </a:cubicBezTo>
                <a:cubicBezTo>
                  <a:pt x="84" y="103"/>
                  <a:pt x="87" y="70"/>
                  <a:pt x="87" y="70"/>
                </a:cubicBezTo>
                <a:cubicBezTo>
                  <a:pt x="87" y="70"/>
                  <a:pt x="84" y="67"/>
                  <a:pt x="75" y="66"/>
                </a:cubicBezTo>
                <a:cubicBezTo>
                  <a:pt x="75" y="79"/>
                  <a:pt x="75" y="79"/>
                  <a:pt x="75" y="79"/>
                </a:cubicBezTo>
                <a:cubicBezTo>
                  <a:pt x="68" y="79"/>
                  <a:pt x="68" y="79"/>
                  <a:pt x="68" y="79"/>
                </a:cubicBezTo>
                <a:cubicBezTo>
                  <a:pt x="70" y="86"/>
                  <a:pt x="70" y="86"/>
                  <a:pt x="70" y="86"/>
                </a:cubicBezTo>
                <a:cubicBezTo>
                  <a:pt x="47" y="99"/>
                  <a:pt x="47" y="99"/>
                  <a:pt x="47" y="99"/>
                </a:cubicBezTo>
                <a:cubicBezTo>
                  <a:pt x="24" y="86"/>
                  <a:pt x="24" y="86"/>
                  <a:pt x="24" y="86"/>
                </a:cubicBezTo>
                <a:cubicBezTo>
                  <a:pt x="26" y="79"/>
                  <a:pt x="26" y="79"/>
                  <a:pt x="26" y="79"/>
                </a:cubicBezTo>
                <a:cubicBezTo>
                  <a:pt x="19" y="79"/>
                  <a:pt x="19" y="79"/>
                  <a:pt x="19" y="79"/>
                </a:cubicBezTo>
                <a:cubicBezTo>
                  <a:pt x="19" y="66"/>
                  <a:pt x="19" y="66"/>
                  <a:pt x="19" y="66"/>
                </a:cubicBezTo>
                <a:cubicBezTo>
                  <a:pt x="9" y="67"/>
                  <a:pt x="7" y="70"/>
                  <a:pt x="7" y="70"/>
                </a:cubicBezTo>
                <a:cubicBezTo>
                  <a:pt x="7" y="70"/>
                  <a:pt x="10" y="103"/>
                  <a:pt x="13" y="111"/>
                </a:cubicBezTo>
                <a:cubicBezTo>
                  <a:pt x="15" y="119"/>
                  <a:pt x="18" y="124"/>
                  <a:pt x="18" y="132"/>
                </a:cubicBezTo>
                <a:cubicBezTo>
                  <a:pt x="18" y="140"/>
                  <a:pt x="0" y="188"/>
                  <a:pt x="0" y="188"/>
                </a:cubicBezTo>
                <a:cubicBezTo>
                  <a:pt x="0" y="188"/>
                  <a:pt x="5" y="193"/>
                  <a:pt x="47" y="193"/>
                </a:cubicBezTo>
                <a:cubicBezTo>
                  <a:pt x="88" y="193"/>
                  <a:pt x="94" y="188"/>
                  <a:pt x="94" y="188"/>
                </a:cubicBezTo>
                <a:cubicBezTo>
                  <a:pt x="94" y="188"/>
                  <a:pt x="76" y="140"/>
                  <a:pt x="76" y="132"/>
                </a:cubicBezTo>
                <a:close/>
                <a:moveTo>
                  <a:pt x="29" y="63"/>
                </a:moveTo>
                <a:cubicBezTo>
                  <a:pt x="29" y="67"/>
                  <a:pt x="30" y="73"/>
                  <a:pt x="32" y="79"/>
                </a:cubicBezTo>
                <a:cubicBezTo>
                  <a:pt x="36" y="78"/>
                  <a:pt x="42" y="78"/>
                  <a:pt x="47" y="78"/>
                </a:cubicBezTo>
                <a:cubicBezTo>
                  <a:pt x="52" y="78"/>
                  <a:pt x="57" y="78"/>
                  <a:pt x="62" y="79"/>
                </a:cubicBezTo>
                <a:cubicBezTo>
                  <a:pt x="64" y="73"/>
                  <a:pt x="64" y="67"/>
                  <a:pt x="65" y="63"/>
                </a:cubicBezTo>
                <a:cubicBezTo>
                  <a:pt x="61" y="62"/>
                  <a:pt x="54" y="60"/>
                  <a:pt x="47" y="60"/>
                </a:cubicBezTo>
                <a:cubicBezTo>
                  <a:pt x="40" y="60"/>
                  <a:pt x="33" y="62"/>
                  <a:pt x="29" y="63"/>
                </a:cubicBezTo>
                <a:close/>
              </a:path>
            </a:pathLst>
          </a:custGeom>
          <a:solidFill>
            <a:schemeClr val="accent3"/>
          </a:solidFill>
          <a:ln>
            <a:noFill/>
          </a:ln>
        </p:spPr>
        <p:txBody>
          <a:bodyPr vert="horz" wrap="square" lIns="91440" tIns="45720" rIns="91440" bIns="45720" numCol="1" anchor="t" anchorCtr="0" compatLnSpc="1">
            <a:prstTxWarp prst="textNoShape">
              <a:avLst/>
            </a:prstTxWarp>
          </a:bodyPr>
          <a:lstStyle/>
          <a:p>
            <a:pPr algn="r" rtl="1"/>
            <a:endParaRPr lang="en-US">
              <a:latin typeface="DIN Next LT Arabic Light" panose="020B0303020203050203" pitchFamily="34" charset="-78"/>
              <a:cs typeface="DIN Next LT Arabic Light" panose="020B0303020203050203" pitchFamily="34" charset="-78"/>
            </a:endParaRPr>
          </a:p>
        </p:txBody>
      </p:sp>
      <p:sp>
        <p:nvSpPr>
          <p:cNvPr id="27" name="TextBox 26"/>
          <p:cNvSpPr txBox="1"/>
          <p:nvPr/>
        </p:nvSpPr>
        <p:spPr>
          <a:xfrm>
            <a:off x="1309140" y="679238"/>
            <a:ext cx="9573720" cy="707886"/>
          </a:xfrm>
          <a:prstGeom prst="rect">
            <a:avLst/>
          </a:prstGeom>
          <a:noFill/>
        </p:spPr>
        <p:txBody>
          <a:bodyPr wrap="square" rtlCol="0" anchor="ctr">
            <a:spAutoFit/>
          </a:bodyPr>
          <a:lstStyle/>
          <a:p>
            <a:pPr algn="ctr" rtl="1"/>
            <a:r>
              <a:rPr lang="ar-DZ" sz="4000" b="1" dirty="0">
                <a:latin typeface="DIN Next LT Arabic Light" panose="020B0303020203050203" pitchFamily="34" charset="-78"/>
                <a:cs typeface="DIN Next LT Arabic Light" panose="020B0303020203050203" pitchFamily="34" charset="-78"/>
              </a:rPr>
              <a:t>المراحل زمينة للمشروع</a:t>
            </a:r>
            <a:endParaRPr lang="en-ID" sz="4000" b="1" dirty="0">
              <a:latin typeface="DIN Next LT Arabic Light" panose="020B0303020203050203" pitchFamily="34" charset="-78"/>
              <a:cs typeface="DIN Next LT Arabic Light" panose="020B0303020203050203" pitchFamily="34" charset="-78"/>
            </a:endParaRPr>
          </a:p>
        </p:txBody>
      </p:sp>
      <p:sp>
        <p:nvSpPr>
          <p:cNvPr id="28" name="Rectangle 27"/>
          <p:cNvSpPr/>
          <p:nvPr/>
        </p:nvSpPr>
        <p:spPr>
          <a:xfrm>
            <a:off x="0" y="0"/>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DZ" dirty="0">
                <a:latin typeface="DIN Next LT Arabic Light" panose="020B0303020203050203" pitchFamily="34" charset="-78"/>
                <a:cs typeface="DIN Next LT Arabic Light" panose="020B0303020203050203" pitchFamily="34" charset="-78"/>
              </a:rPr>
              <a:t>المراحل زمينة للمشروع</a:t>
            </a:r>
          </a:p>
        </p:txBody>
      </p:sp>
    </p:spTree>
    <p:extLst>
      <p:ext uri="{BB962C8B-B14F-4D97-AF65-F5344CB8AC3E}">
        <p14:creationId xmlns:p14="http://schemas.microsoft.com/office/powerpoint/2010/main" val="326431817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p:cNvSpPr/>
          <p:nvPr/>
        </p:nvSpPr>
        <p:spPr>
          <a:xfrm rot="17835791" flipH="1">
            <a:off x="5216799" y="-230738"/>
            <a:ext cx="6966678" cy="7407410"/>
          </a:xfrm>
          <a:custGeom>
            <a:avLst/>
            <a:gdLst>
              <a:gd name="connsiteX0" fmla="*/ 0 w 6966678"/>
              <a:gd name="connsiteY0" fmla="*/ 2902979 h 7407410"/>
              <a:gd name="connsiteX1" fmla="*/ 1454564 w 6966678"/>
              <a:gd name="connsiteY1" fmla="*/ 80364 h 7407410"/>
              <a:gd name="connsiteX2" fmla="*/ 1583254 w 6966678"/>
              <a:gd name="connsiteY2" fmla="*/ 58073 h 7407410"/>
              <a:gd name="connsiteX3" fmla="*/ 3476997 w 6966678"/>
              <a:gd name="connsiteY3" fmla="*/ 52976 h 7407410"/>
              <a:gd name="connsiteX4" fmla="*/ 6760093 w 6966678"/>
              <a:gd name="connsiteY4" fmla="*/ 3477790 h 7407410"/>
              <a:gd name="connsiteX5" fmla="*/ 6964579 w 6966678"/>
              <a:gd name="connsiteY5" fmla="*/ 4300677 h 7407410"/>
              <a:gd name="connsiteX6" fmla="*/ 6966678 w 6966678"/>
              <a:gd name="connsiteY6" fmla="*/ 4355213 h 7407410"/>
              <a:gd name="connsiteX7" fmla="*/ 6520148 w 6966678"/>
              <a:gd name="connsiteY7" fmla="*/ 5221715 h 7407410"/>
              <a:gd name="connsiteX8" fmla="*/ 6492475 w 6966678"/>
              <a:gd name="connsiteY8" fmla="*/ 5238636 h 7407410"/>
              <a:gd name="connsiteX9" fmla="*/ 3476997 w 6966678"/>
              <a:gd name="connsiteY9" fmla="*/ 6902604 h 7407410"/>
              <a:gd name="connsiteX10" fmla="*/ 3020961 w 6966678"/>
              <a:gd name="connsiteY10" fmla="*/ 7361362 h 7407410"/>
              <a:gd name="connsiteX11" fmla="*/ 2955053 w 6966678"/>
              <a:gd name="connsiteY11" fmla="*/ 7407410 h 7407410"/>
              <a:gd name="connsiteX12" fmla="*/ 1372034 w 6966678"/>
              <a:gd name="connsiteY12" fmla="*/ 6591640 h 7407410"/>
              <a:gd name="connsiteX13" fmla="*/ 1370719 w 6966678"/>
              <a:gd name="connsiteY13" fmla="*/ 6589104 h 7407410"/>
              <a:gd name="connsiteX14" fmla="*/ 193901 w 6966678"/>
              <a:gd name="connsiteY14" fmla="*/ 3477790 h 7407410"/>
              <a:gd name="connsiteX15" fmla="*/ 35014 w 6966678"/>
              <a:gd name="connsiteY15" fmla="*/ 3022060 h 7407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6678" h="7407410">
                <a:moveTo>
                  <a:pt x="0" y="2902979"/>
                </a:moveTo>
                <a:lnTo>
                  <a:pt x="1454564" y="80364"/>
                </a:lnTo>
                <a:lnTo>
                  <a:pt x="1583254" y="58073"/>
                </a:lnTo>
                <a:cubicBezTo>
                  <a:pt x="2093251" y="-17049"/>
                  <a:pt x="2721270" y="-19861"/>
                  <a:pt x="3476997" y="52976"/>
                </a:cubicBezTo>
                <a:cubicBezTo>
                  <a:pt x="6931749" y="385944"/>
                  <a:pt x="5802523" y="825247"/>
                  <a:pt x="6760093" y="3477790"/>
                </a:cubicBezTo>
                <a:cubicBezTo>
                  <a:pt x="6879789" y="3809358"/>
                  <a:pt x="6945170" y="4078844"/>
                  <a:pt x="6964579" y="4300677"/>
                </a:cubicBezTo>
                <a:lnTo>
                  <a:pt x="6966678" y="4355213"/>
                </a:lnTo>
                <a:lnTo>
                  <a:pt x="6520148" y="5221715"/>
                </a:lnTo>
                <a:lnTo>
                  <a:pt x="6492475" y="5238636"/>
                </a:lnTo>
                <a:cubicBezTo>
                  <a:pt x="5802732" y="5620667"/>
                  <a:pt x="4499439" y="5659920"/>
                  <a:pt x="3476997" y="6902604"/>
                </a:cubicBezTo>
                <a:cubicBezTo>
                  <a:pt x="3315559" y="7098818"/>
                  <a:pt x="3163951" y="7250199"/>
                  <a:pt x="3020961" y="7361362"/>
                </a:cubicBezTo>
                <a:lnTo>
                  <a:pt x="2955053" y="7407410"/>
                </a:lnTo>
                <a:lnTo>
                  <a:pt x="1372034" y="6591640"/>
                </a:lnTo>
                <a:lnTo>
                  <a:pt x="1370719" y="6589104"/>
                </a:lnTo>
                <a:cubicBezTo>
                  <a:pt x="964007" y="5769236"/>
                  <a:pt x="612838" y="4575846"/>
                  <a:pt x="193901" y="3477790"/>
                </a:cubicBezTo>
                <a:cubicBezTo>
                  <a:pt x="134053" y="3320925"/>
                  <a:pt x="81015" y="3168989"/>
                  <a:pt x="35014" y="302206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 name="Freeform 2"/>
          <p:cNvSpPr/>
          <p:nvPr/>
        </p:nvSpPr>
        <p:spPr>
          <a:xfrm rot="1037902" flipH="1">
            <a:off x="5177040" y="-382750"/>
            <a:ext cx="6981878" cy="7300393"/>
          </a:xfrm>
          <a:custGeom>
            <a:avLst/>
            <a:gdLst>
              <a:gd name="connsiteX0" fmla="*/ 2743010 w 6981878"/>
              <a:gd name="connsiteY0" fmla="*/ 5285 h 7300393"/>
              <a:gd name="connsiteX1" fmla="*/ 6143290 w 6981878"/>
              <a:gd name="connsiteY1" fmla="*/ 1064248 h 7300393"/>
              <a:gd name="connsiteX2" fmla="*/ 6154020 w 6981878"/>
              <a:gd name="connsiteY2" fmla="*/ 1090778 h 7300393"/>
              <a:gd name="connsiteX3" fmla="*/ 6771165 w 6981878"/>
              <a:gd name="connsiteY3" fmla="*/ 3477790 h 7300393"/>
              <a:gd name="connsiteX4" fmla="*/ 3488069 w 6981878"/>
              <a:gd name="connsiteY4" fmla="*/ 6902604 h 7300393"/>
              <a:gd name="connsiteX5" fmla="*/ 3177940 w 6981878"/>
              <a:gd name="connsiteY5" fmla="*/ 7236622 h 7300393"/>
              <a:gd name="connsiteX6" fmla="*/ 3103347 w 6981878"/>
              <a:gd name="connsiteY6" fmla="*/ 7300393 h 7300393"/>
              <a:gd name="connsiteX7" fmla="*/ 1492647 w 6981878"/>
              <a:gd name="connsiteY7" fmla="*/ 6798766 h 7300393"/>
              <a:gd name="connsiteX8" fmla="*/ 1469839 w 6981878"/>
              <a:gd name="connsiteY8" fmla="*/ 6758903 h 7300393"/>
              <a:gd name="connsiteX9" fmla="*/ 204973 w 6981878"/>
              <a:gd name="connsiteY9" fmla="*/ 3477790 h 7300393"/>
              <a:gd name="connsiteX10" fmla="*/ 46086 w 6981878"/>
              <a:gd name="connsiteY10" fmla="*/ 3022060 h 7300393"/>
              <a:gd name="connsiteX11" fmla="*/ 0 w 6981878"/>
              <a:gd name="connsiteY11" fmla="*/ 2865324 h 7300393"/>
              <a:gd name="connsiteX12" fmla="*/ 808696 w 6981878"/>
              <a:gd name="connsiteY12" fmla="*/ 268640 h 7300393"/>
              <a:gd name="connsiteX13" fmla="*/ 833851 w 6981878"/>
              <a:gd name="connsiteY13" fmla="*/ 257065 h 7300393"/>
              <a:gd name="connsiteX14" fmla="*/ 2586027 w 6981878"/>
              <a:gd name="connsiteY14" fmla="*/ 750 h 7300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1878" h="7300393">
                <a:moveTo>
                  <a:pt x="2743010" y="5285"/>
                </a:moveTo>
                <a:lnTo>
                  <a:pt x="6143290" y="1064248"/>
                </a:lnTo>
                <a:lnTo>
                  <a:pt x="6154020" y="1090778"/>
                </a:lnTo>
                <a:cubicBezTo>
                  <a:pt x="6332717" y="1580443"/>
                  <a:pt x="6352228" y="2317303"/>
                  <a:pt x="6771165" y="3477790"/>
                </a:cubicBezTo>
                <a:cubicBezTo>
                  <a:pt x="7728735" y="6130333"/>
                  <a:pt x="5210077" y="4809662"/>
                  <a:pt x="3488069" y="6902604"/>
                </a:cubicBezTo>
                <a:cubicBezTo>
                  <a:pt x="3380444" y="7033413"/>
                  <a:pt x="3277187" y="7144296"/>
                  <a:pt x="3177940" y="7236622"/>
                </a:cubicBezTo>
                <a:lnTo>
                  <a:pt x="3103347" y="7300393"/>
                </a:lnTo>
                <a:lnTo>
                  <a:pt x="1492647" y="6798766"/>
                </a:lnTo>
                <a:lnTo>
                  <a:pt x="1469839" y="6758903"/>
                </a:lnTo>
                <a:cubicBezTo>
                  <a:pt x="1024900" y="5940207"/>
                  <a:pt x="653834" y="4654279"/>
                  <a:pt x="204973" y="3477790"/>
                </a:cubicBezTo>
                <a:cubicBezTo>
                  <a:pt x="145125" y="3320925"/>
                  <a:pt x="92087" y="3168989"/>
                  <a:pt x="46086" y="3022060"/>
                </a:cubicBezTo>
                <a:lnTo>
                  <a:pt x="0" y="2865324"/>
                </a:lnTo>
                <a:lnTo>
                  <a:pt x="808696" y="268640"/>
                </a:lnTo>
                <a:lnTo>
                  <a:pt x="833851" y="257065"/>
                </a:lnTo>
                <a:cubicBezTo>
                  <a:pt x="1266169" y="78012"/>
                  <a:pt x="1845408" y="-9088"/>
                  <a:pt x="2586027" y="75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4" name="Freeform 3"/>
          <p:cNvSpPr/>
          <p:nvPr/>
        </p:nvSpPr>
        <p:spPr>
          <a:xfrm rot="19831171" flipH="1">
            <a:off x="5258231" y="-341445"/>
            <a:ext cx="7151483" cy="7582194"/>
          </a:xfrm>
          <a:custGeom>
            <a:avLst/>
            <a:gdLst>
              <a:gd name="connsiteX0" fmla="*/ 0 w 7151483"/>
              <a:gd name="connsiteY0" fmla="*/ 1861061 h 7582194"/>
              <a:gd name="connsiteX1" fmla="*/ 3292032 w 7151483"/>
              <a:gd name="connsiteY1" fmla="*/ 0 h 7582194"/>
              <a:gd name="connsiteX2" fmla="*/ 3341581 w 7151483"/>
              <a:gd name="connsiteY2" fmla="*/ 2866 h 7582194"/>
              <a:gd name="connsiteX3" fmla="*/ 3657674 w 7151483"/>
              <a:gd name="connsiteY3" fmla="*/ 29460 h 7582194"/>
              <a:gd name="connsiteX4" fmla="*/ 6940770 w 7151483"/>
              <a:gd name="connsiteY4" fmla="*/ 3454274 h 7582194"/>
              <a:gd name="connsiteX5" fmla="*/ 3657674 w 7151483"/>
              <a:gd name="connsiteY5" fmla="*/ 6879089 h 7582194"/>
              <a:gd name="connsiteX6" fmla="*/ 374578 w 7151483"/>
              <a:gd name="connsiteY6" fmla="*/ 3454274 h 7582194"/>
              <a:gd name="connsiteX7" fmla="*/ 6144 w 7151483"/>
              <a:gd name="connsiteY7" fmla="*/ 1991681 h 75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1483" h="7582194">
                <a:moveTo>
                  <a:pt x="0" y="1861061"/>
                </a:moveTo>
                <a:lnTo>
                  <a:pt x="3292032" y="0"/>
                </a:lnTo>
                <a:lnTo>
                  <a:pt x="3341581" y="2866"/>
                </a:lnTo>
                <a:cubicBezTo>
                  <a:pt x="3444358" y="10193"/>
                  <a:pt x="3549713" y="19055"/>
                  <a:pt x="3657674" y="29460"/>
                </a:cubicBezTo>
                <a:cubicBezTo>
                  <a:pt x="7112427" y="362428"/>
                  <a:pt x="5983201" y="801731"/>
                  <a:pt x="6940770" y="3454274"/>
                </a:cubicBezTo>
                <a:cubicBezTo>
                  <a:pt x="7898340" y="6106817"/>
                  <a:pt x="5379681" y="4786147"/>
                  <a:pt x="3657674" y="6879089"/>
                </a:cubicBezTo>
                <a:cubicBezTo>
                  <a:pt x="1935667" y="8972030"/>
                  <a:pt x="1332147" y="5964116"/>
                  <a:pt x="374578" y="3454274"/>
                </a:cubicBezTo>
                <a:cubicBezTo>
                  <a:pt x="165110" y="2905246"/>
                  <a:pt x="39070" y="2416602"/>
                  <a:pt x="6144" y="19916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7" name="TextBox 6"/>
          <p:cNvSpPr txBox="1"/>
          <p:nvPr/>
        </p:nvSpPr>
        <p:spPr>
          <a:xfrm>
            <a:off x="266546" y="406035"/>
            <a:ext cx="4691062" cy="707886"/>
          </a:xfrm>
          <a:prstGeom prst="rect">
            <a:avLst/>
          </a:prstGeom>
          <a:noFill/>
        </p:spPr>
        <p:txBody>
          <a:bodyPr wrap="square" rtlCol="0" anchor="ctr">
            <a:spAutoFit/>
          </a:bodyPr>
          <a:lstStyle/>
          <a:p>
            <a:pPr algn="r" rtl="1"/>
            <a:r>
              <a:rPr lang="ar-DZ" sz="4000" b="1" dirty="0">
                <a:latin typeface="DIN Next LT Arabic Light" panose="020B0303020203050203" pitchFamily="34" charset="-78"/>
                <a:cs typeface="DIN Next LT Arabic Light" panose="020B0303020203050203" pitchFamily="34" charset="-78"/>
              </a:rPr>
              <a:t>السوق المستهدف</a:t>
            </a:r>
            <a:endParaRPr lang="en-ID" sz="4000" b="1" dirty="0">
              <a:latin typeface="DIN Next LT Arabic Light" panose="020B0303020203050203" pitchFamily="34" charset="-78"/>
              <a:cs typeface="DIN Next LT Arabic Light" panose="020B0303020203050203" pitchFamily="34" charset="-78"/>
            </a:endParaRPr>
          </a:p>
        </p:txBody>
      </p:sp>
      <p:sp>
        <p:nvSpPr>
          <p:cNvPr id="8" name="Rectangle 7"/>
          <p:cNvSpPr/>
          <p:nvPr/>
        </p:nvSpPr>
        <p:spPr>
          <a:xfrm>
            <a:off x="37929" y="1235349"/>
            <a:ext cx="4838330" cy="3647665"/>
          </a:xfrm>
          <a:prstGeom prst="rect">
            <a:avLst/>
          </a:prstGeom>
        </p:spPr>
        <p:txBody>
          <a:bodyPr wrap="square">
            <a:spAutoFit/>
          </a:bodyPr>
          <a:lstStyle/>
          <a:p>
            <a:pPr algn="just" rtl="1">
              <a:lnSpc>
                <a:spcPct val="150000"/>
              </a:lnSpc>
            </a:pPr>
            <a:r>
              <a:rPr lang="ar-EG" sz="1400" dirty="0">
                <a:latin typeface="DIN Next LT Arabic Light" panose="020B0303020203050203" pitchFamily="34" charset="-78"/>
                <a:cs typeface="DIN Next LT Arabic Light" panose="020B0303020203050203" pitchFamily="34" charset="-78"/>
              </a:rPr>
              <a:t>تتوجه منصة </a:t>
            </a:r>
            <a:r>
              <a:rPr lang="fr-FR" sz="1400" dirty="0">
                <a:latin typeface="DIN Next LT Arabic Light" panose="020B0303020203050203" pitchFamily="34" charset="-78"/>
                <a:cs typeface="DIN Next LT Arabic Light" panose="020B0303020203050203" pitchFamily="34" charset="-78"/>
              </a:rPr>
              <a:t>MATAX </a:t>
            </a:r>
            <a:r>
              <a:rPr lang="ar-EG" sz="1400" dirty="0">
                <a:latin typeface="DIN Next LT Arabic Light" panose="020B0303020203050203" pitchFamily="34" charset="-78"/>
                <a:cs typeface="DIN Next LT Arabic Light" panose="020B0303020203050203" pitchFamily="34" charset="-78"/>
              </a:rPr>
              <a:t>بشكل رئيسي ومستهدف نحو منظومة ريادة الأعمال الناشئة والمصغرة في الجزائر، وهي فئة سوقية متنامية تبحث عن حلول مرنة واقتصادية لإدارة التزاماتها الجبائية. يتفرع هذا السوق المستهدف إلى ثلاث فئات أساسية: المؤسسات الناشئة</a:t>
            </a:r>
            <a:r>
              <a:rPr lang="fr-FR" sz="1400" dirty="0">
                <a:latin typeface="DIN Next LT Arabic Light" panose="020B0303020203050203" pitchFamily="34" charset="-78"/>
                <a:cs typeface="DIN Next LT Arabic Light" panose="020B0303020203050203" pitchFamily="34" charset="-78"/>
              </a:rPr>
              <a:t> </a:t>
            </a:r>
            <a:r>
              <a:rPr lang="ar-EG" sz="1400" dirty="0">
                <a:latin typeface="DIN Next LT Arabic Light" panose="020B0303020203050203" pitchFamily="34" charset="-78"/>
                <a:cs typeface="DIN Next LT Arabic Light" panose="020B0303020203050203" pitchFamily="34" charset="-78"/>
              </a:rPr>
              <a:t>الحائزة على العلامة أو في طور النمو والتي تحتاج لمطابقة سريعة مع الامتيازات الضريبية، المؤسسات المصغرة التي تفتقر لوجود مصلحة محاسبة داخلية متخصصة، وفئة المقاولين الذاتيين والمهن الحرة الذين يفرض عليهم القانون الجديد تسوية وضعياتهم الجبائية بمرونة. وينطلق المشروع استراتيجياً من ولاية تيارت كعينة تجريبية لاحتواء نسيجها المقاولاتي المحلي والجامعي، تمهيداً للتوسع التدريجي نحو الولايات المجاورة ثم السوق الوطنية الشاملة، مستهدفاً الفئات التي تعاني من عبء التسيير التقليدي وتبحث عن بديل رقمي آمن ومتاح بضغطة زر</a:t>
            </a:r>
            <a:r>
              <a:rPr lang="ar-EG" sz="1600" dirty="0">
                <a:latin typeface="DIN Next LT Arabic Light" panose="020B0303020203050203" pitchFamily="34" charset="-78"/>
                <a:cs typeface="DIN Next LT Arabic Light" panose="020B0303020203050203" pitchFamily="34" charset="-78"/>
              </a:rPr>
              <a:t>.</a:t>
            </a:r>
            <a:endParaRPr lang="en-ID" sz="1600" dirty="0">
              <a:latin typeface="DIN Next LT Arabic Light" panose="020B0303020203050203" pitchFamily="34" charset="-78"/>
              <a:cs typeface="DIN Next LT Arabic Light" panose="020B0303020203050203" pitchFamily="34" charset="-78"/>
            </a:endParaRPr>
          </a:p>
        </p:txBody>
      </p:sp>
      <p:sp>
        <p:nvSpPr>
          <p:cNvPr id="12" name="Rectangle 11"/>
          <p:cNvSpPr/>
          <p:nvPr/>
        </p:nvSpPr>
        <p:spPr>
          <a:xfrm>
            <a:off x="0" y="6307915"/>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EG" dirty="0">
                <a:latin typeface="DIN Next LT Arabic Light" panose="020B0303020203050203" pitchFamily="34" charset="-78"/>
                <a:cs typeface="DIN Next LT Arabic Light" panose="020B0303020203050203" pitchFamily="34" charset="-78"/>
              </a:rPr>
              <a:t>السوق المستهدف</a:t>
            </a:r>
          </a:p>
        </p:txBody>
      </p:sp>
      <p:pic>
        <p:nvPicPr>
          <p:cNvPr id="11" name="عنصر نائب للصورة 10" descr="صورة تحتوي على داخلي, أرضية, حائط, سقف&#10;&#10;تم إنشاء الوصف تلقائياً">
            <a:extLst>
              <a:ext uri="{FF2B5EF4-FFF2-40B4-BE49-F238E27FC236}">
                <a16:creationId xmlns:a16="http://schemas.microsoft.com/office/drawing/2014/main" id="{2079443A-E991-432F-B8B1-FE7E2D9BFFF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6289" r="16289"/>
          <a:stretch>
            <a:fillRect/>
          </a:stretch>
        </p:blipFill>
        <p:spPr/>
      </p:pic>
    </p:spTree>
    <p:extLst>
      <p:ext uri="{BB962C8B-B14F-4D97-AF65-F5344CB8AC3E}">
        <p14:creationId xmlns:p14="http://schemas.microsoft.com/office/powerpoint/2010/main" val="220116568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عنصر نائب للصورة 11" descr="صورة تحتوي على داخلي, سرير, كوب, جالس&#10;&#10;تم إنشاء الوصف تلقائياً">
            <a:extLst>
              <a:ext uri="{FF2B5EF4-FFF2-40B4-BE49-F238E27FC236}">
                <a16:creationId xmlns:a16="http://schemas.microsoft.com/office/drawing/2014/main" id="{3BEFC667-93BA-4534-8035-8E0F45D358EB}"/>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t="7813" b="7813"/>
          <a:stretch>
            <a:fillRect/>
          </a:stretch>
        </p:blipFill>
        <p:spPr/>
      </p:pic>
      <p:sp>
        <p:nvSpPr>
          <p:cNvPr id="13" name="Rectangle 9">
            <a:extLst>
              <a:ext uri="{FF2B5EF4-FFF2-40B4-BE49-F238E27FC236}">
                <a16:creationId xmlns:a16="http://schemas.microsoft.com/office/drawing/2014/main" id="{C730CA87-51BE-4244-9E54-8AE4009516DF}"/>
              </a:ext>
            </a:extLst>
          </p:cNvPr>
          <p:cNvSpPr/>
          <p:nvPr/>
        </p:nvSpPr>
        <p:spPr>
          <a:xfrm>
            <a:off x="0" y="4665"/>
            <a:ext cx="12192000" cy="6858000"/>
          </a:xfrm>
          <a:prstGeom prst="rect">
            <a:avLst/>
          </a:prstGeom>
          <a:solidFill>
            <a:schemeClr val="tx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 name="Isosceles Triangle 5"/>
          <p:cNvSpPr/>
          <p:nvPr/>
        </p:nvSpPr>
        <p:spPr>
          <a:xfrm rot="1800000">
            <a:off x="4172262" y="989670"/>
            <a:ext cx="3847476" cy="424908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76200">
            <a:gradFill>
              <a:gsLst>
                <a:gs pos="50000">
                  <a:schemeClr val="accent2"/>
                </a:gs>
                <a:gs pos="0">
                  <a:schemeClr val="accent1"/>
                </a:gs>
                <a:gs pos="100000">
                  <a:schemeClr val="accent3"/>
                </a:gs>
              </a:gsLst>
              <a:lin ang="9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
        <p:nvSpPr>
          <p:cNvPr id="4" name="Isosceles Triangle 5"/>
          <p:cNvSpPr/>
          <p:nvPr/>
        </p:nvSpPr>
        <p:spPr>
          <a:xfrm rot="19800000">
            <a:off x="4172262" y="989670"/>
            <a:ext cx="3847476" cy="424908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76200">
            <a:gradFill>
              <a:gsLst>
                <a:gs pos="50000">
                  <a:schemeClr val="accent2"/>
                </a:gs>
                <a:gs pos="0">
                  <a:schemeClr val="accent1"/>
                </a:gs>
                <a:gs pos="100000">
                  <a:schemeClr val="accent3"/>
                </a:gs>
              </a:gsLst>
              <a:lin ang="8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
        <p:nvSpPr>
          <p:cNvPr id="5" name="Isosceles Triangle 5"/>
          <p:cNvSpPr/>
          <p:nvPr/>
        </p:nvSpPr>
        <p:spPr>
          <a:xfrm>
            <a:off x="4172262" y="989670"/>
            <a:ext cx="3847476" cy="424908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76200">
            <a:gradFill>
              <a:gsLst>
                <a:gs pos="50000">
                  <a:schemeClr val="accent2"/>
                </a:gs>
                <a:gs pos="0">
                  <a:schemeClr val="accent1"/>
                </a:gs>
                <a:gs pos="100000">
                  <a:schemeClr val="accent3"/>
                </a:gs>
              </a:gsLst>
              <a:lin ang="9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p>
        </p:txBody>
      </p:sp>
      <p:sp>
        <p:nvSpPr>
          <p:cNvPr id="7" name="TextBox 6"/>
          <p:cNvSpPr txBox="1"/>
          <p:nvPr/>
        </p:nvSpPr>
        <p:spPr>
          <a:xfrm>
            <a:off x="3632616" y="2274838"/>
            <a:ext cx="4926768" cy="2308324"/>
          </a:xfrm>
          <a:prstGeom prst="rect">
            <a:avLst/>
          </a:prstGeom>
          <a:noFill/>
        </p:spPr>
        <p:txBody>
          <a:bodyPr wrap="square" rtlCol="0" anchor="ctr">
            <a:spAutoFit/>
          </a:bodyPr>
          <a:lstStyle/>
          <a:p>
            <a:pPr algn="ctr" rtl="1"/>
            <a:r>
              <a:rPr lang="ar-DZ" sz="7200" b="1" dirty="0">
                <a:solidFill>
                  <a:schemeClr val="bg1"/>
                </a:solidFill>
                <a:latin typeface="DIN Next LT Arabic Light" panose="020B0303020203050203" pitchFamily="34" charset="-78"/>
                <a:cs typeface="DIN Next LT Arabic Light" panose="020B0303020203050203" pitchFamily="34" charset="-78"/>
              </a:rPr>
              <a:t>الدراسة </a:t>
            </a:r>
            <a:endParaRPr lang="ar-EG" sz="7200" b="1" dirty="0">
              <a:solidFill>
                <a:schemeClr val="bg1"/>
              </a:solidFill>
              <a:latin typeface="DIN Next LT Arabic Light" panose="020B0303020203050203" pitchFamily="34" charset="-78"/>
              <a:cs typeface="DIN Next LT Arabic Light" panose="020B0303020203050203" pitchFamily="34" charset="-78"/>
            </a:endParaRPr>
          </a:p>
          <a:p>
            <a:pPr algn="ctr" rtl="1"/>
            <a:r>
              <a:rPr lang="ar-DZ" sz="7200" b="1" dirty="0">
                <a:solidFill>
                  <a:schemeClr val="bg1"/>
                </a:solidFill>
                <a:latin typeface="DIN Next LT Arabic Light" panose="020B0303020203050203" pitchFamily="34" charset="-78"/>
                <a:cs typeface="DIN Next LT Arabic Light" panose="020B0303020203050203" pitchFamily="34" charset="-78"/>
              </a:rPr>
              <a:t>المالية </a:t>
            </a:r>
            <a:endParaRPr lang="en-ID" sz="7200" b="1" dirty="0">
              <a:solidFill>
                <a:schemeClr val="bg1"/>
              </a:solidFill>
              <a:latin typeface="DIN Next LT Arabic Light" panose="020B0303020203050203" pitchFamily="34" charset="-78"/>
              <a:cs typeface="DIN Next LT Arabic Light" panose="020B0303020203050203" pitchFamily="34" charset="-78"/>
            </a:endParaRPr>
          </a:p>
        </p:txBody>
      </p:sp>
    </p:spTree>
    <p:extLst>
      <p:ext uri="{BB962C8B-B14F-4D97-AF65-F5344CB8AC3E}">
        <p14:creationId xmlns:p14="http://schemas.microsoft.com/office/powerpoint/2010/main" val="40807163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الاستثمارات والتجهيزات</a:t>
            </a:r>
            <a:endParaRPr lang="en-US" sz="3467" dirty="0">
              <a:solidFill>
                <a:prstClr val="black"/>
              </a:solidFill>
              <a:latin typeface="Calibri" panose="020F0502020204030204"/>
            </a:endParaRPr>
          </a:p>
        </p:txBody>
      </p:sp>
      <p:sp>
        <p:nvSpPr>
          <p:cNvPr id="5" name="Text 3"/>
          <p:cNvSpPr/>
          <p:nvPr/>
        </p:nvSpPr>
        <p:spPr>
          <a:xfrm>
            <a:off x="487680" y="877824"/>
            <a:ext cx="11216640" cy="390144"/>
          </a:xfrm>
          <a:prstGeom prst="rect">
            <a:avLst/>
          </a:prstGeom>
          <a:noFill/>
          <a:ln/>
        </p:spPr>
        <p:txBody>
          <a:bodyPr wrap="square" rtlCol="0" anchor="ctr"/>
          <a:lstStyle/>
          <a:p>
            <a:pPr algn="r" defTabSz="1219170"/>
            <a:r>
              <a:rPr lang="en-US" sz="1733" dirty="0">
                <a:solidFill>
                  <a:srgbClr val="F4A832"/>
                </a:solidFill>
                <a:latin typeface="Calibri" pitchFamily="34" charset="0"/>
                <a:ea typeface="Calibri" pitchFamily="34" charset="-122"/>
                <a:cs typeface="Calibri" pitchFamily="34" charset="-120"/>
              </a:rPr>
              <a:t>الإجمالي: 2,898,000 دج</a:t>
            </a:r>
            <a:endParaRPr lang="en-US" sz="1733" dirty="0">
              <a:solidFill>
                <a:prstClr val="black"/>
              </a:solidFill>
              <a:latin typeface="Calibri" panose="020F0502020204030204"/>
            </a:endParaRPr>
          </a:p>
        </p:txBody>
      </p:sp>
      <p:sp>
        <p:nvSpPr>
          <p:cNvPr id="6" name="Shape 4"/>
          <p:cNvSpPr/>
          <p:nvPr/>
        </p:nvSpPr>
        <p:spPr>
          <a:xfrm>
            <a:off x="6096000" y="14020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7" name="Shape 5"/>
          <p:cNvSpPr/>
          <p:nvPr/>
        </p:nvSpPr>
        <p:spPr>
          <a:xfrm>
            <a:off x="11045952" y="1402080"/>
            <a:ext cx="414528" cy="1036320"/>
          </a:xfrm>
          <a:prstGeom prst="rect">
            <a:avLst/>
          </a:prstGeom>
          <a:solidFill>
            <a:srgbClr val="2AB4C0"/>
          </a:solidFill>
          <a:ln w="12700">
            <a:solidFill>
              <a:srgbClr val="2AB4C0"/>
            </a:solidFill>
            <a:prstDash val="solid"/>
          </a:ln>
        </p:spPr>
      </p:sp>
      <p:sp>
        <p:nvSpPr>
          <p:cNvPr id="8" name="Text 6"/>
          <p:cNvSpPr/>
          <p:nvPr/>
        </p:nvSpPr>
        <p:spPr>
          <a:xfrm rot="16200000">
            <a:off x="11045952" y="14020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8.6%</a:t>
            </a:r>
            <a:endParaRPr lang="en-US" sz="1200" dirty="0">
              <a:solidFill>
                <a:prstClr val="black"/>
              </a:solidFill>
              <a:latin typeface="Calibri" panose="020F0502020204030204"/>
            </a:endParaRPr>
          </a:p>
        </p:txBody>
      </p:sp>
      <p:sp>
        <p:nvSpPr>
          <p:cNvPr id="9" name="Text 7"/>
          <p:cNvSpPr/>
          <p:nvPr/>
        </p:nvSpPr>
        <p:spPr>
          <a:xfrm>
            <a:off x="6278880" y="14874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أجهزة الحاسوب والشاشات</a:t>
            </a:r>
            <a:endParaRPr lang="en-US" sz="1467" dirty="0">
              <a:solidFill>
                <a:prstClr val="black"/>
              </a:solidFill>
              <a:latin typeface="Calibri" panose="020F0502020204030204"/>
            </a:endParaRPr>
          </a:p>
        </p:txBody>
      </p:sp>
      <p:sp>
        <p:nvSpPr>
          <p:cNvPr id="10" name="Text 8"/>
          <p:cNvSpPr/>
          <p:nvPr/>
        </p:nvSpPr>
        <p:spPr>
          <a:xfrm>
            <a:off x="6278880" y="19141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250,000 دج</a:t>
            </a:r>
            <a:endParaRPr lang="en-US" sz="1867" dirty="0">
              <a:solidFill>
                <a:prstClr val="black"/>
              </a:solidFill>
              <a:latin typeface="Calibri" panose="020F0502020204030204"/>
            </a:endParaRPr>
          </a:p>
        </p:txBody>
      </p:sp>
      <p:sp>
        <p:nvSpPr>
          <p:cNvPr id="11" name="Shape 9"/>
          <p:cNvSpPr/>
          <p:nvPr/>
        </p:nvSpPr>
        <p:spPr>
          <a:xfrm>
            <a:off x="487680" y="14020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12" name="Shape 10"/>
          <p:cNvSpPr/>
          <p:nvPr/>
        </p:nvSpPr>
        <p:spPr>
          <a:xfrm>
            <a:off x="5437632" y="1402080"/>
            <a:ext cx="414528" cy="1036320"/>
          </a:xfrm>
          <a:prstGeom prst="rect">
            <a:avLst/>
          </a:prstGeom>
          <a:solidFill>
            <a:srgbClr val="2AB4C0"/>
          </a:solidFill>
          <a:ln w="12700">
            <a:solidFill>
              <a:srgbClr val="2AB4C0"/>
            </a:solidFill>
            <a:prstDash val="solid"/>
          </a:ln>
        </p:spPr>
      </p:sp>
      <p:sp>
        <p:nvSpPr>
          <p:cNvPr id="13" name="Text 11"/>
          <p:cNvSpPr/>
          <p:nvPr/>
        </p:nvSpPr>
        <p:spPr>
          <a:xfrm rot="16200000">
            <a:off x="5437632" y="14020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5.9%</a:t>
            </a:r>
            <a:endParaRPr lang="en-US" sz="1200" dirty="0">
              <a:solidFill>
                <a:prstClr val="black"/>
              </a:solidFill>
              <a:latin typeface="Calibri" panose="020F0502020204030204"/>
            </a:endParaRPr>
          </a:p>
        </p:txBody>
      </p:sp>
      <p:sp>
        <p:nvSpPr>
          <p:cNvPr id="14" name="Text 12"/>
          <p:cNvSpPr/>
          <p:nvPr/>
        </p:nvSpPr>
        <p:spPr>
          <a:xfrm>
            <a:off x="670560" y="14874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أثاث ومكيف وUPS</a:t>
            </a:r>
            <a:endParaRPr lang="en-US" sz="1467" dirty="0">
              <a:solidFill>
                <a:prstClr val="black"/>
              </a:solidFill>
              <a:latin typeface="Calibri" panose="020F0502020204030204"/>
            </a:endParaRPr>
          </a:p>
        </p:txBody>
      </p:sp>
      <p:sp>
        <p:nvSpPr>
          <p:cNvPr id="15" name="Text 13"/>
          <p:cNvSpPr/>
          <p:nvPr/>
        </p:nvSpPr>
        <p:spPr>
          <a:xfrm>
            <a:off x="670560" y="19141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170,000 دج</a:t>
            </a:r>
            <a:endParaRPr lang="en-US" sz="1867" dirty="0">
              <a:solidFill>
                <a:prstClr val="black"/>
              </a:solidFill>
              <a:latin typeface="Calibri" panose="020F0502020204030204"/>
            </a:endParaRPr>
          </a:p>
        </p:txBody>
      </p:sp>
      <p:sp>
        <p:nvSpPr>
          <p:cNvPr id="16" name="Shape 14"/>
          <p:cNvSpPr/>
          <p:nvPr/>
        </p:nvSpPr>
        <p:spPr>
          <a:xfrm>
            <a:off x="6096000" y="26212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17" name="Shape 15"/>
          <p:cNvSpPr/>
          <p:nvPr/>
        </p:nvSpPr>
        <p:spPr>
          <a:xfrm>
            <a:off x="11045952" y="2621280"/>
            <a:ext cx="414528" cy="1036320"/>
          </a:xfrm>
          <a:prstGeom prst="rect">
            <a:avLst/>
          </a:prstGeom>
          <a:solidFill>
            <a:srgbClr val="2AB4C0"/>
          </a:solidFill>
          <a:ln w="12700">
            <a:solidFill>
              <a:srgbClr val="2AB4C0"/>
            </a:solidFill>
            <a:prstDash val="solid"/>
          </a:ln>
        </p:spPr>
      </p:sp>
      <p:sp>
        <p:nvSpPr>
          <p:cNvPr id="18" name="Text 16"/>
          <p:cNvSpPr/>
          <p:nvPr/>
        </p:nvSpPr>
        <p:spPr>
          <a:xfrm rot="16200000">
            <a:off x="11045952" y="26212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4.2%</a:t>
            </a:r>
            <a:endParaRPr lang="en-US" sz="1200" dirty="0">
              <a:solidFill>
                <a:prstClr val="black"/>
              </a:solidFill>
              <a:latin typeface="Calibri" panose="020F0502020204030204"/>
            </a:endParaRPr>
          </a:p>
        </p:txBody>
      </p:sp>
      <p:sp>
        <p:nvSpPr>
          <p:cNvPr id="19" name="Text 17"/>
          <p:cNvSpPr/>
          <p:nvPr/>
        </p:nvSpPr>
        <p:spPr>
          <a:xfrm>
            <a:off x="6278880" y="27066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طابعة وراوتر وكاميرا</a:t>
            </a:r>
            <a:endParaRPr lang="en-US" sz="1467" dirty="0">
              <a:solidFill>
                <a:prstClr val="black"/>
              </a:solidFill>
              <a:latin typeface="Calibri" panose="020F0502020204030204"/>
            </a:endParaRPr>
          </a:p>
        </p:txBody>
      </p:sp>
      <p:sp>
        <p:nvSpPr>
          <p:cNvPr id="20" name="Text 18"/>
          <p:cNvSpPr/>
          <p:nvPr/>
        </p:nvSpPr>
        <p:spPr>
          <a:xfrm>
            <a:off x="6278880" y="31333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122,000 دج</a:t>
            </a:r>
            <a:endParaRPr lang="en-US" sz="1867" dirty="0">
              <a:solidFill>
                <a:prstClr val="black"/>
              </a:solidFill>
              <a:latin typeface="Calibri" panose="020F0502020204030204"/>
            </a:endParaRPr>
          </a:p>
        </p:txBody>
      </p:sp>
      <p:sp>
        <p:nvSpPr>
          <p:cNvPr id="21" name="Shape 19"/>
          <p:cNvSpPr/>
          <p:nvPr/>
        </p:nvSpPr>
        <p:spPr>
          <a:xfrm>
            <a:off x="487680" y="26212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22" name="Shape 20"/>
          <p:cNvSpPr/>
          <p:nvPr/>
        </p:nvSpPr>
        <p:spPr>
          <a:xfrm>
            <a:off x="5437632" y="2621280"/>
            <a:ext cx="414528" cy="1036320"/>
          </a:xfrm>
          <a:prstGeom prst="rect">
            <a:avLst/>
          </a:prstGeom>
          <a:solidFill>
            <a:srgbClr val="2AB4C0"/>
          </a:solidFill>
          <a:ln w="12700">
            <a:solidFill>
              <a:srgbClr val="2AB4C0"/>
            </a:solidFill>
            <a:prstDash val="solid"/>
          </a:ln>
        </p:spPr>
      </p:sp>
      <p:sp>
        <p:nvSpPr>
          <p:cNvPr id="23" name="Text 21"/>
          <p:cNvSpPr/>
          <p:nvPr/>
        </p:nvSpPr>
        <p:spPr>
          <a:xfrm rot="16200000">
            <a:off x="5437632" y="26212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3.1%</a:t>
            </a:r>
            <a:endParaRPr lang="en-US" sz="1200" dirty="0">
              <a:solidFill>
                <a:prstClr val="black"/>
              </a:solidFill>
              <a:latin typeface="Calibri" panose="020F0502020204030204"/>
            </a:endParaRPr>
          </a:p>
        </p:txBody>
      </p:sp>
      <p:sp>
        <p:nvSpPr>
          <p:cNvPr id="24" name="Text 22"/>
          <p:cNvSpPr/>
          <p:nvPr/>
        </p:nvSpPr>
        <p:spPr>
          <a:xfrm>
            <a:off x="670560" y="27066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خادم NAS وملحقات</a:t>
            </a:r>
            <a:endParaRPr lang="en-US" sz="1467" dirty="0">
              <a:solidFill>
                <a:prstClr val="black"/>
              </a:solidFill>
              <a:latin typeface="Calibri" panose="020F0502020204030204"/>
            </a:endParaRPr>
          </a:p>
        </p:txBody>
      </p:sp>
      <p:sp>
        <p:nvSpPr>
          <p:cNvPr id="25" name="Text 23"/>
          <p:cNvSpPr/>
          <p:nvPr/>
        </p:nvSpPr>
        <p:spPr>
          <a:xfrm>
            <a:off x="670560" y="31333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91,000 دج</a:t>
            </a:r>
            <a:endParaRPr lang="en-US" sz="1867" dirty="0">
              <a:solidFill>
                <a:prstClr val="black"/>
              </a:solidFill>
              <a:latin typeface="Calibri" panose="020F0502020204030204"/>
            </a:endParaRPr>
          </a:p>
        </p:txBody>
      </p:sp>
      <p:sp>
        <p:nvSpPr>
          <p:cNvPr id="26" name="Shape 24"/>
          <p:cNvSpPr/>
          <p:nvPr/>
        </p:nvSpPr>
        <p:spPr>
          <a:xfrm>
            <a:off x="6096000" y="38404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27" name="Shape 25"/>
          <p:cNvSpPr/>
          <p:nvPr/>
        </p:nvSpPr>
        <p:spPr>
          <a:xfrm>
            <a:off x="11045952" y="3840480"/>
            <a:ext cx="414528" cy="1036320"/>
          </a:xfrm>
          <a:prstGeom prst="rect">
            <a:avLst/>
          </a:prstGeom>
          <a:solidFill>
            <a:srgbClr val="2AB4C0"/>
          </a:solidFill>
          <a:ln w="12700">
            <a:solidFill>
              <a:srgbClr val="2AB4C0"/>
            </a:solidFill>
            <a:prstDash val="solid"/>
          </a:ln>
        </p:spPr>
      </p:sp>
      <p:sp>
        <p:nvSpPr>
          <p:cNvPr id="28" name="Text 26"/>
          <p:cNvSpPr/>
          <p:nvPr/>
        </p:nvSpPr>
        <p:spPr>
          <a:xfrm rot="16200000">
            <a:off x="11045952" y="38404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10.4%</a:t>
            </a:r>
            <a:endParaRPr lang="en-US" sz="1200" dirty="0">
              <a:solidFill>
                <a:prstClr val="black"/>
              </a:solidFill>
              <a:latin typeface="Calibri" panose="020F0502020204030204"/>
            </a:endParaRPr>
          </a:p>
        </p:txBody>
      </p:sp>
      <p:sp>
        <p:nvSpPr>
          <p:cNvPr id="29" name="Text 27"/>
          <p:cNvSpPr/>
          <p:nvPr/>
        </p:nvSpPr>
        <p:spPr>
          <a:xfrm>
            <a:off x="6278880" y="39258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استضافة سحابية (سنوية)</a:t>
            </a:r>
            <a:endParaRPr lang="en-US" sz="1467" dirty="0">
              <a:solidFill>
                <a:prstClr val="black"/>
              </a:solidFill>
              <a:latin typeface="Calibri" panose="020F0502020204030204"/>
            </a:endParaRPr>
          </a:p>
        </p:txBody>
      </p:sp>
      <p:sp>
        <p:nvSpPr>
          <p:cNvPr id="30" name="Text 28"/>
          <p:cNvSpPr/>
          <p:nvPr/>
        </p:nvSpPr>
        <p:spPr>
          <a:xfrm>
            <a:off x="6278880" y="43525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300,000 دج</a:t>
            </a:r>
            <a:endParaRPr lang="en-US" sz="1867" dirty="0">
              <a:solidFill>
                <a:prstClr val="black"/>
              </a:solidFill>
              <a:latin typeface="Calibri" panose="020F0502020204030204"/>
            </a:endParaRPr>
          </a:p>
        </p:txBody>
      </p:sp>
      <p:sp>
        <p:nvSpPr>
          <p:cNvPr id="31" name="Shape 29"/>
          <p:cNvSpPr/>
          <p:nvPr/>
        </p:nvSpPr>
        <p:spPr>
          <a:xfrm>
            <a:off x="487680" y="38404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32" name="Shape 30"/>
          <p:cNvSpPr/>
          <p:nvPr/>
        </p:nvSpPr>
        <p:spPr>
          <a:xfrm>
            <a:off x="5437632" y="3840480"/>
            <a:ext cx="414528" cy="1036320"/>
          </a:xfrm>
          <a:prstGeom prst="rect">
            <a:avLst/>
          </a:prstGeom>
          <a:solidFill>
            <a:srgbClr val="2AB4C0"/>
          </a:solidFill>
          <a:ln w="12700">
            <a:solidFill>
              <a:srgbClr val="2AB4C0"/>
            </a:solidFill>
            <a:prstDash val="solid"/>
          </a:ln>
        </p:spPr>
      </p:sp>
      <p:sp>
        <p:nvSpPr>
          <p:cNvPr id="33" name="Text 31"/>
          <p:cNvSpPr/>
          <p:nvPr/>
        </p:nvSpPr>
        <p:spPr>
          <a:xfrm rot="16200000">
            <a:off x="5437632" y="38404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51.8%</a:t>
            </a:r>
            <a:endParaRPr lang="en-US" sz="1200" dirty="0">
              <a:solidFill>
                <a:prstClr val="black"/>
              </a:solidFill>
              <a:latin typeface="Calibri" panose="020F0502020204030204"/>
            </a:endParaRPr>
          </a:p>
        </p:txBody>
      </p:sp>
      <p:sp>
        <p:nvSpPr>
          <p:cNvPr id="34" name="Text 32"/>
          <p:cNvSpPr/>
          <p:nvPr/>
        </p:nvSpPr>
        <p:spPr>
          <a:xfrm>
            <a:off x="670560" y="39258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تطوير منصة MaTax</a:t>
            </a:r>
            <a:endParaRPr lang="en-US" sz="1467" dirty="0">
              <a:solidFill>
                <a:prstClr val="black"/>
              </a:solidFill>
              <a:latin typeface="Calibri" panose="020F0502020204030204"/>
            </a:endParaRPr>
          </a:p>
        </p:txBody>
      </p:sp>
      <p:sp>
        <p:nvSpPr>
          <p:cNvPr id="35" name="Text 33"/>
          <p:cNvSpPr/>
          <p:nvPr/>
        </p:nvSpPr>
        <p:spPr>
          <a:xfrm>
            <a:off x="670560" y="43525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1,500,000 دج</a:t>
            </a:r>
            <a:endParaRPr lang="en-US" sz="1867" dirty="0">
              <a:solidFill>
                <a:prstClr val="black"/>
              </a:solidFill>
              <a:latin typeface="Calibri" panose="020F0502020204030204"/>
            </a:endParaRPr>
          </a:p>
        </p:txBody>
      </p:sp>
      <p:sp>
        <p:nvSpPr>
          <p:cNvPr id="36" name="Shape 34"/>
          <p:cNvSpPr/>
          <p:nvPr/>
        </p:nvSpPr>
        <p:spPr>
          <a:xfrm>
            <a:off x="6096000" y="50596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37" name="Shape 35"/>
          <p:cNvSpPr/>
          <p:nvPr/>
        </p:nvSpPr>
        <p:spPr>
          <a:xfrm>
            <a:off x="11045952" y="5059680"/>
            <a:ext cx="414528" cy="1036320"/>
          </a:xfrm>
          <a:prstGeom prst="rect">
            <a:avLst/>
          </a:prstGeom>
          <a:solidFill>
            <a:srgbClr val="2AB4C0"/>
          </a:solidFill>
          <a:ln w="12700">
            <a:solidFill>
              <a:srgbClr val="2AB4C0"/>
            </a:solidFill>
            <a:prstDash val="solid"/>
          </a:ln>
        </p:spPr>
      </p:sp>
      <p:sp>
        <p:nvSpPr>
          <p:cNvPr id="38" name="Text 36"/>
          <p:cNvSpPr/>
          <p:nvPr/>
        </p:nvSpPr>
        <p:spPr>
          <a:xfrm rot="16200000">
            <a:off x="11045952" y="50596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7.8%</a:t>
            </a:r>
            <a:endParaRPr lang="en-US" sz="1200" dirty="0">
              <a:solidFill>
                <a:prstClr val="black"/>
              </a:solidFill>
              <a:latin typeface="Calibri" panose="020F0502020204030204"/>
            </a:endParaRPr>
          </a:p>
        </p:txBody>
      </p:sp>
      <p:sp>
        <p:nvSpPr>
          <p:cNvPr id="39" name="Text 37"/>
          <p:cNvSpPr/>
          <p:nvPr/>
        </p:nvSpPr>
        <p:spPr>
          <a:xfrm>
            <a:off x="6278880" y="51450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ERP جبائي + SSL + نطاق</a:t>
            </a:r>
            <a:endParaRPr lang="en-US" sz="1467" dirty="0">
              <a:solidFill>
                <a:prstClr val="black"/>
              </a:solidFill>
              <a:latin typeface="Calibri" panose="020F0502020204030204"/>
            </a:endParaRPr>
          </a:p>
        </p:txBody>
      </p:sp>
      <p:sp>
        <p:nvSpPr>
          <p:cNvPr id="40" name="Text 38"/>
          <p:cNvSpPr/>
          <p:nvPr/>
        </p:nvSpPr>
        <p:spPr>
          <a:xfrm>
            <a:off x="6278880" y="55717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225,000 دج</a:t>
            </a:r>
            <a:endParaRPr lang="en-US" sz="1867" dirty="0">
              <a:solidFill>
                <a:prstClr val="black"/>
              </a:solidFill>
              <a:latin typeface="Calibri" panose="020F0502020204030204"/>
            </a:endParaRPr>
          </a:p>
        </p:txBody>
      </p:sp>
      <p:sp>
        <p:nvSpPr>
          <p:cNvPr id="41" name="Shape 39"/>
          <p:cNvSpPr/>
          <p:nvPr/>
        </p:nvSpPr>
        <p:spPr>
          <a:xfrm>
            <a:off x="487680" y="5059680"/>
            <a:ext cx="5364480" cy="103632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42" name="Shape 40"/>
          <p:cNvSpPr/>
          <p:nvPr/>
        </p:nvSpPr>
        <p:spPr>
          <a:xfrm>
            <a:off x="5437632" y="5059680"/>
            <a:ext cx="414528" cy="1036320"/>
          </a:xfrm>
          <a:prstGeom prst="rect">
            <a:avLst/>
          </a:prstGeom>
          <a:solidFill>
            <a:srgbClr val="2AB4C0"/>
          </a:solidFill>
          <a:ln w="12700">
            <a:solidFill>
              <a:srgbClr val="2AB4C0"/>
            </a:solidFill>
            <a:prstDash val="solid"/>
          </a:ln>
        </p:spPr>
      </p:sp>
      <p:sp>
        <p:nvSpPr>
          <p:cNvPr id="43" name="Text 41"/>
          <p:cNvSpPr/>
          <p:nvPr/>
        </p:nvSpPr>
        <p:spPr>
          <a:xfrm rot="16200000">
            <a:off x="5437632" y="5059680"/>
            <a:ext cx="414528" cy="1036320"/>
          </a:xfrm>
          <a:prstGeom prst="rect">
            <a:avLst/>
          </a:prstGeom>
          <a:noFill/>
          <a:ln/>
        </p:spPr>
        <p:txBody>
          <a:bodyPr wrap="square" lIns="0" tIns="0" rIns="0" bIns="0" rtlCol="0" anchor="ctr"/>
          <a:lstStyle/>
          <a:p>
            <a:pPr algn="ctr" defTabSz="1219170"/>
            <a:r>
              <a:rPr lang="en-US" sz="1200" b="1" dirty="0">
                <a:solidFill>
                  <a:srgbClr val="0D1B2A"/>
                </a:solidFill>
                <a:latin typeface="Calibri" panose="020F0502020204030204"/>
              </a:rPr>
              <a:t>8.3%</a:t>
            </a:r>
            <a:endParaRPr lang="en-US" sz="1200" dirty="0">
              <a:solidFill>
                <a:prstClr val="black"/>
              </a:solidFill>
              <a:latin typeface="Calibri" panose="020F0502020204030204"/>
            </a:endParaRPr>
          </a:p>
        </p:txBody>
      </p:sp>
      <p:sp>
        <p:nvSpPr>
          <p:cNvPr id="44" name="Text 42"/>
          <p:cNvSpPr/>
          <p:nvPr/>
        </p:nvSpPr>
        <p:spPr>
          <a:xfrm>
            <a:off x="670560" y="5145024"/>
            <a:ext cx="4632960" cy="365760"/>
          </a:xfrm>
          <a:prstGeom prst="rect">
            <a:avLst/>
          </a:prstGeom>
          <a:noFill/>
          <a:ln/>
        </p:spPr>
        <p:txBody>
          <a:bodyPr wrap="square" lIns="0" tIns="0" rIns="0" bIns="0" rtlCol="0" anchor="ctr"/>
          <a:lstStyle/>
          <a:p>
            <a:pPr algn="r" defTabSz="1219170"/>
            <a:r>
              <a:rPr lang="en-US" sz="1467" b="1" dirty="0">
                <a:solidFill>
                  <a:srgbClr val="FFFFFF"/>
                </a:solidFill>
                <a:latin typeface="Calibri" pitchFamily="34" charset="0"/>
                <a:ea typeface="Calibri" pitchFamily="34" charset="-122"/>
                <a:cs typeface="Calibri" pitchFamily="34" charset="-120"/>
              </a:rPr>
              <a:t>متفرقات أخرى</a:t>
            </a:r>
            <a:endParaRPr lang="en-US" sz="1467" dirty="0">
              <a:solidFill>
                <a:prstClr val="black"/>
              </a:solidFill>
              <a:latin typeface="Calibri" panose="020F0502020204030204"/>
            </a:endParaRPr>
          </a:p>
        </p:txBody>
      </p:sp>
      <p:sp>
        <p:nvSpPr>
          <p:cNvPr id="45" name="Text 43"/>
          <p:cNvSpPr/>
          <p:nvPr/>
        </p:nvSpPr>
        <p:spPr>
          <a:xfrm>
            <a:off x="670560" y="5571744"/>
            <a:ext cx="4632960" cy="365760"/>
          </a:xfrm>
          <a:prstGeom prst="rect">
            <a:avLst/>
          </a:prstGeom>
          <a:noFill/>
          <a:ln/>
        </p:spPr>
        <p:txBody>
          <a:bodyPr wrap="square" lIns="0" tIns="0" rIns="0" bIns="0" rtlCol="0" anchor="ctr"/>
          <a:lstStyle/>
          <a:p>
            <a:pPr algn="r" defTabSz="1219170"/>
            <a:r>
              <a:rPr lang="en-US" sz="1867" b="1" dirty="0">
                <a:solidFill>
                  <a:srgbClr val="F4A832"/>
                </a:solidFill>
                <a:latin typeface="Calibri" pitchFamily="34" charset="0"/>
                <a:ea typeface="Calibri" pitchFamily="34" charset="-122"/>
                <a:cs typeface="Calibri" pitchFamily="34" charset="-120"/>
              </a:rPr>
              <a:t>240,000 دج</a:t>
            </a:r>
            <a:endParaRPr lang="en-US" sz="1867" dirty="0">
              <a:solidFill>
                <a:prstClr val="black"/>
              </a:solidFill>
              <a:latin typeface="Calibri" panose="020F0502020204030204"/>
            </a:endParaRPr>
          </a:p>
        </p:txBody>
      </p:sp>
      <p:sp>
        <p:nvSpPr>
          <p:cNvPr id="46" name="Shape 44"/>
          <p:cNvSpPr/>
          <p:nvPr/>
        </p:nvSpPr>
        <p:spPr>
          <a:xfrm>
            <a:off x="487680" y="6217920"/>
            <a:ext cx="11216640" cy="487680"/>
          </a:xfrm>
          <a:prstGeom prst="rect">
            <a:avLst/>
          </a:prstGeom>
          <a:solidFill>
            <a:srgbClr val="F4A832"/>
          </a:solidFill>
          <a:ln w="12700">
            <a:solidFill>
              <a:srgbClr val="F4A832"/>
            </a:solidFill>
            <a:prstDash val="solid"/>
          </a:ln>
        </p:spPr>
      </p:sp>
      <p:sp>
        <p:nvSpPr>
          <p:cNvPr id="47" name="Text 45"/>
          <p:cNvSpPr/>
          <p:nvPr/>
        </p:nvSpPr>
        <p:spPr>
          <a:xfrm>
            <a:off x="487680" y="6217920"/>
            <a:ext cx="11216640" cy="487680"/>
          </a:xfrm>
          <a:prstGeom prst="rect">
            <a:avLst/>
          </a:prstGeom>
          <a:noFill/>
          <a:ln/>
        </p:spPr>
        <p:txBody>
          <a:bodyPr wrap="square" lIns="0" tIns="0" rIns="0" bIns="0" rtlCol="0" anchor="ctr"/>
          <a:lstStyle/>
          <a:p>
            <a:pPr algn="ctr" defTabSz="1219170"/>
            <a:r>
              <a:rPr lang="en-US" sz="1867" b="1" dirty="0">
                <a:solidFill>
                  <a:srgbClr val="0D1B2A"/>
                </a:solidFill>
                <a:latin typeface="Calibri" pitchFamily="34" charset="0"/>
                <a:ea typeface="Calibri" pitchFamily="34" charset="-122"/>
                <a:cs typeface="Calibri" pitchFamily="34" charset="-120"/>
              </a:rPr>
              <a:t>الإجمالي الكلي للاستثمارات: 2,898,000 دج</a:t>
            </a:r>
            <a:endParaRPr lang="en-US" sz="1867" dirty="0">
              <a:solidFill>
                <a:prstClr val="black"/>
              </a:solidFill>
              <a:latin typeface="Calibri" panose="020F0502020204030204"/>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كتلة الأجور — السنة الأولى</a:t>
            </a:r>
            <a:endParaRPr lang="en-US" sz="3467" dirty="0">
              <a:solidFill>
                <a:prstClr val="black"/>
              </a:solidFill>
              <a:latin typeface="Calibri" panose="020F0502020204030204"/>
            </a:endParaRPr>
          </a:p>
        </p:txBody>
      </p:sp>
      <p:sp>
        <p:nvSpPr>
          <p:cNvPr id="5" name="Shape 3"/>
          <p:cNvSpPr/>
          <p:nvPr/>
        </p:nvSpPr>
        <p:spPr>
          <a:xfrm>
            <a:off x="487680" y="1097280"/>
            <a:ext cx="11216640" cy="463296"/>
          </a:xfrm>
          <a:prstGeom prst="rect">
            <a:avLst/>
          </a:prstGeom>
          <a:solidFill>
            <a:srgbClr val="F4A832"/>
          </a:solidFill>
          <a:ln w="12700">
            <a:solidFill>
              <a:srgbClr val="F4A832"/>
            </a:solidFill>
            <a:prstDash val="solid"/>
          </a:ln>
        </p:spPr>
      </p:sp>
      <p:sp>
        <p:nvSpPr>
          <p:cNvPr id="6" name="Text 4"/>
          <p:cNvSpPr/>
          <p:nvPr/>
        </p:nvSpPr>
        <p:spPr>
          <a:xfrm>
            <a:off x="487680" y="1097280"/>
            <a:ext cx="2072640" cy="463296"/>
          </a:xfrm>
          <a:prstGeom prst="rect">
            <a:avLst/>
          </a:prstGeom>
          <a:noFill/>
          <a:ln/>
        </p:spPr>
        <p:txBody>
          <a:bodyPr wrap="square" lIns="33867" tIns="33867" rIns="33867" bIns="33867" rtlCol="0" anchor="ctr"/>
          <a:lstStyle/>
          <a:p>
            <a:pPr algn="ctr" defTabSz="1219170"/>
            <a:r>
              <a:rPr lang="en-US" sz="1267" b="1" dirty="0">
                <a:solidFill>
                  <a:srgbClr val="0D1B2A"/>
                </a:solidFill>
                <a:latin typeface="Calibri" pitchFamily="34" charset="0"/>
                <a:ea typeface="Calibri" pitchFamily="34" charset="-122"/>
                <a:cs typeface="Calibri" pitchFamily="34" charset="-120"/>
              </a:rPr>
              <a:t>المبلغ السنوي</a:t>
            </a:r>
            <a:endParaRPr lang="en-US" sz="1267" dirty="0">
              <a:solidFill>
                <a:prstClr val="black"/>
              </a:solidFill>
              <a:latin typeface="Calibri" panose="020F0502020204030204"/>
            </a:endParaRPr>
          </a:p>
        </p:txBody>
      </p:sp>
      <p:sp>
        <p:nvSpPr>
          <p:cNvPr id="7" name="Text 5"/>
          <p:cNvSpPr/>
          <p:nvPr/>
        </p:nvSpPr>
        <p:spPr>
          <a:xfrm>
            <a:off x="2560320" y="1097280"/>
            <a:ext cx="1584960" cy="463296"/>
          </a:xfrm>
          <a:prstGeom prst="rect">
            <a:avLst/>
          </a:prstGeom>
          <a:noFill/>
          <a:ln/>
        </p:spPr>
        <p:txBody>
          <a:bodyPr wrap="square" lIns="33867" tIns="33867" rIns="33867" bIns="33867" rtlCol="0" anchor="ctr"/>
          <a:lstStyle/>
          <a:p>
            <a:pPr algn="ctr" defTabSz="1219170"/>
            <a:r>
              <a:rPr lang="en-US" sz="1267" b="1" dirty="0">
                <a:solidFill>
                  <a:srgbClr val="0D1B2A"/>
                </a:solidFill>
                <a:latin typeface="Calibri" pitchFamily="34" charset="0"/>
                <a:ea typeface="Calibri" pitchFamily="34" charset="-122"/>
                <a:cs typeface="Calibri" pitchFamily="34" charset="-120"/>
              </a:rPr>
              <a:t>صافي الراتب</a:t>
            </a:r>
            <a:endParaRPr lang="en-US" sz="1267" dirty="0">
              <a:solidFill>
                <a:prstClr val="black"/>
              </a:solidFill>
              <a:latin typeface="Calibri" panose="020F0502020204030204"/>
            </a:endParaRPr>
          </a:p>
        </p:txBody>
      </p:sp>
      <p:sp>
        <p:nvSpPr>
          <p:cNvPr id="8" name="Text 6"/>
          <p:cNvSpPr/>
          <p:nvPr/>
        </p:nvSpPr>
        <p:spPr>
          <a:xfrm>
            <a:off x="4145280" y="1097280"/>
            <a:ext cx="1097280" cy="463296"/>
          </a:xfrm>
          <a:prstGeom prst="rect">
            <a:avLst/>
          </a:prstGeom>
          <a:noFill/>
          <a:ln/>
        </p:spPr>
        <p:txBody>
          <a:bodyPr wrap="square" lIns="33867" tIns="33867" rIns="33867" bIns="33867" rtlCol="0" anchor="ctr"/>
          <a:lstStyle/>
          <a:p>
            <a:pPr algn="ctr" defTabSz="1219170"/>
            <a:r>
              <a:rPr lang="en-US" sz="1267" b="1" dirty="0">
                <a:solidFill>
                  <a:srgbClr val="0D1B2A"/>
                </a:solidFill>
                <a:latin typeface="Calibri" pitchFamily="34" charset="0"/>
                <a:ea typeface="Calibri" pitchFamily="34" charset="-122"/>
                <a:cs typeface="Calibri" pitchFamily="34" charset="-120"/>
              </a:rPr>
              <a:t>IRG</a:t>
            </a:r>
            <a:endParaRPr lang="en-US" sz="1267" dirty="0">
              <a:solidFill>
                <a:prstClr val="black"/>
              </a:solidFill>
              <a:latin typeface="Calibri" panose="020F0502020204030204"/>
            </a:endParaRPr>
          </a:p>
        </p:txBody>
      </p:sp>
      <p:sp>
        <p:nvSpPr>
          <p:cNvPr id="9" name="Text 7"/>
          <p:cNvSpPr/>
          <p:nvPr/>
        </p:nvSpPr>
        <p:spPr>
          <a:xfrm>
            <a:off x="5242560" y="1097280"/>
            <a:ext cx="1219200" cy="463296"/>
          </a:xfrm>
          <a:prstGeom prst="rect">
            <a:avLst/>
          </a:prstGeom>
          <a:noFill/>
          <a:ln/>
        </p:spPr>
        <p:txBody>
          <a:bodyPr wrap="square" lIns="33867" tIns="33867" rIns="33867" bIns="33867" rtlCol="0" anchor="ctr"/>
          <a:lstStyle/>
          <a:p>
            <a:pPr algn="ctr" defTabSz="1219170"/>
            <a:r>
              <a:rPr lang="en-US" sz="1267" b="1" dirty="0">
                <a:solidFill>
                  <a:srgbClr val="0D1B2A"/>
                </a:solidFill>
                <a:latin typeface="Calibri" pitchFamily="34" charset="0"/>
                <a:ea typeface="Calibri" pitchFamily="34" charset="-122"/>
                <a:cs typeface="Calibri" pitchFamily="34" charset="-120"/>
              </a:rPr>
              <a:t>اقتطاع 9%</a:t>
            </a:r>
            <a:endParaRPr lang="en-US" sz="1267" dirty="0">
              <a:solidFill>
                <a:prstClr val="black"/>
              </a:solidFill>
              <a:latin typeface="Calibri" panose="020F0502020204030204"/>
            </a:endParaRPr>
          </a:p>
        </p:txBody>
      </p:sp>
      <p:sp>
        <p:nvSpPr>
          <p:cNvPr id="10" name="Text 8"/>
          <p:cNvSpPr/>
          <p:nvPr/>
        </p:nvSpPr>
        <p:spPr>
          <a:xfrm>
            <a:off x="6461760" y="1097280"/>
            <a:ext cx="2316480" cy="463296"/>
          </a:xfrm>
          <a:prstGeom prst="rect">
            <a:avLst/>
          </a:prstGeom>
          <a:noFill/>
          <a:ln/>
        </p:spPr>
        <p:txBody>
          <a:bodyPr wrap="square" lIns="33867" tIns="33867" rIns="33867" bIns="33867" rtlCol="0" anchor="ctr"/>
          <a:lstStyle/>
          <a:p>
            <a:pPr algn="ctr" defTabSz="1219170"/>
            <a:r>
              <a:rPr lang="en-US" sz="1267" b="1" dirty="0">
                <a:solidFill>
                  <a:srgbClr val="0D1B2A"/>
                </a:solidFill>
                <a:latin typeface="Calibri" pitchFamily="34" charset="0"/>
                <a:ea typeface="Calibri" pitchFamily="34" charset="-122"/>
                <a:cs typeface="Calibri" pitchFamily="34" charset="-120"/>
              </a:rPr>
              <a:t>الراتب الأساسي + منح</a:t>
            </a:r>
            <a:endParaRPr lang="en-US" sz="1267" dirty="0">
              <a:solidFill>
                <a:prstClr val="black"/>
              </a:solidFill>
              <a:latin typeface="Calibri" panose="020F0502020204030204"/>
            </a:endParaRPr>
          </a:p>
        </p:txBody>
      </p:sp>
      <p:sp>
        <p:nvSpPr>
          <p:cNvPr id="11" name="Text 9"/>
          <p:cNvSpPr/>
          <p:nvPr/>
        </p:nvSpPr>
        <p:spPr>
          <a:xfrm>
            <a:off x="8778240" y="1097280"/>
            <a:ext cx="2926080" cy="463296"/>
          </a:xfrm>
          <a:prstGeom prst="rect">
            <a:avLst/>
          </a:prstGeom>
          <a:noFill/>
          <a:ln/>
        </p:spPr>
        <p:txBody>
          <a:bodyPr wrap="square" lIns="33867" tIns="33867" rIns="33867" bIns="33867" rtlCol="0" anchor="ctr"/>
          <a:lstStyle/>
          <a:p>
            <a:pPr algn="ctr" defTabSz="1219170"/>
            <a:r>
              <a:rPr lang="en-US" sz="1267" b="1" dirty="0">
                <a:solidFill>
                  <a:srgbClr val="0D1B2A"/>
                </a:solidFill>
                <a:latin typeface="Calibri" pitchFamily="34" charset="0"/>
                <a:ea typeface="Calibri" pitchFamily="34" charset="-122"/>
                <a:cs typeface="Calibri" pitchFamily="34" charset="-120"/>
              </a:rPr>
              <a:t>المنصب</a:t>
            </a:r>
            <a:endParaRPr lang="en-US" sz="1267" dirty="0">
              <a:solidFill>
                <a:prstClr val="black"/>
              </a:solidFill>
              <a:latin typeface="Calibri" panose="020F0502020204030204"/>
            </a:endParaRPr>
          </a:p>
        </p:txBody>
      </p:sp>
      <p:sp>
        <p:nvSpPr>
          <p:cNvPr id="12" name="Shape 10"/>
          <p:cNvSpPr/>
          <p:nvPr/>
        </p:nvSpPr>
        <p:spPr>
          <a:xfrm>
            <a:off x="487680" y="1621536"/>
            <a:ext cx="11216640" cy="755904"/>
          </a:xfrm>
          <a:prstGeom prst="rect">
            <a:avLst/>
          </a:prstGeom>
          <a:solidFill>
            <a:srgbClr val="162032"/>
          </a:solidFill>
          <a:ln w="12700">
            <a:solidFill>
              <a:srgbClr val="1B2A3B"/>
            </a:solidFill>
            <a:prstDash val="solid"/>
          </a:ln>
        </p:spPr>
      </p:sp>
      <p:sp>
        <p:nvSpPr>
          <p:cNvPr id="13" name="Text 11"/>
          <p:cNvSpPr/>
          <p:nvPr/>
        </p:nvSpPr>
        <p:spPr>
          <a:xfrm>
            <a:off x="487680" y="1682496"/>
            <a:ext cx="2072640" cy="633984"/>
          </a:xfrm>
          <a:prstGeom prst="rect">
            <a:avLst/>
          </a:prstGeom>
          <a:noFill/>
          <a:ln/>
        </p:spPr>
        <p:txBody>
          <a:bodyPr wrap="square" lIns="50800" tIns="50800" rIns="50800" bIns="50800" rtlCol="0" anchor="ctr"/>
          <a:lstStyle/>
          <a:p>
            <a:pPr algn="ctr" defTabSz="1219170"/>
            <a:r>
              <a:rPr lang="en-US" sz="1333" b="1" dirty="0">
                <a:solidFill>
                  <a:srgbClr val="F4A832"/>
                </a:solidFill>
                <a:latin typeface="Calibri" pitchFamily="34" charset="0"/>
                <a:ea typeface="Calibri" pitchFamily="34" charset="-122"/>
                <a:cs typeface="Calibri" pitchFamily="34" charset="-120"/>
              </a:rPr>
              <a:t>1,478,400 دج</a:t>
            </a:r>
            <a:endParaRPr lang="en-US" sz="1333" dirty="0">
              <a:solidFill>
                <a:prstClr val="black"/>
              </a:solidFill>
              <a:latin typeface="Calibri" panose="020F0502020204030204"/>
            </a:endParaRPr>
          </a:p>
        </p:txBody>
      </p:sp>
      <p:sp>
        <p:nvSpPr>
          <p:cNvPr id="14" name="Text 12"/>
          <p:cNvSpPr/>
          <p:nvPr/>
        </p:nvSpPr>
        <p:spPr>
          <a:xfrm>
            <a:off x="2560320" y="1682496"/>
            <a:ext cx="158496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70,300 دج</a:t>
            </a:r>
            <a:endParaRPr lang="en-US" sz="1333" dirty="0">
              <a:solidFill>
                <a:prstClr val="black"/>
              </a:solidFill>
              <a:latin typeface="Calibri" panose="020F0502020204030204"/>
            </a:endParaRPr>
          </a:p>
        </p:txBody>
      </p:sp>
      <p:sp>
        <p:nvSpPr>
          <p:cNvPr id="15" name="Text 13"/>
          <p:cNvSpPr/>
          <p:nvPr/>
        </p:nvSpPr>
        <p:spPr>
          <a:xfrm>
            <a:off x="4145280" y="1682496"/>
            <a:ext cx="10972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12,050 دج</a:t>
            </a:r>
            <a:endParaRPr lang="en-US" sz="1333" dirty="0">
              <a:solidFill>
                <a:prstClr val="black"/>
              </a:solidFill>
              <a:latin typeface="Calibri" panose="020F0502020204030204"/>
            </a:endParaRPr>
          </a:p>
        </p:txBody>
      </p:sp>
      <p:sp>
        <p:nvSpPr>
          <p:cNvPr id="16" name="Text 14"/>
          <p:cNvSpPr/>
          <p:nvPr/>
        </p:nvSpPr>
        <p:spPr>
          <a:xfrm>
            <a:off x="5242560" y="1682496"/>
            <a:ext cx="121920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7,650 دج</a:t>
            </a:r>
            <a:endParaRPr lang="en-US" sz="1333" dirty="0">
              <a:solidFill>
                <a:prstClr val="black"/>
              </a:solidFill>
              <a:latin typeface="Calibri" panose="020F0502020204030204"/>
            </a:endParaRPr>
          </a:p>
        </p:txBody>
      </p:sp>
      <p:sp>
        <p:nvSpPr>
          <p:cNvPr id="17" name="Text 15"/>
          <p:cNvSpPr/>
          <p:nvPr/>
        </p:nvSpPr>
        <p:spPr>
          <a:xfrm>
            <a:off x="6461760" y="1682496"/>
            <a:ext cx="23164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85,000 دج</a:t>
            </a:r>
            <a:endParaRPr lang="en-US" sz="1333" dirty="0">
              <a:solidFill>
                <a:prstClr val="black"/>
              </a:solidFill>
              <a:latin typeface="Calibri" panose="020F0502020204030204"/>
            </a:endParaRPr>
          </a:p>
        </p:txBody>
      </p:sp>
      <p:sp>
        <p:nvSpPr>
          <p:cNvPr id="18" name="Text 16"/>
          <p:cNvSpPr/>
          <p:nvPr/>
        </p:nvSpPr>
        <p:spPr>
          <a:xfrm>
            <a:off x="8778240" y="1682496"/>
            <a:ext cx="2926080" cy="633984"/>
          </a:xfrm>
          <a:prstGeom prst="rect">
            <a:avLst/>
          </a:prstGeom>
          <a:noFill/>
          <a:ln/>
        </p:spPr>
        <p:txBody>
          <a:bodyPr wrap="square" lIns="50800" tIns="50800" rIns="50800" bIns="50800" rtlCol="0" anchor="ctr"/>
          <a:lstStyle/>
          <a:p>
            <a:pPr algn="r" defTabSz="1219170"/>
            <a:r>
              <a:rPr lang="en-US" sz="1467" dirty="0">
                <a:solidFill>
                  <a:srgbClr val="FFFFFF"/>
                </a:solidFill>
                <a:latin typeface="Calibri" pitchFamily="34" charset="0"/>
                <a:ea typeface="Calibri" pitchFamily="34" charset="-122"/>
                <a:cs typeface="Calibri" pitchFamily="34" charset="-120"/>
              </a:rPr>
              <a:t>مديرة المشروع / مطورة أولى</a:t>
            </a:r>
            <a:endParaRPr lang="en-US" sz="1467" dirty="0">
              <a:solidFill>
                <a:prstClr val="black"/>
              </a:solidFill>
              <a:latin typeface="Calibri" panose="020F0502020204030204"/>
            </a:endParaRPr>
          </a:p>
        </p:txBody>
      </p:sp>
      <p:sp>
        <p:nvSpPr>
          <p:cNvPr id="19" name="Shape 17"/>
          <p:cNvSpPr/>
          <p:nvPr/>
        </p:nvSpPr>
        <p:spPr>
          <a:xfrm>
            <a:off x="487680" y="2499360"/>
            <a:ext cx="11216640" cy="755904"/>
          </a:xfrm>
          <a:prstGeom prst="rect">
            <a:avLst/>
          </a:prstGeom>
          <a:solidFill>
            <a:srgbClr val="1B2A3B"/>
          </a:solidFill>
          <a:ln w="12700">
            <a:solidFill>
              <a:srgbClr val="1B2A3B"/>
            </a:solidFill>
            <a:prstDash val="solid"/>
          </a:ln>
        </p:spPr>
      </p:sp>
      <p:sp>
        <p:nvSpPr>
          <p:cNvPr id="20" name="Text 18"/>
          <p:cNvSpPr/>
          <p:nvPr/>
        </p:nvSpPr>
        <p:spPr>
          <a:xfrm>
            <a:off x="487680" y="2560320"/>
            <a:ext cx="2072640" cy="633984"/>
          </a:xfrm>
          <a:prstGeom prst="rect">
            <a:avLst/>
          </a:prstGeom>
          <a:noFill/>
          <a:ln/>
        </p:spPr>
        <p:txBody>
          <a:bodyPr wrap="square" lIns="50800" tIns="50800" rIns="50800" bIns="50800" rtlCol="0" anchor="ctr"/>
          <a:lstStyle/>
          <a:p>
            <a:pPr algn="ctr" defTabSz="1219170"/>
            <a:r>
              <a:rPr lang="en-US" sz="1333" b="1" dirty="0">
                <a:solidFill>
                  <a:srgbClr val="F4A832"/>
                </a:solidFill>
                <a:latin typeface="Calibri" pitchFamily="34" charset="0"/>
                <a:ea typeface="Calibri" pitchFamily="34" charset="-122"/>
                <a:cs typeface="Calibri" pitchFamily="34" charset="-120"/>
              </a:rPr>
              <a:t>924,000 دج</a:t>
            </a:r>
            <a:endParaRPr lang="en-US" sz="1333" dirty="0">
              <a:solidFill>
                <a:prstClr val="black"/>
              </a:solidFill>
              <a:latin typeface="Calibri" panose="020F0502020204030204"/>
            </a:endParaRPr>
          </a:p>
        </p:txBody>
      </p:sp>
      <p:sp>
        <p:nvSpPr>
          <p:cNvPr id="21" name="Text 19"/>
          <p:cNvSpPr/>
          <p:nvPr/>
        </p:nvSpPr>
        <p:spPr>
          <a:xfrm>
            <a:off x="2560320" y="2560320"/>
            <a:ext cx="158496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44,250 دج</a:t>
            </a:r>
            <a:endParaRPr lang="en-US" sz="1333" dirty="0">
              <a:solidFill>
                <a:prstClr val="black"/>
              </a:solidFill>
              <a:latin typeface="Calibri" panose="020F0502020204030204"/>
            </a:endParaRPr>
          </a:p>
        </p:txBody>
      </p:sp>
      <p:sp>
        <p:nvSpPr>
          <p:cNvPr id="22" name="Text 20"/>
          <p:cNvSpPr/>
          <p:nvPr/>
        </p:nvSpPr>
        <p:spPr>
          <a:xfrm>
            <a:off x="4145280" y="2560320"/>
            <a:ext cx="10972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5,800 دج</a:t>
            </a:r>
            <a:endParaRPr lang="en-US" sz="1333" dirty="0">
              <a:solidFill>
                <a:prstClr val="black"/>
              </a:solidFill>
              <a:latin typeface="Calibri" panose="020F0502020204030204"/>
            </a:endParaRPr>
          </a:p>
        </p:txBody>
      </p:sp>
      <p:sp>
        <p:nvSpPr>
          <p:cNvPr id="23" name="Text 21"/>
          <p:cNvSpPr/>
          <p:nvPr/>
        </p:nvSpPr>
        <p:spPr>
          <a:xfrm>
            <a:off x="5242560" y="2560320"/>
            <a:ext cx="121920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4,950 دج</a:t>
            </a:r>
            <a:endParaRPr lang="en-US" sz="1333" dirty="0">
              <a:solidFill>
                <a:prstClr val="black"/>
              </a:solidFill>
              <a:latin typeface="Calibri" panose="020F0502020204030204"/>
            </a:endParaRPr>
          </a:p>
        </p:txBody>
      </p:sp>
      <p:sp>
        <p:nvSpPr>
          <p:cNvPr id="24" name="Text 22"/>
          <p:cNvSpPr/>
          <p:nvPr/>
        </p:nvSpPr>
        <p:spPr>
          <a:xfrm>
            <a:off x="6461760" y="2560320"/>
            <a:ext cx="23164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55,000 دج</a:t>
            </a:r>
            <a:endParaRPr lang="en-US" sz="1333" dirty="0">
              <a:solidFill>
                <a:prstClr val="black"/>
              </a:solidFill>
              <a:latin typeface="Calibri" panose="020F0502020204030204"/>
            </a:endParaRPr>
          </a:p>
        </p:txBody>
      </p:sp>
      <p:sp>
        <p:nvSpPr>
          <p:cNvPr id="25" name="Text 23"/>
          <p:cNvSpPr/>
          <p:nvPr/>
        </p:nvSpPr>
        <p:spPr>
          <a:xfrm>
            <a:off x="8778240" y="2560320"/>
            <a:ext cx="2926080" cy="633984"/>
          </a:xfrm>
          <a:prstGeom prst="rect">
            <a:avLst/>
          </a:prstGeom>
          <a:noFill/>
          <a:ln/>
        </p:spPr>
        <p:txBody>
          <a:bodyPr wrap="square" lIns="50800" tIns="50800" rIns="50800" bIns="50800" rtlCol="0" anchor="ctr"/>
          <a:lstStyle/>
          <a:p>
            <a:pPr algn="r" defTabSz="1219170"/>
            <a:r>
              <a:rPr lang="en-US" sz="1467" dirty="0">
                <a:solidFill>
                  <a:srgbClr val="FFFFFF"/>
                </a:solidFill>
                <a:latin typeface="Calibri" pitchFamily="34" charset="0"/>
                <a:ea typeface="Calibri" pitchFamily="34" charset="-122"/>
                <a:cs typeface="Calibri" pitchFamily="34" charset="-120"/>
              </a:rPr>
              <a:t>مسؤول التسويق الرقمي</a:t>
            </a:r>
            <a:endParaRPr lang="en-US" sz="1467" dirty="0">
              <a:solidFill>
                <a:prstClr val="black"/>
              </a:solidFill>
              <a:latin typeface="Calibri" panose="020F0502020204030204"/>
            </a:endParaRPr>
          </a:p>
        </p:txBody>
      </p:sp>
      <p:sp>
        <p:nvSpPr>
          <p:cNvPr id="26" name="Shape 24"/>
          <p:cNvSpPr/>
          <p:nvPr/>
        </p:nvSpPr>
        <p:spPr>
          <a:xfrm>
            <a:off x="487680" y="3377184"/>
            <a:ext cx="11216640" cy="755904"/>
          </a:xfrm>
          <a:prstGeom prst="rect">
            <a:avLst/>
          </a:prstGeom>
          <a:solidFill>
            <a:srgbClr val="162032"/>
          </a:solidFill>
          <a:ln w="12700">
            <a:solidFill>
              <a:srgbClr val="1B2A3B"/>
            </a:solidFill>
            <a:prstDash val="solid"/>
          </a:ln>
        </p:spPr>
      </p:sp>
      <p:sp>
        <p:nvSpPr>
          <p:cNvPr id="27" name="Text 25"/>
          <p:cNvSpPr/>
          <p:nvPr/>
        </p:nvSpPr>
        <p:spPr>
          <a:xfrm>
            <a:off x="487680" y="3438144"/>
            <a:ext cx="2072640" cy="633984"/>
          </a:xfrm>
          <a:prstGeom prst="rect">
            <a:avLst/>
          </a:prstGeom>
          <a:noFill/>
          <a:ln/>
        </p:spPr>
        <p:txBody>
          <a:bodyPr wrap="square" lIns="50800" tIns="50800" rIns="50800" bIns="50800" rtlCol="0" anchor="ctr"/>
          <a:lstStyle/>
          <a:p>
            <a:pPr algn="ctr" defTabSz="1219170"/>
            <a:r>
              <a:rPr lang="en-US" sz="1333" b="1" dirty="0">
                <a:solidFill>
                  <a:srgbClr val="F4A832"/>
                </a:solidFill>
                <a:latin typeface="Calibri" pitchFamily="34" charset="0"/>
                <a:ea typeface="Calibri" pitchFamily="34" charset="-122"/>
                <a:cs typeface="Calibri" pitchFamily="34" charset="-120"/>
              </a:rPr>
              <a:t>756,000 دج</a:t>
            </a:r>
            <a:endParaRPr lang="en-US" sz="1333" dirty="0">
              <a:solidFill>
                <a:prstClr val="black"/>
              </a:solidFill>
              <a:latin typeface="Calibri" panose="020F0502020204030204"/>
            </a:endParaRPr>
          </a:p>
        </p:txBody>
      </p:sp>
      <p:sp>
        <p:nvSpPr>
          <p:cNvPr id="28" name="Text 26"/>
          <p:cNvSpPr/>
          <p:nvPr/>
        </p:nvSpPr>
        <p:spPr>
          <a:xfrm>
            <a:off x="2560320" y="3438144"/>
            <a:ext cx="158496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37,750 دج</a:t>
            </a:r>
            <a:endParaRPr lang="en-US" sz="1333" dirty="0">
              <a:solidFill>
                <a:prstClr val="black"/>
              </a:solidFill>
              <a:latin typeface="Calibri" panose="020F0502020204030204"/>
            </a:endParaRPr>
          </a:p>
        </p:txBody>
      </p:sp>
      <p:sp>
        <p:nvSpPr>
          <p:cNvPr id="29" name="Text 27"/>
          <p:cNvSpPr/>
          <p:nvPr/>
        </p:nvSpPr>
        <p:spPr>
          <a:xfrm>
            <a:off x="4145280" y="3438144"/>
            <a:ext cx="10972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3,200 دج</a:t>
            </a:r>
            <a:endParaRPr lang="en-US" sz="1333" dirty="0">
              <a:solidFill>
                <a:prstClr val="black"/>
              </a:solidFill>
              <a:latin typeface="Calibri" panose="020F0502020204030204"/>
            </a:endParaRPr>
          </a:p>
        </p:txBody>
      </p:sp>
      <p:sp>
        <p:nvSpPr>
          <p:cNvPr id="30" name="Text 28"/>
          <p:cNvSpPr/>
          <p:nvPr/>
        </p:nvSpPr>
        <p:spPr>
          <a:xfrm>
            <a:off x="5242560" y="3438144"/>
            <a:ext cx="121920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4,050 دج</a:t>
            </a:r>
            <a:endParaRPr lang="en-US" sz="1333" dirty="0">
              <a:solidFill>
                <a:prstClr val="black"/>
              </a:solidFill>
              <a:latin typeface="Calibri" panose="020F0502020204030204"/>
            </a:endParaRPr>
          </a:p>
        </p:txBody>
      </p:sp>
      <p:sp>
        <p:nvSpPr>
          <p:cNvPr id="31" name="Text 29"/>
          <p:cNvSpPr/>
          <p:nvPr/>
        </p:nvSpPr>
        <p:spPr>
          <a:xfrm>
            <a:off x="6461760" y="3438144"/>
            <a:ext cx="23164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45,000 دج</a:t>
            </a:r>
            <a:endParaRPr lang="en-US" sz="1333" dirty="0">
              <a:solidFill>
                <a:prstClr val="black"/>
              </a:solidFill>
              <a:latin typeface="Calibri" panose="020F0502020204030204"/>
            </a:endParaRPr>
          </a:p>
        </p:txBody>
      </p:sp>
      <p:sp>
        <p:nvSpPr>
          <p:cNvPr id="32" name="Text 30"/>
          <p:cNvSpPr/>
          <p:nvPr/>
        </p:nvSpPr>
        <p:spPr>
          <a:xfrm>
            <a:off x="8778240" y="3438144"/>
            <a:ext cx="2926080" cy="633984"/>
          </a:xfrm>
          <a:prstGeom prst="rect">
            <a:avLst/>
          </a:prstGeom>
          <a:noFill/>
          <a:ln/>
        </p:spPr>
        <p:txBody>
          <a:bodyPr wrap="square" lIns="50800" tIns="50800" rIns="50800" bIns="50800" rtlCol="0" anchor="ctr"/>
          <a:lstStyle/>
          <a:p>
            <a:pPr algn="r" defTabSz="1219170"/>
            <a:r>
              <a:rPr lang="en-US" sz="1467" dirty="0">
                <a:solidFill>
                  <a:srgbClr val="FFFFFF"/>
                </a:solidFill>
                <a:latin typeface="Calibri" pitchFamily="34" charset="0"/>
                <a:ea typeface="Calibri" pitchFamily="34" charset="-122"/>
                <a:cs typeface="Calibri" pitchFamily="34" charset="-120"/>
              </a:rPr>
              <a:t>مسؤول الدعم الفني</a:t>
            </a:r>
            <a:endParaRPr lang="en-US" sz="1467" dirty="0">
              <a:solidFill>
                <a:prstClr val="black"/>
              </a:solidFill>
              <a:latin typeface="Calibri" panose="020F0502020204030204"/>
            </a:endParaRPr>
          </a:p>
        </p:txBody>
      </p:sp>
      <p:sp>
        <p:nvSpPr>
          <p:cNvPr id="33" name="Shape 31"/>
          <p:cNvSpPr/>
          <p:nvPr/>
        </p:nvSpPr>
        <p:spPr>
          <a:xfrm>
            <a:off x="487680" y="4255008"/>
            <a:ext cx="11216640" cy="755904"/>
          </a:xfrm>
          <a:prstGeom prst="rect">
            <a:avLst/>
          </a:prstGeom>
          <a:solidFill>
            <a:srgbClr val="1B2A3B"/>
          </a:solidFill>
          <a:ln w="12700">
            <a:solidFill>
              <a:srgbClr val="1B2A3B"/>
            </a:solidFill>
            <a:prstDash val="solid"/>
          </a:ln>
        </p:spPr>
      </p:sp>
      <p:sp>
        <p:nvSpPr>
          <p:cNvPr id="34" name="Text 32"/>
          <p:cNvSpPr/>
          <p:nvPr/>
        </p:nvSpPr>
        <p:spPr>
          <a:xfrm>
            <a:off x="487680" y="4315968"/>
            <a:ext cx="2072640" cy="633984"/>
          </a:xfrm>
          <a:prstGeom prst="rect">
            <a:avLst/>
          </a:prstGeom>
          <a:noFill/>
          <a:ln/>
        </p:spPr>
        <p:txBody>
          <a:bodyPr wrap="square" lIns="50800" tIns="50800" rIns="50800" bIns="50800" rtlCol="0" anchor="ctr"/>
          <a:lstStyle/>
          <a:p>
            <a:pPr algn="ctr" defTabSz="1219170"/>
            <a:r>
              <a:rPr lang="en-US" sz="1333" b="1" dirty="0">
                <a:solidFill>
                  <a:srgbClr val="F4A832"/>
                </a:solidFill>
                <a:latin typeface="Calibri" pitchFamily="34" charset="0"/>
                <a:ea typeface="Calibri" pitchFamily="34" charset="-122"/>
                <a:cs typeface="Calibri" pitchFamily="34" charset="-120"/>
              </a:rPr>
              <a:t>649,800 دج</a:t>
            </a:r>
            <a:endParaRPr lang="en-US" sz="1333" dirty="0">
              <a:solidFill>
                <a:prstClr val="black"/>
              </a:solidFill>
              <a:latin typeface="Calibri" panose="020F0502020204030204"/>
            </a:endParaRPr>
          </a:p>
        </p:txBody>
      </p:sp>
      <p:sp>
        <p:nvSpPr>
          <p:cNvPr id="35" name="Text 33"/>
          <p:cNvSpPr/>
          <p:nvPr/>
        </p:nvSpPr>
        <p:spPr>
          <a:xfrm>
            <a:off x="2560320" y="4315968"/>
            <a:ext cx="158496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34,200 دج</a:t>
            </a:r>
            <a:endParaRPr lang="en-US" sz="1333" dirty="0">
              <a:solidFill>
                <a:prstClr val="black"/>
              </a:solidFill>
              <a:latin typeface="Calibri" panose="020F0502020204030204"/>
            </a:endParaRPr>
          </a:p>
        </p:txBody>
      </p:sp>
      <p:sp>
        <p:nvSpPr>
          <p:cNvPr id="36" name="Text 34"/>
          <p:cNvSpPr/>
          <p:nvPr/>
        </p:nvSpPr>
        <p:spPr>
          <a:xfrm>
            <a:off x="4145280" y="4315968"/>
            <a:ext cx="10972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2,200 دج</a:t>
            </a:r>
            <a:endParaRPr lang="en-US" sz="1333" dirty="0">
              <a:solidFill>
                <a:prstClr val="black"/>
              </a:solidFill>
              <a:latin typeface="Calibri" panose="020F0502020204030204"/>
            </a:endParaRPr>
          </a:p>
        </p:txBody>
      </p:sp>
      <p:sp>
        <p:nvSpPr>
          <p:cNvPr id="37" name="Text 35"/>
          <p:cNvSpPr/>
          <p:nvPr/>
        </p:nvSpPr>
        <p:spPr>
          <a:xfrm>
            <a:off x="5242560" y="4315968"/>
            <a:ext cx="121920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3,600 دج</a:t>
            </a:r>
            <a:endParaRPr lang="en-US" sz="1333" dirty="0">
              <a:solidFill>
                <a:prstClr val="black"/>
              </a:solidFill>
              <a:latin typeface="Calibri" panose="020F0502020204030204"/>
            </a:endParaRPr>
          </a:p>
        </p:txBody>
      </p:sp>
      <p:sp>
        <p:nvSpPr>
          <p:cNvPr id="38" name="Text 36"/>
          <p:cNvSpPr/>
          <p:nvPr/>
        </p:nvSpPr>
        <p:spPr>
          <a:xfrm>
            <a:off x="6461760" y="4315968"/>
            <a:ext cx="2316480" cy="633984"/>
          </a:xfrm>
          <a:prstGeom prst="rect">
            <a:avLst/>
          </a:prstGeom>
          <a:noFill/>
          <a:ln/>
        </p:spPr>
        <p:txBody>
          <a:bodyPr wrap="square" lIns="50800" tIns="50800" rIns="50800" bIns="50800" rtlCol="0" anchor="ctr"/>
          <a:lstStyle/>
          <a:p>
            <a:pPr algn="ctr" defTabSz="1219170"/>
            <a:r>
              <a:rPr lang="en-US" sz="1333" dirty="0">
                <a:solidFill>
                  <a:srgbClr val="FFFFFF"/>
                </a:solidFill>
                <a:latin typeface="Calibri" pitchFamily="34" charset="0"/>
                <a:ea typeface="Calibri" pitchFamily="34" charset="-122"/>
                <a:cs typeface="Calibri" pitchFamily="34" charset="-120"/>
              </a:rPr>
              <a:t>40,000 دج</a:t>
            </a:r>
            <a:endParaRPr lang="en-US" sz="1333" dirty="0">
              <a:solidFill>
                <a:prstClr val="black"/>
              </a:solidFill>
              <a:latin typeface="Calibri" panose="020F0502020204030204"/>
            </a:endParaRPr>
          </a:p>
        </p:txBody>
      </p:sp>
      <p:sp>
        <p:nvSpPr>
          <p:cNvPr id="39" name="Text 37"/>
          <p:cNvSpPr/>
          <p:nvPr/>
        </p:nvSpPr>
        <p:spPr>
          <a:xfrm>
            <a:off x="8778240" y="4315968"/>
            <a:ext cx="2926080" cy="633984"/>
          </a:xfrm>
          <a:prstGeom prst="rect">
            <a:avLst/>
          </a:prstGeom>
          <a:noFill/>
          <a:ln/>
        </p:spPr>
        <p:txBody>
          <a:bodyPr wrap="square" lIns="50800" tIns="50800" rIns="50800" bIns="50800" rtlCol="0" anchor="ctr"/>
          <a:lstStyle/>
          <a:p>
            <a:pPr algn="r" defTabSz="1219170"/>
            <a:r>
              <a:rPr lang="en-US" sz="1467" dirty="0">
                <a:solidFill>
                  <a:srgbClr val="FFFFFF"/>
                </a:solidFill>
                <a:latin typeface="Calibri" pitchFamily="34" charset="0"/>
                <a:ea typeface="Calibri" pitchFamily="34" charset="-122"/>
                <a:cs typeface="Calibri" pitchFamily="34" charset="-120"/>
              </a:rPr>
              <a:t>مستشار جبائي (عقد جزئي)</a:t>
            </a:r>
            <a:endParaRPr lang="en-US" sz="1467" dirty="0">
              <a:solidFill>
                <a:prstClr val="black"/>
              </a:solidFill>
              <a:latin typeface="Calibri" panose="020F0502020204030204"/>
            </a:endParaRPr>
          </a:p>
        </p:txBody>
      </p:sp>
      <p:sp>
        <p:nvSpPr>
          <p:cNvPr id="40" name="Shape 38"/>
          <p:cNvSpPr/>
          <p:nvPr/>
        </p:nvSpPr>
        <p:spPr>
          <a:xfrm>
            <a:off x="487680" y="5205984"/>
            <a:ext cx="11216640" cy="512064"/>
          </a:xfrm>
          <a:prstGeom prst="rect">
            <a:avLst/>
          </a:prstGeom>
          <a:solidFill>
            <a:srgbClr val="1B2A3B"/>
          </a:solidFill>
          <a:ln w="12700">
            <a:solidFill>
              <a:srgbClr val="F4A832"/>
            </a:solidFill>
            <a:prstDash val="solid"/>
          </a:ln>
        </p:spPr>
      </p:sp>
      <p:sp>
        <p:nvSpPr>
          <p:cNvPr id="41" name="Text 39"/>
          <p:cNvSpPr/>
          <p:nvPr/>
        </p:nvSpPr>
        <p:spPr>
          <a:xfrm>
            <a:off x="6705600" y="5205984"/>
            <a:ext cx="4145280" cy="512064"/>
          </a:xfrm>
          <a:prstGeom prst="rect">
            <a:avLst/>
          </a:prstGeom>
          <a:noFill/>
          <a:ln/>
        </p:spPr>
        <p:txBody>
          <a:bodyPr wrap="square" rtlCol="0" anchor="ctr"/>
          <a:lstStyle/>
          <a:p>
            <a:pPr algn="r" defTabSz="1219170"/>
            <a:r>
              <a:rPr lang="en-US" sz="1600" dirty="0">
                <a:solidFill>
                  <a:srgbClr val="A0B0C0"/>
                </a:solidFill>
                <a:latin typeface="Calibri" pitchFamily="34" charset="0"/>
                <a:ea typeface="Calibri" pitchFamily="34" charset="-122"/>
                <a:cs typeface="Calibri" pitchFamily="34" charset="-120"/>
              </a:rPr>
              <a:t>المجموع الكلي للأجور السنوية:</a:t>
            </a:r>
            <a:endParaRPr lang="en-US" sz="1600" dirty="0">
              <a:solidFill>
                <a:prstClr val="black"/>
              </a:solidFill>
              <a:latin typeface="Calibri" panose="020F0502020204030204"/>
            </a:endParaRPr>
          </a:p>
        </p:txBody>
      </p:sp>
      <p:sp>
        <p:nvSpPr>
          <p:cNvPr id="42" name="Text 40"/>
          <p:cNvSpPr/>
          <p:nvPr/>
        </p:nvSpPr>
        <p:spPr>
          <a:xfrm>
            <a:off x="487680" y="5205984"/>
            <a:ext cx="5852160" cy="512064"/>
          </a:xfrm>
          <a:prstGeom prst="rect">
            <a:avLst/>
          </a:prstGeom>
          <a:noFill/>
          <a:ln/>
        </p:spPr>
        <p:txBody>
          <a:bodyPr wrap="square" rtlCol="0" anchor="ctr"/>
          <a:lstStyle/>
          <a:p>
            <a:pPr algn="ctr" defTabSz="1219170"/>
            <a:r>
              <a:rPr lang="en-US" sz="2000" b="1" dirty="0">
                <a:solidFill>
                  <a:srgbClr val="F4A832"/>
                </a:solidFill>
                <a:latin typeface="Calibri" pitchFamily="34" charset="0"/>
                <a:ea typeface="Calibri" pitchFamily="34" charset="-122"/>
                <a:cs typeface="Calibri" pitchFamily="34" charset="-120"/>
              </a:rPr>
              <a:t>3,808,200 دج</a:t>
            </a:r>
            <a:endParaRPr lang="en-US" sz="2000" dirty="0">
              <a:solidFill>
                <a:prstClr val="black"/>
              </a:solidFill>
              <a:latin typeface="Calibri" panose="020F0502020204030204"/>
            </a:endParaRPr>
          </a:p>
        </p:txBody>
      </p:sp>
      <p:sp>
        <p:nvSpPr>
          <p:cNvPr id="43" name="Text 41"/>
          <p:cNvSpPr/>
          <p:nvPr/>
        </p:nvSpPr>
        <p:spPr>
          <a:xfrm>
            <a:off x="487680" y="5913120"/>
            <a:ext cx="11216640" cy="426720"/>
          </a:xfrm>
          <a:prstGeom prst="rect">
            <a:avLst/>
          </a:prstGeom>
          <a:noFill/>
          <a:ln/>
        </p:spPr>
        <p:txBody>
          <a:bodyPr wrap="square" rtlCol="0" anchor="ctr"/>
          <a:lstStyle/>
          <a:p>
            <a:pPr algn="r" defTabSz="1219170"/>
            <a:r>
              <a:rPr lang="en-US" sz="1333" i="1" dirty="0">
                <a:solidFill>
                  <a:srgbClr val="A0B0C0"/>
                </a:solidFill>
                <a:latin typeface="Calibri" pitchFamily="34" charset="0"/>
                <a:ea typeface="Calibri" pitchFamily="34" charset="-122"/>
                <a:cs typeface="Calibri" pitchFamily="34" charset="-120"/>
              </a:rPr>
              <a:t>تشمل الأجور + اقتطاعات الضمان الاجتماعي (صاحب العمل) + IRG</a:t>
            </a:r>
            <a:endParaRPr lang="en-US" sz="1333" dirty="0">
              <a:solidFill>
                <a:prstClr val="black"/>
              </a:solidFill>
              <a:latin typeface="Calibri" panose="020F0502020204030204"/>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الأعباء المباشرة وغير المباشرة</a:t>
            </a:r>
            <a:endParaRPr lang="en-US" sz="3467" dirty="0">
              <a:solidFill>
                <a:prstClr val="black"/>
              </a:solidFill>
              <a:latin typeface="Calibri" panose="020F0502020204030204"/>
            </a:endParaRPr>
          </a:p>
        </p:txBody>
      </p:sp>
      <p:sp>
        <p:nvSpPr>
          <p:cNvPr id="5" name="Shape 3"/>
          <p:cNvSpPr/>
          <p:nvPr/>
        </p:nvSpPr>
        <p:spPr>
          <a:xfrm>
            <a:off x="6217920" y="1097280"/>
            <a:ext cx="5486400" cy="463296"/>
          </a:xfrm>
          <a:prstGeom prst="rect">
            <a:avLst/>
          </a:prstGeom>
          <a:solidFill>
            <a:srgbClr val="2AB4C0"/>
          </a:solidFill>
          <a:ln w="12700">
            <a:solidFill>
              <a:srgbClr val="2AB4C0"/>
            </a:solidFill>
            <a:prstDash val="solid"/>
          </a:ln>
        </p:spPr>
      </p:sp>
      <p:sp>
        <p:nvSpPr>
          <p:cNvPr id="6" name="Text 4"/>
          <p:cNvSpPr/>
          <p:nvPr/>
        </p:nvSpPr>
        <p:spPr>
          <a:xfrm>
            <a:off x="6217920" y="1097280"/>
            <a:ext cx="5486400" cy="463296"/>
          </a:xfrm>
          <a:prstGeom prst="rect">
            <a:avLst/>
          </a:prstGeom>
          <a:noFill/>
          <a:ln/>
        </p:spPr>
        <p:txBody>
          <a:bodyPr wrap="square" lIns="0" tIns="0" rIns="0" bIns="0" rtlCol="0" anchor="ctr"/>
          <a:lstStyle/>
          <a:p>
            <a:pPr algn="ctr" defTabSz="1219170"/>
            <a:r>
              <a:rPr lang="en-US" sz="1600" b="1" dirty="0">
                <a:solidFill>
                  <a:srgbClr val="0D1B2A"/>
                </a:solidFill>
                <a:latin typeface="Calibri" pitchFamily="34" charset="0"/>
                <a:ea typeface="Calibri" pitchFamily="34" charset="-122"/>
                <a:cs typeface="Calibri" pitchFamily="34" charset="-120"/>
              </a:rPr>
              <a:t>المشتريات المباشرة — 280,000 دج</a:t>
            </a:r>
            <a:endParaRPr lang="en-US" sz="1600" dirty="0">
              <a:solidFill>
                <a:prstClr val="black"/>
              </a:solidFill>
              <a:latin typeface="Calibri" panose="020F0502020204030204"/>
            </a:endParaRPr>
          </a:p>
        </p:txBody>
      </p:sp>
      <p:sp>
        <p:nvSpPr>
          <p:cNvPr id="7" name="Shape 5"/>
          <p:cNvSpPr/>
          <p:nvPr/>
        </p:nvSpPr>
        <p:spPr>
          <a:xfrm>
            <a:off x="6217920" y="1633728"/>
            <a:ext cx="5486400" cy="573024"/>
          </a:xfrm>
          <a:prstGeom prst="rect">
            <a:avLst/>
          </a:prstGeom>
          <a:solidFill>
            <a:srgbClr val="162032"/>
          </a:solidFill>
          <a:ln w="12700">
            <a:solidFill>
              <a:srgbClr val="1B2A3B"/>
            </a:solidFill>
            <a:prstDash val="solid"/>
          </a:ln>
        </p:spPr>
      </p:sp>
      <p:sp>
        <p:nvSpPr>
          <p:cNvPr id="8" name="Text 6"/>
          <p:cNvSpPr/>
          <p:nvPr/>
        </p:nvSpPr>
        <p:spPr>
          <a:xfrm>
            <a:off x="6522720" y="169468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رسوم الاستضافة السحابية المتغيرة</a:t>
            </a:r>
            <a:endParaRPr lang="en-US" sz="1400" dirty="0">
              <a:solidFill>
                <a:prstClr val="black"/>
              </a:solidFill>
              <a:latin typeface="Calibri" panose="020F0502020204030204"/>
            </a:endParaRPr>
          </a:p>
        </p:txBody>
      </p:sp>
      <p:sp>
        <p:nvSpPr>
          <p:cNvPr id="9" name="Text 7"/>
          <p:cNvSpPr/>
          <p:nvPr/>
        </p:nvSpPr>
        <p:spPr>
          <a:xfrm>
            <a:off x="6217920" y="1694688"/>
            <a:ext cx="1097280" cy="451104"/>
          </a:xfrm>
          <a:prstGeom prst="rect">
            <a:avLst/>
          </a:prstGeom>
          <a:noFill/>
          <a:ln/>
        </p:spPr>
        <p:txBody>
          <a:bodyPr wrap="square" lIns="33867" tIns="33867" rIns="33867" bIns="33867" rtlCol="0" anchor="ctr"/>
          <a:lstStyle/>
          <a:p>
            <a:pPr algn="ctr" defTabSz="1219170"/>
            <a:r>
              <a:rPr lang="en-US" sz="1333" b="1" dirty="0">
                <a:solidFill>
                  <a:srgbClr val="2AB4C0"/>
                </a:solidFill>
                <a:latin typeface="Calibri" pitchFamily="34" charset="0"/>
                <a:ea typeface="Calibri" pitchFamily="34" charset="-122"/>
                <a:cs typeface="Calibri" pitchFamily="34" charset="-120"/>
              </a:rPr>
              <a:t>120,000 دج</a:t>
            </a:r>
            <a:endParaRPr lang="en-US" sz="1333" dirty="0">
              <a:solidFill>
                <a:prstClr val="black"/>
              </a:solidFill>
              <a:latin typeface="Calibri" panose="020F0502020204030204"/>
            </a:endParaRPr>
          </a:p>
        </p:txBody>
      </p:sp>
      <p:sp>
        <p:nvSpPr>
          <p:cNvPr id="10" name="Shape 8"/>
          <p:cNvSpPr/>
          <p:nvPr/>
        </p:nvSpPr>
        <p:spPr>
          <a:xfrm>
            <a:off x="6217920" y="2304288"/>
            <a:ext cx="5486400" cy="573024"/>
          </a:xfrm>
          <a:prstGeom prst="rect">
            <a:avLst/>
          </a:prstGeom>
          <a:solidFill>
            <a:srgbClr val="1B2A3B"/>
          </a:solidFill>
          <a:ln w="12700">
            <a:solidFill>
              <a:srgbClr val="1B2A3B"/>
            </a:solidFill>
            <a:prstDash val="solid"/>
          </a:ln>
        </p:spPr>
      </p:sp>
      <p:sp>
        <p:nvSpPr>
          <p:cNvPr id="11" name="Text 9"/>
          <p:cNvSpPr/>
          <p:nvPr/>
        </p:nvSpPr>
        <p:spPr>
          <a:xfrm>
            <a:off x="6522720" y="236524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رسائل نصية وإشعارات SMS/Email</a:t>
            </a:r>
            <a:endParaRPr lang="en-US" sz="1400" dirty="0">
              <a:solidFill>
                <a:prstClr val="black"/>
              </a:solidFill>
              <a:latin typeface="Calibri" panose="020F0502020204030204"/>
            </a:endParaRPr>
          </a:p>
        </p:txBody>
      </p:sp>
      <p:sp>
        <p:nvSpPr>
          <p:cNvPr id="12" name="Text 10"/>
          <p:cNvSpPr/>
          <p:nvPr/>
        </p:nvSpPr>
        <p:spPr>
          <a:xfrm>
            <a:off x="6217920" y="2365248"/>
            <a:ext cx="1097280" cy="451104"/>
          </a:xfrm>
          <a:prstGeom prst="rect">
            <a:avLst/>
          </a:prstGeom>
          <a:noFill/>
          <a:ln/>
        </p:spPr>
        <p:txBody>
          <a:bodyPr wrap="square" lIns="33867" tIns="33867" rIns="33867" bIns="33867" rtlCol="0" anchor="ctr"/>
          <a:lstStyle/>
          <a:p>
            <a:pPr algn="ctr" defTabSz="1219170"/>
            <a:r>
              <a:rPr lang="en-US" sz="1333" b="1" dirty="0">
                <a:solidFill>
                  <a:srgbClr val="2AB4C0"/>
                </a:solidFill>
                <a:latin typeface="Calibri" pitchFamily="34" charset="0"/>
                <a:ea typeface="Calibri" pitchFamily="34" charset="-122"/>
                <a:cs typeface="Calibri" pitchFamily="34" charset="-120"/>
              </a:rPr>
              <a:t>20,000 دج</a:t>
            </a:r>
            <a:endParaRPr lang="en-US" sz="1333" dirty="0">
              <a:solidFill>
                <a:prstClr val="black"/>
              </a:solidFill>
              <a:latin typeface="Calibri" panose="020F0502020204030204"/>
            </a:endParaRPr>
          </a:p>
        </p:txBody>
      </p:sp>
      <p:sp>
        <p:nvSpPr>
          <p:cNvPr id="13" name="Shape 11"/>
          <p:cNvSpPr/>
          <p:nvPr/>
        </p:nvSpPr>
        <p:spPr>
          <a:xfrm>
            <a:off x="6217920" y="2974848"/>
            <a:ext cx="5486400" cy="573024"/>
          </a:xfrm>
          <a:prstGeom prst="rect">
            <a:avLst/>
          </a:prstGeom>
          <a:solidFill>
            <a:srgbClr val="162032"/>
          </a:solidFill>
          <a:ln w="12700">
            <a:solidFill>
              <a:srgbClr val="1B2A3B"/>
            </a:solidFill>
            <a:prstDash val="solid"/>
          </a:ln>
        </p:spPr>
      </p:sp>
      <p:sp>
        <p:nvSpPr>
          <p:cNvPr id="14" name="Text 12"/>
          <p:cNvSpPr/>
          <p:nvPr/>
        </p:nvSpPr>
        <p:spPr>
          <a:xfrm>
            <a:off x="6522720" y="303580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عمولات بوابات الدفع (2.5%)</a:t>
            </a:r>
            <a:endParaRPr lang="en-US" sz="1400" dirty="0">
              <a:solidFill>
                <a:prstClr val="black"/>
              </a:solidFill>
              <a:latin typeface="Calibri" panose="020F0502020204030204"/>
            </a:endParaRPr>
          </a:p>
        </p:txBody>
      </p:sp>
      <p:sp>
        <p:nvSpPr>
          <p:cNvPr id="15" name="Text 13"/>
          <p:cNvSpPr/>
          <p:nvPr/>
        </p:nvSpPr>
        <p:spPr>
          <a:xfrm>
            <a:off x="6217920" y="3035808"/>
            <a:ext cx="1097280" cy="451104"/>
          </a:xfrm>
          <a:prstGeom prst="rect">
            <a:avLst/>
          </a:prstGeom>
          <a:noFill/>
          <a:ln/>
        </p:spPr>
        <p:txBody>
          <a:bodyPr wrap="square" lIns="33867" tIns="33867" rIns="33867" bIns="33867" rtlCol="0" anchor="ctr"/>
          <a:lstStyle/>
          <a:p>
            <a:pPr algn="ctr" defTabSz="1219170"/>
            <a:r>
              <a:rPr lang="en-US" sz="1333" b="1" dirty="0">
                <a:solidFill>
                  <a:srgbClr val="2AB4C0"/>
                </a:solidFill>
                <a:latin typeface="Calibri" pitchFamily="34" charset="0"/>
                <a:ea typeface="Calibri" pitchFamily="34" charset="-122"/>
                <a:cs typeface="Calibri" pitchFamily="34" charset="-120"/>
              </a:rPr>
              <a:t>100,000 دج</a:t>
            </a:r>
            <a:endParaRPr lang="en-US" sz="1333" dirty="0">
              <a:solidFill>
                <a:prstClr val="black"/>
              </a:solidFill>
              <a:latin typeface="Calibri" panose="020F0502020204030204"/>
            </a:endParaRPr>
          </a:p>
        </p:txBody>
      </p:sp>
      <p:sp>
        <p:nvSpPr>
          <p:cNvPr id="16" name="Shape 14"/>
          <p:cNvSpPr/>
          <p:nvPr/>
        </p:nvSpPr>
        <p:spPr>
          <a:xfrm>
            <a:off x="6217920" y="3645408"/>
            <a:ext cx="5486400" cy="573024"/>
          </a:xfrm>
          <a:prstGeom prst="rect">
            <a:avLst/>
          </a:prstGeom>
          <a:solidFill>
            <a:srgbClr val="1B2A3B"/>
          </a:solidFill>
          <a:ln w="12700">
            <a:solidFill>
              <a:srgbClr val="1B2A3B"/>
            </a:solidFill>
            <a:prstDash val="solid"/>
          </a:ln>
        </p:spPr>
      </p:sp>
      <p:sp>
        <p:nvSpPr>
          <p:cNvPr id="17" name="Text 15"/>
          <p:cNvSpPr/>
          <p:nvPr/>
        </p:nvSpPr>
        <p:spPr>
          <a:xfrm>
            <a:off x="6522720" y="370636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استهلاك APIs وبيانات جبائية</a:t>
            </a:r>
            <a:endParaRPr lang="en-US" sz="1400" dirty="0">
              <a:solidFill>
                <a:prstClr val="black"/>
              </a:solidFill>
              <a:latin typeface="Calibri" panose="020F0502020204030204"/>
            </a:endParaRPr>
          </a:p>
        </p:txBody>
      </p:sp>
      <p:sp>
        <p:nvSpPr>
          <p:cNvPr id="18" name="Text 16"/>
          <p:cNvSpPr/>
          <p:nvPr/>
        </p:nvSpPr>
        <p:spPr>
          <a:xfrm>
            <a:off x="6217920" y="3706368"/>
            <a:ext cx="1097280" cy="451104"/>
          </a:xfrm>
          <a:prstGeom prst="rect">
            <a:avLst/>
          </a:prstGeom>
          <a:noFill/>
          <a:ln/>
        </p:spPr>
        <p:txBody>
          <a:bodyPr wrap="square" lIns="33867" tIns="33867" rIns="33867" bIns="33867" rtlCol="0" anchor="ctr"/>
          <a:lstStyle/>
          <a:p>
            <a:pPr algn="ctr" defTabSz="1219170"/>
            <a:r>
              <a:rPr lang="en-US" sz="1333" b="1" dirty="0">
                <a:solidFill>
                  <a:srgbClr val="2AB4C0"/>
                </a:solidFill>
                <a:latin typeface="Calibri" pitchFamily="34" charset="0"/>
                <a:ea typeface="Calibri" pitchFamily="34" charset="-122"/>
                <a:cs typeface="Calibri" pitchFamily="34" charset="-120"/>
              </a:rPr>
              <a:t>40,000 دج</a:t>
            </a:r>
            <a:endParaRPr lang="en-US" sz="1333" dirty="0">
              <a:solidFill>
                <a:prstClr val="black"/>
              </a:solidFill>
              <a:latin typeface="Calibri" panose="020F0502020204030204"/>
            </a:endParaRPr>
          </a:p>
        </p:txBody>
      </p:sp>
      <p:sp>
        <p:nvSpPr>
          <p:cNvPr id="19" name="Shape 17"/>
          <p:cNvSpPr/>
          <p:nvPr/>
        </p:nvSpPr>
        <p:spPr>
          <a:xfrm>
            <a:off x="487680" y="1097280"/>
            <a:ext cx="5486400" cy="463296"/>
          </a:xfrm>
          <a:prstGeom prst="rect">
            <a:avLst/>
          </a:prstGeom>
          <a:solidFill>
            <a:srgbClr val="F4A832"/>
          </a:solidFill>
          <a:ln w="12700">
            <a:solidFill>
              <a:srgbClr val="F4A832"/>
            </a:solidFill>
            <a:prstDash val="solid"/>
          </a:ln>
        </p:spPr>
      </p:sp>
      <p:sp>
        <p:nvSpPr>
          <p:cNvPr id="20" name="Text 18"/>
          <p:cNvSpPr/>
          <p:nvPr/>
        </p:nvSpPr>
        <p:spPr>
          <a:xfrm>
            <a:off x="487680" y="1097280"/>
            <a:ext cx="5486400" cy="463296"/>
          </a:xfrm>
          <a:prstGeom prst="rect">
            <a:avLst/>
          </a:prstGeom>
          <a:noFill/>
          <a:ln/>
        </p:spPr>
        <p:txBody>
          <a:bodyPr wrap="square" lIns="0" tIns="0" rIns="0" bIns="0" rtlCol="0" anchor="ctr"/>
          <a:lstStyle/>
          <a:p>
            <a:pPr algn="ctr" defTabSz="1219170"/>
            <a:r>
              <a:rPr lang="en-US" sz="1600" b="1" dirty="0">
                <a:solidFill>
                  <a:srgbClr val="0D1B2A"/>
                </a:solidFill>
                <a:latin typeface="Calibri" pitchFamily="34" charset="0"/>
                <a:ea typeface="Calibri" pitchFamily="34" charset="-122"/>
                <a:cs typeface="Calibri" pitchFamily="34" charset="-120"/>
              </a:rPr>
              <a:t>الأعباء غير المباشرة — 1,042,000 دج</a:t>
            </a:r>
            <a:endParaRPr lang="en-US" sz="1600" dirty="0">
              <a:solidFill>
                <a:prstClr val="black"/>
              </a:solidFill>
              <a:latin typeface="Calibri" panose="020F0502020204030204"/>
            </a:endParaRPr>
          </a:p>
        </p:txBody>
      </p:sp>
      <p:sp>
        <p:nvSpPr>
          <p:cNvPr id="21" name="Shape 19"/>
          <p:cNvSpPr/>
          <p:nvPr/>
        </p:nvSpPr>
        <p:spPr>
          <a:xfrm>
            <a:off x="487680" y="1633728"/>
            <a:ext cx="5486400" cy="573024"/>
          </a:xfrm>
          <a:prstGeom prst="rect">
            <a:avLst/>
          </a:prstGeom>
          <a:solidFill>
            <a:srgbClr val="162032"/>
          </a:solidFill>
          <a:ln w="12700">
            <a:solidFill>
              <a:srgbClr val="1B2A3B"/>
            </a:solidFill>
            <a:prstDash val="solid"/>
          </a:ln>
        </p:spPr>
      </p:sp>
      <p:sp>
        <p:nvSpPr>
          <p:cNvPr id="22" name="Text 20"/>
          <p:cNvSpPr/>
          <p:nvPr/>
        </p:nvSpPr>
        <p:spPr>
          <a:xfrm>
            <a:off x="792480" y="169468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إيجار المقر الإداري</a:t>
            </a:r>
            <a:endParaRPr lang="en-US" sz="1400" dirty="0">
              <a:solidFill>
                <a:prstClr val="black"/>
              </a:solidFill>
              <a:latin typeface="Calibri" panose="020F0502020204030204"/>
            </a:endParaRPr>
          </a:p>
        </p:txBody>
      </p:sp>
      <p:sp>
        <p:nvSpPr>
          <p:cNvPr id="23" name="Text 21"/>
          <p:cNvSpPr/>
          <p:nvPr/>
        </p:nvSpPr>
        <p:spPr>
          <a:xfrm>
            <a:off x="487680" y="1694688"/>
            <a:ext cx="1072896" cy="451104"/>
          </a:xfrm>
          <a:prstGeom prst="rect">
            <a:avLst/>
          </a:prstGeom>
          <a:noFill/>
          <a:ln/>
        </p:spPr>
        <p:txBody>
          <a:bodyPr wrap="square" lIns="33867" tIns="33867" rIns="33867" bIns="33867" rtlCol="0" anchor="ctr"/>
          <a:lstStyle/>
          <a:p>
            <a:pPr algn="ctr" defTabSz="1219170"/>
            <a:r>
              <a:rPr lang="en-US" sz="1333" b="1" dirty="0">
                <a:solidFill>
                  <a:srgbClr val="F4A832"/>
                </a:solidFill>
                <a:latin typeface="Calibri" pitchFamily="34" charset="0"/>
                <a:ea typeface="Calibri" pitchFamily="34" charset="-122"/>
                <a:cs typeface="Calibri" pitchFamily="34" charset="-120"/>
              </a:rPr>
              <a:t>360,000 دج</a:t>
            </a:r>
            <a:endParaRPr lang="en-US" sz="1333" dirty="0">
              <a:solidFill>
                <a:prstClr val="black"/>
              </a:solidFill>
              <a:latin typeface="Calibri" panose="020F0502020204030204"/>
            </a:endParaRPr>
          </a:p>
        </p:txBody>
      </p:sp>
      <p:sp>
        <p:nvSpPr>
          <p:cNvPr id="24" name="Shape 22"/>
          <p:cNvSpPr/>
          <p:nvPr/>
        </p:nvSpPr>
        <p:spPr>
          <a:xfrm>
            <a:off x="487680" y="2304288"/>
            <a:ext cx="5486400" cy="573024"/>
          </a:xfrm>
          <a:prstGeom prst="rect">
            <a:avLst/>
          </a:prstGeom>
          <a:solidFill>
            <a:srgbClr val="1B2A3B"/>
          </a:solidFill>
          <a:ln w="12700">
            <a:solidFill>
              <a:srgbClr val="1B2A3B"/>
            </a:solidFill>
            <a:prstDash val="solid"/>
          </a:ln>
        </p:spPr>
      </p:sp>
      <p:sp>
        <p:nvSpPr>
          <p:cNvPr id="25" name="Text 23"/>
          <p:cNvSpPr/>
          <p:nvPr/>
        </p:nvSpPr>
        <p:spPr>
          <a:xfrm>
            <a:off x="792480" y="236524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مصاريف التسويق والإعلان</a:t>
            </a:r>
            <a:endParaRPr lang="en-US" sz="1400" dirty="0">
              <a:solidFill>
                <a:prstClr val="black"/>
              </a:solidFill>
              <a:latin typeface="Calibri" panose="020F0502020204030204"/>
            </a:endParaRPr>
          </a:p>
        </p:txBody>
      </p:sp>
      <p:sp>
        <p:nvSpPr>
          <p:cNvPr id="26" name="Text 24"/>
          <p:cNvSpPr/>
          <p:nvPr/>
        </p:nvSpPr>
        <p:spPr>
          <a:xfrm>
            <a:off x="487680" y="2365248"/>
            <a:ext cx="1072896" cy="451104"/>
          </a:xfrm>
          <a:prstGeom prst="rect">
            <a:avLst/>
          </a:prstGeom>
          <a:noFill/>
          <a:ln/>
        </p:spPr>
        <p:txBody>
          <a:bodyPr wrap="square" lIns="33867" tIns="33867" rIns="33867" bIns="33867" rtlCol="0" anchor="ctr"/>
          <a:lstStyle/>
          <a:p>
            <a:pPr algn="ctr" defTabSz="1219170"/>
            <a:r>
              <a:rPr lang="en-US" sz="1333" b="1" dirty="0">
                <a:solidFill>
                  <a:srgbClr val="F4A832"/>
                </a:solidFill>
                <a:latin typeface="Calibri" pitchFamily="34" charset="0"/>
                <a:ea typeface="Calibri" pitchFamily="34" charset="-122"/>
                <a:cs typeface="Calibri" pitchFamily="34" charset="-120"/>
              </a:rPr>
              <a:t>240,000 دج</a:t>
            </a:r>
            <a:endParaRPr lang="en-US" sz="1333" dirty="0">
              <a:solidFill>
                <a:prstClr val="black"/>
              </a:solidFill>
              <a:latin typeface="Calibri" panose="020F0502020204030204"/>
            </a:endParaRPr>
          </a:p>
        </p:txBody>
      </p:sp>
      <p:sp>
        <p:nvSpPr>
          <p:cNvPr id="27" name="Shape 25"/>
          <p:cNvSpPr/>
          <p:nvPr/>
        </p:nvSpPr>
        <p:spPr>
          <a:xfrm>
            <a:off x="487680" y="2974848"/>
            <a:ext cx="5486400" cy="573024"/>
          </a:xfrm>
          <a:prstGeom prst="rect">
            <a:avLst/>
          </a:prstGeom>
          <a:solidFill>
            <a:srgbClr val="162032"/>
          </a:solidFill>
          <a:ln w="12700">
            <a:solidFill>
              <a:srgbClr val="1B2A3B"/>
            </a:solidFill>
            <a:prstDash val="solid"/>
          </a:ln>
        </p:spPr>
      </p:sp>
      <p:sp>
        <p:nvSpPr>
          <p:cNvPr id="28" name="Text 26"/>
          <p:cNvSpPr/>
          <p:nvPr/>
        </p:nvSpPr>
        <p:spPr>
          <a:xfrm>
            <a:off x="792480" y="303580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فعاليات ريادة الأعمال</a:t>
            </a:r>
            <a:endParaRPr lang="en-US" sz="1400" dirty="0">
              <a:solidFill>
                <a:prstClr val="black"/>
              </a:solidFill>
              <a:latin typeface="Calibri" panose="020F0502020204030204"/>
            </a:endParaRPr>
          </a:p>
        </p:txBody>
      </p:sp>
      <p:sp>
        <p:nvSpPr>
          <p:cNvPr id="29" name="Text 27"/>
          <p:cNvSpPr/>
          <p:nvPr/>
        </p:nvSpPr>
        <p:spPr>
          <a:xfrm>
            <a:off x="487680" y="3035808"/>
            <a:ext cx="1072896" cy="451104"/>
          </a:xfrm>
          <a:prstGeom prst="rect">
            <a:avLst/>
          </a:prstGeom>
          <a:noFill/>
          <a:ln/>
        </p:spPr>
        <p:txBody>
          <a:bodyPr wrap="square" lIns="33867" tIns="33867" rIns="33867" bIns="33867" rtlCol="0" anchor="ctr"/>
          <a:lstStyle/>
          <a:p>
            <a:pPr algn="ctr" defTabSz="1219170"/>
            <a:r>
              <a:rPr lang="en-US" sz="1333" b="1" dirty="0">
                <a:solidFill>
                  <a:srgbClr val="F4A832"/>
                </a:solidFill>
                <a:latin typeface="Calibri" pitchFamily="34" charset="0"/>
                <a:ea typeface="Calibri" pitchFamily="34" charset="-122"/>
                <a:cs typeface="Calibri" pitchFamily="34" charset="-120"/>
              </a:rPr>
              <a:t>120,000 دج</a:t>
            </a:r>
            <a:endParaRPr lang="en-US" sz="1333" dirty="0">
              <a:solidFill>
                <a:prstClr val="black"/>
              </a:solidFill>
              <a:latin typeface="Calibri" panose="020F0502020204030204"/>
            </a:endParaRPr>
          </a:p>
        </p:txBody>
      </p:sp>
      <p:sp>
        <p:nvSpPr>
          <p:cNvPr id="30" name="Shape 28"/>
          <p:cNvSpPr/>
          <p:nvPr/>
        </p:nvSpPr>
        <p:spPr>
          <a:xfrm>
            <a:off x="487680" y="3645408"/>
            <a:ext cx="5486400" cy="573024"/>
          </a:xfrm>
          <a:prstGeom prst="rect">
            <a:avLst/>
          </a:prstGeom>
          <a:solidFill>
            <a:srgbClr val="1B2A3B"/>
          </a:solidFill>
          <a:ln w="12700">
            <a:solidFill>
              <a:srgbClr val="1B2A3B"/>
            </a:solidFill>
            <a:prstDash val="solid"/>
          </a:ln>
        </p:spPr>
      </p:sp>
      <p:sp>
        <p:nvSpPr>
          <p:cNvPr id="31" name="Text 29"/>
          <p:cNvSpPr/>
          <p:nvPr/>
        </p:nvSpPr>
        <p:spPr>
          <a:xfrm>
            <a:off x="792480" y="370636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أتعاب موثق + محافظ حسابات</a:t>
            </a:r>
            <a:endParaRPr lang="en-US" sz="1400" dirty="0">
              <a:solidFill>
                <a:prstClr val="black"/>
              </a:solidFill>
              <a:latin typeface="Calibri" panose="020F0502020204030204"/>
            </a:endParaRPr>
          </a:p>
        </p:txBody>
      </p:sp>
      <p:sp>
        <p:nvSpPr>
          <p:cNvPr id="32" name="Text 30"/>
          <p:cNvSpPr/>
          <p:nvPr/>
        </p:nvSpPr>
        <p:spPr>
          <a:xfrm>
            <a:off x="487680" y="3706368"/>
            <a:ext cx="1072896" cy="451104"/>
          </a:xfrm>
          <a:prstGeom prst="rect">
            <a:avLst/>
          </a:prstGeom>
          <a:noFill/>
          <a:ln/>
        </p:spPr>
        <p:txBody>
          <a:bodyPr wrap="square" lIns="33867" tIns="33867" rIns="33867" bIns="33867" rtlCol="0" anchor="ctr"/>
          <a:lstStyle/>
          <a:p>
            <a:pPr algn="ctr" defTabSz="1219170"/>
            <a:r>
              <a:rPr lang="en-US" sz="1333" b="1" dirty="0">
                <a:solidFill>
                  <a:srgbClr val="F4A832"/>
                </a:solidFill>
                <a:latin typeface="Calibri" pitchFamily="34" charset="0"/>
                <a:ea typeface="Calibri" pitchFamily="34" charset="-122"/>
                <a:cs typeface="Calibri" pitchFamily="34" charset="-120"/>
              </a:rPr>
              <a:t>210,000 دج</a:t>
            </a:r>
            <a:endParaRPr lang="en-US" sz="1333" dirty="0">
              <a:solidFill>
                <a:prstClr val="black"/>
              </a:solidFill>
              <a:latin typeface="Calibri" panose="020F0502020204030204"/>
            </a:endParaRPr>
          </a:p>
        </p:txBody>
      </p:sp>
      <p:sp>
        <p:nvSpPr>
          <p:cNvPr id="33" name="Shape 31"/>
          <p:cNvSpPr/>
          <p:nvPr/>
        </p:nvSpPr>
        <p:spPr>
          <a:xfrm>
            <a:off x="487680" y="4315968"/>
            <a:ext cx="5486400" cy="573024"/>
          </a:xfrm>
          <a:prstGeom prst="rect">
            <a:avLst/>
          </a:prstGeom>
          <a:solidFill>
            <a:srgbClr val="162032"/>
          </a:solidFill>
          <a:ln w="12700">
            <a:solidFill>
              <a:srgbClr val="1B2A3B"/>
            </a:solidFill>
            <a:prstDash val="solid"/>
          </a:ln>
        </p:spPr>
      </p:sp>
      <p:sp>
        <p:nvSpPr>
          <p:cNvPr id="34" name="Text 32"/>
          <p:cNvSpPr/>
          <p:nvPr/>
        </p:nvSpPr>
        <p:spPr>
          <a:xfrm>
            <a:off x="792480" y="437692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الطاقة والاتصالات والتأمين</a:t>
            </a:r>
            <a:endParaRPr lang="en-US" sz="1400" dirty="0">
              <a:solidFill>
                <a:prstClr val="black"/>
              </a:solidFill>
              <a:latin typeface="Calibri" panose="020F0502020204030204"/>
            </a:endParaRPr>
          </a:p>
        </p:txBody>
      </p:sp>
      <p:sp>
        <p:nvSpPr>
          <p:cNvPr id="35" name="Text 33"/>
          <p:cNvSpPr/>
          <p:nvPr/>
        </p:nvSpPr>
        <p:spPr>
          <a:xfrm>
            <a:off x="487680" y="4376928"/>
            <a:ext cx="1072896" cy="451104"/>
          </a:xfrm>
          <a:prstGeom prst="rect">
            <a:avLst/>
          </a:prstGeom>
          <a:noFill/>
          <a:ln/>
        </p:spPr>
        <p:txBody>
          <a:bodyPr wrap="square" lIns="33867" tIns="33867" rIns="33867" bIns="33867" rtlCol="0" anchor="ctr"/>
          <a:lstStyle/>
          <a:p>
            <a:pPr algn="ctr" defTabSz="1219170"/>
            <a:r>
              <a:rPr lang="en-US" sz="1333" b="1" dirty="0">
                <a:solidFill>
                  <a:srgbClr val="F4A832"/>
                </a:solidFill>
                <a:latin typeface="Calibri" pitchFamily="34" charset="0"/>
                <a:ea typeface="Calibri" pitchFamily="34" charset="-122"/>
                <a:cs typeface="Calibri" pitchFamily="34" charset="-120"/>
              </a:rPr>
              <a:t>78,000 دج</a:t>
            </a:r>
            <a:endParaRPr lang="en-US" sz="1333" dirty="0">
              <a:solidFill>
                <a:prstClr val="black"/>
              </a:solidFill>
              <a:latin typeface="Calibri" panose="020F0502020204030204"/>
            </a:endParaRPr>
          </a:p>
        </p:txBody>
      </p:sp>
      <p:sp>
        <p:nvSpPr>
          <p:cNvPr id="36" name="Shape 34"/>
          <p:cNvSpPr/>
          <p:nvPr/>
        </p:nvSpPr>
        <p:spPr>
          <a:xfrm>
            <a:off x="487680" y="4986528"/>
            <a:ext cx="5486400" cy="573024"/>
          </a:xfrm>
          <a:prstGeom prst="rect">
            <a:avLst/>
          </a:prstGeom>
          <a:solidFill>
            <a:srgbClr val="1B2A3B"/>
          </a:solidFill>
          <a:ln w="12700">
            <a:solidFill>
              <a:srgbClr val="1B2A3B"/>
            </a:solidFill>
            <a:prstDash val="solid"/>
          </a:ln>
        </p:spPr>
      </p:sp>
      <p:sp>
        <p:nvSpPr>
          <p:cNvPr id="37" name="Text 35"/>
          <p:cNvSpPr/>
          <p:nvPr/>
        </p:nvSpPr>
        <p:spPr>
          <a:xfrm>
            <a:off x="792480" y="5047488"/>
            <a:ext cx="3779520" cy="451104"/>
          </a:xfrm>
          <a:prstGeom prst="rect">
            <a:avLst/>
          </a:prstGeom>
          <a:noFill/>
          <a:ln/>
        </p:spPr>
        <p:txBody>
          <a:bodyPr wrap="square" lIns="33867" tIns="33867" rIns="33867" bIns="33867" rtlCol="0" anchor="ctr"/>
          <a:lstStyle/>
          <a:p>
            <a:pPr algn="r" defTabSz="1219170"/>
            <a:r>
              <a:rPr lang="en-US" sz="1400" dirty="0">
                <a:solidFill>
                  <a:srgbClr val="FFFFFF"/>
                </a:solidFill>
                <a:latin typeface="Calibri" pitchFamily="34" charset="0"/>
                <a:ea typeface="Calibri" pitchFamily="34" charset="-122"/>
                <a:cs typeface="Calibri" pitchFamily="34" charset="-120"/>
              </a:rPr>
              <a:t>أتعاب محامٍ + متفرقات</a:t>
            </a:r>
            <a:endParaRPr lang="en-US" sz="1400" dirty="0">
              <a:solidFill>
                <a:prstClr val="black"/>
              </a:solidFill>
              <a:latin typeface="Calibri" panose="020F0502020204030204"/>
            </a:endParaRPr>
          </a:p>
        </p:txBody>
      </p:sp>
      <p:sp>
        <p:nvSpPr>
          <p:cNvPr id="38" name="Text 36"/>
          <p:cNvSpPr/>
          <p:nvPr/>
        </p:nvSpPr>
        <p:spPr>
          <a:xfrm>
            <a:off x="487680" y="5047488"/>
            <a:ext cx="1072896" cy="451104"/>
          </a:xfrm>
          <a:prstGeom prst="rect">
            <a:avLst/>
          </a:prstGeom>
          <a:noFill/>
          <a:ln/>
        </p:spPr>
        <p:txBody>
          <a:bodyPr wrap="square" lIns="33867" tIns="33867" rIns="33867" bIns="33867" rtlCol="0" anchor="ctr"/>
          <a:lstStyle/>
          <a:p>
            <a:pPr algn="ctr" defTabSz="1219170"/>
            <a:r>
              <a:rPr lang="en-US" sz="1333" b="1" dirty="0">
                <a:solidFill>
                  <a:srgbClr val="F4A832"/>
                </a:solidFill>
                <a:latin typeface="Calibri" pitchFamily="34" charset="0"/>
                <a:ea typeface="Calibri" pitchFamily="34" charset="-122"/>
                <a:cs typeface="Calibri" pitchFamily="34" charset="-120"/>
              </a:rPr>
              <a:t>34,000 دج</a:t>
            </a:r>
            <a:endParaRPr lang="en-US" sz="1333" dirty="0">
              <a:solidFill>
                <a:prstClr val="black"/>
              </a:solidFill>
              <a:latin typeface="Calibri" panose="020F0502020204030204"/>
            </a:endParaRPr>
          </a:p>
        </p:txBody>
      </p:sp>
      <p:sp>
        <p:nvSpPr>
          <p:cNvPr id="39" name="Shape 37"/>
          <p:cNvSpPr/>
          <p:nvPr/>
        </p:nvSpPr>
        <p:spPr>
          <a:xfrm>
            <a:off x="487680" y="6193536"/>
            <a:ext cx="11216640" cy="512064"/>
          </a:xfrm>
          <a:prstGeom prst="rect">
            <a:avLst/>
          </a:prstGeom>
          <a:solidFill>
            <a:srgbClr val="F4A832"/>
          </a:solidFill>
          <a:ln w="12700">
            <a:solidFill>
              <a:srgbClr val="F4A832"/>
            </a:solidFill>
            <a:prstDash val="solid"/>
          </a:ln>
        </p:spPr>
      </p:sp>
      <p:sp>
        <p:nvSpPr>
          <p:cNvPr id="40" name="Text 38"/>
          <p:cNvSpPr/>
          <p:nvPr/>
        </p:nvSpPr>
        <p:spPr>
          <a:xfrm>
            <a:off x="487680" y="6193536"/>
            <a:ext cx="11216640" cy="512064"/>
          </a:xfrm>
          <a:prstGeom prst="rect">
            <a:avLst/>
          </a:prstGeom>
          <a:noFill/>
          <a:ln/>
        </p:spPr>
        <p:txBody>
          <a:bodyPr wrap="square" lIns="0" tIns="0" rIns="0" bIns="0" rtlCol="0" anchor="ctr"/>
          <a:lstStyle/>
          <a:p>
            <a:pPr algn="ctr" defTabSz="1219170"/>
            <a:r>
              <a:rPr lang="en-US" sz="1733" b="1" dirty="0">
                <a:solidFill>
                  <a:srgbClr val="0D1B2A"/>
                </a:solidFill>
                <a:latin typeface="Calibri" pitchFamily="34" charset="0"/>
                <a:ea typeface="Calibri" pitchFamily="34" charset="-122"/>
                <a:cs typeface="Calibri" pitchFamily="34" charset="-120"/>
              </a:rPr>
              <a:t>إجمالي الأعباء التشغيلية السنوية: 1,322,000 دج</a:t>
            </a:r>
            <a:endParaRPr lang="en-US" sz="1733" dirty="0">
              <a:solidFill>
                <a:prstClr val="black"/>
              </a:solidFill>
              <a:latin typeface="Calibri" panose="020F0502020204030204"/>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مصادر الإيرادات الخمسة</a:t>
            </a:r>
            <a:endParaRPr lang="en-US" sz="3467" dirty="0">
              <a:solidFill>
                <a:prstClr val="black"/>
              </a:solidFill>
              <a:latin typeface="Calibri" panose="020F0502020204030204"/>
            </a:endParaRPr>
          </a:p>
        </p:txBody>
      </p:sp>
      <p:sp>
        <p:nvSpPr>
          <p:cNvPr id="5" name="Text 3"/>
          <p:cNvSpPr/>
          <p:nvPr/>
        </p:nvSpPr>
        <p:spPr>
          <a:xfrm>
            <a:off x="487680" y="890016"/>
            <a:ext cx="11216640" cy="365760"/>
          </a:xfrm>
          <a:prstGeom prst="rect">
            <a:avLst/>
          </a:prstGeom>
          <a:noFill/>
          <a:ln/>
        </p:spPr>
        <p:txBody>
          <a:bodyPr wrap="square" rtlCol="0" anchor="ctr"/>
          <a:lstStyle/>
          <a:p>
            <a:pPr algn="r" defTabSz="1219170"/>
            <a:r>
              <a:rPr lang="en-US" sz="1600" dirty="0">
                <a:solidFill>
                  <a:srgbClr val="A0B0C0"/>
                </a:solidFill>
                <a:latin typeface="Calibri" pitchFamily="34" charset="0"/>
                <a:ea typeface="Calibri" pitchFamily="34" charset="-122"/>
                <a:cs typeface="Calibri" pitchFamily="34" charset="-120"/>
              </a:rPr>
              <a:t>منظومة دخل هجينة: إيرادات متكررة + إيرادات مشروطة بالأداء</a:t>
            </a:r>
            <a:endParaRPr lang="en-US" sz="1600" dirty="0">
              <a:solidFill>
                <a:prstClr val="black"/>
              </a:solidFill>
              <a:latin typeface="Calibri" panose="020F0502020204030204"/>
            </a:endParaRPr>
          </a:p>
        </p:txBody>
      </p:sp>
      <p:sp>
        <p:nvSpPr>
          <p:cNvPr id="6" name="Shape 4"/>
          <p:cNvSpPr/>
          <p:nvPr/>
        </p:nvSpPr>
        <p:spPr>
          <a:xfrm>
            <a:off x="487680" y="1341120"/>
            <a:ext cx="11216640" cy="926592"/>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7" name="Shape 5"/>
          <p:cNvSpPr/>
          <p:nvPr/>
        </p:nvSpPr>
        <p:spPr>
          <a:xfrm>
            <a:off x="10911840" y="1499616"/>
            <a:ext cx="609600" cy="609600"/>
          </a:xfrm>
          <a:prstGeom prst="ellipse">
            <a:avLst/>
          </a:prstGeom>
          <a:solidFill>
            <a:srgbClr val="F4A832"/>
          </a:solidFill>
          <a:ln w="12700">
            <a:solidFill>
              <a:srgbClr val="F4A832"/>
            </a:solidFill>
            <a:prstDash val="solid"/>
          </a:ln>
        </p:spPr>
      </p:sp>
      <p:sp>
        <p:nvSpPr>
          <p:cNvPr id="8" name="Text 6"/>
          <p:cNvSpPr/>
          <p:nvPr/>
        </p:nvSpPr>
        <p:spPr>
          <a:xfrm>
            <a:off x="10911840" y="1499616"/>
            <a:ext cx="609600" cy="609600"/>
          </a:xfrm>
          <a:prstGeom prst="rect">
            <a:avLst/>
          </a:prstGeom>
          <a:noFill/>
          <a:ln/>
        </p:spPr>
        <p:txBody>
          <a:bodyPr wrap="square" lIns="0" tIns="0" rIns="0" bIns="0" rtlCol="0" anchor="ctr"/>
          <a:lstStyle/>
          <a:p>
            <a:pPr algn="ctr" defTabSz="1219170"/>
            <a:r>
              <a:rPr lang="en-US" sz="1467" b="1" dirty="0">
                <a:solidFill>
                  <a:srgbClr val="0D1B2A"/>
                </a:solidFill>
                <a:latin typeface="Calibri" panose="020F0502020204030204"/>
              </a:rPr>
              <a:t>01</a:t>
            </a:r>
            <a:endParaRPr lang="en-US" sz="1467" dirty="0">
              <a:solidFill>
                <a:prstClr val="black"/>
              </a:solidFill>
              <a:latin typeface="Calibri" panose="020F0502020204030204"/>
            </a:endParaRPr>
          </a:p>
        </p:txBody>
      </p:sp>
      <p:sp>
        <p:nvSpPr>
          <p:cNvPr id="9" name="Text 7"/>
          <p:cNvSpPr/>
          <p:nvPr/>
        </p:nvSpPr>
        <p:spPr>
          <a:xfrm>
            <a:off x="4267200" y="1438656"/>
            <a:ext cx="6461760" cy="365760"/>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اشتراكات الباقات SaaS</a:t>
            </a:r>
            <a:endParaRPr lang="en-US" sz="1733" dirty="0">
              <a:solidFill>
                <a:prstClr val="black"/>
              </a:solidFill>
              <a:latin typeface="Calibri" panose="020F0502020204030204"/>
            </a:endParaRPr>
          </a:p>
        </p:txBody>
      </p:sp>
      <p:sp>
        <p:nvSpPr>
          <p:cNvPr id="10" name="Text 8"/>
          <p:cNvSpPr/>
          <p:nvPr/>
        </p:nvSpPr>
        <p:spPr>
          <a:xfrm>
            <a:off x="4267200" y="1828800"/>
            <a:ext cx="6461760" cy="304800"/>
          </a:xfrm>
          <a:prstGeom prst="rect">
            <a:avLst/>
          </a:prstGeom>
          <a:noFill/>
          <a:ln/>
        </p:spPr>
        <p:txBody>
          <a:bodyPr wrap="square" lIns="0" tIns="0" rIns="0" bIns="0" rtlCol="0" anchor="ctr"/>
          <a:lstStyle/>
          <a:p>
            <a:pPr algn="r" defTabSz="1219170"/>
            <a:r>
              <a:rPr lang="en-US" sz="1333" dirty="0">
                <a:solidFill>
                  <a:srgbClr val="A0B0C0"/>
                </a:solidFill>
                <a:latin typeface="Calibri" pitchFamily="34" charset="0"/>
                <a:ea typeface="Calibri" pitchFamily="34" charset="-122"/>
                <a:cs typeface="Calibri" pitchFamily="34" charset="-120"/>
              </a:rPr>
              <a:t>Starter · Pro · Business · Enterprise</a:t>
            </a:r>
            <a:endParaRPr lang="en-US" sz="1333" dirty="0">
              <a:solidFill>
                <a:prstClr val="black"/>
              </a:solidFill>
              <a:latin typeface="Calibri" panose="020F0502020204030204"/>
            </a:endParaRPr>
          </a:p>
        </p:txBody>
      </p:sp>
      <p:sp>
        <p:nvSpPr>
          <p:cNvPr id="11" name="Text 9"/>
          <p:cNvSpPr/>
          <p:nvPr/>
        </p:nvSpPr>
        <p:spPr>
          <a:xfrm>
            <a:off x="609600" y="1524000"/>
            <a:ext cx="3413760" cy="487680"/>
          </a:xfrm>
          <a:prstGeom prst="rect">
            <a:avLst/>
          </a:prstGeom>
          <a:noFill/>
          <a:ln/>
        </p:spPr>
        <p:txBody>
          <a:bodyPr wrap="square" rtlCol="0" anchor="ctr"/>
          <a:lstStyle/>
          <a:p>
            <a:pPr algn="ctr" defTabSz="1219170"/>
            <a:r>
              <a:rPr lang="en-US" sz="2000" b="1" dirty="0">
                <a:solidFill>
                  <a:srgbClr val="F4A832"/>
                </a:solidFill>
                <a:latin typeface="Calibri" pitchFamily="34" charset="0"/>
                <a:ea typeface="Calibri" pitchFamily="34" charset="-122"/>
                <a:cs typeface="Calibri" pitchFamily="34" charset="-120"/>
              </a:rPr>
              <a:t>3,840,000 دج</a:t>
            </a:r>
            <a:endParaRPr lang="en-US" sz="2000" dirty="0">
              <a:solidFill>
                <a:prstClr val="black"/>
              </a:solidFill>
              <a:latin typeface="Calibri" panose="020F0502020204030204"/>
            </a:endParaRPr>
          </a:p>
        </p:txBody>
      </p:sp>
      <p:sp>
        <p:nvSpPr>
          <p:cNvPr id="12" name="Text 10"/>
          <p:cNvSpPr/>
          <p:nvPr/>
        </p:nvSpPr>
        <p:spPr>
          <a:xfrm>
            <a:off x="609600" y="1926336"/>
            <a:ext cx="3413760" cy="243840"/>
          </a:xfrm>
          <a:prstGeom prst="rect">
            <a:avLst/>
          </a:prstGeom>
          <a:noFill/>
          <a:ln/>
        </p:spPr>
        <p:txBody>
          <a:bodyPr wrap="square" rtlCol="0" anchor="ctr"/>
          <a:lstStyle/>
          <a:p>
            <a:pPr algn="ctr" defTabSz="1219170"/>
            <a:r>
              <a:rPr lang="en-US" sz="1200" dirty="0">
                <a:solidFill>
                  <a:srgbClr val="A0B0C0"/>
                </a:solidFill>
                <a:latin typeface="Calibri" pitchFamily="34" charset="0"/>
                <a:ea typeface="Calibri" pitchFamily="34" charset="-122"/>
                <a:cs typeface="Calibri" pitchFamily="34" charset="-120"/>
              </a:rPr>
              <a:t>السنة الأولى</a:t>
            </a:r>
            <a:endParaRPr lang="en-US" sz="1200" dirty="0">
              <a:solidFill>
                <a:prstClr val="black"/>
              </a:solidFill>
              <a:latin typeface="Calibri" panose="020F0502020204030204"/>
            </a:endParaRPr>
          </a:p>
        </p:txBody>
      </p:sp>
      <p:sp>
        <p:nvSpPr>
          <p:cNvPr id="13" name="Shape 11"/>
          <p:cNvSpPr/>
          <p:nvPr/>
        </p:nvSpPr>
        <p:spPr>
          <a:xfrm>
            <a:off x="487680" y="2414016"/>
            <a:ext cx="11216640" cy="926592"/>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14" name="Shape 12"/>
          <p:cNvSpPr/>
          <p:nvPr/>
        </p:nvSpPr>
        <p:spPr>
          <a:xfrm>
            <a:off x="10911840" y="2572512"/>
            <a:ext cx="609600" cy="609600"/>
          </a:xfrm>
          <a:prstGeom prst="ellipse">
            <a:avLst/>
          </a:prstGeom>
          <a:solidFill>
            <a:srgbClr val="F4A832"/>
          </a:solidFill>
          <a:ln w="12700">
            <a:solidFill>
              <a:srgbClr val="F4A832"/>
            </a:solidFill>
            <a:prstDash val="solid"/>
          </a:ln>
        </p:spPr>
      </p:sp>
      <p:sp>
        <p:nvSpPr>
          <p:cNvPr id="15" name="Text 13"/>
          <p:cNvSpPr/>
          <p:nvPr/>
        </p:nvSpPr>
        <p:spPr>
          <a:xfrm>
            <a:off x="10911840" y="2572512"/>
            <a:ext cx="609600" cy="609600"/>
          </a:xfrm>
          <a:prstGeom prst="rect">
            <a:avLst/>
          </a:prstGeom>
          <a:noFill/>
          <a:ln/>
        </p:spPr>
        <p:txBody>
          <a:bodyPr wrap="square" lIns="0" tIns="0" rIns="0" bIns="0" rtlCol="0" anchor="ctr"/>
          <a:lstStyle/>
          <a:p>
            <a:pPr algn="ctr" defTabSz="1219170"/>
            <a:r>
              <a:rPr lang="en-US" sz="1467" b="1" dirty="0">
                <a:solidFill>
                  <a:srgbClr val="0D1B2A"/>
                </a:solidFill>
                <a:latin typeface="Calibri" panose="020F0502020204030204"/>
              </a:rPr>
              <a:t>02</a:t>
            </a:r>
            <a:endParaRPr lang="en-US" sz="1467" dirty="0">
              <a:solidFill>
                <a:prstClr val="black"/>
              </a:solidFill>
              <a:latin typeface="Calibri" panose="020F0502020204030204"/>
            </a:endParaRPr>
          </a:p>
        </p:txBody>
      </p:sp>
      <p:sp>
        <p:nvSpPr>
          <p:cNvPr id="16" name="Text 14"/>
          <p:cNvSpPr/>
          <p:nvPr/>
        </p:nvSpPr>
        <p:spPr>
          <a:xfrm>
            <a:off x="4267200" y="2511552"/>
            <a:ext cx="6461760" cy="365760"/>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الخدمات بالوحدة</a:t>
            </a:r>
            <a:endParaRPr lang="en-US" sz="1733" dirty="0">
              <a:solidFill>
                <a:prstClr val="black"/>
              </a:solidFill>
              <a:latin typeface="Calibri" panose="020F0502020204030204"/>
            </a:endParaRPr>
          </a:p>
        </p:txBody>
      </p:sp>
      <p:sp>
        <p:nvSpPr>
          <p:cNvPr id="17" name="Text 15"/>
          <p:cNvSpPr/>
          <p:nvPr/>
        </p:nvSpPr>
        <p:spPr>
          <a:xfrm>
            <a:off x="4267200" y="2901696"/>
            <a:ext cx="6461760" cy="304800"/>
          </a:xfrm>
          <a:prstGeom prst="rect">
            <a:avLst/>
          </a:prstGeom>
          <a:noFill/>
          <a:ln/>
        </p:spPr>
        <p:txBody>
          <a:bodyPr wrap="square" lIns="0" tIns="0" rIns="0" bIns="0" rtlCol="0" anchor="ctr"/>
          <a:lstStyle/>
          <a:p>
            <a:pPr algn="r" defTabSz="1219170"/>
            <a:r>
              <a:rPr lang="en-US" sz="1333" dirty="0">
                <a:solidFill>
                  <a:srgbClr val="A0B0C0"/>
                </a:solidFill>
                <a:latin typeface="Calibri" pitchFamily="34" charset="0"/>
                <a:ea typeface="Calibri" pitchFamily="34" charset="-122"/>
                <a:cs typeface="Calibri" pitchFamily="34" charset="-120"/>
              </a:rPr>
              <a:t>G50 · تدقيق · تسوية · استشارة</a:t>
            </a:r>
            <a:endParaRPr lang="en-US" sz="1333" dirty="0">
              <a:solidFill>
                <a:prstClr val="black"/>
              </a:solidFill>
              <a:latin typeface="Calibri" panose="020F0502020204030204"/>
            </a:endParaRPr>
          </a:p>
        </p:txBody>
      </p:sp>
      <p:sp>
        <p:nvSpPr>
          <p:cNvPr id="18" name="Text 16"/>
          <p:cNvSpPr/>
          <p:nvPr/>
        </p:nvSpPr>
        <p:spPr>
          <a:xfrm>
            <a:off x="609600" y="2596896"/>
            <a:ext cx="3413760" cy="487680"/>
          </a:xfrm>
          <a:prstGeom prst="rect">
            <a:avLst/>
          </a:prstGeom>
          <a:noFill/>
          <a:ln/>
        </p:spPr>
        <p:txBody>
          <a:bodyPr wrap="square" rtlCol="0" anchor="ctr"/>
          <a:lstStyle/>
          <a:p>
            <a:pPr algn="ctr" defTabSz="1219170"/>
            <a:r>
              <a:rPr lang="en-US" sz="2000" b="1" dirty="0">
                <a:solidFill>
                  <a:srgbClr val="F4A832"/>
                </a:solidFill>
                <a:latin typeface="Calibri" pitchFamily="34" charset="0"/>
                <a:ea typeface="Calibri" pitchFamily="34" charset="-122"/>
                <a:cs typeface="Calibri" pitchFamily="34" charset="-120"/>
              </a:rPr>
              <a:t>2,388,000 دج</a:t>
            </a:r>
            <a:endParaRPr lang="en-US" sz="2000" dirty="0">
              <a:solidFill>
                <a:prstClr val="black"/>
              </a:solidFill>
              <a:latin typeface="Calibri" panose="020F0502020204030204"/>
            </a:endParaRPr>
          </a:p>
        </p:txBody>
      </p:sp>
      <p:sp>
        <p:nvSpPr>
          <p:cNvPr id="19" name="Text 17"/>
          <p:cNvSpPr/>
          <p:nvPr/>
        </p:nvSpPr>
        <p:spPr>
          <a:xfrm>
            <a:off x="609600" y="2999232"/>
            <a:ext cx="3413760" cy="243840"/>
          </a:xfrm>
          <a:prstGeom prst="rect">
            <a:avLst/>
          </a:prstGeom>
          <a:noFill/>
          <a:ln/>
        </p:spPr>
        <p:txBody>
          <a:bodyPr wrap="square" rtlCol="0" anchor="ctr"/>
          <a:lstStyle/>
          <a:p>
            <a:pPr algn="ctr" defTabSz="1219170"/>
            <a:r>
              <a:rPr lang="en-US" sz="1200" dirty="0">
                <a:solidFill>
                  <a:srgbClr val="A0B0C0"/>
                </a:solidFill>
                <a:latin typeface="Calibri" pitchFamily="34" charset="0"/>
                <a:ea typeface="Calibri" pitchFamily="34" charset="-122"/>
                <a:cs typeface="Calibri" pitchFamily="34" charset="-120"/>
              </a:rPr>
              <a:t>السنة الأولى</a:t>
            </a:r>
            <a:endParaRPr lang="en-US" sz="1200" dirty="0">
              <a:solidFill>
                <a:prstClr val="black"/>
              </a:solidFill>
              <a:latin typeface="Calibri" panose="020F0502020204030204"/>
            </a:endParaRPr>
          </a:p>
        </p:txBody>
      </p:sp>
      <p:sp>
        <p:nvSpPr>
          <p:cNvPr id="20" name="Shape 18"/>
          <p:cNvSpPr/>
          <p:nvPr/>
        </p:nvSpPr>
        <p:spPr>
          <a:xfrm>
            <a:off x="487680" y="3486912"/>
            <a:ext cx="11216640" cy="926592"/>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21" name="Shape 19"/>
          <p:cNvSpPr/>
          <p:nvPr/>
        </p:nvSpPr>
        <p:spPr>
          <a:xfrm>
            <a:off x="10911840" y="3645408"/>
            <a:ext cx="609600" cy="609600"/>
          </a:xfrm>
          <a:prstGeom prst="ellipse">
            <a:avLst/>
          </a:prstGeom>
          <a:solidFill>
            <a:srgbClr val="F4A832"/>
          </a:solidFill>
          <a:ln w="12700">
            <a:solidFill>
              <a:srgbClr val="F4A832"/>
            </a:solidFill>
            <a:prstDash val="solid"/>
          </a:ln>
        </p:spPr>
      </p:sp>
      <p:sp>
        <p:nvSpPr>
          <p:cNvPr id="22" name="Text 20"/>
          <p:cNvSpPr/>
          <p:nvPr/>
        </p:nvSpPr>
        <p:spPr>
          <a:xfrm>
            <a:off x="10911840" y="3645408"/>
            <a:ext cx="609600" cy="609600"/>
          </a:xfrm>
          <a:prstGeom prst="rect">
            <a:avLst/>
          </a:prstGeom>
          <a:noFill/>
          <a:ln/>
        </p:spPr>
        <p:txBody>
          <a:bodyPr wrap="square" lIns="0" tIns="0" rIns="0" bIns="0" rtlCol="0" anchor="ctr"/>
          <a:lstStyle/>
          <a:p>
            <a:pPr algn="ctr" defTabSz="1219170"/>
            <a:r>
              <a:rPr lang="en-US" sz="1467" b="1" dirty="0">
                <a:solidFill>
                  <a:srgbClr val="0D1B2A"/>
                </a:solidFill>
                <a:latin typeface="Calibri" panose="020F0502020204030204"/>
              </a:rPr>
              <a:t>03</a:t>
            </a:r>
            <a:endParaRPr lang="en-US" sz="1467" dirty="0">
              <a:solidFill>
                <a:prstClr val="black"/>
              </a:solidFill>
              <a:latin typeface="Calibri" panose="020F0502020204030204"/>
            </a:endParaRPr>
          </a:p>
        </p:txBody>
      </p:sp>
      <p:sp>
        <p:nvSpPr>
          <p:cNvPr id="23" name="Text 21"/>
          <p:cNvSpPr/>
          <p:nvPr/>
        </p:nvSpPr>
        <p:spPr>
          <a:xfrm>
            <a:off x="4267200" y="3584448"/>
            <a:ext cx="6461760" cy="365760"/>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عمولات الشراكات والإحالة</a:t>
            </a:r>
            <a:endParaRPr lang="en-US" sz="1733" dirty="0">
              <a:solidFill>
                <a:prstClr val="black"/>
              </a:solidFill>
              <a:latin typeface="Calibri" panose="020F0502020204030204"/>
            </a:endParaRPr>
          </a:p>
        </p:txBody>
      </p:sp>
      <p:sp>
        <p:nvSpPr>
          <p:cNvPr id="24" name="Text 22"/>
          <p:cNvSpPr/>
          <p:nvPr/>
        </p:nvSpPr>
        <p:spPr>
          <a:xfrm>
            <a:off x="4267200" y="3974592"/>
            <a:ext cx="6461760" cy="304800"/>
          </a:xfrm>
          <a:prstGeom prst="rect">
            <a:avLst/>
          </a:prstGeom>
          <a:noFill/>
          <a:ln/>
        </p:spPr>
        <p:txBody>
          <a:bodyPr wrap="square" lIns="0" tIns="0" rIns="0" bIns="0" rtlCol="0" anchor="ctr"/>
          <a:lstStyle/>
          <a:p>
            <a:pPr algn="r" defTabSz="1219170"/>
            <a:r>
              <a:rPr lang="en-US" sz="1333" dirty="0">
                <a:solidFill>
                  <a:srgbClr val="A0B0C0"/>
                </a:solidFill>
                <a:latin typeface="Calibri" pitchFamily="34" charset="0"/>
                <a:ea typeface="Calibri" pitchFamily="34" charset="-122"/>
                <a:cs typeface="Calibri" pitchFamily="34" charset="-120"/>
              </a:rPr>
              <a:t>مكاتب محاسبة · حاضنات · بنوك</a:t>
            </a:r>
            <a:endParaRPr lang="en-US" sz="1333" dirty="0">
              <a:solidFill>
                <a:prstClr val="black"/>
              </a:solidFill>
              <a:latin typeface="Calibri" panose="020F0502020204030204"/>
            </a:endParaRPr>
          </a:p>
        </p:txBody>
      </p:sp>
      <p:sp>
        <p:nvSpPr>
          <p:cNvPr id="25" name="Text 23"/>
          <p:cNvSpPr/>
          <p:nvPr/>
        </p:nvSpPr>
        <p:spPr>
          <a:xfrm>
            <a:off x="609600" y="3669792"/>
            <a:ext cx="3413760" cy="487680"/>
          </a:xfrm>
          <a:prstGeom prst="rect">
            <a:avLst/>
          </a:prstGeom>
          <a:noFill/>
          <a:ln/>
        </p:spPr>
        <p:txBody>
          <a:bodyPr wrap="square" rtlCol="0" anchor="ctr"/>
          <a:lstStyle/>
          <a:p>
            <a:pPr algn="ctr" defTabSz="1219170"/>
            <a:r>
              <a:rPr lang="en-US" sz="2000" b="1" dirty="0">
                <a:solidFill>
                  <a:srgbClr val="F4A832"/>
                </a:solidFill>
                <a:latin typeface="Calibri" pitchFamily="34" charset="0"/>
                <a:ea typeface="Calibri" pitchFamily="34" charset="-122"/>
                <a:cs typeface="Calibri" pitchFamily="34" charset="-120"/>
              </a:rPr>
              <a:t>962,000 دج</a:t>
            </a:r>
            <a:endParaRPr lang="en-US" sz="2000" dirty="0">
              <a:solidFill>
                <a:prstClr val="black"/>
              </a:solidFill>
              <a:latin typeface="Calibri" panose="020F0502020204030204"/>
            </a:endParaRPr>
          </a:p>
        </p:txBody>
      </p:sp>
      <p:sp>
        <p:nvSpPr>
          <p:cNvPr id="26" name="Text 24"/>
          <p:cNvSpPr/>
          <p:nvPr/>
        </p:nvSpPr>
        <p:spPr>
          <a:xfrm>
            <a:off x="609600" y="4072128"/>
            <a:ext cx="3413760" cy="243840"/>
          </a:xfrm>
          <a:prstGeom prst="rect">
            <a:avLst/>
          </a:prstGeom>
          <a:noFill/>
          <a:ln/>
        </p:spPr>
        <p:txBody>
          <a:bodyPr wrap="square" rtlCol="0" anchor="ctr"/>
          <a:lstStyle/>
          <a:p>
            <a:pPr algn="ctr" defTabSz="1219170"/>
            <a:r>
              <a:rPr lang="en-US" sz="1200" dirty="0">
                <a:solidFill>
                  <a:srgbClr val="A0B0C0"/>
                </a:solidFill>
                <a:latin typeface="Calibri" pitchFamily="34" charset="0"/>
                <a:ea typeface="Calibri" pitchFamily="34" charset="-122"/>
                <a:cs typeface="Calibri" pitchFamily="34" charset="-120"/>
              </a:rPr>
              <a:t>السنة الأولى</a:t>
            </a:r>
            <a:endParaRPr lang="en-US" sz="1200" dirty="0">
              <a:solidFill>
                <a:prstClr val="black"/>
              </a:solidFill>
              <a:latin typeface="Calibri" panose="020F0502020204030204"/>
            </a:endParaRPr>
          </a:p>
        </p:txBody>
      </p:sp>
      <p:sp>
        <p:nvSpPr>
          <p:cNvPr id="27" name="Shape 25"/>
          <p:cNvSpPr/>
          <p:nvPr/>
        </p:nvSpPr>
        <p:spPr>
          <a:xfrm>
            <a:off x="487680" y="4559808"/>
            <a:ext cx="11216640" cy="926592"/>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28" name="Shape 26"/>
          <p:cNvSpPr/>
          <p:nvPr/>
        </p:nvSpPr>
        <p:spPr>
          <a:xfrm>
            <a:off x="10911840" y="4718304"/>
            <a:ext cx="609600" cy="609600"/>
          </a:xfrm>
          <a:prstGeom prst="ellipse">
            <a:avLst/>
          </a:prstGeom>
          <a:solidFill>
            <a:srgbClr val="F4A832"/>
          </a:solidFill>
          <a:ln w="12700">
            <a:solidFill>
              <a:srgbClr val="F4A832"/>
            </a:solidFill>
            <a:prstDash val="solid"/>
          </a:ln>
        </p:spPr>
      </p:sp>
      <p:sp>
        <p:nvSpPr>
          <p:cNvPr id="29" name="Text 27"/>
          <p:cNvSpPr/>
          <p:nvPr/>
        </p:nvSpPr>
        <p:spPr>
          <a:xfrm>
            <a:off x="10911840" y="4718304"/>
            <a:ext cx="609600" cy="609600"/>
          </a:xfrm>
          <a:prstGeom prst="rect">
            <a:avLst/>
          </a:prstGeom>
          <a:noFill/>
          <a:ln/>
        </p:spPr>
        <p:txBody>
          <a:bodyPr wrap="square" lIns="0" tIns="0" rIns="0" bIns="0" rtlCol="0" anchor="ctr"/>
          <a:lstStyle/>
          <a:p>
            <a:pPr algn="ctr" defTabSz="1219170"/>
            <a:r>
              <a:rPr lang="en-US" sz="1467" b="1" dirty="0">
                <a:solidFill>
                  <a:srgbClr val="0D1B2A"/>
                </a:solidFill>
                <a:latin typeface="Calibri" panose="020F0502020204030204"/>
              </a:rPr>
              <a:t>04</a:t>
            </a:r>
            <a:endParaRPr lang="en-US" sz="1467" dirty="0">
              <a:solidFill>
                <a:prstClr val="black"/>
              </a:solidFill>
              <a:latin typeface="Calibri" panose="020F0502020204030204"/>
            </a:endParaRPr>
          </a:p>
        </p:txBody>
      </p:sp>
      <p:sp>
        <p:nvSpPr>
          <p:cNvPr id="30" name="Text 28"/>
          <p:cNvSpPr/>
          <p:nvPr/>
        </p:nvSpPr>
        <p:spPr>
          <a:xfrm>
            <a:off x="4267200" y="4657344"/>
            <a:ext cx="6461760" cy="365760"/>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التكوين والتدريب</a:t>
            </a:r>
            <a:endParaRPr lang="en-US" sz="1733" dirty="0">
              <a:solidFill>
                <a:prstClr val="black"/>
              </a:solidFill>
              <a:latin typeface="Calibri" panose="020F0502020204030204"/>
            </a:endParaRPr>
          </a:p>
        </p:txBody>
      </p:sp>
      <p:sp>
        <p:nvSpPr>
          <p:cNvPr id="31" name="Text 29"/>
          <p:cNvSpPr/>
          <p:nvPr/>
        </p:nvSpPr>
        <p:spPr>
          <a:xfrm>
            <a:off x="4267200" y="5047488"/>
            <a:ext cx="6461760" cy="304800"/>
          </a:xfrm>
          <a:prstGeom prst="rect">
            <a:avLst/>
          </a:prstGeom>
          <a:noFill/>
          <a:ln/>
        </p:spPr>
        <p:txBody>
          <a:bodyPr wrap="square" lIns="0" tIns="0" rIns="0" bIns="0" rtlCol="0" anchor="ctr"/>
          <a:lstStyle/>
          <a:p>
            <a:pPr algn="r" defTabSz="1219170"/>
            <a:r>
              <a:rPr lang="en-US" sz="1333" dirty="0">
                <a:solidFill>
                  <a:srgbClr val="A0B0C0"/>
                </a:solidFill>
                <a:latin typeface="Calibri" pitchFamily="34" charset="0"/>
                <a:ea typeface="Calibri" pitchFamily="34" charset="-122"/>
                <a:cs typeface="Calibri" pitchFamily="34" charset="-120"/>
              </a:rPr>
              <a:t>دورات E-Learning + ورشات ميدانية</a:t>
            </a:r>
            <a:endParaRPr lang="en-US" sz="1333" dirty="0">
              <a:solidFill>
                <a:prstClr val="black"/>
              </a:solidFill>
              <a:latin typeface="Calibri" panose="020F0502020204030204"/>
            </a:endParaRPr>
          </a:p>
        </p:txBody>
      </p:sp>
      <p:sp>
        <p:nvSpPr>
          <p:cNvPr id="32" name="Text 30"/>
          <p:cNvSpPr/>
          <p:nvPr/>
        </p:nvSpPr>
        <p:spPr>
          <a:xfrm>
            <a:off x="609600" y="4742688"/>
            <a:ext cx="3413760" cy="487680"/>
          </a:xfrm>
          <a:prstGeom prst="rect">
            <a:avLst/>
          </a:prstGeom>
          <a:noFill/>
          <a:ln/>
        </p:spPr>
        <p:txBody>
          <a:bodyPr wrap="square" rtlCol="0" anchor="ctr"/>
          <a:lstStyle/>
          <a:p>
            <a:pPr algn="ctr" defTabSz="1219170"/>
            <a:r>
              <a:rPr lang="en-US" sz="2000" b="1" dirty="0">
                <a:solidFill>
                  <a:srgbClr val="F4A832"/>
                </a:solidFill>
                <a:latin typeface="Calibri" pitchFamily="34" charset="0"/>
                <a:ea typeface="Calibri" pitchFamily="34" charset="-122"/>
                <a:cs typeface="Calibri" pitchFamily="34" charset="-120"/>
              </a:rPr>
              <a:t>1,680,000 دج</a:t>
            </a:r>
            <a:endParaRPr lang="en-US" sz="2000" dirty="0">
              <a:solidFill>
                <a:prstClr val="black"/>
              </a:solidFill>
              <a:latin typeface="Calibri" panose="020F0502020204030204"/>
            </a:endParaRPr>
          </a:p>
        </p:txBody>
      </p:sp>
      <p:sp>
        <p:nvSpPr>
          <p:cNvPr id="33" name="Text 31"/>
          <p:cNvSpPr/>
          <p:nvPr/>
        </p:nvSpPr>
        <p:spPr>
          <a:xfrm>
            <a:off x="609600" y="5145024"/>
            <a:ext cx="3413760" cy="243840"/>
          </a:xfrm>
          <a:prstGeom prst="rect">
            <a:avLst/>
          </a:prstGeom>
          <a:noFill/>
          <a:ln/>
        </p:spPr>
        <p:txBody>
          <a:bodyPr wrap="square" rtlCol="0" anchor="ctr"/>
          <a:lstStyle/>
          <a:p>
            <a:pPr algn="ctr" defTabSz="1219170"/>
            <a:r>
              <a:rPr lang="en-US" sz="1200" dirty="0">
                <a:solidFill>
                  <a:srgbClr val="A0B0C0"/>
                </a:solidFill>
                <a:latin typeface="Calibri" pitchFamily="34" charset="0"/>
                <a:ea typeface="Calibri" pitchFamily="34" charset="-122"/>
                <a:cs typeface="Calibri" pitchFamily="34" charset="-120"/>
              </a:rPr>
              <a:t>السنة الأولى</a:t>
            </a:r>
            <a:endParaRPr lang="en-US" sz="1200" dirty="0">
              <a:solidFill>
                <a:prstClr val="black"/>
              </a:solidFill>
              <a:latin typeface="Calibri" panose="020F0502020204030204"/>
            </a:endParaRPr>
          </a:p>
        </p:txBody>
      </p:sp>
      <p:sp>
        <p:nvSpPr>
          <p:cNvPr id="34" name="Shape 32"/>
          <p:cNvSpPr/>
          <p:nvPr/>
        </p:nvSpPr>
        <p:spPr>
          <a:xfrm>
            <a:off x="487680" y="5632704"/>
            <a:ext cx="11216640" cy="926592"/>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35" name="Shape 33"/>
          <p:cNvSpPr/>
          <p:nvPr/>
        </p:nvSpPr>
        <p:spPr>
          <a:xfrm>
            <a:off x="10911840" y="5791200"/>
            <a:ext cx="609600" cy="609600"/>
          </a:xfrm>
          <a:prstGeom prst="ellipse">
            <a:avLst/>
          </a:prstGeom>
          <a:solidFill>
            <a:srgbClr val="F4A832"/>
          </a:solidFill>
          <a:ln w="12700">
            <a:solidFill>
              <a:srgbClr val="F4A832"/>
            </a:solidFill>
            <a:prstDash val="solid"/>
          </a:ln>
        </p:spPr>
      </p:sp>
      <p:sp>
        <p:nvSpPr>
          <p:cNvPr id="36" name="Text 34"/>
          <p:cNvSpPr/>
          <p:nvPr/>
        </p:nvSpPr>
        <p:spPr>
          <a:xfrm>
            <a:off x="10911840" y="5791200"/>
            <a:ext cx="609600" cy="609600"/>
          </a:xfrm>
          <a:prstGeom prst="rect">
            <a:avLst/>
          </a:prstGeom>
          <a:noFill/>
          <a:ln/>
        </p:spPr>
        <p:txBody>
          <a:bodyPr wrap="square" lIns="0" tIns="0" rIns="0" bIns="0" rtlCol="0" anchor="ctr"/>
          <a:lstStyle/>
          <a:p>
            <a:pPr algn="ctr" defTabSz="1219170"/>
            <a:r>
              <a:rPr lang="en-US" sz="1467" b="1" dirty="0">
                <a:solidFill>
                  <a:srgbClr val="0D1B2A"/>
                </a:solidFill>
                <a:latin typeface="Calibri" panose="020F0502020204030204"/>
              </a:rPr>
              <a:t>05</a:t>
            </a:r>
            <a:endParaRPr lang="en-US" sz="1467" dirty="0">
              <a:solidFill>
                <a:prstClr val="black"/>
              </a:solidFill>
              <a:latin typeface="Calibri" panose="020F0502020204030204"/>
            </a:endParaRPr>
          </a:p>
        </p:txBody>
      </p:sp>
      <p:sp>
        <p:nvSpPr>
          <p:cNvPr id="37" name="Text 35"/>
          <p:cNvSpPr/>
          <p:nvPr/>
        </p:nvSpPr>
        <p:spPr>
          <a:xfrm>
            <a:off x="4267200" y="5730240"/>
            <a:ext cx="6461760" cy="365760"/>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الإعلانات وتسويق البيانات</a:t>
            </a:r>
            <a:endParaRPr lang="en-US" sz="1733" dirty="0">
              <a:solidFill>
                <a:prstClr val="black"/>
              </a:solidFill>
              <a:latin typeface="Calibri" panose="020F0502020204030204"/>
            </a:endParaRPr>
          </a:p>
        </p:txBody>
      </p:sp>
      <p:sp>
        <p:nvSpPr>
          <p:cNvPr id="38" name="Text 36"/>
          <p:cNvSpPr/>
          <p:nvPr/>
        </p:nvSpPr>
        <p:spPr>
          <a:xfrm>
            <a:off x="4267200" y="6120384"/>
            <a:ext cx="6461760" cy="304800"/>
          </a:xfrm>
          <a:prstGeom prst="rect">
            <a:avLst/>
          </a:prstGeom>
          <a:noFill/>
          <a:ln/>
        </p:spPr>
        <p:txBody>
          <a:bodyPr wrap="square" lIns="0" tIns="0" rIns="0" bIns="0" rtlCol="0" anchor="ctr"/>
          <a:lstStyle/>
          <a:p>
            <a:pPr algn="r" defTabSz="1219170"/>
            <a:r>
              <a:rPr lang="en-US" sz="1333" dirty="0">
                <a:solidFill>
                  <a:srgbClr val="A0B0C0"/>
                </a:solidFill>
                <a:latin typeface="Calibri" pitchFamily="34" charset="0"/>
                <a:ea typeface="Calibri" pitchFamily="34" charset="-122"/>
                <a:cs typeface="Calibri" pitchFamily="34" charset="-120"/>
              </a:rPr>
              <a:t>B2B Ads · تقارير السوق · داشبورد</a:t>
            </a:r>
            <a:endParaRPr lang="en-US" sz="1333" dirty="0">
              <a:solidFill>
                <a:prstClr val="black"/>
              </a:solidFill>
              <a:latin typeface="Calibri" panose="020F0502020204030204"/>
            </a:endParaRPr>
          </a:p>
        </p:txBody>
      </p:sp>
      <p:sp>
        <p:nvSpPr>
          <p:cNvPr id="39" name="Text 37"/>
          <p:cNvSpPr/>
          <p:nvPr/>
        </p:nvSpPr>
        <p:spPr>
          <a:xfrm>
            <a:off x="609600" y="5815584"/>
            <a:ext cx="3413760" cy="487680"/>
          </a:xfrm>
          <a:prstGeom prst="rect">
            <a:avLst/>
          </a:prstGeom>
          <a:noFill/>
          <a:ln/>
        </p:spPr>
        <p:txBody>
          <a:bodyPr wrap="square" rtlCol="0" anchor="ctr"/>
          <a:lstStyle/>
          <a:p>
            <a:pPr algn="ctr" defTabSz="1219170"/>
            <a:r>
              <a:rPr lang="en-US" sz="2000" b="1" dirty="0">
                <a:solidFill>
                  <a:srgbClr val="F4A832"/>
                </a:solidFill>
                <a:latin typeface="Calibri" pitchFamily="34" charset="0"/>
                <a:ea typeface="Calibri" pitchFamily="34" charset="-122"/>
                <a:cs typeface="Calibri" pitchFamily="34" charset="-120"/>
              </a:rPr>
              <a:t>740,000 دج</a:t>
            </a:r>
            <a:endParaRPr lang="en-US" sz="2000" dirty="0">
              <a:solidFill>
                <a:prstClr val="black"/>
              </a:solidFill>
              <a:latin typeface="Calibri" panose="020F0502020204030204"/>
            </a:endParaRPr>
          </a:p>
        </p:txBody>
      </p:sp>
      <p:sp>
        <p:nvSpPr>
          <p:cNvPr id="40" name="Text 38"/>
          <p:cNvSpPr/>
          <p:nvPr/>
        </p:nvSpPr>
        <p:spPr>
          <a:xfrm>
            <a:off x="609600" y="6217920"/>
            <a:ext cx="3413760" cy="243840"/>
          </a:xfrm>
          <a:prstGeom prst="rect">
            <a:avLst/>
          </a:prstGeom>
          <a:noFill/>
          <a:ln/>
        </p:spPr>
        <p:txBody>
          <a:bodyPr wrap="square" rtlCol="0" anchor="ctr"/>
          <a:lstStyle/>
          <a:p>
            <a:pPr algn="ctr" defTabSz="1219170"/>
            <a:r>
              <a:rPr lang="en-US" sz="1200" dirty="0">
                <a:solidFill>
                  <a:srgbClr val="A0B0C0"/>
                </a:solidFill>
                <a:latin typeface="Calibri" pitchFamily="34" charset="0"/>
                <a:ea typeface="Calibri" pitchFamily="34" charset="-122"/>
                <a:cs typeface="Calibri" pitchFamily="34" charset="-120"/>
              </a:rPr>
              <a:t>السنة الأولى</a:t>
            </a:r>
            <a:endParaRPr lang="en-US" sz="1200" dirty="0">
              <a:solidFill>
                <a:prstClr val="black"/>
              </a:solidFill>
              <a:latin typeface="Calibri" panose="020F0502020204030204"/>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توقعات الإيرادات — 3 سنوات</a:t>
            </a:r>
            <a:endParaRPr lang="en-US" sz="3467" dirty="0">
              <a:solidFill>
                <a:prstClr val="black"/>
              </a:solidFill>
              <a:latin typeface="Calibri" panose="020F0502020204030204"/>
            </a:endParaRPr>
          </a:p>
        </p:txBody>
      </p:sp>
      <p:graphicFrame>
        <p:nvGraphicFramePr>
          <p:cNvPr id="5" name="Chart 0"/>
          <p:cNvGraphicFramePr/>
          <p:nvPr/>
        </p:nvGraphicFramePr>
        <p:xfrm>
          <a:off x="487680" y="1097280"/>
          <a:ext cx="7071360" cy="54864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802880" y="1341120"/>
            <a:ext cx="3901440" cy="146304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7" name="Text 4"/>
          <p:cNvSpPr/>
          <p:nvPr/>
        </p:nvSpPr>
        <p:spPr>
          <a:xfrm>
            <a:off x="7924800" y="1438656"/>
            <a:ext cx="3657600" cy="341376"/>
          </a:xfrm>
          <a:prstGeom prst="rect">
            <a:avLst/>
          </a:prstGeom>
          <a:noFill/>
          <a:ln/>
        </p:spPr>
        <p:txBody>
          <a:bodyPr wrap="square" lIns="0" tIns="0" rIns="0" bIns="0" rtlCol="0" anchor="ctr"/>
          <a:lstStyle/>
          <a:p>
            <a:pPr algn="ctr" defTabSz="1219170"/>
            <a:r>
              <a:rPr lang="en-US" sz="1467" dirty="0">
                <a:solidFill>
                  <a:srgbClr val="A0B0C0"/>
                </a:solidFill>
                <a:latin typeface="Calibri" pitchFamily="34" charset="0"/>
                <a:ea typeface="Calibri" pitchFamily="34" charset="-122"/>
                <a:cs typeface="Calibri" pitchFamily="34" charset="-120"/>
              </a:rPr>
              <a:t>السنة الأولى</a:t>
            </a:r>
            <a:endParaRPr lang="en-US" sz="1467" dirty="0">
              <a:solidFill>
                <a:prstClr val="black"/>
              </a:solidFill>
              <a:latin typeface="Calibri" panose="020F0502020204030204"/>
            </a:endParaRPr>
          </a:p>
        </p:txBody>
      </p:sp>
      <p:sp>
        <p:nvSpPr>
          <p:cNvPr id="8" name="Text 5"/>
          <p:cNvSpPr/>
          <p:nvPr/>
        </p:nvSpPr>
        <p:spPr>
          <a:xfrm>
            <a:off x="7924800" y="1767840"/>
            <a:ext cx="3657600" cy="463296"/>
          </a:xfrm>
          <a:prstGeom prst="rect">
            <a:avLst/>
          </a:prstGeom>
          <a:noFill/>
          <a:ln/>
        </p:spPr>
        <p:txBody>
          <a:bodyPr wrap="square" lIns="0" tIns="0" rIns="0" bIns="0" rtlCol="0" anchor="ctr"/>
          <a:lstStyle/>
          <a:p>
            <a:pPr algn="ctr" defTabSz="1219170"/>
            <a:r>
              <a:rPr lang="en-US" sz="2133" b="1" dirty="0">
                <a:solidFill>
                  <a:srgbClr val="F4A832"/>
                </a:solidFill>
                <a:latin typeface="Calibri" pitchFamily="34" charset="0"/>
                <a:ea typeface="Calibri" pitchFamily="34" charset="-122"/>
                <a:cs typeface="Calibri" pitchFamily="34" charset="-120"/>
              </a:rPr>
              <a:t>9,610,000 دج</a:t>
            </a:r>
            <a:endParaRPr lang="en-US" sz="2133" dirty="0">
              <a:solidFill>
                <a:prstClr val="black"/>
              </a:solidFill>
              <a:latin typeface="Calibri" panose="020F0502020204030204"/>
            </a:endParaRPr>
          </a:p>
        </p:txBody>
      </p:sp>
      <p:sp>
        <p:nvSpPr>
          <p:cNvPr id="9" name="Text 6"/>
          <p:cNvSpPr/>
          <p:nvPr/>
        </p:nvSpPr>
        <p:spPr>
          <a:xfrm>
            <a:off x="7924800" y="2255520"/>
            <a:ext cx="3657600" cy="341376"/>
          </a:xfrm>
          <a:prstGeom prst="rect">
            <a:avLst/>
          </a:prstGeom>
          <a:noFill/>
          <a:ln/>
        </p:spPr>
        <p:txBody>
          <a:bodyPr wrap="square" lIns="0" tIns="0" rIns="0" bIns="0" rtlCol="0" anchor="ctr"/>
          <a:lstStyle/>
          <a:p>
            <a:pPr algn="ctr" defTabSz="1219170"/>
            <a:r>
              <a:rPr lang="en-US" sz="1600" b="1" dirty="0">
                <a:solidFill>
                  <a:srgbClr val="22C55E"/>
                </a:solidFill>
                <a:latin typeface="Calibri" pitchFamily="34" charset="0"/>
                <a:ea typeface="Calibri" pitchFamily="34" charset="-122"/>
                <a:cs typeface="Calibri" pitchFamily="34" charset="-120"/>
              </a:rPr>
              <a:t>—</a:t>
            </a:r>
            <a:endParaRPr lang="en-US" sz="1600" dirty="0">
              <a:solidFill>
                <a:prstClr val="black"/>
              </a:solidFill>
              <a:latin typeface="Calibri" panose="020F0502020204030204"/>
            </a:endParaRPr>
          </a:p>
        </p:txBody>
      </p:sp>
      <p:sp>
        <p:nvSpPr>
          <p:cNvPr id="10" name="Shape 7"/>
          <p:cNvSpPr/>
          <p:nvPr/>
        </p:nvSpPr>
        <p:spPr>
          <a:xfrm>
            <a:off x="7802880" y="3048000"/>
            <a:ext cx="3901440" cy="1463040"/>
          </a:xfrm>
          <a:prstGeom prst="rect">
            <a:avLst/>
          </a:prstGeom>
          <a:solidFill>
            <a:srgbClr val="162032"/>
          </a:solidFill>
          <a:ln w="12700">
            <a:solidFill>
              <a:srgbClr val="1B2A3B"/>
            </a:solidFill>
            <a:prstDash val="solid"/>
          </a:ln>
          <a:effectLst>
            <a:outerShdw blurRad="101600" dist="38100" dir="8100000" algn="bl" rotWithShape="0">
              <a:srgbClr val="000000">
                <a:alpha val="25000"/>
              </a:srgbClr>
            </a:outerShdw>
          </a:effectLst>
        </p:spPr>
      </p:sp>
      <p:sp>
        <p:nvSpPr>
          <p:cNvPr id="11" name="Text 8"/>
          <p:cNvSpPr/>
          <p:nvPr/>
        </p:nvSpPr>
        <p:spPr>
          <a:xfrm>
            <a:off x="7924800" y="3145536"/>
            <a:ext cx="3657600" cy="341376"/>
          </a:xfrm>
          <a:prstGeom prst="rect">
            <a:avLst/>
          </a:prstGeom>
          <a:noFill/>
          <a:ln/>
        </p:spPr>
        <p:txBody>
          <a:bodyPr wrap="square" lIns="0" tIns="0" rIns="0" bIns="0" rtlCol="0" anchor="ctr"/>
          <a:lstStyle/>
          <a:p>
            <a:pPr algn="ctr" defTabSz="1219170"/>
            <a:r>
              <a:rPr lang="en-US" sz="1467" dirty="0">
                <a:solidFill>
                  <a:srgbClr val="A0B0C0"/>
                </a:solidFill>
                <a:latin typeface="Calibri" pitchFamily="34" charset="0"/>
                <a:ea typeface="Calibri" pitchFamily="34" charset="-122"/>
                <a:cs typeface="Calibri" pitchFamily="34" charset="-120"/>
              </a:rPr>
              <a:t>السنة الثانية</a:t>
            </a:r>
            <a:endParaRPr lang="en-US" sz="1467" dirty="0">
              <a:solidFill>
                <a:prstClr val="black"/>
              </a:solidFill>
              <a:latin typeface="Calibri" panose="020F0502020204030204"/>
            </a:endParaRPr>
          </a:p>
        </p:txBody>
      </p:sp>
      <p:sp>
        <p:nvSpPr>
          <p:cNvPr id="12" name="Text 9"/>
          <p:cNvSpPr/>
          <p:nvPr/>
        </p:nvSpPr>
        <p:spPr>
          <a:xfrm>
            <a:off x="7924800" y="3474720"/>
            <a:ext cx="3657600" cy="463296"/>
          </a:xfrm>
          <a:prstGeom prst="rect">
            <a:avLst/>
          </a:prstGeom>
          <a:noFill/>
          <a:ln/>
        </p:spPr>
        <p:txBody>
          <a:bodyPr wrap="square" lIns="0" tIns="0" rIns="0" bIns="0" rtlCol="0" anchor="ctr"/>
          <a:lstStyle/>
          <a:p>
            <a:pPr algn="ctr" defTabSz="1219170"/>
            <a:r>
              <a:rPr lang="en-US" sz="2133" b="1" dirty="0">
                <a:solidFill>
                  <a:srgbClr val="F4A832"/>
                </a:solidFill>
                <a:latin typeface="Calibri" pitchFamily="34" charset="0"/>
                <a:ea typeface="Calibri" pitchFamily="34" charset="-122"/>
                <a:cs typeface="Calibri" pitchFamily="34" charset="-120"/>
              </a:rPr>
              <a:t>16,202,000 دج</a:t>
            </a:r>
            <a:endParaRPr lang="en-US" sz="2133" dirty="0">
              <a:solidFill>
                <a:prstClr val="black"/>
              </a:solidFill>
              <a:latin typeface="Calibri" panose="020F0502020204030204"/>
            </a:endParaRPr>
          </a:p>
        </p:txBody>
      </p:sp>
      <p:sp>
        <p:nvSpPr>
          <p:cNvPr id="13" name="Text 10"/>
          <p:cNvSpPr/>
          <p:nvPr/>
        </p:nvSpPr>
        <p:spPr>
          <a:xfrm>
            <a:off x="7924800" y="3962400"/>
            <a:ext cx="3657600" cy="341376"/>
          </a:xfrm>
          <a:prstGeom prst="rect">
            <a:avLst/>
          </a:prstGeom>
          <a:noFill/>
          <a:ln/>
        </p:spPr>
        <p:txBody>
          <a:bodyPr wrap="square" lIns="0" tIns="0" rIns="0" bIns="0" rtlCol="0" anchor="ctr"/>
          <a:lstStyle/>
          <a:p>
            <a:pPr algn="ctr" defTabSz="1219170"/>
            <a:r>
              <a:rPr lang="en-US" sz="1600" b="1" dirty="0">
                <a:solidFill>
                  <a:srgbClr val="22C55E"/>
                </a:solidFill>
                <a:latin typeface="Calibri" pitchFamily="34" charset="0"/>
                <a:ea typeface="Calibri" pitchFamily="34" charset="-122"/>
                <a:cs typeface="Calibri" pitchFamily="34" charset="-120"/>
              </a:rPr>
              <a:t>+68.6%</a:t>
            </a:r>
            <a:endParaRPr lang="en-US" sz="1600" dirty="0">
              <a:solidFill>
                <a:prstClr val="black"/>
              </a:solidFill>
              <a:latin typeface="Calibri" panose="020F0502020204030204"/>
            </a:endParaRPr>
          </a:p>
        </p:txBody>
      </p:sp>
      <p:sp>
        <p:nvSpPr>
          <p:cNvPr id="14" name="Shape 11"/>
          <p:cNvSpPr/>
          <p:nvPr/>
        </p:nvSpPr>
        <p:spPr>
          <a:xfrm>
            <a:off x="7802880" y="4754880"/>
            <a:ext cx="3901440" cy="1463040"/>
          </a:xfrm>
          <a:prstGeom prst="rect">
            <a:avLst/>
          </a:prstGeom>
          <a:solidFill>
            <a:srgbClr val="162032"/>
          </a:solidFill>
          <a:ln w="12700">
            <a:solidFill>
              <a:srgbClr val="F4A832"/>
            </a:solidFill>
            <a:prstDash val="solid"/>
          </a:ln>
          <a:effectLst>
            <a:outerShdw blurRad="101600" dist="38100" dir="8100000" algn="bl" rotWithShape="0">
              <a:srgbClr val="000000">
                <a:alpha val="25000"/>
              </a:srgbClr>
            </a:outerShdw>
          </a:effectLst>
        </p:spPr>
      </p:sp>
      <p:sp>
        <p:nvSpPr>
          <p:cNvPr id="15" name="Text 12"/>
          <p:cNvSpPr/>
          <p:nvPr/>
        </p:nvSpPr>
        <p:spPr>
          <a:xfrm>
            <a:off x="7924800" y="4852416"/>
            <a:ext cx="3657600" cy="341376"/>
          </a:xfrm>
          <a:prstGeom prst="rect">
            <a:avLst/>
          </a:prstGeom>
          <a:noFill/>
          <a:ln/>
        </p:spPr>
        <p:txBody>
          <a:bodyPr wrap="square" lIns="0" tIns="0" rIns="0" bIns="0" rtlCol="0" anchor="ctr"/>
          <a:lstStyle/>
          <a:p>
            <a:pPr algn="ctr" defTabSz="1219170"/>
            <a:r>
              <a:rPr lang="en-US" sz="1467" dirty="0">
                <a:solidFill>
                  <a:srgbClr val="A0B0C0"/>
                </a:solidFill>
                <a:latin typeface="Calibri" pitchFamily="34" charset="0"/>
                <a:ea typeface="Calibri" pitchFamily="34" charset="-122"/>
                <a:cs typeface="Calibri" pitchFamily="34" charset="-120"/>
              </a:rPr>
              <a:t>السنة الثالثة</a:t>
            </a:r>
            <a:endParaRPr lang="en-US" sz="1467" dirty="0">
              <a:solidFill>
                <a:prstClr val="black"/>
              </a:solidFill>
              <a:latin typeface="Calibri" panose="020F0502020204030204"/>
            </a:endParaRPr>
          </a:p>
        </p:txBody>
      </p:sp>
      <p:sp>
        <p:nvSpPr>
          <p:cNvPr id="16" name="Text 13"/>
          <p:cNvSpPr/>
          <p:nvPr/>
        </p:nvSpPr>
        <p:spPr>
          <a:xfrm>
            <a:off x="7924800" y="5181600"/>
            <a:ext cx="3657600" cy="463296"/>
          </a:xfrm>
          <a:prstGeom prst="rect">
            <a:avLst/>
          </a:prstGeom>
          <a:noFill/>
          <a:ln/>
        </p:spPr>
        <p:txBody>
          <a:bodyPr wrap="square" lIns="0" tIns="0" rIns="0" bIns="0" rtlCol="0" anchor="ctr"/>
          <a:lstStyle/>
          <a:p>
            <a:pPr algn="ctr" defTabSz="1219170"/>
            <a:r>
              <a:rPr lang="en-US" sz="2133" b="1" dirty="0">
                <a:solidFill>
                  <a:srgbClr val="F4A832"/>
                </a:solidFill>
                <a:latin typeface="Calibri" pitchFamily="34" charset="0"/>
                <a:ea typeface="Calibri" pitchFamily="34" charset="-122"/>
                <a:cs typeface="Calibri" pitchFamily="34" charset="-120"/>
              </a:rPr>
              <a:t>24,737,200 دج</a:t>
            </a:r>
            <a:endParaRPr lang="en-US" sz="2133" dirty="0">
              <a:solidFill>
                <a:prstClr val="black"/>
              </a:solidFill>
              <a:latin typeface="Calibri" panose="020F0502020204030204"/>
            </a:endParaRPr>
          </a:p>
        </p:txBody>
      </p:sp>
      <p:sp>
        <p:nvSpPr>
          <p:cNvPr id="17" name="Text 14"/>
          <p:cNvSpPr/>
          <p:nvPr/>
        </p:nvSpPr>
        <p:spPr>
          <a:xfrm>
            <a:off x="7924800" y="5669280"/>
            <a:ext cx="3657600" cy="341376"/>
          </a:xfrm>
          <a:prstGeom prst="rect">
            <a:avLst/>
          </a:prstGeom>
          <a:noFill/>
          <a:ln/>
        </p:spPr>
        <p:txBody>
          <a:bodyPr wrap="square" lIns="0" tIns="0" rIns="0" bIns="0" rtlCol="0" anchor="ctr"/>
          <a:lstStyle/>
          <a:p>
            <a:pPr algn="ctr" defTabSz="1219170"/>
            <a:r>
              <a:rPr lang="en-US" sz="1600" b="1" dirty="0">
                <a:solidFill>
                  <a:srgbClr val="22C55E"/>
                </a:solidFill>
                <a:latin typeface="Calibri" pitchFamily="34" charset="0"/>
                <a:ea typeface="Calibri" pitchFamily="34" charset="-122"/>
                <a:cs typeface="Calibri" pitchFamily="34" charset="-120"/>
              </a:rPr>
              <a:t>+52.7%</a:t>
            </a:r>
            <a:endParaRPr lang="en-US" sz="1600" dirty="0">
              <a:solidFill>
                <a:prstClr val="black"/>
              </a:solidFill>
              <a:latin typeface="Calibri" panose="020F0502020204030204"/>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جدول حساب النتائج — 7 سنوات</a:t>
            </a:r>
            <a:endParaRPr lang="en-US" sz="3467" dirty="0">
              <a:solidFill>
                <a:prstClr val="black"/>
              </a:solidFill>
              <a:latin typeface="Calibri" panose="020F0502020204030204"/>
            </a:endParaRPr>
          </a:p>
        </p:txBody>
      </p:sp>
      <p:graphicFrame>
        <p:nvGraphicFramePr>
          <p:cNvPr id="9" name="Table 0"/>
          <p:cNvGraphicFramePr>
            <a:graphicFrameLocks noGrp="1"/>
          </p:cNvGraphicFramePr>
          <p:nvPr/>
        </p:nvGraphicFramePr>
        <p:xfrm>
          <a:off x="365760" y="1072896"/>
          <a:ext cx="11484864" cy="4242816"/>
        </p:xfrm>
        <a:graphic>
          <a:graphicData uri="http://schemas.openxmlformats.org/drawingml/2006/table">
            <a:tbl>
              <a:tblPr/>
              <a:tblGrid>
                <a:gridCol w="2438400">
                  <a:extLst>
                    <a:ext uri="{9D8B030D-6E8A-4147-A177-3AD203B41FA5}">
                      <a16:colId xmlns:a16="http://schemas.microsoft.com/office/drawing/2014/main" val="20000"/>
                    </a:ext>
                  </a:extLst>
                </a:gridCol>
                <a:gridCol w="1292352">
                  <a:extLst>
                    <a:ext uri="{9D8B030D-6E8A-4147-A177-3AD203B41FA5}">
                      <a16:colId xmlns:a16="http://schemas.microsoft.com/office/drawing/2014/main" val="20001"/>
                    </a:ext>
                  </a:extLst>
                </a:gridCol>
                <a:gridCol w="1292352">
                  <a:extLst>
                    <a:ext uri="{9D8B030D-6E8A-4147-A177-3AD203B41FA5}">
                      <a16:colId xmlns:a16="http://schemas.microsoft.com/office/drawing/2014/main" val="20002"/>
                    </a:ext>
                  </a:extLst>
                </a:gridCol>
                <a:gridCol w="1292352">
                  <a:extLst>
                    <a:ext uri="{9D8B030D-6E8A-4147-A177-3AD203B41FA5}">
                      <a16:colId xmlns:a16="http://schemas.microsoft.com/office/drawing/2014/main" val="20003"/>
                    </a:ext>
                  </a:extLst>
                </a:gridCol>
                <a:gridCol w="1292352">
                  <a:extLst>
                    <a:ext uri="{9D8B030D-6E8A-4147-A177-3AD203B41FA5}">
                      <a16:colId xmlns:a16="http://schemas.microsoft.com/office/drawing/2014/main" val="20004"/>
                    </a:ext>
                  </a:extLst>
                </a:gridCol>
                <a:gridCol w="1292352">
                  <a:extLst>
                    <a:ext uri="{9D8B030D-6E8A-4147-A177-3AD203B41FA5}">
                      <a16:colId xmlns:a16="http://schemas.microsoft.com/office/drawing/2014/main" val="20005"/>
                    </a:ext>
                  </a:extLst>
                </a:gridCol>
                <a:gridCol w="1292352">
                  <a:extLst>
                    <a:ext uri="{9D8B030D-6E8A-4147-A177-3AD203B41FA5}">
                      <a16:colId xmlns:a16="http://schemas.microsoft.com/office/drawing/2014/main" val="20006"/>
                    </a:ext>
                  </a:extLst>
                </a:gridCol>
                <a:gridCol w="1292352">
                  <a:extLst>
                    <a:ext uri="{9D8B030D-6E8A-4147-A177-3AD203B41FA5}">
                      <a16:colId xmlns:a16="http://schemas.microsoft.com/office/drawing/2014/main" val="20007"/>
                    </a:ext>
                  </a:extLst>
                </a:gridCol>
              </a:tblGrid>
              <a:tr h="707136">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البيان</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S1</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S2</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S3</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S4</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S5</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S6</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300" b="1" dirty="0">
                          <a:solidFill>
                            <a:srgbClr val="0D1B2A"/>
                          </a:solidFill>
                          <a:latin typeface="Calibri" pitchFamily="34" charset="0"/>
                          <a:ea typeface="Calibri" pitchFamily="34" charset="-122"/>
                          <a:cs typeface="Calibri" pitchFamily="34" charset="-120"/>
                        </a:rPr>
                        <a:t>S7</a:t>
                      </a:r>
                      <a:endParaRPr lang="en-US" sz="1300" dirty="0">
                        <a:latin typeface="Calibri" charset="0"/>
                        <a:ea typeface="Calibri" charset="0"/>
                        <a:cs typeface="Calibri" charset="0"/>
                      </a:endParaRPr>
                    </a:p>
                  </a:txBody>
                  <a:tcPr marL="121920" marR="121920" marT="60960" marB="60960" anchor="ctr">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extLst>
                  <a:ext uri="{0D108BD9-81ED-4DB2-BD59-A6C34878D82A}">
                    <a16:rowId xmlns:a16="http://schemas.microsoft.com/office/drawing/2014/main" val="10000"/>
                  </a:ext>
                </a:extLst>
              </a:tr>
              <a:tr h="707136">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رقم الأعمال</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9.61M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16.2M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24.7M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33.9M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43.2M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53.2M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F4A832"/>
                          </a:solidFill>
                          <a:latin typeface="Calibri" pitchFamily="34" charset="0"/>
                          <a:ea typeface="Calibri" pitchFamily="34" charset="-122"/>
                          <a:cs typeface="Calibri" pitchFamily="34" charset="-120"/>
                        </a:rPr>
                        <a:t>63.8M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extLst>
                  <a:ext uri="{0D108BD9-81ED-4DB2-BD59-A6C34878D82A}">
                    <a16:rowId xmlns:a16="http://schemas.microsoft.com/office/drawing/2014/main" val="10001"/>
                  </a:ext>
                </a:extLst>
              </a:tr>
              <a:tr h="707136">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القيمة المضافة</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8.29M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14.4M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22.1M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30.4M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38.8M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47.7M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dirty="0">
                          <a:solidFill>
                            <a:srgbClr val="E8EDF2"/>
                          </a:solidFill>
                          <a:latin typeface="Calibri" pitchFamily="34" charset="0"/>
                          <a:ea typeface="Calibri" pitchFamily="34" charset="-122"/>
                          <a:cs typeface="Calibri" pitchFamily="34" charset="-120"/>
                        </a:rPr>
                        <a:t>57.0M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extLst>
                  <a:ext uri="{0D108BD9-81ED-4DB2-BD59-A6C34878D82A}">
                    <a16:rowId xmlns:a16="http://schemas.microsoft.com/office/drawing/2014/main" val="10002"/>
                  </a:ext>
                </a:extLst>
              </a:tr>
              <a:tr h="707136">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فائض الاستغلال EBE</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4.48M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10.6M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18.3M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26.0M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34.4M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43.3M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tc>
                  <a:txBody>
                    <a:bodyPr/>
                    <a:lstStyle/>
                    <a:p>
                      <a:pPr marL="0" indent="0" algn="ctr">
                        <a:buNone/>
                      </a:pPr>
                      <a:r>
                        <a:rPr lang="en-US" sz="1200" dirty="0">
                          <a:solidFill>
                            <a:srgbClr val="2AB4C0"/>
                          </a:solidFill>
                          <a:latin typeface="Calibri" pitchFamily="34" charset="0"/>
                          <a:ea typeface="Calibri" pitchFamily="34" charset="-122"/>
                          <a:cs typeface="Calibri" pitchFamily="34" charset="-120"/>
                        </a:rPr>
                        <a:t>52.6M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62032"/>
                    </a:solidFill>
                  </a:tcPr>
                </a:tc>
                <a:extLst>
                  <a:ext uri="{0D108BD9-81ED-4DB2-BD59-A6C34878D82A}">
                    <a16:rowId xmlns:a16="http://schemas.microsoft.com/office/drawing/2014/main" val="10003"/>
                  </a:ext>
                </a:extLst>
              </a:tr>
              <a:tr h="707136">
                <a:tc>
                  <a:txBody>
                    <a:bodyPr/>
                    <a:lstStyle/>
                    <a:p>
                      <a:pPr marL="0" indent="0" algn="r">
                        <a:buNone/>
                      </a:pPr>
                      <a:r>
                        <a:rPr lang="en-US" sz="1200" b="1" dirty="0">
                          <a:solidFill>
                            <a:srgbClr val="0D1B2A"/>
                          </a:solidFill>
                          <a:latin typeface="Calibri" pitchFamily="34" charset="0"/>
                          <a:ea typeface="Calibri" pitchFamily="34" charset="-122"/>
                          <a:cs typeface="Calibri" pitchFamily="34" charset="-120"/>
                        </a:rPr>
                        <a:t>صافي الدخل</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3.90M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10.1M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17.8M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25.5M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33.8M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32.0M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tc>
                  <a:txBody>
                    <a:bodyPr/>
                    <a:lstStyle/>
                    <a:p>
                      <a:pPr marL="0" indent="0" algn="ctr">
                        <a:buNone/>
                      </a:pPr>
                      <a:r>
                        <a:rPr lang="en-US" sz="1200" b="1" dirty="0">
                          <a:solidFill>
                            <a:srgbClr val="0D1B2A"/>
                          </a:solidFill>
                          <a:latin typeface="Calibri" pitchFamily="34" charset="0"/>
                          <a:ea typeface="Calibri" pitchFamily="34" charset="-122"/>
                          <a:cs typeface="Calibri" pitchFamily="34" charset="-120"/>
                        </a:rPr>
                        <a:t>38.9M</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F4A832"/>
                    </a:solidFill>
                  </a:tcPr>
                </a:tc>
                <a:extLst>
                  <a:ext uri="{0D108BD9-81ED-4DB2-BD59-A6C34878D82A}">
                    <a16:rowId xmlns:a16="http://schemas.microsoft.com/office/drawing/2014/main" val="10004"/>
                  </a:ext>
                </a:extLst>
              </a:tr>
              <a:tr h="707136">
                <a:tc>
                  <a:txBody>
                    <a:bodyPr/>
                    <a:lstStyle/>
                    <a:p>
                      <a:pPr marL="0" indent="0" algn="r">
                        <a:buNone/>
                      </a:pPr>
                      <a:r>
                        <a:rPr lang="en-US" sz="1200" b="1" dirty="0">
                          <a:solidFill>
                            <a:srgbClr val="FFFFFF"/>
                          </a:solidFill>
                          <a:latin typeface="Calibri" pitchFamily="34" charset="0"/>
                          <a:ea typeface="Calibri" pitchFamily="34" charset="-122"/>
                          <a:cs typeface="Calibri" pitchFamily="34" charset="-120"/>
                        </a:rPr>
                        <a:t>معدل EBE %</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46.6%</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65.6%</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74.1%</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76.9%</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79.6%</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81.4%</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tc>
                  <a:txBody>
                    <a:bodyPr/>
                    <a:lstStyle/>
                    <a:p>
                      <a:pPr marL="0" indent="0" algn="ctr">
                        <a:buNone/>
                      </a:pPr>
                      <a:r>
                        <a:rPr lang="en-US" sz="1200" b="1" dirty="0">
                          <a:solidFill>
                            <a:srgbClr val="22C55E"/>
                          </a:solidFill>
                          <a:latin typeface="Calibri" pitchFamily="34" charset="0"/>
                          <a:ea typeface="Calibri" pitchFamily="34" charset="-122"/>
                          <a:cs typeface="Calibri" pitchFamily="34" charset="-120"/>
                        </a:rPr>
                        <a:t>82.4%</a:t>
                      </a:r>
                      <a:endParaRPr lang="en-US" sz="1200" dirty="0">
                        <a:latin typeface="Calibri" charset="0"/>
                        <a:ea typeface="Calibri" charset="0"/>
                        <a:cs typeface="Calibri" charset="0"/>
                      </a:endParaRPr>
                    </a:p>
                  </a:txBody>
                  <a:tcPr marL="121920" marR="121920" marT="60960" marB="60960">
                    <a:lnL w="6350" cap="flat" cmpd="sng" algn="ctr">
                      <a:solidFill>
                        <a:srgbClr val="2A3A4A"/>
                      </a:solidFill>
                      <a:prstDash val="solid"/>
                      <a:round/>
                      <a:headEnd type="none" w="med" len="med"/>
                      <a:tailEnd type="none" w="med" len="med"/>
                    </a:lnL>
                    <a:lnR w="6350" cap="flat" cmpd="sng" algn="ctr">
                      <a:solidFill>
                        <a:srgbClr val="2A3A4A"/>
                      </a:solidFill>
                      <a:prstDash val="solid"/>
                      <a:round/>
                      <a:headEnd type="none" w="med" len="med"/>
                      <a:tailEnd type="none" w="med" len="med"/>
                    </a:lnR>
                    <a:lnT w="6350" cap="flat" cmpd="sng" algn="ctr">
                      <a:solidFill>
                        <a:srgbClr val="2A3A4A"/>
                      </a:solidFill>
                      <a:prstDash val="solid"/>
                      <a:round/>
                      <a:headEnd type="none" w="med" len="med"/>
                      <a:tailEnd type="none" w="med" len="med"/>
                    </a:lnT>
                    <a:lnB w="6350" cap="flat" cmpd="sng" algn="ctr">
                      <a:solidFill>
                        <a:srgbClr val="2A3A4A"/>
                      </a:solidFill>
                      <a:prstDash val="solid"/>
                      <a:round/>
                      <a:headEnd type="none" w="med" len="med"/>
                      <a:tailEnd type="none" w="med" len="med"/>
                    </a:lnB>
                    <a:solidFill>
                      <a:srgbClr val="1B2A3B"/>
                    </a:solidFill>
                  </a:tcPr>
                </a:tc>
                <a:extLst>
                  <a:ext uri="{0D108BD9-81ED-4DB2-BD59-A6C34878D82A}">
                    <a16:rowId xmlns:a16="http://schemas.microsoft.com/office/drawing/2014/main" val="10005"/>
                  </a:ext>
                </a:extLst>
              </a:tr>
            </a:tbl>
          </a:graphicData>
        </a:graphic>
      </p:graphicFrame>
      <p:sp>
        <p:nvSpPr>
          <p:cNvPr id="6" name="Text 3"/>
          <p:cNvSpPr/>
          <p:nvPr/>
        </p:nvSpPr>
        <p:spPr>
          <a:xfrm>
            <a:off x="487680" y="6278880"/>
            <a:ext cx="11216640" cy="365760"/>
          </a:xfrm>
          <a:prstGeom prst="rect">
            <a:avLst/>
          </a:prstGeom>
          <a:noFill/>
          <a:ln/>
        </p:spPr>
        <p:txBody>
          <a:bodyPr wrap="square" rtlCol="0" anchor="ctr"/>
          <a:lstStyle/>
          <a:p>
            <a:pPr algn="r" defTabSz="1219170"/>
            <a:r>
              <a:rPr lang="en-US" sz="1267" i="1" dirty="0">
                <a:solidFill>
                  <a:srgbClr val="A0B0C0"/>
                </a:solidFill>
                <a:latin typeface="Calibri" pitchFamily="34" charset="0"/>
                <a:ea typeface="Calibri" pitchFamily="34" charset="-122"/>
                <a:cs typeface="Calibri" pitchFamily="34" charset="-120"/>
              </a:rPr>
              <a:t>* الضريبة على الأرباح (IBS 26%) تُطبَّق ابتداءً من السنة السادسة بعد انقضاء الإعفاء الجبائي</a:t>
            </a:r>
            <a:endParaRPr lang="en-US" sz="1267" dirty="0">
              <a:solidFill>
                <a:prstClr val="black"/>
              </a:solidFill>
              <a:latin typeface="Calibri" panose="020F0502020204030204"/>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D1B2A"/>
        </a:solidFill>
        <a:effectLst/>
      </p:bgPr>
    </p:bg>
    <p:spTree>
      <p:nvGrpSpPr>
        <p:cNvPr id="1" name=""/>
        <p:cNvGrpSpPr/>
        <p:nvPr/>
      </p:nvGrpSpPr>
      <p:grpSpPr>
        <a:xfrm>
          <a:off x="0" y="0"/>
          <a:ext cx="0" cy="0"/>
          <a:chOff x="0" y="0"/>
          <a:chExt cx="0" cy="0"/>
        </a:xfrm>
      </p:grpSpPr>
      <p:sp>
        <p:nvSpPr>
          <p:cNvPr id="2" name="Shape 0"/>
          <p:cNvSpPr/>
          <p:nvPr/>
        </p:nvSpPr>
        <p:spPr>
          <a:xfrm>
            <a:off x="0" y="0"/>
            <a:ext cx="12192000" cy="85344"/>
          </a:xfrm>
          <a:prstGeom prst="rect">
            <a:avLst/>
          </a:prstGeom>
          <a:solidFill>
            <a:srgbClr val="F4A832"/>
          </a:solidFill>
          <a:ln w="12700">
            <a:solidFill>
              <a:srgbClr val="F4A832"/>
            </a:solidFill>
            <a:prstDash val="solid"/>
          </a:ln>
        </p:spPr>
      </p:sp>
      <p:sp>
        <p:nvSpPr>
          <p:cNvPr id="3" name="Text 1"/>
          <p:cNvSpPr/>
          <p:nvPr/>
        </p:nvSpPr>
        <p:spPr>
          <a:xfrm>
            <a:off x="487680" y="219456"/>
            <a:ext cx="731520" cy="487680"/>
          </a:xfrm>
          <a:prstGeom prst="rect">
            <a:avLst/>
          </a:prstGeom>
          <a:noFill/>
          <a:ln/>
        </p:spPr>
        <p:txBody>
          <a:bodyPr wrap="square" rtlCol="0" anchor="ctr"/>
          <a:lstStyle/>
          <a:p>
            <a:pPr defTabSz="1219170"/>
            <a:endParaRPr lang="en-US" sz="1733" dirty="0">
              <a:solidFill>
                <a:prstClr val="black"/>
              </a:solidFill>
              <a:latin typeface="Calibri" panose="020F0502020204030204"/>
            </a:endParaRPr>
          </a:p>
        </p:txBody>
      </p:sp>
      <p:sp>
        <p:nvSpPr>
          <p:cNvPr id="4" name="Text 2"/>
          <p:cNvSpPr/>
          <p:nvPr/>
        </p:nvSpPr>
        <p:spPr>
          <a:xfrm>
            <a:off x="487680" y="243840"/>
            <a:ext cx="11216640" cy="670560"/>
          </a:xfrm>
          <a:prstGeom prst="rect">
            <a:avLst/>
          </a:prstGeom>
          <a:noFill/>
          <a:ln/>
        </p:spPr>
        <p:txBody>
          <a:bodyPr wrap="square" rtlCol="0" anchor="ctr"/>
          <a:lstStyle/>
          <a:p>
            <a:pPr algn="r" defTabSz="1219170"/>
            <a:r>
              <a:rPr lang="en-US" sz="3467" b="1" dirty="0">
                <a:solidFill>
                  <a:srgbClr val="FFFFFF"/>
                </a:solidFill>
                <a:latin typeface="Calibri" pitchFamily="34" charset="0"/>
                <a:ea typeface="Calibri" pitchFamily="34" charset="-122"/>
                <a:cs typeface="Calibri" pitchFamily="34" charset="-120"/>
              </a:rPr>
              <a:t>مؤشرات الجدوى المالية</a:t>
            </a:r>
            <a:endParaRPr lang="en-US" sz="3467" dirty="0">
              <a:solidFill>
                <a:prstClr val="black"/>
              </a:solidFill>
              <a:latin typeface="Calibri" panose="020F0502020204030204"/>
            </a:endParaRPr>
          </a:p>
        </p:txBody>
      </p:sp>
      <p:sp>
        <p:nvSpPr>
          <p:cNvPr id="5" name="Shape 3"/>
          <p:cNvSpPr/>
          <p:nvPr/>
        </p:nvSpPr>
        <p:spPr>
          <a:xfrm>
            <a:off x="6217920" y="1158240"/>
            <a:ext cx="5486400" cy="2438400"/>
          </a:xfrm>
          <a:prstGeom prst="rect">
            <a:avLst/>
          </a:prstGeom>
          <a:solidFill>
            <a:srgbClr val="162032"/>
          </a:solidFill>
          <a:ln w="19050">
            <a:solidFill>
              <a:srgbClr val="22C55E"/>
            </a:solidFill>
            <a:prstDash val="solid"/>
          </a:ln>
          <a:effectLst>
            <a:outerShdw blurRad="101600" dist="38100" dir="8100000" algn="bl" rotWithShape="0">
              <a:srgbClr val="000000">
                <a:alpha val="25000"/>
              </a:srgbClr>
            </a:outerShdw>
          </a:effectLst>
        </p:spPr>
      </p:sp>
      <p:sp>
        <p:nvSpPr>
          <p:cNvPr id="6" name="Shape 4"/>
          <p:cNvSpPr/>
          <p:nvPr/>
        </p:nvSpPr>
        <p:spPr>
          <a:xfrm>
            <a:off x="6217920" y="1158240"/>
            <a:ext cx="5486400" cy="97536"/>
          </a:xfrm>
          <a:prstGeom prst="rect">
            <a:avLst/>
          </a:prstGeom>
          <a:solidFill>
            <a:srgbClr val="22C55E"/>
          </a:solidFill>
          <a:ln w="12700">
            <a:solidFill>
              <a:srgbClr val="22C55E"/>
            </a:solidFill>
            <a:prstDash val="solid"/>
          </a:ln>
        </p:spPr>
      </p:sp>
      <p:sp>
        <p:nvSpPr>
          <p:cNvPr id="7" name="Shape 5"/>
          <p:cNvSpPr/>
          <p:nvPr/>
        </p:nvSpPr>
        <p:spPr>
          <a:xfrm>
            <a:off x="6400800" y="1377696"/>
            <a:ext cx="853440" cy="463296"/>
          </a:xfrm>
          <a:prstGeom prst="roundRect">
            <a:avLst>
              <a:gd name="adj" fmla="val 15789"/>
            </a:avLst>
          </a:prstGeom>
          <a:solidFill>
            <a:srgbClr val="22C55E"/>
          </a:solidFill>
          <a:ln w="12700">
            <a:solidFill>
              <a:srgbClr val="22C55E"/>
            </a:solidFill>
            <a:prstDash val="solid"/>
          </a:ln>
        </p:spPr>
      </p:sp>
      <p:sp>
        <p:nvSpPr>
          <p:cNvPr id="8" name="Text 6"/>
          <p:cNvSpPr/>
          <p:nvPr/>
        </p:nvSpPr>
        <p:spPr>
          <a:xfrm>
            <a:off x="6400800" y="1377696"/>
            <a:ext cx="853440" cy="463296"/>
          </a:xfrm>
          <a:prstGeom prst="rect">
            <a:avLst/>
          </a:prstGeom>
          <a:noFill/>
          <a:ln/>
        </p:spPr>
        <p:txBody>
          <a:bodyPr wrap="square" lIns="0" tIns="0" rIns="0" bIns="0" rtlCol="0" anchor="ctr"/>
          <a:lstStyle/>
          <a:p>
            <a:pPr algn="ctr" defTabSz="1219170"/>
            <a:r>
              <a:rPr lang="en-US" sz="1333" b="1" dirty="0">
                <a:solidFill>
                  <a:srgbClr val="0D1B2A"/>
                </a:solidFill>
                <a:latin typeface="Calibri" panose="020F0502020204030204"/>
              </a:rPr>
              <a:t>VAN</a:t>
            </a:r>
            <a:endParaRPr lang="en-US" sz="1333" dirty="0">
              <a:solidFill>
                <a:prstClr val="black"/>
              </a:solidFill>
              <a:latin typeface="Calibri" panose="020F0502020204030204"/>
            </a:endParaRPr>
          </a:p>
        </p:txBody>
      </p:sp>
      <p:sp>
        <p:nvSpPr>
          <p:cNvPr id="9" name="Text 7"/>
          <p:cNvSpPr/>
          <p:nvPr/>
        </p:nvSpPr>
        <p:spPr>
          <a:xfrm>
            <a:off x="7376160" y="1402080"/>
            <a:ext cx="4145280" cy="390144"/>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صافي القيمة الحالية</a:t>
            </a:r>
            <a:endParaRPr lang="en-US" sz="1733" dirty="0">
              <a:solidFill>
                <a:prstClr val="black"/>
              </a:solidFill>
              <a:latin typeface="Calibri" panose="020F0502020204030204"/>
            </a:endParaRPr>
          </a:p>
        </p:txBody>
      </p:sp>
      <p:sp>
        <p:nvSpPr>
          <p:cNvPr id="10" name="Text 8"/>
          <p:cNvSpPr/>
          <p:nvPr/>
        </p:nvSpPr>
        <p:spPr>
          <a:xfrm>
            <a:off x="6400800" y="1975104"/>
            <a:ext cx="5120640" cy="670560"/>
          </a:xfrm>
          <a:prstGeom prst="rect">
            <a:avLst/>
          </a:prstGeom>
          <a:noFill/>
          <a:ln/>
        </p:spPr>
        <p:txBody>
          <a:bodyPr wrap="square" lIns="0" tIns="0" rIns="0" bIns="0" rtlCol="0" anchor="ctr"/>
          <a:lstStyle/>
          <a:p>
            <a:pPr algn="ctr" defTabSz="1219170"/>
            <a:r>
              <a:rPr lang="en-US" sz="2667" b="1" dirty="0">
                <a:solidFill>
                  <a:srgbClr val="22C55E"/>
                </a:solidFill>
                <a:latin typeface="Calibri" pitchFamily="34" charset="0"/>
                <a:ea typeface="Calibri" pitchFamily="34" charset="-122"/>
                <a:cs typeface="Calibri" pitchFamily="34" charset="-120"/>
              </a:rPr>
              <a:t>79,632,493 دج</a:t>
            </a:r>
            <a:endParaRPr lang="en-US" sz="2667" dirty="0">
              <a:solidFill>
                <a:prstClr val="black"/>
              </a:solidFill>
              <a:latin typeface="Calibri" panose="020F0502020204030204"/>
            </a:endParaRPr>
          </a:p>
        </p:txBody>
      </p:sp>
      <p:sp>
        <p:nvSpPr>
          <p:cNvPr id="11" name="Text 9"/>
          <p:cNvSpPr/>
          <p:nvPr/>
        </p:nvSpPr>
        <p:spPr>
          <a:xfrm>
            <a:off x="6400800" y="2718816"/>
            <a:ext cx="5120640" cy="670560"/>
          </a:xfrm>
          <a:prstGeom prst="rect">
            <a:avLst/>
          </a:prstGeom>
          <a:noFill/>
          <a:ln/>
        </p:spPr>
        <p:txBody>
          <a:bodyPr wrap="square" lIns="50800" tIns="50800" rIns="50800" bIns="50800" rtlCol="0" anchor="ctr"/>
          <a:lstStyle/>
          <a:p>
            <a:pPr algn="r" defTabSz="1219170"/>
            <a:r>
              <a:rPr lang="en-US" sz="1333" dirty="0">
                <a:solidFill>
                  <a:srgbClr val="A0B0C0"/>
                </a:solidFill>
                <a:latin typeface="Calibri" pitchFamily="34" charset="0"/>
                <a:ea typeface="Calibri" pitchFamily="34" charset="-122"/>
                <a:cs typeface="Calibri" pitchFamily="34" charset="-120"/>
              </a:rPr>
              <a:t>إيجابي جداً — يفوق تكلفة رأس المال (معدل خصم 15%)</a:t>
            </a:r>
            <a:endParaRPr lang="en-US" sz="1333" dirty="0">
              <a:solidFill>
                <a:prstClr val="black"/>
              </a:solidFill>
              <a:latin typeface="Calibri" panose="020F0502020204030204"/>
            </a:endParaRPr>
          </a:p>
        </p:txBody>
      </p:sp>
      <p:sp>
        <p:nvSpPr>
          <p:cNvPr id="12" name="Text 10"/>
          <p:cNvSpPr/>
          <p:nvPr/>
        </p:nvSpPr>
        <p:spPr>
          <a:xfrm>
            <a:off x="10972800" y="1377696"/>
            <a:ext cx="548640" cy="463296"/>
          </a:xfrm>
          <a:prstGeom prst="rect">
            <a:avLst/>
          </a:prstGeom>
          <a:noFill/>
          <a:ln/>
        </p:spPr>
        <p:txBody>
          <a:bodyPr wrap="square" rtlCol="0" anchor="ctr"/>
          <a:lstStyle/>
          <a:p>
            <a:pPr algn="ctr" defTabSz="1219170"/>
            <a:r>
              <a:rPr lang="en-US" sz="2133" b="1" dirty="0">
                <a:solidFill>
                  <a:srgbClr val="22C55E"/>
                </a:solidFill>
                <a:latin typeface="Calibri" panose="020F0502020204030204"/>
              </a:rPr>
              <a:t>✓</a:t>
            </a:r>
            <a:endParaRPr lang="en-US" sz="2133" dirty="0">
              <a:solidFill>
                <a:prstClr val="black"/>
              </a:solidFill>
              <a:latin typeface="Calibri" panose="020F0502020204030204"/>
            </a:endParaRPr>
          </a:p>
        </p:txBody>
      </p:sp>
      <p:sp>
        <p:nvSpPr>
          <p:cNvPr id="13" name="Shape 11"/>
          <p:cNvSpPr/>
          <p:nvPr/>
        </p:nvSpPr>
        <p:spPr>
          <a:xfrm>
            <a:off x="487680" y="1158240"/>
            <a:ext cx="5486400" cy="2438400"/>
          </a:xfrm>
          <a:prstGeom prst="rect">
            <a:avLst/>
          </a:prstGeom>
          <a:solidFill>
            <a:srgbClr val="162032"/>
          </a:solidFill>
          <a:ln w="19050">
            <a:solidFill>
              <a:srgbClr val="2AB4C0"/>
            </a:solidFill>
            <a:prstDash val="solid"/>
          </a:ln>
          <a:effectLst>
            <a:outerShdw blurRad="101600" dist="38100" dir="8100000" algn="bl" rotWithShape="0">
              <a:srgbClr val="000000">
                <a:alpha val="25000"/>
              </a:srgbClr>
            </a:outerShdw>
          </a:effectLst>
        </p:spPr>
      </p:sp>
      <p:sp>
        <p:nvSpPr>
          <p:cNvPr id="14" name="Shape 12"/>
          <p:cNvSpPr/>
          <p:nvPr/>
        </p:nvSpPr>
        <p:spPr>
          <a:xfrm>
            <a:off x="487680" y="1158240"/>
            <a:ext cx="5486400" cy="97536"/>
          </a:xfrm>
          <a:prstGeom prst="rect">
            <a:avLst/>
          </a:prstGeom>
          <a:solidFill>
            <a:srgbClr val="2AB4C0"/>
          </a:solidFill>
          <a:ln w="12700">
            <a:solidFill>
              <a:srgbClr val="2AB4C0"/>
            </a:solidFill>
            <a:prstDash val="solid"/>
          </a:ln>
        </p:spPr>
      </p:sp>
      <p:sp>
        <p:nvSpPr>
          <p:cNvPr id="15" name="Shape 13"/>
          <p:cNvSpPr/>
          <p:nvPr/>
        </p:nvSpPr>
        <p:spPr>
          <a:xfrm>
            <a:off x="670560" y="1377696"/>
            <a:ext cx="853440" cy="463296"/>
          </a:xfrm>
          <a:prstGeom prst="roundRect">
            <a:avLst>
              <a:gd name="adj" fmla="val 15789"/>
            </a:avLst>
          </a:prstGeom>
          <a:solidFill>
            <a:srgbClr val="2AB4C0"/>
          </a:solidFill>
          <a:ln w="12700">
            <a:solidFill>
              <a:srgbClr val="2AB4C0"/>
            </a:solidFill>
            <a:prstDash val="solid"/>
          </a:ln>
        </p:spPr>
      </p:sp>
      <p:sp>
        <p:nvSpPr>
          <p:cNvPr id="16" name="Text 14"/>
          <p:cNvSpPr/>
          <p:nvPr/>
        </p:nvSpPr>
        <p:spPr>
          <a:xfrm>
            <a:off x="670560" y="1377696"/>
            <a:ext cx="853440" cy="463296"/>
          </a:xfrm>
          <a:prstGeom prst="rect">
            <a:avLst/>
          </a:prstGeom>
          <a:noFill/>
          <a:ln/>
        </p:spPr>
        <p:txBody>
          <a:bodyPr wrap="square" lIns="0" tIns="0" rIns="0" bIns="0" rtlCol="0" anchor="ctr"/>
          <a:lstStyle/>
          <a:p>
            <a:pPr algn="ctr" defTabSz="1219170"/>
            <a:r>
              <a:rPr lang="en-US" sz="1333" b="1" dirty="0">
                <a:solidFill>
                  <a:srgbClr val="0D1B2A"/>
                </a:solidFill>
                <a:latin typeface="Calibri" panose="020F0502020204030204"/>
              </a:rPr>
              <a:t>DR</a:t>
            </a:r>
            <a:endParaRPr lang="en-US" sz="1333" dirty="0">
              <a:solidFill>
                <a:prstClr val="black"/>
              </a:solidFill>
              <a:latin typeface="Calibri" panose="020F0502020204030204"/>
            </a:endParaRPr>
          </a:p>
        </p:txBody>
      </p:sp>
      <p:sp>
        <p:nvSpPr>
          <p:cNvPr id="17" name="Text 15"/>
          <p:cNvSpPr/>
          <p:nvPr/>
        </p:nvSpPr>
        <p:spPr>
          <a:xfrm>
            <a:off x="1645920" y="1402080"/>
            <a:ext cx="4145280" cy="390144"/>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مدة الاسترداد</a:t>
            </a:r>
            <a:endParaRPr lang="en-US" sz="1733" dirty="0">
              <a:solidFill>
                <a:prstClr val="black"/>
              </a:solidFill>
              <a:latin typeface="Calibri" panose="020F0502020204030204"/>
            </a:endParaRPr>
          </a:p>
        </p:txBody>
      </p:sp>
      <p:sp>
        <p:nvSpPr>
          <p:cNvPr id="18" name="Text 16"/>
          <p:cNvSpPr/>
          <p:nvPr/>
        </p:nvSpPr>
        <p:spPr>
          <a:xfrm>
            <a:off x="670560" y="1975104"/>
            <a:ext cx="5120640" cy="670560"/>
          </a:xfrm>
          <a:prstGeom prst="rect">
            <a:avLst/>
          </a:prstGeom>
          <a:noFill/>
          <a:ln/>
        </p:spPr>
        <p:txBody>
          <a:bodyPr wrap="square" lIns="0" tIns="0" rIns="0" bIns="0" rtlCol="0" anchor="ctr"/>
          <a:lstStyle/>
          <a:p>
            <a:pPr algn="ctr" defTabSz="1219170"/>
            <a:r>
              <a:rPr lang="en-US" sz="2667" b="1" dirty="0">
                <a:solidFill>
                  <a:srgbClr val="2AB4C0"/>
                </a:solidFill>
                <a:latin typeface="Calibri" pitchFamily="34" charset="0"/>
                <a:ea typeface="Calibri" pitchFamily="34" charset="-122"/>
                <a:cs typeface="Calibri" pitchFamily="34" charset="-120"/>
              </a:rPr>
              <a:t>السنة 1 و9 أشهر</a:t>
            </a:r>
            <a:endParaRPr lang="en-US" sz="2667" dirty="0">
              <a:solidFill>
                <a:prstClr val="black"/>
              </a:solidFill>
              <a:latin typeface="Calibri" panose="020F0502020204030204"/>
            </a:endParaRPr>
          </a:p>
        </p:txBody>
      </p:sp>
      <p:sp>
        <p:nvSpPr>
          <p:cNvPr id="19" name="Text 17"/>
          <p:cNvSpPr/>
          <p:nvPr/>
        </p:nvSpPr>
        <p:spPr>
          <a:xfrm>
            <a:off x="670560" y="2718816"/>
            <a:ext cx="5120640" cy="670560"/>
          </a:xfrm>
          <a:prstGeom prst="rect">
            <a:avLst/>
          </a:prstGeom>
          <a:noFill/>
          <a:ln/>
        </p:spPr>
        <p:txBody>
          <a:bodyPr wrap="square" lIns="50800" tIns="50800" rIns="50800" bIns="50800" rtlCol="0" anchor="ctr"/>
          <a:lstStyle/>
          <a:p>
            <a:pPr algn="r" defTabSz="1219170"/>
            <a:r>
              <a:rPr lang="en-US" sz="1333" dirty="0">
                <a:solidFill>
                  <a:srgbClr val="A0B0C0"/>
                </a:solidFill>
                <a:latin typeface="Calibri" pitchFamily="34" charset="0"/>
                <a:ea typeface="Calibri" pitchFamily="34" charset="-122"/>
                <a:cs typeface="Calibri" pitchFamily="34" charset="-120"/>
              </a:rPr>
              <a:t>سريع جداً — استعادة رأس المال في أقل من سنتين</a:t>
            </a:r>
            <a:endParaRPr lang="en-US" sz="1333" dirty="0">
              <a:solidFill>
                <a:prstClr val="black"/>
              </a:solidFill>
              <a:latin typeface="Calibri" panose="020F0502020204030204"/>
            </a:endParaRPr>
          </a:p>
        </p:txBody>
      </p:sp>
      <p:sp>
        <p:nvSpPr>
          <p:cNvPr id="20" name="Text 18"/>
          <p:cNvSpPr/>
          <p:nvPr/>
        </p:nvSpPr>
        <p:spPr>
          <a:xfrm>
            <a:off x="5242560" y="1377696"/>
            <a:ext cx="548640" cy="463296"/>
          </a:xfrm>
          <a:prstGeom prst="rect">
            <a:avLst/>
          </a:prstGeom>
          <a:noFill/>
          <a:ln/>
        </p:spPr>
        <p:txBody>
          <a:bodyPr wrap="square" rtlCol="0" anchor="ctr"/>
          <a:lstStyle/>
          <a:p>
            <a:pPr algn="ctr" defTabSz="1219170"/>
            <a:r>
              <a:rPr lang="en-US" sz="2133" b="1" dirty="0">
                <a:solidFill>
                  <a:srgbClr val="22C55E"/>
                </a:solidFill>
                <a:latin typeface="Calibri" panose="020F0502020204030204"/>
              </a:rPr>
              <a:t>✓</a:t>
            </a:r>
            <a:endParaRPr lang="en-US" sz="2133" dirty="0">
              <a:solidFill>
                <a:prstClr val="black"/>
              </a:solidFill>
              <a:latin typeface="Calibri" panose="020F0502020204030204"/>
            </a:endParaRPr>
          </a:p>
        </p:txBody>
      </p:sp>
      <p:sp>
        <p:nvSpPr>
          <p:cNvPr id="21" name="Shape 19"/>
          <p:cNvSpPr/>
          <p:nvPr/>
        </p:nvSpPr>
        <p:spPr>
          <a:xfrm>
            <a:off x="6217920" y="3840480"/>
            <a:ext cx="5486400" cy="2438400"/>
          </a:xfrm>
          <a:prstGeom prst="rect">
            <a:avLst/>
          </a:prstGeom>
          <a:solidFill>
            <a:srgbClr val="162032"/>
          </a:solidFill>
          <a:ln w="19050">
            <a:solidFill>
              <a:srgbClr val="F4A832"/>
            </a:solidFill>
            <a:prstDash val="solid"/>
          </a:ln>
          <a:effectLst>
            <a:outerShdw blurRad="101600" dist="38100" dir="8100000" algn="bl" rotWithShape="0">
              <a:srgbClr val="000000">
                <a:alpha val="25000"/>
              </a:srgbClr>
            </a:outerShdw>
          </a:effectLst>
        </p:spPr>
      </p:sp>
      <p:sp>
        <p:nvSpPr>
          <p:cNvPr id="22" name="Shape 20"/>
          <p:cNvSpPr/>
          <p:nvPr/>
        </p:nvSpPr>
        <p:spPr>
          <a:xfrm>
            <a:off x="6217920" y="3840480"/>
            <a:ext cx="5486400" cy="97536"/>
          </a:xfrm>
          <a:prstGeom prst="rect">
            <a:avLst/>
          </a:prstGeom>
          <a:solidFill>
            <a:srgbClr val="F4A832"/>
          </a:solidFill>
          <a:ln w="12700">
            <a:solidFill>
              <a:srgbClr val="F4A832"/>
            </a:solidFill>
            <a:prstDash val="solid"/>
          </a:ln>
        </p:spPr>
      </p:sp>
      <p:sp>
        <p:nvSpPr>
          <p:cNvPr id="23" name="Shape 21"/>
          <p:cNvSpPr/>
          <p:nvPr/>
        </p:nvSpPr>
        <p:spPr>
          <a:xfrm>
            <a:off x="6400800" y="4059936"/>
            <a:ext cx="853440" cy="463296"/>
          </a:xfrm>
          <a:prstGeom prst="roundRect">
            <a:avLst>
              <a:gd name="adj" fmla="val 15789"/>
            </a:avLst>
          </a:prstGeom>
          <a:solidFill>
            <a:srgbClr val="F4A832"/>
          </a:solidFill>
          <a:ln w="12700">
            <a:solidFill>
              <a:srgbClr val="F4A832"/>
            </a:solidFill>
            <a:prstDash val="solid"/>
          </a:ln>
        </p:spPr>
      </p:sp>
      <p:sp>
        <p:nvSpPr>
          <p:cNvPr id="24" name="Text 22"/>
          <p:cNvSpPr/>
          <p:nvPr/>
        </p:nvSpPr>
        <p:spPr>
          <a:xfrm>
            <a:off x="6400800" y="4059936"/>
            <a:ext cx="853440" cy="463296"/>
          </a:xfrm>
          <a:prstGeom prst="rect">
            <a:avLst/>
          </a:prstGeom>
          <a:noFill/>
          <a:ln/>
        </p:spPr>
        <p:txBody>
          <a:bodyPr wrap="square" lIns="0" tIns="0" rIns="0" bIns="0" rtlCol="0" anchor="ctr"/>
          <a:lstStyle/>
          <a:p>
            <a:pPr algn="ctr" defTabSz="1219170"/>
            <a:r>
              <a:rPr lang="en-US" sz="1333" b="1" dirty="0">
                <a:solidFill>
                  <a:srgbClr val="0D1B2A"/>
                </a:solidFill>
                <a:latin typeface="Calibri" panose="020F0502020204030204"/>
              </a:rPr>
              <a:t>BEP</a:t>
            </a:r>
            <a:endParaRPr lang="en-US" sz="1333" dirty="0">
              <a:solidFill>
                <a:prstClr val="black"/>
              </a:solidFill>
              <a:latin typeface="Calibri" panose="020F0502020204030204"/>
            </a:endParaRPr>
          </a:p>
        </p:txBody>
      </p:sp>
      <p:sp>
        <p:nvSpPr>
          <p:cNvPr id="25" name="Text 23"/>
          <p:cNvSpPr/>
          <p:nvPr/>
        </p:nvSpPr>
        <p:spPr>
          <a:xfrm>
            <a:off x="7376160" y="4084320"/>
            <a:ext cx="4145280" cy="390144"/>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نقطة التعادل</a:t>
            </a:r>
            <a:endParaRPr lang="en-US" sz="1733" dirty="0">
              <a:solidFill>
                <a:prstClr val="black"/>
              </a:solidFill>
              <a:latin typeface="Calibri" panose="020F0502020204030204"/>
            </a:endParaRPr>
          </a:p>
        </p:txBody>
      </p:sp>
      <p:sp>
        <p:nvSpPr>
          <p:cNvPr id="26" name="Text 24"/>
          <p:cNvSpPr/>
          <p:nvPr/>
        </p:nvSpPr>
        <p:spPr>
          <a:xfrm>
            <a:off x="6400800" y="4657344"/>
            <a:ext cx="5120640" cy="670560"/>
          </a:xfrm>
          <a:prstGeom prst="rect">
            <a:avLst/>
          </a:prstGeom>
          <a:noFill/>
          <a:ln/>
        </p:spPr>
        <p:txBody>
          <a:bodyPr wrap="square" lIns="0" tIns="0" rIns="0" bIns="0" rtlCol="0" anchor="ctr"/>
          <a:lstStyle/>
          <a:p>
            <a:pPr algn="ctr" defTabSz="1219170"/>
            <a:r>
              <a:rPr lang="en-US" sz="2667" b="1" dirty="0">
                <a:solidFill>
                  <a:srgbClr val="F4A832"/>
                </a:solidFill>
                <a:latin typeface="Calibri" pitchFamily="34" charset="0"/>
                <a:ea typeface="Calibri" pitchFamily="34" charset="-122"/>
                <a:cs typeface="Calibri" pitchFamily="34" charset="-120"/>
              </a:rPr>
              <a:t>61 عميلاً نشطاً</a:t>
            </a:r>
            <a:endParaRPr lang="en-US" sz="2667" dirty="0">
              <a:solidFill>
                <a:prstClr val="black"/>
              </a:solidFill>
              <a:latin typeface="Calibri" panose="020F0502020204030204"/>
            </a:endParaRPr>
          </a:p>
        </p:txBody>
      </p:sp>
      <p:sp>
        <p:nvSpPr>
          <p:cNvPr id="27" name="Text 25"/>
          <p:cNvSpPr/>
          <p:nvPr/>
        </p:nvSpPr>
        <p:spPr>
          <a:xfrm>
            <a:off x="6400800" y="5401056"/>
            <a:ext cx="5120640" cy="670560"/>
          </a:xfrm>
          <a:prstGeom prst="rect">
            <a:avLst/>
          </a:prstGeom>
          <a:noFill/>
          <a:ln/>
        </p:spPr>
        <p:txBody>
          <a:bodyPr wrap="square" lIns="50800" tIns="50800" rIns="50800" bIns="50800" rtlCol="0" anchor="ctr"/>
          <a:lstStyle/>
          <a:p>
            <a:pPr algn="r" defTabSz="1219170"/>
            <a:r>
              <a:rPr lang="en-US" sz="1333" dirty="0">
                <a:solidFill>
                  <a:srgbClr val="A0B0C0"/>
                </a:solidFill>
                <a:latin typeface="Calibri" pitchFamily="34" charset="0"/>
                <a:ea typeface="Calibri" pitchFamily="34" charset="-122"/>
                <a:cs typeface="Calibri" pitchFamily="34" charset="-120"/>
              </a:rPr>
              <a:t>تُحقَّق في الشهر الرابع — مخاطر إطلاق منخفضة جداً</a:t>
            </a:r>
            <a:endParaRPr lang="en-US" sz="1333" dirty="0">
              <a:solidFill>
                <a:prstClr val="black"/>
              </a:solidFill>
              <a:latin typeface="Calibri" panose="020F0502020204030204"/>
            </a:endParaRPr>
          </a:p>
        </p:txBody>
      </p:sp>
      <p:sp>
        <p:nvSpPr>
          <p:cNvPr id="28" name="Text 26"/>
          <p:cNvSpPr/>
          <p:nvPr/>
        </p:nvSpPr>
        <p:spPr>
          <a:xfrm>
            <a:off x="10972800" y="4059936"/>
            <a:ext cx="548640" cy="463296"/>
          </a:xfrm>
          <a:prstGeom prst="rect">
            <a:avLst/>
          </a:prstGeom>
          <a:noFill/>
          <a:ln/>
        </p:spPr>
        <p:txBody>
          <a:bodyPr wrap="square" rtlCol="0" anchor="ctr"/>
          <a:lstStyle/>
          <a:p>
            <a:pPr algn="ctr" defTabSz="1219170"/>
            <a:r>
              <a:rPr lang="en-US" sz="2133" b="1" dirty="0">
                <a:solidFill>
                  <a:srgbClr val="22C55E"/>
                </a:solidFill>
                <a:latin typeface="Calibri" panose="020F0502020204030204"/>
              </a:rPr>
              <a:t>✓</a:t>
            </a:r>
            <a:endParaRPr lang="en-US" sz="2133" dirty="0">
              <a:solidFill>
                <a:prstClr val="black"/>
              </a:solidFill>
              <a:latin typeface="Calibri" panose="020F0502020204030204"/>
            </a:endParaRPr>
          </a:p>
        </p:txBody>
      </p:sp>
      <p:sp>
        <p:nvSpPr>
          <p:cNvPr id="29" name="Shape 27"/>
          <p:cNvSpPr/>
          <p:nvPr/>
        </p:nvSpPr>
        <p:spPr>
          <a:xfrm>
            <a:off x="487680" y="3840480"/>
            <a:ext cx="5486400" cy="2438400"/>
          </a:xfrm>
          <a:prstGeom prst="rect">
            <a:avLst/>
          </a:prstGeom>
          <a:solidFill>
            <a:srgbClr val="162032"/>
          </a:solidFill>
          <a:ln w="19050">
            <a:solidFill>
              <a:srgbClr val="A78BFA"/>
            </a:solidFill>
            <a:prstDash val="solid"/>
          </a:ln>
          <a:effectLst>
            <a:outerShdw blurRad="101600" dist="38100" dir="8100000" algn="bl" rotWithShape="0">
              <a:srgbClr val="000000">
                <a:alpha val="25000"/>
              </a:srgbClr>
            </a:outerShdw>
          </a:effectLst>
        </p:spPr>
      </p:sp>
      <p:sp>
        <p:nvSpPr>
          <p:cNvPr id="30" name="Shape 28"/>
          <p:cNvSpPr/>
          <p:nvPr/>
        </p:nvSpPr>
        <p:spPr>
          <a:xfrm>
            <a:off x="487680" y="3840480"/>
            <a:ext cx="5486400" cy="97536"/>
          </a:xfrm>
          <a:prstGeom prst="rect">
            <a:avLst/>
          </a:prstGeom>
          <a:solidFill>
            <a:srgbClr val="A78BFA"/>
          </a:solidFill>
          <a:ln w="12700">
            <a:solidFill>
              <a:srgbClr val="A78BFA"/>
            </a:solidFill>
            <a:prstDash val="solid"/>
          </a:ln>
        </p:spPr>
      </p:sp>
      <p:sp>
        <p:nvSpPr>
          <p:cNvPr id="31" name="Shape 29"/>
          <p:cNvSpPr/>
          <p:nvPr/>
        </p:nvSpPr>
        <p:spPr>
          <a:xfrm>
            <a:off x="670560" y="4059936"/>
            <a:ext cx="853440" cy="463296"/>
          </a:xfrm>
          <a:prstGeom prst="roundRect">
            <a:avLst>
              <a:gd name="adj" fmla="val 15789"/>
            </a:avLst>
          </a:prstGeom>
          <a:solidFill>
            <a:srgbClr val="A78BFA"/>
          </a:solidFill>
          <a:ln w="12700">
            <a:solidFill>
              <a:srgbClr val="A78BFA"/>
            </a:solidFill>
            <a:prstDash val="solid"/>
          </a:ln>
        </p:spPr>
      </p:sp>
      <p:sp>
        <p:nvSpPr>
          <p:cNvPr id="32" name="Text 30"/>
          <p:cNvSpPr/>
          <p:nvPr/>
        </p:nvSpPr>
        <p:spPr>
          <a:xfrm>
            <a:off x="670560" y="4059936"/>
            <a:ext cx="853440" cy="463296"/>
          </a:xfrm>
          <a:prstGeom prst="rect">
            <a:avLst/>
          </a:prstGeom>
          <a:noFill/>
          <a:ln/>
        </p:spPr>
        <p:txBody>
          <a:bodyPr wrap="square" lIns="0" tIns="0" rIns="0" bIns="0" rtlCol="0" anchor="ctr"/>
          <a:lstStyle/>
          <a:p>
            <a:pPr algn="ctr" defTabSz="1219170"/>
            <a:r>
              <a:rPr lang="en-US" sz="1333" b="1" dirty="0">
                <a:solidFill>
                  <a:srgbClr val="0D1B2A"/>
                </a:solidFill>
                <a:latin typeface="Calibri" panose="020F0502020204030204"/>
              </a:rPr>
              <a:t>OM</a:t>
            </a:r>
            <a:endParaRPr lang="en-US" sz="1333" dirty="0">
              <a:solidFill>
                <a:prstClr val="black"/>
              </a:solidFill>
              <a:latin typeface="Calibri" panose="020F0502020204030204"/>
            </a:endParaRPr>
          </a:p>
        </p:txBody>
      </p:sp>
      <p:sp>
        <p:nvSpPr>
          <p:cNvPr id="33" name="Text 31"/>
          <p:cNvSpPr/>
          <p:nvPr/>
        </p:nvSpPr>
        <p:spPr>
          <a:xfrm>
            <a:off x="1645920" y="4084320"/>
            <a:ext cx="4145280" cy="390144"/>
          </a:xfrm>
          <a:prstGeom prst="rect">
            <a:avLst/>
          </a:prstGeom>
          <a:noFill/>
          <a:ln/>
        </p:spPr>
        <p:txBody>
          <a:bodyPr wrap="square" lIns="0" tIns="0" rIns="0" bIns="0" rtlCol="0" anchor="ctr"/>
          <a:lstStyle/>
          <a:p>
            <a:pPr algn="r" defTabSz="1219170"/>
            <a:r>
              <a:rPr lang="en-US" sz="1733" b="1" dirty="0">
                <a:solidFill>
                  <a:srgbClr val="FFFFFF"/>
                </a:solidFill>
                <a:latin typeface="Calibri" pitchFamily="34" charset="0"/>
                <a:ea typeface="Calibri" pitchFamily="34" charset="-122"/>
                <a:cs typeface="Calibri" pitchFamily="34" charset="-120"/>
              </a:rPr>
              <a:t>هامش الربح التشغيلي</a:t>
            </a:r>
            <a:endParaRPr lang="en-US" sz="1733" dirty="0">
              <a:solidFill>
                <a:prstClr val="black"/>
              </a:solidFill>
              <a:latin typeface="Calibri" panose="020F0502020204030204"/>
            </a:endParaRPr>
          </a:p>
        </p:txBody>
      </p:sp>
      <p:sp>
        <p:nvSpPr>
          <p:cNvPr id="34" name="Text 32"/>
          <p:cNvSpPr/>
          <p:nvPr/>
        </p:nvSpPr>
        <p:spPr>
          <a:xfrm>
            <a:off x="670560" y="4657344"/>
            <a:ext cx="5120640" cy="670560"/>
          </a:xfrm>
          <a:prstGeom prst="rect">
            <a:avLst/>
          </a:prstGeom>
          <a:noFill/>
          <a:ln/>
        </p:spPr>
        <p:txBody>
          <a:bodyPr wrap="square" lIns="0" tIns="0" rIns="0" bIns="0" rtlCol="0" anchor="ctr"/>
          <a:lstStyle/>
          <a:p>
            <a:pPr algn="ctr" defTabSz="1219170"/>
            <a:r>
              <a:rPr lang="en-US" sz="2667" b="1" dirty="0">
                <a:solidFill>
                  <a:srgbClr val="A78BFA"/>
                </a:solidFill>
                <a:latin typeface="Calibri" pitchFamily="34" charset="0"/>
                <a:ea typeface="Calibri" pitchFamily="34" charset="-122"/>
                <a:cs typeface="Calibri" pitchFamily="34" charset="-120"/>
              </a:rPr>
              <a:t>46.6% (السنة 1)</a:t>
            </a:r>
            <a:endParaRPr lang="en-US" sz="2667" dirty="0">
              <a:solidFill>
                <a:prstClr val="black"/>
              </a:solidFill>
              <a:latin typeface="Calibri" panose="020F0502020204030204"/>
            </a:endParaRPr>
          </a:p>
        </p:txBody>
      </p:sp>
      <p:sp>
        <p:nvSpPr>
          <p:cNvPr id="35" name="Text 33"/>
          <p:cNvSpPr/>
          <p:nvPr/>
        </p:nvSpPr>
        <p:spPr>
          <a:xfrm>
            <a:off x="670560" y="5401056"/>
            <a:ext cx="5120640" cy="670560"/>
          </a:xfrm>
          <a:prstGeom prst="rect">
            <a:avLst/>
          </a:prstGeom>
          <a:noFill/>
          <a:ln/>
        </p:spPr>
        <p:txBody>
          <a:bodyPr wrap="square" lIns="50800" tIns="50800" rIns="50800" bIns="50800" rtlCol="0" anchor="ctr"/>
          <a:lstStyle/>
          <a:p>
            <a:pPr algn="r" defTabSz="1219170"/>
            <a:r>
              <a:rPr lang="en-US" sz="1333" dirty="0">
                <a:solidFill>
                  <a:srgbClr val="A0B0C0"/>
                </a:solidFill>
                <a:latin typeface="Calibri" pitchFamily="34" charset="0"/>
                <a:ea typeface="Calibri" pitchFamily="34" charset="-122"/>
                <a:cs typeface="Calibri" pitchFamily="34" charset="-120"/>
              </a:rPr>
              <a:t>ميزة النماذج الرقمية القائمة على الاشتراكات SaaS</a:t>
            </a:r>
            <a:endParaRPr lang="en-US" sz="1333" dirty="0">
              <a:solidFill>
                <a:prstClr val="black"/>
              </a:solidFill>
              <a:latin typeface="Calibri" panose="020F0502020204030204"/>
            </a:endParaRPr>
          </a:p>
        </p:txBody>
      </p:sp>
      <p:sp>
        <p:nvSpPr>
          <p:cNvPr id="36" name="Text 34"/>
          <p:cNvSpPr/>
          <p:nvPr/>
        </p:nvSpPr>
        <p:spPr>
          <a:xfrm>
            <a:off x="5242560" y="4059936"/>
            <a:ext cx="548640" cy="463296"/>
          </a:xfrm>
          <a:prstGeom prst="rect">
            <a:avLst/>
          </a:prstGeom>
          <a:noFill/>
          <a:ln/>
        </p:spPr>
        <p:txBody>
          <a:bodyPr wrap="square" rtlCol="0" anchor="ctr"/>
          <a:lstStyle/>
          <a:p>
            <a:pPr algn="ctr" defTabSz="1219170"/>
            <a:r>
              <a:rPr lang="en-US" sz="2133" b="1" dirty="0">
                <a:solidFill>
                  <a:srgbClr val="22C55E"/>
                </a:solidFill>
                <a:latin typeface="Calibri" panose="020F0502020204030204"/>
              </a:rPr>
              <a:t>✓</a:t>
            </a:r>
            <a:endParaRPr lang="en-US" sz="2133" dirty="0">
              <a:solidFill>
                <a:prstClr val="black"/>
              </a:solidFill>
              <a:latin typeface="Calibri" panose="020F0502020204030204"/>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a:extLst>
              <a:ext uri="{FF2B5EF4-FFF2-40B4-BE49-F238E27FC236}">
                <a16:creationId xmlns:a16="http://schemas.microsoft.com/office/drawing/2014/main" id="{B3D1DC24-C679-C388-8736-EDCBBD382FA2}"/>
              </a:ext>
            </a:extLst>
          </p:cNvPr>
          <p:cNvSpPr>
            <a:spLocks noChangeAspect="1" noChangeArrowheads="1"/>
          </p:cNvSpPr>
          <p:nvPr/>
        </p:nvSpPr>
        <p:spPr bwMode="auto">
          <a:xfrm>
            <a:off x="5943600" y="3276600"/>
            <a:ext cx="304800" cy="3048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fr-FR"/>
          </a:p>
        </p:txBody>
      </p:sp>
      <p:pic>
        <p:nvPicPr>
          <p:cNvPr id="4" name="Picture 3">
            <a:extLst>
              <a:ext uri="{FF2B5EF4-FFF2-40B4-BE49-F238E27FC236}">
                <a16:creationId xmlns:a16="http://schemas.microsoft.com/office/drawing/2014/main" id="{59F4E8C4-1CB4-2EAD-ADDA-0E8028FD9F00}"/>
              </a:ext>
            </a:extLst>
          </p:cNvPr>
          <p:cNvPicPr>
            <a:picLocks noChangeAspect="1"/>
          </p:cNvPicPr>
          <p:nvPr/>
        </p:nvPicPr>
        <p:blipFill>
          <a:blip r:embed="rId2"/>
          <a:stretch>
            <a:fillRect/>
          </a:stretch>
        </p:blipFill>
        <p:spPr>
          <a:xfrm>
            <a:off x="0" y="0"/>
            <a:ext cx="12192000" cy="6858000"/>
          </a:xfrm>
          <a:prstGeom prst="rect">
            <a:avLst/>
          </a:prstGeom>
        </p:spPr>
      </p:pic>
      <p:sp>
        <p:nvSpPr>
          <p:cNvPr id="5" name="Rectangle 3">
            <a:extLst>
              <a:ext uri="{FF2B5EF4-FFF2-40B4-BE49-F238E27FC236}">
                <a16:creationId xmlns:a16="http://schemas.microsoft.com/office/drawing/2014/main" id="{17515009-59FE-399A-ED91-A9023F9F2C28}"/>
              </a:ext>
            </a:extLst>
          </p:cNvPr>
          <p:cNvSpPr>
            <a:spLocks noChangeArrowheads="1"/>
          </p:cNvSpPr>
          <p:nvPr/>
        </p:nvSpPr>
        <p:spPr bwMode="auto">
          <a:xfrm>
            <a:off x="0" y="0"/>
            <a:ext cx="12192000" cy="0"/>
          </a:xfrm>
          <a:prstGeom prst="rect">
            <a:avLst/>
          </a:prstGeom>
          <a:solidFill>
            <a:srgbClr val="FFFD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8102B"/>
                </a:solidFill>
                <a:effectLst/>
                <a:latin typeface="flat-jooza"/>
              </a:rPr>
              <a:t>adrkha-powerpoint</a:t>
            </a:r>
            <a:endParaRPr kumimoji="0" lang="fr-FR"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9" name="Rectangle 5">
            <a:extLst>
              <a:ext uri="{FF2B5EF4-FFF2-40B4-BE49-F238E27FC236}">
                <a16:creationId xmlns:a16="http://schemas.microsoft.com/office/drawing/2014/main" id="{15BE2E4D-9AC3-9525-9618-3D997AC7DD66}"/>
              </a:ext>
            </a:extLst>
          </p:cNvPr>
          <p:cNvSpPr>
            <a:spLocks noChangeArrowheads="1"/>
          </p:cNvSpPr>
          <p:nvPr/>
        </p:nvSpPr>
        <p:spPr bwMode="auto">
          <a:xfrm>
            <a:off x="152400" y="152400"/>
            <a:ext cx="12192000" cy="0"/>
          </a:xfrm>
          <a:prstGeom prst="rect">
            <a:avLst/>
          </a:prstGeom>
          <a:solidFill>
            <a:srgbClr val="FFFD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8102B"/>
                </a:solidFill>
                <a:effectLst/>
                <a:latin typeface="flat-jooza"/>
              </a:rPr>
              <a:t>adrkha-powerpoint</a:t>
            </a:r>
            <a:endParaRPr kumimoji="0" lang="fr-FR"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0" name="Rectangle 6">
            <a:extLst>
              <a:ext uri="{FF2B5EF4-FFF2-40B4-BE49-F238E27FC236}">
                <a16:creationId xmlns:a16="http://schemas.microsoft.com/office/drawing/2014/main" id="{D94C1AE7-4F1A-C0FD-DA0F-00591F914FEB}"/>
              </a:ext>
            </a:extLst>
          </p:cNvPr>
          <p:cNvSpPr>
            <a:spLocks noChangeArrowheads="1"/>
          </p:cNvSpPr>
          <p:nvPr/>
        </p:nvSpPr>
        <p:spPr bwMode="auto">
          <a:xfrm>
            <a:off x="304800" y="304800"/>
            <a:ext cx="12192000" cy="0"/>
          </a:xfrm>
          <a:prstGeom prst="rect">
            <a:avLst/>
          </a:prstGeom>
          <a:solidFill>
            <a:srgbClr val="FFFD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8102B"/>
                </a:solidFill>
                <a:effectLst/>
                <a:latin typeface="flat-jooza"/>
              </a:rPr>
              <a:t>adrkha-powerpoint</a:t>
            </a:r>
            <a:endParaRPr kumimoji="0" lang="fr-FR"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1" name="Rectangle 7">
            <a:extLst>
              <a:ext uri="{FF2B5EF4-FFF2-40B4-BE49-F238E27FC236}">
                <a16:creationId xmlns:a16="http://schemas.microsoft.com/office/drawing/2014/main" id="{28BCA103-5CD1-AEE6-F6FB-80F617CAC0EB}"/>
              </a:ext>
            </a:extLst>
          </p:cNvPr>
          <p:cNvSpPr>
            <a:spLocks noChangeArrowheads="1"/>
          </p:cNvSpPr>
          <p:nvPr/>
        </p:nvSpPr>
        <p:spPr bwMode="auto">
          <a:xfrm>
            <a:off x="457200" y="457200"/>
            <a:ext cx="12192000" cy="0"/>
          </a:xfrm>
          <a:prstGeom prst="rect">
            <a:avLst/>
          </a:prstGeom>
          <a:solidFill>
            <a:srgbClr val="FFFD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8102B"/>
                </a:solidFill>
                <a:effectLst/>
                <a:latin typeface="flat-jooza"/>
              </a:rPr>
              <a:t>adrkha-powerpoint</a:t>
            </a:r>
            <a:endParaRPr kumimoji="0" lang="fr-FR"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
        <p:nvSpPr>
          <p:cNvPr id="12" name="Rectangle 8">
            <a:extLst>
              <a:ext uri="{FF2B5EF4-FFF2-40B4-BE49-F238E27FC236}">
                <a16:creationId xmlns:a16="http://schemas.microsoft.com/office/drawing/2014/main" id="{D09BCD4D-5D37-A66C-0755-F993B2DA3245}"/>
              </a:ext>
            </a:extLst>
          </p:cNvPr>
          <p:cNvSpPr>
            <a:spLocks noChangeArrowheads="1"/>
          </p:cNvSpPr>
          <p:nvPr/>
        </p:nvSpPr>
        <p:spPr bwMode="auto">
          <a:xfrm>
            <a:off x="609600" y="609600"/>
            <a:ext cx="12192000" cy="0"/>
          </a:xfrm>
          <a:prstGeom prst="rect">
            <a:avLst/>
          </a:prstGeom>
          <a:solidFill>
            <a:srgbClr val="FFFDFC"/>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fr-FR" altLang="fr-FR" sz="1200" b="0" i="0" u="none" strike="noStrike" cap="none" normalizeH="0" baseline="0">
                <a:ln>
                  <a:noFill/>
                </a:ln>
                <a:solidFill>
                  <a:srgbClr val="08102B"/>
                </a:solidFill>
                <a:effectLst/>
                <a:latin typeface="flat-jooza"/>
              </a:rPr>
              <a:t>adrkha-powerpoint</a:t>
            </a:r>
            <a:endParaRPr kumimoji="0" lang="fr-FR" altLang="fr-FR" sz="800" b="0" i="0" u="none" strike="noStrike" cap="none" normalizeH="0" baseline="0">
              <a:ln>
                <a:noFill/>
              </a:ln>
              <a:solidFill>
                <a:schemeClr val="tx1"/>
              </a:solidFill>
              <a:effectLst/>
            </a:endParaRPr>
          </a:p>
          <a:p>
            <a:pPr marL="0" marR="0" lvl="0" indent="0" algn="l" defTabSz="914400" rtl="0" eaLnBrk="0" fontAlgn="base" latinLnBrk="0" hangingPunct="0">
              <a:lnSpc>
                <a:spcPct val="100000"/>
              </a:lnSpc>
              <a:spcBef>
                <a:spcPct val="0"/>
              </a:spcBef>
              <a:spcAft>
                <a:spcPct val="0"/>
              </a:spcAft>
              <a:buClrTx/>
              <a:buSzTx/>
              <a:buFontTx/>
              <a:buNone/>
              <a:tabLst/>
            </a:pPr>
            <a:br>
              <a:rPr kumimoji="0" lang="fr-FR" altLang="fr-FR" sz="1800" b="0" i="0" u="none" strike="noStrike" cap="none" normalizeH="0" baseline="0">
                <a:ln>
                  <a:noFill/>
                </a:ln>
                <a:solidFill>
                  <a:schemeClr val="tx1"/>
                </a:solidFill>
                <a:effectLst/>
                <a:latin typeface="Arial" panose="020B0604020202020204" pitchFamily="34" charset="0"/>
              </a:rPr>
            </a:br>
            <a:endParaRPr kumimoji="0" lang="fr-FR" altLang="fr-FR"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41748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عنصر نائب للصورة 11" descr="صورة تحتوي على داخلي, سرير, كوب, جالس&#10;&#10;تم إنشاء الوصف تلقائياً">
            <a:extLst>
              <a:ext uri="{FF2B5EF4-FFF2-40B4-BE49-F238E27FC236}">
                <a16:creationId xmlns:a16="http://schemas.microsoft.com/office/drawing/2014/main" id="{3BEFC667-93BA-4534-8035-8E0F45D358EB}"/>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t="7813" b="7813"/>
          <a:stretch>
            <a:fillRect/>
          </a:stretch>
        </p:blipFill>
        <p:spPr/>
      </p:pic>
      <p:sp>
        <p:nvSpPr>
          <p:cNvPr id="13" name="Rectangle 9">
            <a:extLst>
              <a:ext uri="{FF2B5EF4-FFF2-40B4-BE49-F238E27FC236}">
                <a16:creationId xmlns:a16="http://schemas.microsoft.com/office/drawing/2014/main" id="{C730CA87-51BE-4244-9E54-8AE4009516DF}"/>
              </a:ext>
            </a:extLst>
          </p:cNvPr>
          <p:cNvSpPr/>
          <p:nvPr/>
        </p:nvSpPr>
        <p:spPr>
          <a:xfrm>
            <a:off x="0" y="4665"/>
            <a:ext cx="12192000" cy="6858000"/>
          </a:xfrm>
          <a:prstGeom prst="rect">
            <a:avLst/>
          </a:prstGeom>
          <a:solidFill>
            <a:schemeClr val="tx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DIN Next LT Arabic Light" panose="020B0303020203050203" pitchFamily="34" charset="-78"/>
              <a:ea typeface="+mn-ea"/>
              <a:cs typeface="DIN Next LT Arabic Light" panose="020B0303020203050203" pitchFamily="34" charset="-78"/>
            </a:endParaRPr>
          </a:p>
        </p:txBody>
      </p:sp>
      <p:sp>
        <p:nvSpPr>
          <p:cNvPr id="3" name="Isosceles Triangle 5"/>
          <p:cNvSpPr/>
          <p:nvPr/>
        </p:nvSpPr>
        <p:spPr>
          <a:xfrm rot="1800000">
            <a:off x="4172262" y="989670"/>
            <a:ext cx="3847476" cy="424908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76200">
            <a:gradFill>
              <a:gsLst>
                <a:gs pos="50000">
                  <a:schemeClr val="accent2"/>
                </a:gs>
                <a:gs pos="0">
                  <a:schemeClr val="accent1"/>
                </a:gs>
                <a:gs pos="100000">
                  <a:schemeClr val="accent3"/>
                </a:gs>
              </a:gsLst>
              <a:lin ang="9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Lato Light"/>
              <a:ea typeface="+mn-ea"/>
              <a:cs typeface="+mn-cs"/>
            </a:endParaRPr>
          </a:p>
        </p:txBody>
      </p:sp>
      <p:sp>
        <p:nvSpPr>
          <p:cNvPr id="4" name="Isosceles Triangle 5"/>
          <p:cNvSpPr/>
          <p:nvPr/>
        </p:nvSpPr>
        <p:spPr>
          <a:xfrm rot="19800000">
            <a:off x="4172262" y="989670"/>
            <a:ext cx="3847476" cy="424908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76200">
            <a:gradFill>
              <a:gsLst>
                <a:gs pos="50000">
                  <a:schemeClr val="accent2"/>
                </a:gs>
                <a:gs pos="0">
                  <a:schemeClr val="accent1"/>
                </a:gs>
                <a:gs pos="100000">
                  <a:schemeClr val="accent3"/>
                </a:gs>
              </a:gsLst>
              <a:lin ang="84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Lato Light"/>
              <a:ea typeface="+mn-ea"/>
              <a:cs typeface="+mn-cs"/>
            </a:endParaRPr>
          </a:p>
        </p:txBody>
      </p:sp>
      <p:sp>
        <p:nvSpPr>
          <p:cNvPr id="5" name="Isosceles Triangle 5"/>
          <p:cNvSpPr/>
          <p:nvPr/>
        </p:nvSpPr>
        <p:spPr>
          <a:xfrm>
            <a:off x="4172262" y="989670"/>
            <a:ext cx="3847476" cy="4249080"/>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noFill/>
          <a:ln w="76200">
            <a:gradFill>
              <a:gsLst>
                <a:gs pos="50000">
                  <a:schemeClr val="accent2"/>
                </a:gs>
                <a:gs pos="0">
                  <a:schemeClr val="accent1"/>
                </a:gs>
                <a:gs pos="100000">
                  <a:schemeClr val="accent3"/>
                </a:gs>
              </a:gsLst>
              <a:lin ang="900000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1" eaLnBrk="1" fontAlgn="auto" latinLnBrk="0" hangingPunct="1">
              <a:lnSpc>
                <a:spcPct val="100000"/>
              </a:lnSpc>
              <a:spcBef>
                <a:spcPts val="0"/>
              </a:spcBef>
              <a:spcAft>
                <a:spcPts val="0"/>
              </a:spcAft>
              <a:buClrTx/>
              <a:buSzTx/>
              <a:buFontTx/>
              <a:buNone/>
              <a:tabLst/>
              <a:defRPr/>
            </a:pPr>
            <a:endParaRPr kumimoji="0" lang="en-ID" sz="1800" b="0" i="0" u="none" strike="noStrike" kern="1200" cap="none" spc="0" normalizeH="0" baseline="0" noProof="0">
              <a:ln>
                <a:noFill/>
              </a:ln>
              <a:solidFill>
                <a:prstClr val="white"/>
              </a:solidFill>
              <a:effectLst/>
              <a:uLnTx/>
              <a:uFillTx/>
              <a:latin typeface="Lato Light"/>
              <a:ea typeface="+mn-ea"/>
              <a:cs typeface="+mn-cs"/>
            </a:endParaRPr>
          </a:p>
        </p:txBody>
      </p:sp>
      <p:sp>
        <p:nvSpPr>
          <p:cNvPr id="7" name="TextBox 6"/>
          <p:cNvSpPr txBox="1"/>
          <p:nvPr/>
        </p:nvSpPr>
        <p:spPr>
          <a:xfrm>
            <a:off x="3632616" y="2274838"/>
            <a:ext cx="4926768" cy="2308324"/>
          </a:xfrm>
          <a:prstGeom prst="rect">
            <a:avLst/>
          </a:prstGeom>
          <a:noFill/>
        </p:spPr>
        <p:txBody>
          <a:bodyPr wrap="square" rtlCol="0" anchor="ctr">
            <a:spAutoFit/>
          </a:bodyPr>
          <a:lstStyle/>
          <a:p>
            <a:pPr marL="0" marR="0" lvl="0" indent="0" algn="ctr" defTabSz="914400" rtl="1" eaLnBrk="1" fontAlgn="auto" latinLnBrk="0" hangingPunct="1">
              <a:lnSpc>
                <a:spcPct val="100000"/>
              </a:lnSpc>
              <a:spcBef>
                <a:spcPts val="0"/>
              </a:spcBef>
              <a:spcAft>
                <a:spcPts val="0"/>
              </a:spcAft>
              <a:buClrTx/>
              <a:buSzTx/>
              <a:buFontTx/>
              <a:buNone/>
              <a:tabLst/>
              <a:defRPr/>
            </a:pPr>
            <a:r>
              <a:rPr kumimoji="0" lang="ar-DZ" sz="7200" i="0" u="none" strike="noStrike" kern="1200" cap="none" spc="0" normalizeH="0" baseline="0" noProof="0" dirty="0">
                <a:ln>
                  <a:noFill/>
                </a:ln>
                <a:solidFill>
                  <a:prstClr val="white"/>
                </a:solidFill>
                <a:effectLst/>
                <a:uLnTx/>
                <a:uFillTx/>
                <a:latin typeface="DIN Next LT Arabic Light" panose="020B0303020203050203" pitchFamily="34" charset="-78"/>
                <a:ea typeface="+mn-ea"/>
                <a:cs typeface="DIN Next LT Arabic Light" panose="020B0303020203050203" pitchFamily="34" charset="-78"/>
              </a:rPr>
              <a:t>النموذج </a:t>
            </a:r>
          </a:p>
          <a:p>
            <a:pPr marL="0" marR="0" lvl="0" indent="0" algn="ctr" defTabSz="914400" rtl="1" eaLnBrk="1" fontAlgn="auto" latinLnBrk="0" hangingPunct="1">
              <a:lnSpc>
                <a:spcPct val="100000"/>
              </a:lnSpc>
              <a:spcBef>
                <a:spcPts val="0"/>
              </a:spcBef>
              <a:spcAft>
                <a:spcPts val="0"/>
              </a:spcAft>
              <a:buClrTx/>
              <a:buSzTx/>
              <a:buFontTx/>
              <a:buNone/>
              <a:tabLst/>
              <a:defRPr/>
            </a:pPr>
            <a:r>
              <a:rPr lang="ar-DZ" sz="7200" b="1" dirty="0">
                <a:solidFill>
                  <a:prstClr val="white"/>
                </a:solidFill>
                <a:latin typeface="DIN Next LT Arabic Light" panose="020B0303020203050203" pitchFamily="34" charset="-78"/>
                <a:cs typeface="DIN Next LT Arabic Light" panose="020B0303020203050203" pitchFamily="34" charset="-78"/>
              </a:rPr>
              <a:t>الاولي</a:t>
            </a:r>
            <a:endParaRPr kumimoji="0" lang="en-ID" sz="7200" b="1" i="0" u="none" strike="noStrike" kern="1200" cap="none" spc="0" normalizeH="0" baseline="0" noProof="0" dirty="0">
              <a:ln>
                <a:noFill/>
              </a:ln>
              <a:solidFill>
                <a:prstClr val="white"/>
              </a:solidFill>
              <a:effectLst/>
              <a:uLnTx/>
              <a:uFillTx/>
              <a:latin typeface="DIN Next LT Arabic Light" panose="020B0303020203050203" pitchFamily="34" charset="-78"/>
              <a:ea typeface="+mn-ea"/>
              <a:cs typeface="DIN Next LT Arabic Light" panose="020B0303020203050203" pitchFamily="34" charset="-78"/>
            </a:endParaRPr>
          </a:p>
        </p:txBody>
      </p:sp>
    </p:spTree>
    <p:extLst>
      <p:ext uri="{BB962C8B-B14F-4D97-AF65-F5344CB8AC3E}">
        <p14:creationId xmlns:p14="http://schemas.microsoft.com/office/powerpoint/2010/main" val="133926529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56EF89-03A0-9745-3798-9F5E4B71BEDE}"/>
            </a:ext>
          </a:extLst>
        </p:cNvPr>
        <p:cNvGrpSpPr/>
        <p:nvPr/>
      </p:nvGrpSpPr>
      <p:grpSpPr>
        <a:xfrm>
          <a:off x="0" y="0"/>
          <a:ext cx="0" cy="0"/>
          <a:chOff x="0" y="0"/>
          <a:chExt cx="0" cy="0"/>
        </a:xfrm>
      </p:grpSpPr>
      <p:sp>
        <p:nvSpPr>
          <p:cNvPr id="2" name="Freeform 1">
            <a:extLst>
              <a:ext uri="{FF2B5EF4-FFF2-40B4-BE49-F238E27FC236}">
                <a16:creationId xmlns:a16="http://schemas.microsoft.com/office/drawing/2014/main" id="{1E27E952-365D-F443-95B8-E30AAFDE1005}"/>
              </a:ext>
            </a:extLst>
          </p:cNvPr>
          <p:cNvSpPr/>
          <p:nvPr/>
        </p:nvSpPr>
        <p:spPr>
          <a:xfrm rot="17835791" flipH="1">
            <a:off x="5216799" y="-230738"/>
            <a:ext cx="6966678" cy="7407410"/>
          </a:xfrm>
          <a:custGeom>
            <a:avLst/>
            <a:gdLst>
              <a:gd name="connsiteX0" fmla="*/ 0 w 6966678"/>
              <a:gd name="connsiteY0" fmla="*/ 2902979 h 7407410"/>
              <a:gd name="connsiteX1" fmla="*/ 1454564 w 6966678"/>
              <a:gd name="connsiteY1" fmla="*/ 80364 h 7407410"/>
              <a:gd name="connsiteX2" fmla="*/ 1583254 w 6966678"/>
              <a:gd name="connsiteY2" fmla="*/ 58073 h 7407410"/>
              <a:gd name="connsiteX3" fmla="*/ 3476997 w 6966678"/>
              <a:gd name="connsiteY3" fmla="*/ 52976 h 7407410"/>
              <a:gd name="connsiteX4" fmla="*/ 6760093 w 6966678"/>
              <a:gd name="connsiteY4" fmla="*/ 3477790 h 7407410"/>
              <a:gd name="connsiteX5" fmla="*/ 6964579 w 6966678"/>
              <a:gd name="connsiteY5" fmla="*/ 4300677 h 7407410"/>
              <a:gd name="connsiteX6" fmla="*/ 6966678 w 6966678"/>
              <a:gd name="connsiteY6" fmla="*/ 4355213 h 7407410"/>
              <a:gd name="connsiteX7" fmla="*/ 6520148 w 6966678"/>
              <a:gd name="connsiteY7" fmla="*/ 5221715 h 7407410"/>
              <a:gd name="connsiteX8" fmla="*/ 6492475 w 6966678"/>
              <a:gd name="connsiteY8" fmla="*/ 5238636 h 7407410"/>
              <a:gd name="connsiteX9" fmla="*/ 3476997 w 6966678"/>
              <a:gd name="connsiteY9" fmla="*/ 6902604 h 7407410"/>
              <a:gd name="connsiteX10" fmla="*/ 3020961 w 6966678"/>
              <a:gd name="connsiteY10" fmla="*/ 7361362 h 7407410"/>
              <a:gd name="connsiteX11" fmla="*/ 2955053 w 6966678"/>
              <a:gd name="connsiteY11" fmla="*/ 7407410 h 7407410"/>
              <a:gd name="connsiteX12" fmla="*/ 1372034 w 6966678"/>
              <a:gd name="connsiteY12" fmla="*/ 6591640 h 7407410"/>
              <a:gd name="connsiteX13" fmla="*/ 1370719 w 6966678"/>
              <a:gd name="connsiteY13" fmla="*/ 6589104 h 7407410"/>
              <a:gd name="connsiteX14" fmla="*/ 193901 w 6966678"/>
              <a:gd name="connsiteY14" fmla="*/ 3477790 h 7407410"/>
              <a:gd name="connsiteX15" fmla="*/ 35014 w 6966678"/>
              <a:gd name="connsiteY15" fmla="*/ 3022060 h 74074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6966678" h="7407410">
                <a:moveTo>
                  <a:pt x="0" y="2902979"/>
                </a:moveTo>
                <a:lnTo>
                  <a:pt x="1454564" y="80364"/>
                </a:lnTo>
                <a:lnTo>
                  <a:pt x="1583254" y="58073"/>
                </a:lnTo>
                <a:cubicBezTo>
                  <a:pt x="2093251" y="-17049"/>
                  <a:pt x="2721270" y="-19861"/>
                  <a:pt x="3476997" y="52976"/>
                </a:cubicBezTo>
                <a:cubicBezTo>
                  <a:pt x="6931749" y="385944"/>
                  <a:pt x="5802523" y="825247"/>
                  <a:pt x="6760093" y="3477790"/>
                </a:cubicBezTo>
                <a:cubicBezTo>
                  <a:pt x="6879789" y="3809358"/>
                  <a:pt x="6945170" y="4078844"/>
                  <a:pt x="6964579" y="4300677"/>
                </a:cubicBezTo>
                <a:lnTo>
                  <a:pt x="6966678" y="4355213"/>
                </a:lnTo>
                <a:lnTo>
                  <a:pt x="6520148" y="5221715"/>
                </a:lnTo>
                <a:lnTo>
                  <a:pt x="6492475" y="5238636"/>
                </a:lnTo>
                <a:cubicBezTo>
                  <a:pt x="5802732" y="5620667"/>
                  <a:pt x="4499439" y="5659920"/>
                  <a:pt x="3476997" y="6902604"/>
                </a:cubicBezTo>
                <a:cubicBezTo>
                  <a:pt x="3315559" y="7098818"/>
                  <a:pt x="3163951" y="7250199"/>
                  <a:pt x="3020961" y="7361362"/>
                </a:cubicBezTo>
                <a:lnTo>
                  <a:pt x="2955053" y="7407410"/>
                </a:lnTo>
                <a:lnTo>
                  <a:pt x="1372034" y="6591640"/>
                </a:lnTo>
                <a:lnTo>
                  <a:pt x="1370719" y="6589104"/>
                </a:lnTo>
                <a:cubicBezTo>
                  <a:pt x="964007" y="5769236"/>
                  <a:pt x="612838" y="4575846"/>
                  <a:pt x="193901" y="3477790"/>
                </a:cubicBezTo>
                <a:cubicBezTo>
                  <a:pt x="134053" y="3320925"/>
                  <a:pt x="81015" y="3168989"/>
                  <a:pt x="35014" y="302206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3" name="Freeform 2">
            <a:extLst>
              <a:ext uri="{FF2B5EF4-FFF2-40B4-BE49-F238E27FC236}">
                <a16:creationId xmlns:a16="http://schemas.microsoft.com/office/drawing/2014/main" id="{284AF668-1BBD-F31C-EC7A-D235DAD55F72}"/>
              </a:ext>
            </a:extLst>
          </p:cNvPr>
          <p:cNvSpPr/>
          <p:nvPr/>
        </p:nvSpPr>
        <p:spPr>
          <a:xfrm rot="1037902" flipH="1">
            <a:off x="5177040" y="-382750"/>
            <a:ext cx="6981878" cy="7300393"/>
          </a:xfrm>
          <a:custGeom>
            <a:avLst/>
            <a:gdLst>
              <a:gd name="connsiteX0" fmla="*/ 2743010 w 6981878"/>
              <a:gd name="connsiteY0" fmla="*/ 5285 h 7300393"/>
              <a:gd name="connsiteX1" fmla="*/ 6143290 w 6981878"/>
              <a:gd name="connsiteY1" fmla="*/ 1064248 h 7300393"/>
              <a:gd name="connsiteX2" fmla="*/ 6154020 w 6981878"/>
              <a:gd name="connsiteY2" fmla="*/ 1090778 h 7300393"/>
              <a:gd name="connsiteX3" fmla="*/ 6771165 w 6981878"/>
              <a:gd name="connsiteY3" fmla="*/ 3477790 h 7300393"/>
              <a:gd name="connsiteX4" fmla="*/ 3488069 w 6981878"/>
              <a:gd name="connsiteY4" fmla="*/ 6902604 h 7300393"/>
              <a:gd name="connsiteX5" fmla="*/ 3177940 w 6981878"/>
              <a:gd name="connsiteY5" fmla="*/ 7236622 h 7300393"/>
              <a:gd name="connsiteX6" fmla="*/ 3103347 w 6981878"/>
              <a:gd name="connsiteY6" fmla="*/ 7300393 h 7300393"/>
              <a:gd name="connsiteX7" fmla="*/ 1492647 w 6981878"/>
              <a:gd name="connsiteY7" fmla="*/ 6798766 h 7300393"/>
              <a:gd name="connsiteX8" fmla="*/ 1469839 w 6981878"/>
              <a:gd name="connsiteY8" fmla="*/ 6758903 h 7300393"/>
              <a:gd name="connsiteX9" fmla="*/ 204973 w 6981878"/>
              <a:gd name="connsiteY9" fmla="*/ 3477790 h 7300393"/>
              <a:gd name="connsiteX10" fmla="*/ 46086 w 6981878"/>
              <a:gd name="connsiteY10" fmla="*/ 3022060 h 7300393"/>
              <a:gd name="connsiteX11" fmla="*/ 0 w 6981878"/>
              <a:gd name="connsiteY11" fmla="*/ 2865324 h 7300393"/>
              <a:gd name="connsiteX12" fmla="*/ 808696 w 6981878"/>
              <a:gd name="connsiteY12" fmla="*/ 268640 h 7300393"/>
              <a:gd name="connsiteX13" fmla="*/ 833851 w 6981878"/>
              <a:gd name="connsiteY13" fmla="*/ 257065 h 7300393"/>
              <a:gd name="connsiteX14" fmla="*/ 2586027 w 6981878"/>
              <a:gd name="connsiteY14" fmla="*/ 750 h 7300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981878" h="7300393">
                <a:moveTo>
                  <a:pt x="2743010" y="5285"/>
                </a:moveTo>
                <a:lnTo>
                  <a:pt x="6143290" y="1064248"/>
                </a:lnTo>
                <a:lnTo>
                  <a:pt x="6154020" y="1090778"/>
                </a:lnTo>
                <a:cubicBezTo>
                  <a:pt x="6332717" y="1580443"/>
                  <a:pt x="6352228" y="2317303"/>
                  <a:pt x="6771165" y="3477790"/>
                </a:cubicBezTo>
                <a:cubicBezTo>
                  <a:pt x="7728735" y="6130333"/>
                  <a:pt x="5210077" y="4809662"/>
                  <a:pt x="3488069" y="6902604"/>
                </a:cubicBezTo>
                <a:cubicBezTo>
                  <a:pt x="3380444" y="7033413"/>
                  <a:pt x="3277187" y="7144296"/>
                  <a:pt x="3177940" y="7236622"/>
                </a:cubicBezTo>
                <a:lnTo>
                  <a:pt x="3103347" y="7300393"/>
                </a:lnTo>
                <a:lnTo>
                  <a:pt x="1492647" y="6798766"/>
                </a:lnTo>
                <a:lnTo>
                  <a:pt x="1469839" y="6758903"/>
                </a:lnTo>
                <a:cubicBezTo>
                  <a:pt x="1024900" y="5940207"/>
                  <a:pt x="653834" y="4654279"/>
                  <a:pt x="204973" y="3477790"/>
                </a:cubicBezTo>
                <a:cubicBezTo>
                  <a:pt x="145125" y="3320925"/>
                  <a:pt x="92087" y="3168989"/>
                  <a:pt x="46086" y="3022060"/>
                </a:cubicBezTo>
                <a:lnTo>
                  <a:pt x="0" y="2865324"/>
                </a:lnTo>
                <a:lnTo>
                  <a:pt x="808696" y="268640"/>
                </a:lnTo>
                <a:lnTo>
                  <a:pt x="833851" y="257065"/>
                </a:lnTo>
                <a:cubicBezTo>
                  <a:pt x="1266169" y="78012"/>
                  <a:pt x="1845408" y="-9088"/>
                  <a:pt x="2586027" y="75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4" name="Freeform 3">
            <a:extLst>
              <a:ext uri="{FF2B5EF4-FFF2-40B4-BE49-F238E27FC236}">
                <a16:creationId xmlns:a16="http://schemas.microsoft.com/office/drawing/2014/main" id="{92BE22A1-CB01-F00F-D915-CB1B5E0C8F87}"/>
              </a:ext>
            </a:extLst>
          </p:cNvPr>
          <p:cNvSpPr/>
          <p:nvPr/>
        </p:nvSpPr>
        <p:spPr>
          <a:xfrm rot="19831171" flipH="1">
            <a:off x="5258231" y="-341445"/>
            <a:ext cx="7151483" cy="7582194"/>
          </a:xfrm>
          <a:custGeom>
            <a:avLst/>
            <a:gdLst>
              <a:gd name="connsiteX0" fmla="*/ 0 w 7151483"/>
              <a:gd name="connsiteY0" fmla="*/ 1861061 h 7582194"/>
              <a:gd name="connsiteX1" fmla="*/ 3292032 w 7151483"/>
              <a:gd name="connsiteY1" fmla="*/ 0 h 7582194"/>
              <a:gd name="connsiteX2" fmla="*/ 3341581 w 7151483"/>
              <a:gd name="connsiteY2" fmla="*/ 2866 h 7582194"/>
              <a:gd name="connsiteX3" fmla="*/ 3657674 w 7151483"/>
              <a:gd name="connsiteY3" fmla="*/ 29460 h 7582194"/>
              <a:gd name="connsiteX4" fmla="*/ 6940770 w 7151483"/>
              <a:gd name="connsiteY4" fmla="*/ 3454274 h 7582194"/>
              <a:gd name="connsiteX5" fmla="*/ 3657674 w 7151483"/>
              <a:gd name="connsiteY5" fmla="*/ 6879089 h 7582194"/>
              <a:gd name="connsiteX6" fmla="*/ 374578 w 7151483"/>
              <a:gd name="connsiteY6" fmla="*/ 3454274 h 7582194"/>
              <a:gd name="connsiteX7" fmla="*/ 6144 w 7151483"/>
              <a:gd name="connsiteY7" fmla="*/ 1991681 h 7582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151483" h="7582194">
                <a:moveTo>
                  <a:pt x="0" y="1861061"/>
                </a:moveTo>
                <a:lnTo>
                  <a:pt x="3292032" y="0"/>
                </a:lnTo>
                <a:lnTo>
                  <a:pt x="3341581" y="2866"/>
                </a:lnTo>
                <a:cubicBezTo>
                  <a:pt x="3444358" y="10193"/>
                  <a:pt x="3549713" y="19055"/>
                  <a:pt x="3657674" y="29460"/>
                </a:cubicBezTo>
                <a:cubicBezTo>
                  <a:pt x="7112427" y="362428"/>
                  <a:pt x="5983201" y="801731"/>
                  <a:pt x="6940770" y="3454274"/>
                </a:cubicBezTo>
                <a:cubicBezTo>
                  <a:pt x="7898340" y="6106817"/>
                  <a:pt x="5379681" y="4786147"/>
                  <a:pt x="3657674" y="6879089"/>
                </a:cubicBezTo>
                <a:cubicBezTo>
                  <a:pt x="1935667" y="8972030"/>
                  <a:pt x="1332147" y="5964116"/>
                  <a:pt x="374578" y="3454274"/>
                </a:cubicBezTo>
                <a:cubicBezTo>
                  <a:pt x="165110" y="2905246"/>
                  <a:pt x="39070" y="2416602"/>
                  <a:pt x="6144" y="1991681"/>
                </a:cubicBez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7" name="TextBox 6">
            <a:extLst>
              <a:ext uri="{FF2B5EF4-FFF2-40B4-BE49-F238E27FC236}">
                <a16:creationId xmlns:a16="http://schemas.microsoft.com/office/drawing/2014/main" id="{3DC3B0EC-B21A-31F1-3527-03DFB6A5C2E7}"/>
              </a:ext>
            </a:extLst>
          </p:cNvPr>
          <p:cNvSpPr txBox="1"/>
          <p:nvPr/>
        </p:nvSpPr>
        <p:spPr>
          <a:xfrm>
            <a:off x="266546" y="406035"/>
            <a:ext cx="4691062" cy="707886"/>
          </a:xfrm>
          <a:prstGeom prst="rect">
            <a:avLst/>
          </a:prstGeom>
          <a:noFill/>
        </p:spPr>
        <p:txBody>
          <a:bodyPr wrap="square" rtlCol="0" anchor="ctr">
            <a:spAutoFit/>
          </a:bodyPr>
          <a:lstStyle/>
          <a:p>
            <a:pPr algn="r" rtl="1"/>
            <a:r>
              <a:rPr lang="ar-DZ" sz="4000" b="1" dirty="0">
                <a:latin typeface="DIN Next LT Arabic Light" panose="020B0303020203050203" pitchFamily="34" charset="-78"/>
                <a:cs typeface="DIN Next LT Arabic Light" panose="020B0303020203050203" pitchFamily="34" charset="-78"/>
              </a:rPr>
              <a:t>خاتمة</a:t>
            </a:r>
            <a:endParaRPr lang="en-ID" sz="4000" b="1" dirty="0">
              <a:latin typeface="DIN Next LT Arabic Light" panose="020B0303020203050203" pitchFamily="34" charset="-78"/>
              <a:cs typeface="DIN Next LT Arabic Light" panose="020B0303020203050203" pitchFamily="34" charset="-78"/>
            </a:endParaRPr>
          </a:p>
        </p:txBody>
      </p:sp>
      <p:sp>
        <p:nvSpPr>
          <p:cNvPr id="8" name="Rectangle 7">
            <a:extLst>
              <a:ext uri="{FF2B5EF4-FFF2-40B4-BE49-F238E27FC236}">
                <a16:creationId xmlns:a16="http://schemas.microsoft.com/office/drawing/2014/main" id="{CA080465-000D-13FF-34AC-40A423626C0B}"/>
              </a:ext>
            </a:extLst>
          </p:cNvPr>
          <p:cNvSpPr/>
          <p:nvPr/>
        </p:nvSpPr>
        <p:spPr>
          <a:xfrm>
            <a:off x="37929" y="1235349"/>
            <a:ext cx="4838330" cy="3647665"/>
          </a:xfrm>
          <a:prstGeom prst="rect">
            <a:avLst/>
          </a:prstGeom>
        </p:spPr>
        <p:txBody>
          <a:bodyPr wrap="square">
            <a:spAutoFit/>
          </a:bodyPr>
          <a:lstStyle/>
          <a:p>
            <a:pPr algn="just" rtl="1">
              <a:lnSpc>
                <a:spcPct val="150000"/>
              </a:lnSpc>
            </a:pPr>
            <a:r>
              <a:rPr lang="ar-EG" sz="1400" dirty="0">
                <a:latin typeface="DIN Next LT Arabic Light" panose="020B0303020203050203" pitchFamily="34" charset="-78"/>
                <a:cs typeface="DIN Next LT Arabic Light" panose="020B0303020203050203" pitchFamily="34" charset="-78"/>
              </a:rPr>
              <a:t>في ختام هذه الدراسة، يظهر مشروع منصة</a:t>
            </a:r>
            <a:r>
              <a:rPr lang="fr-FR" sz="1400" dirty="0">
                <a:latin typeface="DIN Next LT Arabic Light" panose="020B0303020203050203" pitchFamily="34" charset="-78"/>
                <a:cs typeface="DIN Next LT Arabic Light" panose="020B0303020203050203" pitchFamily="34" charset="-78"/>
              </a:rPr>
              <a:t>MATAX </a:t>
            </a:r>
            <a:r>
              <a:rPr lang="ar-EG" sz="1400" dirty="0">
                <a:latin typeface="DIN Next LT Arabic Light" panose="020B0303020203050203" pitchFamily="34" charset="-78"/>
                <a:cs typeface="DIN Next LT Arabic Light" panose="020B0303020203050203" pitchFamily="34" charset="-78"/>
              </a:rPr>
              <a:t>كنموذج ريادي وعملي يجسد حتمية التحول الرقمي في قطاع المحاسبة والتكنولوجيا الجبائية في الجزائر. فمن خلال معالجة العقبات الجبائية التقليدية وأتمتة العمليات المعقدة كإعداد تصاريح </a:t>
            </a:r>
            <a:r>
              <a:rPr lang="fr-FR" sz="1400" dirty="0">
                <a:latin typeface="DIN Next LT Arabic Light" panose="020B0303020203050203" pitchFamily="34" charset="-78"/>
                <a:cs typeface="DIN Next LT Arabic Light" panose="020B0303020203050203" pitchFamily="34" charset="-78"/>
              </a:rPr>
              <a:t>G50، </a:t>
            </a:r>
            <a:r>
              <a:rPr lang="ar-EG" sz="1400" dirty="0">
                <a:latin typeface="DIN Next LT Arabic Light" panose="020B0303020203050203" pitchFamily="34" charset="-78"/>
                <a:cs typeface="DIN Next LT Arabic Light" panose="020B0303020203050203" pitchFamily="34" charset="-78"/>
              </a:rPr>
              <a:t>لا تقدم المنصة مجرد أداة تكنولوجية لحساب الضرائب، بل توفر شريكاً استراتيجياً آمناً يدعم استدامة المؤسسات الناشئة والمصغرة والمقاولين الذاتيين ويحميهم من الهفوات المالية. إن الانطلاق التجريبي للمشروع من ولاية تيارت يمثل حجر الأساس لرؤية توسعية طموحة تهدف إلى رقمنة الامتثال الضريبي على المستوى الوطني وبناء بيئة مقاولاتية حداثية. وختاماً، نأمل أن يشكل هذا العمل إضافة علمية وتطبيقية تساهم في دعم جهود الدولة الرامية إلى تيسير مناخ الاستثمار، وعصرنة الإدارة المالية، ودفع عجلة الاقتصاد الرقمي نحو مستقبل أكثر كفاءة وشفافية.</a:t>
            </a:r>
            <a:endParaRPr lang="en-ID" sz="1600" dirty="0">
              <a:latin typeface="DIN Next LT Arabic Light" panose="020B0303020203050203" pitchFamily="34" charset="-78"/>
              <a:cs typeface="DIN Next LT Arabic Light" panose="020B0303020203050203" pitchFamily="34" charset="-78"/>
            </a:endParaRPr>
          </a:p>
        </p:txBody>
      </p:sp>
      <p:sp>
        <p:nvSpPr>
          <p:cNvPr id="12" name="Rectangle 11">
            <a:extLst>
              <a:ext uri="{FF2B5EF4-FFF2-40B4-BE49-F238E27FC236}">
                <a16:creationId xmlns:a16="http://schemas.microsoft.com/office/drawing/2014/main" id="{BA3EF2DD-1F16-696E-4A5F-1341318B7032}"/>
              </a:ext>
            </a:extLst>
          </p:cNvPr>
          <p:cNvSpPr/>
          <p:nvPr/>
        </p:nvSpPr>
        <p:spPr>
          <a:xfrm>
            <a:off x="0" y="6307915"/>
            <a:ext cx="3222885" cy="550085"/>
          </a:xfrm>
          <a:prstGeom prst="rect">
            <a:avLst/>
          </a:prstGeom>
          <a:gradFill>
            <a:gsLst>
              <a:gs pos="70000">
                <a:schemeClr val="accent3"/>
              </a:gs>
              <a:gs pos="35000">
                <a:schemeClr val="accent2"/>
              </a:gs>
              <a:gs pos="0">
                <a:schemeClr val="accent1"/>
              </a:gs>
              <a:gs pos="100000">
                <a:schemeClr val="accent4"/>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r>
              <a:rPr lang="ar-EG" dirty="0">
                <a:latin typeface="DIN Next LT Arabic Light" panose="020B0303020203050203" pitchFamily="34" charset="-78"/>
                <a:cs typeface="DIN Next LT Arabic Light" panose="020B0303020203050203" pitchFamily="34" charset="-78"/>
              </a:rPr>
              <a:t>السوق المستهدف</a:t>
            </a:r>
          </a:p>
        </p:txBody>
      </p:sp>
      <p:pic>
        <p:nvPicPr>
          <p:cNvPr id="11" name="عنصر نائب للصورة 10" descr="صورة تحتوي على داخلي, أرضية, حائط, سقف&#10;&#10;تم إنشاء الوصف تلقائياً">
            <a:extLst>
              <a:ext uri="{FF2B5EF4-FFF2-40B4-BE49-F238E27FC236}">
                <a16:creationId xmlns:a16="http://schemas.microsoft.com/office/drawing/2014/main" id="{8AB7EF0F-A8A6-26D8-6D50-A3E8F5408138}"/>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6289" r="16289"/>
          <a:stretch>
            <a:fillRect/>
          </a:stretch>
        </p:blipFill>
        <p:spPr/>
      </p:pic>
    </p:spTree>
    <p:extLst>
      <p:ext uri="{BB962C8B-B14F-4D97-AF65-F5344CB8AC3E}">
        <p14:creationId xmlns:p14="http://schemas.microsoft.com/office/powerpoint/2010/main" val="284867952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عنصر نائب للصورة 11" descr="صورة تحتوي على شخص, عنصر&#10;&#10;تم إنشاء الوصف تلقائياً">
            <a:extLst>
              <a:ext uri="{FF2B5EF4-FFF2-40B4-BE49-F238E27FC236}">
                <a16:creationId xmlns:a16="http://schemas.microsoft.com/office/drawing/2014/main" id="{24677DA4-D88A-43D6-83B2-CA9E01FC3006}"/>
              </a:ext>
            </a:extLst>
          </p:cNvPr>
          <p:cNvPicPr>
            <a:picLocks noGrp="1" noChangeAspect="1"/>
          </p:cNvPicPr>
          <p:nvPr>
            <p:ph type="pic" sz="quarter" idx="10"/>
          </p:nvPr>
        </p:nvPicPr>
        <p:blipFill>
          <a:blip r:embed="rId2" cstate="print">
            <a:extLst>
              <a:ext uri="{28A0092B-C50C-407E-A947-70E740481C1C}">
                <a14:useLocalDpi xmlns:a14="http://schemas.microsoft.com/office/drawing/2010/main" val="0"/>
              </a:ext>
            </a:extLst>
          </a:blip>
          <a:srcRect t="7860" b="7860"/>
          <a:stretch>
            <a:fillRect/>
          </a:stretch>
        </p:blipFill>
        <p:spPr/>
      </p:pic>
      <p:sp>
        <p:nvSpPr>
          <p:cNvPr id="10" name="Rectangle 9"/>
          <p:cNvSpPr/>
          <p:nvPr/>
        </p:nvSpPr>
        <p:spPr>
          <a:xfrm>
            <a:off x="0" y="0"/>
            <a:ext cx="12192000" cy="6858000"/>
          </a:xfrm>
          <a:prstGeom prst="rect">
            <a:avLst/>
          </a:prstGeom>
          <a:solidFill>
            <a:schemeClr val="bg1">
              <a:alpha val="62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2" name="TextBox 1"/>
          <p:cNvSpPr txBox="1"/>
          <p:nvPr/>
        </p:nvSpPr>
        <p:spPr>
          <a:xfrm>
            <a:off x="2653792" y="3632688"/>
            <a:ext cx="6896608" cy="1015663"/>
          </a:xfrm>
          <a:prstGeom prst="rect">
            <a:avLst/>
          </a:prstGeom>
          <a:noFill/>
        </p:spPr>
        <p:txBody>
          <a:bodyPr wrap="square" rtlCol="0">
            <a:spAutoFit/>
          </a:bodyPr>
          <a:lstStyle/>
          <a:p>
            <a:pPr algn="ctr" rtl="1"/>
            <a:r>
              <a:rPr lang="ar-EG" sz="6000" b="1" spc="300" dirty="0">
                <a:latin typeface="DIN Next LT Arabic Light" panose="020B0303020203050203" pitchFamily="34" charset="-78"/>
                <a:cs typeface="DIN Next LT Arabic Light" panose="020B0303020203050203" pitchFamily="34" charset="-78"/>
              </a:rPr>
              <a:t>شكرا لكم</a:t>
            </a:r>
            <a:endParaRPr lang="en-ID" sz="6000" b="1" spc="300" dirty="0">
              <a:latin typeface="DIN Next LT Arabic Light" panose="020B0303020203050203" pitchFamily="34" charset="-78"/>
              <a:cs typeface="DIN Next LT Arabic Light" panose="020B0303020203050203" pitchFamily="34" charset="-78"/>
            </a:endParaRPr>
          </a:p>
        </p:txBody>
      </p:sp>
      <p:sp>
        <p:nvSpPr>
          <p:cNvPr id="4" name="Isosceles Triangle 5"/>
          <p:cNvSpPr/>
          <p:nvPr/>
        </p:nvSpPr>
        <p:spPr>
          <a:xfrm rot="1800000">
            <a:off x="5404137" y="1998593"/>
            <a:ext cx="1383726" cy="1528162"/>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solidFill>
            <a:schemeClr val="accent3">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5" name="Isosceles Triangle 5"/>
          <p:cNvSpPr/>
          <p:nvPr/>
        </p:nvSpPr>
        <p:spPr>
          <a:xfrm rot="19800000">
            <a:off x="5404137" y="1998593"/>
            <a:ext cx="1383726" cy="1528162"/>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
        <p:nvSpPr>
          <p:cNvPr id="6" name="Isosceles Triangle 5"/>
          <p:cNvSpPr/>
          <p:nvPr/>
        </p:nvSpPr>
        <p:spPr>
          <a:xfrm>
            <a:off x="5404137" y="1998593"/>
            <a:ext cx="1383726" cy="1528162"/>
          </a:xfrm>
          <a:custGeom>
            <a:avLst/>
            <a:gdLst>
              <a:gd name="connsiteX0" fmla="*/ 0 w 1743456"/>
              <a:gd name="connsiteY0" fmla="*/ 1901952 h 1901952"/>
              <a:gd name="connsiteX1" fmla="*/ 871728 w 1743456"/>
              <a:gd name="connsiteY1" fmla="*/ 0 h 1901952"/>
              <a:gd name="connsiteX2" fmla="*/ 1743456 w 1743456"/>
              <a:gd name="connsiteY2" fmla="*/ 1901952 h 1901952"/>
              <a:gd name="connsiteX3" fmla="*/ 0 w 1743456"/>
              <a:gd name="connsiteY3" fmla="*/ 1901952 h 1901952"/>
              <a:gd name="connsiteX0" fmla="*/ 18999 w 1781454"/>
              <a:gd name="connsiteY0" fmla="*/ 1901952 h 1901952"/>
              <a:gd name="connsiteX1" fmla="*/ 890727 w 1781454"/>
              <a:gd name="connsiteY1" fmla="*/ 0 h 1901952"/>
              <a:gd name="connsiteX2" fmla="*/ 1762455 w 1781454"/>
              <a:gd name="connsiteY2" fmla="*/ 1901952 h 1901952"/>
              <a:gd name="connsiteX3" fmla="*/ 18999 w 1781454"/>
              <a:gd name="connsiteY3" fmla="*/ 1901952 h 1901952"/>
              <a:gd name="connsiteX0" fmla="*/ 18999 w 1922935"/>
              <a:gd name="connsiteY0" fmla="*/ 1901952 h 1901952"/>
              <a:gd name="connsiteX1" fmla="*/ 890727 w 1922935"/>
              <a:gd name="connsiteY1" fmla="*/ 0 h 1901952"/>
              <a:gd name="connsiteX2" fmla="*/ 1762455 w 1922935"/>
              <a:gd name="connsiteY2" fmla="*/ 1901952 h 1901952"/>
              <a:gd name="connsiteX3" fmla="*/ 18999 w 1922935"/>
              <a:gd name="connsiteY3" fmla="*/ 1901952 h 1901952"/>
              <a:gd name="connsiteX0" fmla="*/ 160480 w 2064416"/>
              <a:gd name="connsiteY0" fmla="*/ 1901952 h 1901952"/>
              <a:gd name="connsiteX1" fmla="*/ 1032208 w 2064416"/>
              <a:gd name="connsiteY1" fmla="*/ 0 h 1901952"/>
              <a:gd name="connsiteX2" fmla="*/ 1903936 w 2064416"/>
              <a:gd name="connsiteY2" fmla="*/ 1901952 h 1901952"/>
              <a:gd name="connsiteX3" fmla="*/ 160480 w 2064416"/>
              <a:gd name="connsiteY3" fmla="*/ 1901952 h 1901952"/>
            </a:gdLst>
            <a:ahLst/>
            <a:cxnLst>
              <a:cxn ang="0">
                <a:pos x="connsiteX0" y="connsiteY0"/>
              </a:cxn>
              <a:cxn ang="0">
                <a:pos x="connsiteX1" y="connsiteY1"/>
              </a:cxn>
              <a:cxn ang="0">
                <a:pos x="connsiteX2" y="connsiteY2"/>
              </a:cxn>
              <a:cxn ang="0">
                <a:pos x="connsiteX3" y="connsiteY3"/>
              </a:cxn>
            </a:cxnLst>
            <a:rect l="l" t="t" r="r" b="b"/>
            <a:pathLst>
              <a:path w="2064416" h="1901952">
                <a:moveTo>
                  <a:pt x="160480" y="1901952"/>
                </a:moveTo>
                <a:cubicBezTo>
                  <a:pt x="-420672" y="1901952"/>
                  <a:pt x="741632" y="0"/>
                  <a:pt x="1032208" y="0"/>
                </a:cubicBezTo>
                <a:cubicBezTo>
                  <a:pt x="1322784" y="0"/>
                  <a:pt x="2485088" y="1901952"/>
                  <a:pt x="1903936" y="1901952"/>
                </a:cubicBezTo>
                <a:lnTo>
                  <a:pt x="160480" y="1901952"/>
                </a:lnTo>
                <a:close/>
              </a:path>
            </a:pathLst>
          </a:cu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1"/>
            <a:endParaRPr lang="en-ID">
              <a:latin typeface="DIN Next LT Arabic Light" panose="020B0303020203050203" pitchFamily="34" charset="-78"/>
              <a:cs typeface="DIN Next LT Arabic Light" panose="020B0303020203050203" pitchFamily="34" charset="-78"/>
            </a:endParaRPr>
          </a:p>
        </p:txBody>
      </p:sp>
    </p:spTree>
    <p:extLst>
      <p:ext uri="{BB962C8B-B14F-4D97-AF65-F5344CB8AC3E}">
        <p14:creationId xmlns:p14="http://schemas.microsoft.com/office/powerpoint/2010/main" val="355554041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foxi4">
      <a:dk1>
        <a:sysClr val="windowText" lastClr="000000"/>
      </a:dk1>
      <a:lt1>
        <a:sysClr val="window" lastClr="FFFFFF"/>
      </a:lt1>
      <a:dk2>
        <a:srgbClr val="44546A"/>
      </a:dk2>
      <a:lt2>
        <a:srgbClr val="E7E6E6"/>
      </a:lt2>
      <a:accent1>
        <a:srgbClr val="00527F"/>
      </a:accent1>
      <a:accent2>
        <a:srgbClr val="D62828"/>
      </a:accent2>
      <a:accent3>
        <a:srgbClr val="F77F00"/>
      </a:accent3>
      <a:accent4>
        <a:srgbClr val="FCD916"/>
      </a:accent4>
      <a:accent5>
        <a:srgbClr val="31ACEA"/>
      </a:accent5>
      <a:accent6>
        <a:srgbClr val="023A51"/>
      </a:accent6>
      <a:hlink>
        <a:srgbClr val="0563C1"/>
      </a:hlink>
      <a:folHlink>
        <a:srgbClr val="954F72"/>
      </a:folHlink>
    </a:clrScheme>
    <a:fontScheme name="Custom 12">
      <a:majorFont>
        <a:latin typeface="Montserrat"/>
        <a:ea typeface=""/>
        <a:cs typeface=""/>
      </a:majorFont>
      <a:minorFont>
        <a:latin typeface="La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546</TotalTime>
  <Words>1765</Words>
  <Application>Microsoft Office PowerPoint</Application>
  <PresentationFormat>Widescreen</PresentationFormat>
  <Paragraphs>305</Paragraphs>
  <Slides>22</Slides>
  <Notes>7</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22</vt:i4>
      </vt:variant>
    </vt:vector>
  </HeadingPairs>
  <TitlesOfParts>
    <vt:vector size="30" baseType="lpstr">
      <vt:lpstr>Calibri</vt:lpstr>
      <vt:lpstr>flat-jooza</vt:lpstr>
      <vt:lpstr>Air Strip Arabic</vt:lpstr>
      <vt:lpstr>Lato Light</vt:lpstr>
      <vt:lpstr>DIN Next LT Arabic Light</vt:lpstr>
      <vt:lpstr>Arial</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mahrouz</cp:lastModifiedBy>
  <cp:revision>31</cp:revision>
  <dcterms:created xsi:type="dcterms:W3CDTF">2061-06-11T09:47:46Z</dcterms:created>
  <dcterms:modified xsi:type="dcterms:W3CDTF">2026-06-04T01:20:24Z</dcterms:modified>
</cp:coreProperties>
</file>